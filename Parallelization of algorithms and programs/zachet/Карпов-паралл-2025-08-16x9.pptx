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74" r:id="rId2"/>
    <p:sldMasterId id="2147483681" r:id="rId3"/>
  </p:sldMasterIdLst>
  <p:notesMasterIdLst>
    <p:notesMasterId r:id="rId38"/>
  </p:notesMasterIdLst>
  <p:sldIdLst>
    <p:sldId id="329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6" r:id="rId25"/>
    <p:sldId id="357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  <p:sldId id="367" r:id="rId36"/>
    <p:sldId id="335" r:id="rId37"/>
  </p:sldIdLst>
  <p:sldSz cx="12192000" cy="6858000"/>
  <p:notesSz cx="6858000" cy="9144000"/>
  <p:defaultTextStyle>
    <a:defPPr>
      <a:defRPr lang="ru-RU"/>
    </a:defPPr>
    <a:lvl1pPr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umimoji="1" sz="2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808080"/>
    <a:srgbClr val="C0C0C0"/>
    <a:srgbClr val="D9D9D9"/>
    <a:srgbClr val="C6D9F1"/>
    <a:srgbClr val="8EB4E3"/>
    <a:srgbClr val="5F8ED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37" autoAdjust="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216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itchFamily="34" charset="0"/>
              </a:defRPr>
            </a:lvl1pPr>
          </a:lstStyle>
          <a:p>
            <a:fld id="{22DBE9E6-B3BC-44A3-B02B-4A6CE96D6B25}" type="datetimeFigureOut">
              <a:rPr lang="ru-RU"/>
              <a:pPr/>
              <a:t>01.11.2025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Calibri" pitchFamily="34" charset="0"/>
              </a:defRPr>
            </a:lvl1pPr>
          </a:lstStyle>
          <a:p>
            <a:fld id="{0E4F07C9-4859-4E18-98E7-DD9B7155928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70448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1pPr>
    <a:lvl2pPr marL="4572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2pPr>
    <a:lvl3pPr marL="9144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3pPr>
    <a:lvl4pPr marL="13716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4pPr>
    <a:lvl5pPr marL="1828800" algn="l" defTabSz="457200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Arial" pitchFamily="34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510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ru-RU" dirty="0"/>
          </a:p>
        </p:txBody>
      </p:sp>
      <p:sp>
        <p:nvSpPr>
          <p:cNvPr id="1229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914400">
              <a:defRPr/>
            </a:pPr>
            <a:fld id="{FBE310F7-BA59-4BCC-B944-CD6B53D59584}" type="slidenum">
              <a:rPr lang="de-DE" altLang="ru-RU" smtClean="0">
                <a:solidFill>
                  <a:prstClr val="black"/>
                </a:solidFill>
                <a:cs typeface="Arial" charset="0"/>
              </a:rPr>
              <a:pPr defTabSz="914400">
                <a:defRPr/>
              </a:pPr>
              <a:t>2</a:t>
            </a:fld>
            <a:endParaRPr lang="de-DE" altLang="ru-RU" dirty="0">
              <a:solidFill>
                <a:prstClr val="black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1387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pitchFamily="34" charset="0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862650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A9C83-9D13-4D3D-A1A5-E8FCBA3F6B97}" type="datetime1">
              <a:rPr lang="ru-RU" smtClean="0"/>
              <a:t>01.11.2025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/>
              <a:t>Стр. </a:t>
            </a:r>
            <a:fld id="{24ADBFAD-7AFA-4998-B83F-B0EB8D0944C1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CD383-2BA6-4798-A0CF-3EBBAF159BC2}" type="datetime1">
              <a:rPr lang="ru-RU" smtClean="0"/>
              <a:t>01.11.2025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ru-RU"/>
              <a:t>Стр. </a:t>
            </a:r>
            <a:fld id="{24ADBFAD-7AFA-4998-B83F-B0EB8D0944C1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A13C1-0FCD-4F01-AC7E-70D3C55F45C7}" type="datetime1">
              <a:rPr lang="de-DE" altLang="ru-RU" smtClean="0"/>
              <a:pPr>
                <a:defRPr/>
              </a:pPr>
              <a:t>01.11.2025</a:t>
            </a:fld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4686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393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376251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283744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868826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30188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47629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3795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77C884D0-C73C-4D74-AFB6-1AE3CC47F1E6}" type="datetime1">
              <a:rPr lang="ru-RU" smtClean="0"/>
              <a:t>01.11.2025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4801" y="6356351"/>
            <a:ext cx="1928388" cy="365125"/>
          </a:xfrm>
          <a:prstGeom prst="rect">
            <a:avLst/>
          </a:prstGeom>
          <a:gradFill flip="none" rotWithShape="1"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/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/>
              <a:t>МФТИ-2019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245267" y="6356351"/>
            <a:ext cx="132180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u-RU" dirty="0"/>
              <a:t>Стр. </a:t>
            </a:r>
            <a:fld id="{24ADBFAD-7AFA-4998-B83F-B0EB8D0944C1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6" r:id="rId2"/>
    <p:sldLayoutId id="2147483687" r:id="rId3"/>
  </p:sldLayoutIdLst>
  <p:hf sldNum="0" hdr="0" ftr="0" dt="0"/>
  <p:txStyles>
    <p:titleStyle>
      <a:lvl1pPr algn="ctr" defTabSz="457200" rtl="0" fontAlgn="base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Arial" pitchFamily="34" charset="0"/>
        </a:defRPr>
      </a:lvl1pPr>
      <a:lvl2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2pPr>
      <a:lvl3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3pPr>
      <a:lvl4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4pPr>
      <a:lvl5pPr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cs typeface="Arial" pitchFamily="34" charset="0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36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 altLang="ru-RU">
              <a:latin typeface="Arial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2639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835423" y="548199"/>
            <a:ext cx="8026151" cy="543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defTabSz="914400">
              <a:defRPr/>
            </a:pPr>
            <a:r>
              <a:rPr kumimoji="0" lang="ru-RU" sz="5400" dirty="0">
                <a:solidFill>
                  <a:srgbClr val="800000"/>
                </a:solidFill>
              </a:rPr>
              <a:t>Введение в</a:t>
            </a:r>
            <a:r>
              <a:rPr kumimoji="0" lang="en-US" sz="5400" dirty="0">
                <a:solidFill>
                  <a:srgbClr val="800000"/>
                </a:solidFill>
              </a:rPr>
              <a:t/>
            </a:r>
            <a:br>
              <a:rPr kumimoji="0" lang="en-US" sz="5400" dirty="0">
                <a:solidFill>
                  <a:srgbClr val="800000"/>
                </a:solidFill>
              </a:rPr>
            </a:br>
            <a:r>
              <a:rPr kumimoji="0" lang="ru-RU" sz="5400" dirty="0">
                <a:solidFill>
                  <a:srgbClr val="800000"/>
                </a:solidFill>
              </a:rPr>
              <a:t>распараллеливание</a:t>
            </a:r>
            <a:r>
              <a:rPr kumimoji="0" lang="en-US" sz="5400" dirty="0">
                <a:solidFill>
                  <a:srgbClr val="800000"/>
                </a:solidFill>
              </a:rPr>
              <a:t> </a:t>
            </a:r>
            <a:br>
              <a:rPr kumimoji="0" lang="en-US" sz="5400" dirty="0">
                <a:solidFill>
                  <a:srgbClr val="800000"/>
                </a:solidFill>
              </a:rPr>
            </a:br>
            <a:r>
              <a:rPr kumimoji="0" lang="ru-RU" sz="5400" dirty="0">
                <a:solidFill>
                  <a:srgbClr val="800000"/>
                </a:solidFill>
              </a:rPr>
              <a:t>алгоритмов и </a:t>
            </a:r>
            <a:br>
              <a:rPr kumimoji="0" lang="ru-RU" sz="5400" dirty="0">
                <a:solidFill>
                  <a:srgbClr val="800000"/>
                </a:solidFill>
              </a:rPr>
            </a:br>
            <a:r>
              <a:rPr kumimoji="0" lang="ru-RU" sz="5400" dirty="0">
                <a:solidFill>
                  <a:srgbClr val="800000"/>
                </a:solidFill>
              </a:rPr>
              <a:t>программ</a:t>
            </a:r>
          </a:p>
          <a:p>
            <a:pPr defTabSz="914400">
              <a:defRPr/>
            </a:pPr>
            <a:endParaRPr kumimoji="0" lang="ru-RU" sz="2800" dirty="0">
              <a:solidFill>
                <a:srgbClr val="800000"/>
              </a:solidFill>
            </a:endParaRPr>
          </a:p>
          <a:p>
            <a:pPr algn="r" defTabSz="914400">
              <a:spcBef>
                <a:spcPts val="1800"/>
              </a:spcBef>
              <a:defRPr/>
            </a:pPr>
            <a:r>
              <a:rPr kumimoji="0" lang="ru-RU" sz="3600" dirty="0">
                <a:solidFill>
                  <a:srgbClr val="800000"/>
                </a:solidFill>
              </a:rPr>
              <a:t>Карпов Владимир Ефимович,</a:t>
            </a:r>
          </a:p>
          <a:p>
            <a:pPr algn="r" defTabSz="914400">
              <a:defRPr/>
            </a:pPr>
            <a:r>
              <a:rPr kumimoji="0" lang="ru-RU" sz="2400" dirty="0">
                <a:solidFill>
                  <a:srgbClr val="800000"/>
                </a:solidFill>
              </a:rPr>
              <a:t>кандидат физико-математических наук, доцент</a:t>
            </a:r>
          </a:p>
          <a:p>
            <a:pPr defTabSz="914400">
              <a:defRPr/>
            </a:pPr>
            <a:r>
              <a:rPr kumimoji="0" lang="ru-RU" sz="2800" dirty="0">
                <a:solidFill>
                  <a:srgbClr val="80000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38455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Название 1"/>
          <p:cNvSpPr>
            <a:spLocks noGrp="1"/>
          </p:cNvSpPr>
          <p:nvPr>
            <p:ph type="title"/>
          </p:nvPr>
        </p:nvSpPr>
        <p:spPr>
          <a:xfrm>
            <a:off x="3362757" y="238125"/>
            <a:ext cx="8496300" cy="617538"/>
          </a:xfrm>
        </p:spPr>
        <p:txBody>
          <a:bodyPr/>
          <a:lstStyle/>
          <a:p>
            <a:pPr algn="r" eaLnBrk="1" hangingPunct="1"/>
            <a:r>
              <a:rPr lang="ru-RU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Тема</a:t>
            </a:r>
            <a:r>
              <a:rPr lang="en-US" altLang="ru-RU" sz="3600" dirty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ru-RU" altLang="ru-RU" sz="3600" smtClean="0">
                <a:solidFill>
                  <a:srgbClr val="003794"/>
                </a:solidFill>
                <a:latin typeface="Arial" charset="0"/>
                <a:ea typeface="Arial Unicode MS" pitchFamily="34" charset="-128"/>
                <a:cs typeface="Arial Unicode MS" pitchFamily="34" charset="-128"/>
              </a:rPr>
              <a:t>8</a:t>
            </a:r>
            <a:endParaRPr lang="ru-RU" altLang="ru-RU" sz="3600" dirty="0">
              <a:solidFill>
                <a:srgbClr val="003794"/>
              </a:solidFill>
              <a:latin typeface="Arial" charset="0"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" name="Прямоугольник 3"/>
          <p:cNvSpPr>
            <a:spLocks noChangeArrowheads="1"/>
          </p:cNvSpPr>
          <p:nvPr/>
        </p:nvSpPr>
        <p:spPr bwMode="auto">
          <a:xfrm>
            <a:off x="4369459" y="1902489"/>
            <a:ext cx="7989887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440000">
              <a:lnSpc>
                <a:spcPct val="120000"/>
              </a:lnSpc>
            </a:pPr>
            <a:r>
              <a:rPr kumimoji="0" lang="ru-RU" sz="4000" dirty="0"/>
              <a:t>Эквивалентные преобразования</a:t>
            </a:r>
            <a:r>
              <a:rPr kumimoji="0" lang="en-US" sz="4000" dirty="0"/>
              <a:t> </a:t>
            </a:r>
            <a:r>
              <a:rPr kumimoji="0" lang="ru-RU" sz="4000" dirty="0"/>
              <a:t>и </a:t>
            </a:r>
            <a:r>
              <a:rPr kumimoji="0" lang="en-US" altLang="ru-RU" sz="4000" dirty="0"/>
              <a:t>“</a:t>
            </a:r>
            <a:r>
              <a:rPr kumimoji="0" lang="ru-RU" sz="4000" dirty="0"/>
              <a:t>обход</a:t>
            </a:r>
            <a:r>
              <a:rPr kumimoji="0" lang="en-US" altLang="ru-RU" sz="4000" dirty="0"/>
              <a:t>”</a:t>
            </a:r>
            <a:r>
              <a:rPr kumimoji="0" lang="en-US" sz="4000" dirty="0"/>
              <a:t> </a:t>
            </a:r>
            <a:r>
              <a:rPr kumimoji="0" lang="ru-RU" sz="4000" dirty="0"/>
              <a:t>истинных зависимостей в циклах</a:t>
            </a:r>
            <a:endParaRPr kumimoji="0" lang="ru-RU" sz="1800" dirty="0"/>
          </a:p>
        </p:txBody>
      </p:sp>
    </p:spTree>
    <p:extLst>
      <p:ext uri="{BB962C8B-B14F-4D97-AF65-F5344CB8AC3E}">
        <p14:creationId xmlns:p14="http://schemas.microsoft.com/office/powerpoint/2010/main" val="1113226621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2" y="1658938"/>
            <a:ext cx="6912000" cy="40164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>
            <a:spAutoFit/>
          </a:bodyPr>
          <a:lstStyle/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 u</a:t>
            </a:r>
            <a:r>
              <a:rPr kumimoji="0" lang="en-US" sz="2400" baseline="-25000" dirty="0"/>
              <a:t>1</a:t>
            </a:r>
          </a:p>
          <a:p>
            <a:r>
              <a:rPr kumimoji="0" lang="en-US" sz="2400" dirty="0"/>
              <a:t>    do j = 1,u</a:t>
            </a:r>
            <a:r>
              <a:rPr kumimoji="0" lang="en-US" sz="2400" baseline="-25000" dirty="0"/>
              <a:t>2</a:t>
            </a:r>
            <a:endParaRPr kumimoji="0" lang="ru-RU" sz="2400" baseline="-25000" dirty="0"/>
          </a:p>
          <a:p>
            <a:r>
              <a:rPr kumimoji="0" lang="en-US" sz="2400" dirty="0"/>
              <a:t>        do k = 1,u</a:t>
            </a:r>
            <a:r>
              <a:rPr kumimoji="0" lang="en-US" sz="2400" baseline="-25000" dirty="0"/>
              <a:t>3</a:t>
            </a:r>
          </a:p>
          <a:p>
            <a:r>
              <a:rPr kumimoji="0" lang="en-US" sz="2400" dirty="0"/>
              <a:t>              S:	a(</a:t>
            </a:r>
            <a:r>
              <a:rPr kumimoji="0" lang="en-US" sz="2400" dirty="0" err="1"/>
              <a:t>i</a:t>
            </a:r>
            <a:r>
              <a:rPr kumimoji="0" lang="en-US" sz="2400" dirty="0"/>
              <a:t>, j, k) = </a:t>
            </a:r>
            <a:r>
              <a:rPr kumimoji="0" lang="en-US" sz="2400" dirty="0" smtClean="0"/>
              <a:t>f(a(</a:t>
            </a:r>
            <a:r>
              <a:rPr kumimoji="0" lang="en-US" sz="2400" dirty="0" err="1" smtClean="0"/>
              <a:t>i</a:t>
            </a:r>
            <a:r>
              <a:rPr kumimoji="0" lang="en-US" sz="2400" dirty="0"/>
              <a:t>, j-1, </a:t>
            </a:r>
            <a:r>
              <a:rPr kumimoji="0" lang="en-US" sz="2400" dirty="0" smtClean="0"/>
              <a:t>k+1))</a:t>
            </a:r>
            <a:endParaRPr kumimoji="0" lang="en-US" sz="2400" dirty="0"/>
          </a:p>
          <a:p>
            <a:r>
              <a:rPr kumimoji="0" lang="en-US" sz="2400" dirty="0"/>
              <a:t>        end do</a:t>
            </a:r>
            <a:endParaRPr kumimoji="0" lang="ru-RU" sz="2400" dirty="0"/>
          </a:p>
          <a:p>
            <a:r>
              <a:rPr kumimoji="0" lang="en-US" sz="2400" dirty="0"/>
              <a:t>    end do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  <a:p>
            <a:pPr algn="ctr">
              <a:spcBef>
                <a:spcPts val="1800"/>
              </a:spcBef>
            </a:pPr>
            <a:r>
              <a:rPr kumimoji="0" lang="ru-RU" sz="2400" dirty="0"/>
              <a:t>Вектор расстояний</a:t>
            </a:r>
            <a:r>
              <a:rPr kumimoji="0" lang="en-US" sz="2400" dirty="0"/>
              <a:t> </a:t>
            </a:r>
            <a:r>
              <a:rPr kumimoji="0" lang="en-US" sz="2400" b="1" dirty="0"/>
              <a:t>D</a:t>
            </a:r>
            <a:r>
              <a:rPr kumimoji="0" lang="ru-RU" sz="2400" dirty="0"/>
              <a:t> = (0, 1, </a:t>
            </a:r>
            <a:r>
              <a:rPr kumimoji="0" lang="en-US" sz="2400" dirty="0"/>
              <a:t>-</a:t>
            </a:r>
            <a:r>
              <a:rPr kumimoji="0" lang="ru-RU" sz="2400" dirty="0"/>
              <a:t>1),</a:t>
            </a:r>
            <a:r>
              <a:rPr kumimoji="0" lang="en-US" sz="2400" dirty="0"/>
              <a:t/>
            </a:r>
            <a:br>
              <a:rPr kumimoji="0" lang="en-US" sz="2400" dirty="0"/>
            </a:br>
            <a:r>
              <a:rPr kumimoji="0" lang="ru-RU" sz="2400" dirty="0"/>
              <a:t>  вектор направлений </a:t>
            </a:r>
            <a:r>
              <a:rPr kumimoji="0" lang="en-US" sz="2400" b="1" dirty="0"/>
              <a:t>d </a:t>
            </a:r>
            <a:r>
              <a:rPr kumimoji="0" lang="ru-RU" sz="2400" dirty="0"/>
              <a:t>=</a:t>
            </a:r>
            <a:r>
              <a:rPr kumimoji="0" lang="en-US" sz="2400" dirty="0"/>
              <a:t> </a:t>
            </a:r>
            <a:r>
              <a:rPr kumimoji="0" lang="ru-RU" sz="2400" dirty="0"/>
              <a:t>(</a:t>
            </a:r>
            <a:r>
              <a:rPr kumimoji="0" lang="ja-JP" altLang="ru-RU" sz="2400" dirty="0"/>
              <a:t>“</a:t>
            </a:r>
            <a:r>
              <a:rPr kumimoji="0" lang="ru-RU" altLang="ja-JP" sz="2400" dirty="0"/>
              <a:t>=</a:t>
            </a:r>
            <a:r>
              <a:rPr kumimoji="0" lang="ja-JP" altLang="ru-RU" sz="2400" dirty="0"/>
              <a:t>”</a:t>
            </a:r>
            <a:r>
              <a:rPr kumimoji="0" lang="ru-RU" altLang="ja-JP" sz="2400" dirty="0"/>
              <a:t>,</a:t>
            </a:r>
            <a:r>
              <a:rPr kumimoji="0" lang="en-US" altLang="ja-JP" sz="2400" dirty="0"/>
              <a:t> </a:t>
            </a:r>
            <a:r>
              <a:rPr kumimoji="0" lang="ja-JP" altLang="ru-RU" sz="2400" dirty="0"/>
              <a:t>“</a:t>
            </a:r>
            <a:r>
              <a:rPr kumimoji="0" lang="ru-RU" altLang="ja-JP" sz="2400" dirty="0"/>
              <a:t>&lt;</a:t>
            </a:r>
            <a:r>
              <a:rPr kumimoji="0" lang="ja-JP" altLang="ru-RU" sz="2400" dirty="0"/>
              <a:t>”</a:t>
            </a:r>
            <a:r>
              <a:rPr kumimoji="0" lang="ru-RU" altLang="ja-JP" sz="2400" dirty="0"/>
              <a:t>,</a:t>
            </a:r>
            <a:r>
              <a:rPr kumimoji="0" lang="en-US" altLang="ja-JP" sz="2400" dirty="0"/>
              <a:t> </a:t>
            </a:r>
            <a:r>
              <a:rPr kumimoji="0" lang="ja-JP" altLang="ru-RU" sz="2400" dirty="0"/>
              <a:t>“</a:t>
            </a:r>
            <a:r>
              <a:rPr kumimoji="0" lang="ru-RU" altLang="ja-JP" sz="2400" dirty="0"/>
              <a:t>&gt;</a:t>
            </a:r>
            <a:r>
              <a:rPr kumimoji="0" lang="ja-JP" altLang="ru-RU" sz="2400" dirty="0"/>
              <a:t>”</a:t>
            </a:r>
            <a:r>
              <a:rPr kumimoji="0" lang="ru-RU" altLang="ja-JP" sz="2400" dirty="0"/>
              <a:t>).</a:t>
            </a:r>
          </a:p>
          <a:p>
            <a:pPr algn="ctr"/>
            <a:r>
              <a:rPr kumimoji="0" lang="ru-RU" sz="2400" dirty="0"/>
              <a:t> Истинная зависимость. </a:t>
            </a:r>
            <a:endParaRPr kumimoji="0" lang="en-US" sz="2400" dirty="0"/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795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2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Перестановка циклов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91841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8" y="1658937"/>
            <a:ext cx="6912000" cy="40164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 u</a:t>
            </a:r>
            <a:r>
              <a:rPr kumimoji="0" lang="en-US" sz="2400" baseline="-25000" dirty="0"/>
              <a:t>1</a:t>
            </a:r>
          </a:p>
          <a:p>
            <a:r>
              <a:rPr kumimoji="0" lang="en-US" sz="2400" dirty="0"/>
              <a:t>    do j = 1,u</a:t>
            </a:r>
            <a:r>
              <a:rPr kumimoji="0" lang="en-US" sz="2400" baseline="-25000" dirty="0"/>
              <a:t>2</a:t>
            </a:r>
            <a:endParaRPr kumimoji="0" lang="ru-RU" sz="2400" baseline="-25000" dirty="0"/>
          </a:p>
          <a:p>
            <a:r>
              <a:rPr kumimoji="0" lang="en-US" sz="2400" dirty="0"/>
              <a:t>        do k = 1,u</a:t>
            </a:r>
            <a:r>
              <a:rPr kumimoji="0" lang="en-US" sz="2400" baseline="-25000" dirty="0"/>
              <a:t>3</a:t>
            </a:r>
          </a:p>
          <a:p>
            <a:r>
              <a:rPr kumimoji="0" lang="en-US" sz="2400" dirty="0"/>
              <a:t>              S:	a(</a:t>
            </a:r>
            <a:r>
              <a:rPr kumimoji="0" lang="en-US" sz="2400" dirty="0" err="1"/>
              <a:t>i</a:t>
            </a:r>
            <a:r>
              <a:rPr kumimoji="0" lang="en-US" sz="2400" dirty="0"/>
              <a:t>, j, k) = </a:t>
            </a:r>
            <a:r>
              <a:rPr kumimoji="0" lang="en-US" sz="2400" dirty="0" smtClean="0"/>
              <a:t>f(a(</a:t>
            </a:r>
            <a:r>
              <a:rPr kumimoji="0" lang="en-US" sz="2400" dirty="0" err="1" smtClean="0"/>
              <a:t>i</a:t>
            </a:r>
            <a:r>
              <a:rPr kumimoji="0" lang="en-US" sz="2400" dirty="0"/>
              <a:t>, j-1, k+1))</a:t>
            </a:r>
          </a:p>
          <a:p>
            <a:r>
              <a:rPr kumimoji="0" lang="en-US" sz="2400" dirty="0" smtClean="0"/>
              <a:t>        </a:t>
            </a:r>
            <a:r>
              <a:rPr kumimoji="0" lang="en-US" sz="2400" dirty="0"/>
              <a:t>end do</a:t>
            </a:r>
            <a:endParaRPr kumimoji="0" lang="ru-RU" sz="2400" dirty="0"/>
          </a:p>
          <a:p>
            <a:r>
              <a:rPr kumimoji="0" lang="en-US" sz="2400" dirty="0"/>
              <a:t>    end do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  <a:p>
            <a:pPr algn="ctr">
              <a:spcBef>
                <a:spcPts val="1800"/>
              </a:spcBef>
            </a:pPr>
            <a:r>
              <a:rPr kumimoji="0" lang="ru-RU" sz="2400" dirty="0"/>
              <a:t>Распараллеливание возможно по </a:t>
            </a:r>
            <a:r>
              <a:rPr kumimoji="0" lang="en-US" sz="2400" dirty="0"/>
              <a:t> </a:t>
            </a:r>
            <a:r>
              <a:rPr kumimoji="0" lang="ru-RU" sz="2400" dirty="0"/>
              <a:t>внешнему циклу </a:t>
            </a:r>
            <a:r>
              <a:rPr kumimoji="0" lang="en-US" sz="2400" dirty="0"/>
              <a:t>(</a:t>
            </a:r>
            <a:r>
              <a:rPr kumimoji="0" lang="ru-RU" sz="2400" dirty="0"/>
              <a:t>индекс</a:t>
            </a:r>
            <a:r>
              <a:rPr kumimoji="0" lang="en-US" sz="2400" dirty="0"/>
              <a:t> </a:t>
            </a:r>
            <a:r>
              <a:rPr kumimoji="0" lang="en-US" sz="2400" dirty="0" err="1"/>
              <a:t>i</a:t>
            </a:r>
            <a:r>
              <a:rPr kumimoji="0" lang="en-US" sz="2400" dirty="0"/>
              <a:t>), </a:t>
            </a:r>
            <a:r>
              <a:rPr kumimoji="0" lang="ru-RU" sz="2400" dirty="0"/>
              <a:t>внутреннему циклу</a:t>
            </a:r>
            <a:r>
              <a:rPr kumimoji="0" lang="en-US" sz="2400" dirty="0"/>
              <a:t> (</a:t>
            </a:r>
            <a:r>
              <a:rPr kumimoji="0" lang="ru-RU" sz="2400" dirty="0"/>
              <a:t>индекс</a:t>
            </a:r>
            <a:r>
              <a:rPr kumimoji="0" lang="en-US" sz="2400" dirty="0"/>
              <a:t> k) </a:t>
            </a:r>
            <a:r>
              <a:rPr kumimoji="0" lang="ru-RU" sz="2400" dirty="0"/>
              <a:t>или по обоим</a:t>
            </a:r>
            <a:r>
              <a:rPr kumimoji="0" lang="en-US" sz="2400" dirty="0"/>
              <a:t>.</a:t>
            </a: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801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8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Перестановка циклов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30680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6" y="1658937"/>
            <a:ext cx="6912000" cy="498598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 u</a:t>
            </a:r>
            <a:r>
              <a:rPr kumimoji="0" lang="en-US" sz="2400" baseline="-25000" dirty="0"/>
              <a:t>1</a:t>
            </a:r>
          </a:p>
          <a:p>
            <a:r>
              <a:rPr kumimoji="0" lang="en-US" sz="2400" dirty="0"/>
              <a:t>    do j = 1,u</a:t>
            </a:r>
            <a:r>
              <a:rPr kumimoji="0" lang="en-US" sz="2400" baseline="-25000" dirty="0"/>
              <a:t>2</a:t>
            </a:r>
            <a:endParaRPr kumimoji="0" lang="ru-RU" sz="2400" baseline="-25000" dirty="0"/>
          </a:p>
          <a:p>
            <a:r>
              <a:rPr kumimoji="0" lang="en-US" sz="2400" dirty="0"/>
              <a:t>        do k = 1,u</a:t>
            </a:r>
            <a:r>
              <a:rPr kumimoji="0" lang="en-US" sz="2400" baseline="-25000" dirty="0"/>
              <a:t>3</a:t>
            </a:r>
          </a:p>
          <a:p>
            <a:r>
              <a:rPr kumimoji="0" lang="en-US" sz="2400" dirty="0"/>
              <a:t>              S:	a(</a:t>
            </a:r>
            <a:r>
              <a:rPr kumimoji="0" lang="en-US" sz="2400" dirty="0" err="1"/>
              <a:t>i</a:t>
            </a:r>
            <a:r>
              <a:rPr kumimoji="0" lang="en-US" sz="2400" dirty="0"/>
              <a:t>, j, k) = </a:t>
            </a:r>
            <a:r>
              <a:rPr kumimoji="0" lang="en-US" sz="2400" dirty="0" smtClean="0"/>
              <a:t>f(a(</a:t>
            </a:r>
            <a:r>
              <a:rPr kumimoji="0" lang="en-US" sz="2400" dirty="0" err="1" smtClean="0"/>
              <a:t>i</a:t>
            </a:r>
            <a:r>
              <a:rPr kumimoji="0" lang="en-US" sz="2400" dirty="0"/>
              <a:t>, j-1, k+1))</a:t>
            </a:r>
          </a:p>
          <a:p>
            <a:r>
              <a:rPr kumimoji="0" lang="en-US" sz="2400" dirty="0" smtClean="0"/>
              <a:t>        </a:t>
            </a:r>
            <a:r>
              <a:rPr kumimoji="0" lang="en-US" sz="2400" dirty="0"/>
              <a:t>end do</a:t>
            </a:r>
            <a:endParaRPr kumimoji="0" lang="ru-RU" sz="2400" dirty="0"/>
          </a:p>
          <a:p>
            <a:r>
              <a:rPr kumimoji="0" lang="en-US" sz="2400" dirty="0"/>
              <a:t>    end do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  <a:p>
            <a:pPr algn="ctr">
              <a:spcBef>
                <a:spcPts val="1800"/>
              </a:spcBef>
            </a:pPr>
            <a:r>
              <a:rPr kumimoji="0" lang="ru-RU" sz="2400" dirty="0"/>
              <a:t>По индексу</a:t>
            </a:r>
            <a:r>
              <a:rPr kumimoji="0" lang="en-US" sz="2400" dirty="0"/>
              <a:t> </a:t>
            </a:r>
            <a:r>
              <a:rPr kumimoji="0" lang="en-US" sz="2400" dirty="0" err="1"/>
              <a:t>i</a:t>
            </a:r>
            <a:r>
              <a:rPr kumimoji="0" lang="ru-RU" sz="2400" dirty="0"/>
              <a:t> распараллеливание возможно без ограничений, по индексу</a:t>
            </a:r>
            <a:r>
              <a:rPr kumimoji="0" lang="en-US" sz="2400" dirty="0"/>
              <a:t> k </a:t>
            </a:r>
            <a:r>
              <a:rPr kumimoji="0" lang="ru-RU" sz="2400" dirty="0"/>
              <a:t>или по обоим – при условии барьерной синхронизации после цикла по </a:t>
            </a:r>
            <a:r>
              <a:rPr kumimoji="0" lang="en-US" sz="2400" dirty="0"/>
              <a:t>k.</a:t>
            </a:r>
            <a:r>
              <a:rPr kumimoji="0" lang="ru-RU" sz="2400" dirty="0"/>
              <a:t> </a:t>
            </a:r>
          </a:p>
          <a:p>
            <a:pPr algn="ctr">
              <a:spcBef>
                <a:spcPts val="600"/>
              </a:spcBef>
            </a:pPr>
            <a:r>
              <a:rPr kumimoji="0" lang="ru-RU" sz="2400" dirty="0"/>
              <a:t>Потребуется</a:t>
            </a:r>
            <a:r>
              <a:rPr kumimoji="0" lang="en-US" sz="2400" dirty="0"/>
              <a:t> u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 x u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 </a:t>
            </a:r>
            <a:r>
              <a:rPr kumimoji="0" lang="ru-RU" sz="2400" dirty="0"/>
              <a:t>синхронизаций</a:t>
            </a:r>
            <a:r>
              <a:rPr kumimoji="0" lang="en-US" sz="2400" dirty="0"/>
              <a:t>.</a:t>
            </a:r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Перестановка циклов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82747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6" y="1658938"/>
            <a:ext cx="6912000" cy="40164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 u</a:t>
            </a:r>
            <a:r>
              <a:rPr kumimoji="0" lang="en-US" sz="2400" baseline="-25000" dirty="0"/>
              <a:t>1</a:t>
            </a:r>
          </a:p>
          <a:p>
            <a:r>
              <a:rPr kumimoji="0" lang="en-US" sz="2400" dirty="0"/>
              <a:t>    do j = 1,u</a:t>
            </a:r>
            <a:r>
              <a:rPr kumimoji="0" lang="en-US" sz="2400" baseline="-25000" dirty="0"/>
              <a:t>2</a:t>
            </a:r>
            <a:endParaRPr kumimoji="0" lang="ru-RU" sz="2400" baseline="-25000" dirty="0"/>
          </a:p>
          <a:p>
            <a:r>
              <a:rPr kumimoji="0" lang="en-US" sz="2400" dirty="0"/>
              <a:t>        do k = 1,u</a:t>
            </a:r>
            <a:r>
              <a:rPr kumimoji="0" lang="en-US" sz="2400" baseline="-25000" dirty="0"/>
              <a:t>3</a:t>
            </a:r>
          </a:p>
          <a:p>
            <a:r>
              <a:rPr kumimoji="0" lang="en-US" sz="2400" dirty="0"/>
              <a:t>              S:	a(</a:t>
            </a:r>
            <a:r>
              <a:rPr kumimoji="0" lang="en-US" sz="2400" dirty="0" err="1"/>
              <a:t>i</a:t>
            </a:r>
            <a:r>
              <a:rPr kumimoji="0" lang="en-US" sz="2400" dirty="0"/>
              <a:t>, j, k) = </a:t>
            </a:r>
            <a:r>
              <a:rPr kumimoji="0" lang="en-US" sz="2400" dirty="0" smtClean="0"/>
              <a:t>f(a(</a:t>
            </a:r>
            <a:r>
              <a:rPr kumimoji="0" lang="en-US" sz="2400" dirty="0" err="1" smtClean="0"/>
              <a:t>i</a:t>
            </a:r>
            <a:r>
              <a:rPr kumimoji="0" lang="en-US" sz="2400" dirty="0"/>
              <a:t>, j-1, k+1))</a:t>
            </a:r>
          </a:p>
          <a:p>
            <a:r>
              <a:rPr kumimoji="0" lang="en-US" sz="2400" dirty="0" smtClean="0"/>
              <a:t>        </a:t>
            </a:r>
            <a:r>
              <a:rPr kumimoji="0" lang="en-US" sz="2400" dirty="0"/>
              <a:t>end do</a:t>
            </a:r>
            <a:endParaRPr kumimoji="0" lang="ru-RU" sz="2400" dirty="0"/>
          </a:p>
          <a:p>
            <a:r>
              <a:rPr kumimoji="0" lang="en-US" sz="2400" dirty="0"/>
              <a:t>    end do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  <a:p>
            <a:pPr algn="ctr">
              <a:spcBef>
                <a:spcPts val="1800"/>
              </a:spcBef>
            </a:pPr>
            <a:r>
              <a:rPr kumimoji="0" lang="ru-RU" sz="2400" dirty="0"/>
              <a:t>Вектор расстояний</a:t>
            </a:r>
            <a:r>
              <a:rPr kumimoji="0" lang="en-US" sz="2400" dirty="0"/>
              <a:t> </a:t>
            </a:r>
            <a:r>
              <a:rPr kumimoji="0" lang="en-US" sz="2400" b="1" dirty="0"/>
              <a:t>D</a:t>
            </a:r>
            <a:r>
              <a:rPr kumimoji="0" lang="ru-RU" sz="2400" dirty="0"/>
              <a:t> = (</a:t>
            </a:r>
            <a:r>
              <a:rPr kumimoji="0" lang="en-US" sz="2400" dirty="0"/>
              <a:t>0</a:t>
            </a:r>
            <a:r>
              <a:rPr kumimoji="0" lang="ru-RU" sz="2400" dirty="0"/>
              <a:t>, 1, </a:t>
            </a:r>
            <a:r>
              <a:rPr kumimoji="0" lang="en-US" sz="2400" dirty="0"/>
              <a:t>-1</a:t>
            </a:r>
            <a:r>
              <a:rPr kumimoji="0" lang="ru-RU" sz="2400" dirty="0"/>
              <a:t>),</a:t>
            </a:r>
            <a:r>
              <a:rPr kumimoji="0" lang="en-US" sz="2400" dirty="0"/>
              <a:t/>
            </a:r>
            <a:br>
              <a:rPr kumimoji="0" lang="en-US" sz="2400" dirty="0"/>
            </a:br>
            <a:r>
              <a:rPr kumimoji="0" lang="ru-RU" sz="2400" dirty="0"/>
              <a:t>  вектор направлений </a:t>
            </a:r>
            <a:r>
              <a:rPr kumimoji="0" lang="en-US" sz="2400" b="1" dirty="0"/>
              <a:t>d </a:t>
            </a:r>
            <a:r>
              <a:rPr kumimoji="0" lang="ru-RU" sz="2400" dirty="0"/>
              <a:t>=</a:t>
            </a:r>
            <a:r>
              <a:rPr kumimoji="0" lang="en-US" sz="2400" dirty="0"/>
              <a:t> </a:t>
            </a:r>
            <a:r>
              <a:rPr kumimoji="0" lang="ru-RU" sz="2400" dirty="0"/>
              <a:t>(</a:t>
            </a:r>
            <a:r>
              <a:rPr kumimoji="0" lang="ja-JP" altLang="ru-RU" sz="2400" dirty="0"/>
              <a:t>“</a:t>
            </a:r>
            <a:r>
              <a:rPr kumimoji="0" lang="ru-RU" altLang="ja-JP" sz="2400" dirty="0"/>
              <a:t>=</a:t>
            </a:r>
            <a:r>
              <a:rPr kumimoji="0" lang="ja-JP" altLang="ru-RU" sz="2400" dirty="0"/>
              <a:t>”</a:t>
            </a:r>
            <a:r>
              <a:rPr kumimoji="0" lang="ru-RU" altLang="ja-JP" sz="2400" dirty="0"/>
              <a:t>,</a:t>
            </a:r>
            <a:r>
              <a:rPr kumimoji="0" lang="en-US" altLang="ja-JP" sz="2400" dirty="0"/>
              <a:t> </a:t>
            </a:r>
            <a:r>
              <a:rPr kumimoji="0" lang="ja-JP" altLang="ru-RU" sz="2400" dirty="0"/>
              <a:t>“</a:t>
            </a:r>
            <a:r>
              <a:rPr kumimoji="0" lang="ru-RU" altLang="ja-JP" sz="2400" dirty="0"/>
              <a:t>&lt;</a:t>
            </a:r>
            <a:r>
              <a:rPr kumimoji="0" lang="ja-JP" altLang="ru-RU" sz="2400" dirty="0"/>
              <a:t>”</a:t>
            </a:r>
            <a:r>
              <a:rPr kumimoji="0" lang="ru-RU" altLang="ja-JP" sz="2400" dirty="0"/>
              <a:t>,</a:t>
            </a:r>
            <a:r>
              <a:rPr kumimoji="0" lang="en-US" altLang="ja-JP" sz="2400" dirty="0"/>
              <a:t> </a:t>
            </a:r>
            <a:r>
              <a:rPr kumimoji="0" lang="ja-JP" altLang="ru-RU" sz="2400" dirty="0"/>
              <a:t>“</a:t>
            </a:r>
            <a:r>
              <a:rPr kumimoji="0" lang="ru-RU" altLang="ja-JP" sz="2400" dirty="0"/>
              <a:t>&gt;</a:t>
            </a:r>
            <a:r>
              <a:rPr kumimoji="0" lang="ja-JP" altLang="ru-RU" sz="2400" dirty="0"/>
              <a:t>”</a:t>
            </a:r>
            <a:r>
              <a:rPr kumimoji="0" lang="ru-RU" altLang="ja-JP" sz="2400" dirty="0"/>
              <a:t>).</a:t>
            </a:r>
          </a:p>
          <a:p>
            <a:pPr algn="ctr"/>
            <a:r>
              <a:rPr kumimoji="0" lang="ru-RU" sz="2400" dirty="0"/>
              <a:t> Истинная зависимость. </a:t>
            </a:r>
            <a:endParaRPr kumimoji="0" lang="en-US" sz="2400" dirty="0"/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Перестановка циклов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1907750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40" y="1658938"/>
            <a:ext cx="6912000" cy="4016484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/>
              <a:t>do j = 1, u</a:t>
            </a:r>
            <a:r>
              <a:rPr kumimoji="0" lang="ru-RU" sz="2400" baseline="-25000" dirty="0"/>
              <a:t>2</a:t>
            </a:r>
            <a:endParaRPr kumimoji="0" lang="en-US" sz="2400" baseline="-25000" dirty="0"/>
          </a:p>
          <a:p>
            <a:r>
              <a:rPr kumimoji="0" lang="en-US" sz="2400" dirty="0"/>
              <a:t>    do k = 1,u</a:t>
            </a:r>
            <a:r>
              <a:rPr kumimoji="0" lang="ru-RU" sz="2400" baseline="-25000" dirty="0"/>
              <a:t>3</a:t>
            </a:r>
          </a:p>
          <a:p>
            <a:r>
              <a:rPr kumimoji="0" lang="en-US" sz="2400" dirty="0"/>
              <a:t>        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1,u</a:t>
            </a:r>
            <a:r>
              <a:rPr kumimoji="0" lang="ru-RU" sz="2400" baseline="-25000" dirty="0"/>
              <a:t>1</a:t>
            </a:r>
            <a:endParaRPr kumimoji="0" lang="en-US" sz="2400" baseline="-25000" dirty="0"/>
          </a:p>
          <a:p>
            <a:r>
              <a:rPr kumimoji="0" lang="en-US" sz="2400" dirty="0"/>
              <a:t>              S:	a(</a:t>
            </a:r>
            <a:r>
              <a:rPr kumimoji="0" lang="en-US" sz="2400" dirty="0" err="1"/>
              <a:t>i</a:t>
            </a:r>
            <a:r>
              <a:rPr kumimoji="0" lang="en-US" sz="2400" dirty="0"/>
              <a:t>, j, k) = </a:t>
            </a:r>
            <a:r>
              <a:rPr kumimoji="0" lang="en-US" sz="2400" dirty="0" smtClean="0"/>
              <a:t>f(a(</a:t>
            </a:r>
            <a:r>
              <a:rPr kumimoji="0" lang="en-US" sz="2400" dirty="0" err="1" smtClean="0"/>
              <a:t>i</a:t>
            </a:r>
            <a:r>
              <a:rPr kumimoji="0" lang="en-US" sz="2400" dirty="0"/>
              <a:t>, j-1, k+1))</a:t>
            </a:r>
          </a:p>
          <a:p>
            <a:r>
              <a:rPr kumimoji="0" lang="en-US" sz="2400" dirty="0" smtClean="0"/>
              <a:t>        </a:t>
            </a:r>
            <a:r>
              <a:rPr kumimoji="0" lang="en-US" sz="2400" dirty="0"/>
              <a:t>end do</a:t>
            </a:r>
            <a:endParaRPr kumimoji="0" lang="ru-RU" sz="2400" dirty="0"/>
          </a:p>
          <a:p>
            <a:r>
              <a:rPr kumimoji="0" lang="en-US" sz="2400" dirty="0"/>
              <a:t>    end do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  <a:p>
            <a:pPr algn="ctr">
              <a:spcBef>
                <a:spcPts val="1800"/>
              </a:spcBef>
            </a:pPr>
            <a:r>
              <a:rPr kumimoji="0" lang="ru-RU" sz="2400" dirty="0"/>
              <a:t>Вектор расстояний</a:t>
            </a:r>
            <a:r>
              <a:rPr kumimoji="0" lang="en-US" sz="2400" dirty="0"/>
              <a:t> </a:t>
            </a:r>
            <a:r>
              <a:rPr kumimoji="0" lang="en-US" sz="2400" b="1" dirty="0"/>
              <a:t>D</a:t>
            </a:r>
            <a:r>
              <a:rPr kumimoji="0" lang="ru-RU" sz="2400" dirty="0"/>
              <a:t> = (</a:t>
            </a:r>
            <a:r>
              <a:rPr kumimoji="0" lang="en-US" sz="2400" dirty="0"/>
              <a:t>1</a:t>
            </a:r>
            <a:r>
              <a:rPr kumimoji="0" lang="ru-RU" sz="2400" dirty="0"/>
              <a:t>, </a:t>
            </a:r>
            <a:r>
              <a:rPr kumimoji="0" lang="en-US" sz="2400" dirty="0"/>
              <a:t>-</a:t>
            </a:r>
            <a:r>
              <a:rPr kumimoji="0" lang="ru-RU" sz="2400" dirty="0"/>
              <a:t>1, </a:t>
            </a:r>
            <a:r>
              <a:rPr kumimoji="0" lang="en-US" sz="2400" dirty="0"/>
              <a:t>0</a:t>
            </a:r>
            <a:r>
              <a:rPr kumimoji="0" lang="ru-RU" sz="2400" dirty="0"/>
              <a:t>),</a:t>
            </a:r>
            <a:r>
              <a:rPr kumimoji="0" lang="en-US" sz="2400" dirty="0"/>
              <a:t/>
            </a:r>
            <a:br>
              <a:rPr kumimoji="0" lang="en-US" sz="2400" dirty="0"/>
            </a:br>
            <a:r>
              <a:rPr kumimoji="0" lang="ru-RU" sz="2400" dirty="0"/>
              <a:t>  вектор направлений </a:t>
            </a:r>
            <a:r>
              <a:rPr kumimoji="0" lang="en-US" sz="2400" b="1" dirty="0"/>
              <a:t>d </a:t>
            </a:r>
            <a:r>
              <a:rPr kumimoji="0" lang="ru-RU" sz="2400" dirty="0"/>
              <a:t>=</a:t>
            </a:r>
            <a:r>
              <a:rPr kumimoji="0" lang="en-US" sz="2400" dirty="0"/>
              <a:t> </a:t>
            </a:r>
            <a:r>
              <a:rPr kumimoji="0" lang="ru-RU" sz="2400" dirty="0"/>
              <a:t>(</a:t>
            </a:r>
            <a:r>
              <a:rPr kumimoji="0" lang="ja-JP" altLang="ru-RU" sz="2400" dirty="0"/>
              <a:t>“</a:t>
            </a:r>
            <a:r>
              <a:rPr kumimoji="0" lang="ru-RU" altLang="ja-JP" sz="2400" dirty="0"/>
              <a:t>&lt;</a:t>
            </a:r>
            <a:r>
              <a:rPr kumimoji="0" lang="ja-JP" altLang="ru-RU" sz="2400" dirty="0"/>
              <a:t>”</a:t>
            </a:r>
            <a:r>
              <a:rPr kumimoji="0" lang="ru-RU" altLang="ja-JP" sz="2400" dirty="0"/>
              <a:t>,</a:t>
            </a:r>
            <a:r>
              <a:rPr kumimoji="0" lang="en-US" altLang="ja-JP" sz="2400" dirty="0"/>
              <a:t> </a:t>
            </a:r>
            <a:r>
              <a:rPr kumimoji="0" lang="ja-JP" altLang="ru-RU" sz="2400" dirty="0"/>
              <a:t>“</a:t>
            </a:r>
            <a:r>
              <a:rPr kumimoji="0" lang="ru-RU" altLang="ja-JP" sz="2400" dirty="0"/>
              <a:t>&gt;</a:t>
            </a:r>
            <a:r>
              <a:rPr kumimoji="0" lang="ja-JP" altLang="ru-RU" sz="2400" dirty="0"/>
              <a:t>”</a:t>
            </a:r>
            <a:r>
              <a:rPr kumimoji="0" lang="en-US" altLang="ja-JP" sz="2400" dirty="0"/>
              <a:t>, </a:t>
            </a:r>
            <a:r>
              <a:rPr kumimoji="0" lang="ja-JP" altLang="ru-RU" sz="2400" dirty="0"/>
              <a:t>“</a:t>
            </a:r>
            <a:r>
              <a:rPr kumimoji="0" lang="ru-RU" altLang="ja-JP" sz="2400" dirty="0"/>
              <a:t>=</a:t>
            </a:r>
            <a:r>
              <a:rPr kumimoji="0" lang="ja-JP" altLang="ru-RU" sz="2400" dirty="0"/>
              <a:t>”</a:t>
            </a:r>
            <a:r>
              <a:rPr kumimoji="0" lang="ru-RU" altLang="ja-JP" sz="2400" dirty="0"/>
              <a:t>).</a:t>
            </a:r>
          </a:p>
          <a:p>
            <a:pPr algn="ctr"/>
            <a:r>
              <a:rPr kumimoji="0" lang="ru-RU" sz="2400" dirty="0"/>
              <a:t> Истинная зависимость. </a:t>
            </a:r>
            <a:endParaRPr kumimoji="0" lang="en-US" sz="2400" dirty="0"/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803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90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Перестановка циклов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3652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8" y="1658938"/>
            <a:ext cx="6912000" cy="4032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/>
              <a:t>do j = 1, u</a:t>
            </a:r>
            <a:r>
              <a:rPr kumimoji="0" lang="ru-RU" sz="2400" baseline="-25000" dirty="0"/>
              <a:t>2</a:t>
            </a:r>
            <a:endParaRPr kumimoji="0" lang="en-US" sz="2400" baseline="-25000" dirty="0"/>
          </a:p>
          <a:p>
            <a:r>
              <a:rPr kumimoji="0" lang="en-US" sz="2400" dirty="0"/>
              <a:t>    do k = 1,u</a:t>
            </a:r>
            <a:r>
              <a:rPr kumimoji="0" lang="ru-RU" sz="2400" baseline="-25000" dirty="0"/>
              <a:t>3</a:t>
            </a:r>
          </a:p>
          <a:p>
            <a:r>
              <a:rPr kumimoji="0" lang="en-US" sz="2400" dirty="0"/>
              <a:t>        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1,u</a:t>
            </a:r>
            <a:r>
              <a:rPr kumimoji="0" lang="ru-RU" sz="2400" baseline="-25000" dirty="0"/>
              <a:t>1</a:t>
            </a:r>
            <a:endParaRPr kumimoji="0" lang="en-US" sz="2400" baseline="-25000" dirty="0"/>
          </a:p>
          <a:p>
            <a:r>
              <a:rPr kumimoji="0" lang="en-US" sz="2400" dirty="0"/>
              <a:t>              S:	a(</a:t>
            </a:r>
            <a:r>
              <a:rPr kumimoji="0" lang="en-US" sz="2400" dirty="0" err="1"/>
              <a:t>i</a:t>
            </a:r>
            <a:r>
              <a:rPr kumimoji="0" lang="en-US" sz="2400" dirty="0"/>
              <a:t>, j, k) = </a:t>
            </a:r>
            <a:r>
              <a:rPr kumimoji="0" lang="en-US" sz="2400" dirty="0" smtClean="0"/>
              <a:t>f(a(</a:t>
            </a:r>
            <a:r>
              <a:rPr kumimoji="0" lang="en-US" sz="2400" dirty="0" err="1" smtClean="0"/>
              <a:t>i</a:t>
            </a:r>
            <a:r>
              <a:rPr kumimoji="0" lang="en-US" sz="2400" dirty="0"/>
              <a:t>, j-1, k+1))</a:t>
            </a:r>
          </a:p>
          <a:p>
            <a:r>
              <a:rPr kumimoji="0" lang="en-US" sz="2400" dirty="0" smtClean="0"/>
              <a:t>        </a:t>
            </a:r>
            <a:r>
              <a:rPr kumimoji="0" lang="en-US" sz="2400" dirty="0"/>
              <a:t>end do</a:t>
            </a:r>
            <a:endParaRPr kumimoji="0" lang="ru-RU" sz="2400" dirty="0"/>
          </a:p>
          <a:p>
            <a:r>
              <a:rPr kumimoji="0" lang="en-US" sz="2400" dirty="0"/>
              <a:t>    end do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  <a:p>
            <a:pPr algn="ctr">
              <a:spcBef>
                <a:spcPts val="1800"/>
              </a:spcBef>
            </a:pPr>
            <a:r>
              <a:rPr kumimoji="0" lang="ru-RU" sz="2400" dirty="0"/>
              <a:t>Распараллеливание возможно по </a:t>
            </a:r>
            <a:r>
              <a:rPr kumimoji="0" lang="en-US" sz="2400" dirty="0"/>
              <a:t> </a:t>
            </a:r>
            <a:r>
              <a:rPr kumimoji="0" lang="ru-RU" sz="2400" dirty="0"/>
              <a:t>внутреннему циклу </a:t>
            </a:r>
            <a:r>
              <a:rPr kumimoji="0" lang="en-US" sz="2400" dirty="0"/>
              <a:t>(</a:t>
            </a:r>
            <a:r>
              <a:rPr kumimoji="0" lang="ru-RU" sz="2400" dirty="0"/>
              <a:t>индекс</a:t>
            </a:r>
            <a:r>
              <a:rPr kumimoji="0" lang="en-US" sz="2400" dirty="0"/>
              <a:t> </a:t>
            </a:r>
            <a:r>
              <a:rPr kumimoji="0" lang="en-US" sz="2400" dirty="0" err="1"/>
              <a:t>i</a:t>
            </a:r>
            <a:r>
              <a:rPr kumimoji="0" lang="en-US" sz="2400" dirty="0"/>
              <a:t>), </a:t>
            </a:r>
            <a:r>
              <a:rPr kumimoji="0" lang="ru-RU" sz="2400" dirty="0"/>
              <a:t>среднему циклу</a:t>
            </a:r>
            <a:r>
              <a:rPr kumimoji="0" lang="en-US" sz="2400" dirty="0"/>
              <a:t> (</a:t>
            </a:r>
            <a:r>
              <a:rPr kumimoji="0" lang="ru-RU" sz="2400" dirty="0"/>
              <a:t>индекс</a:t>
            </a:r>
            <a:r>
              <a:rPr kumimoji="0" lang="en-US" sz="2400" dirty="0"/>
              <a:t> k) </a:t>
            </a:r>
            <a:r>
              <a:rPr kumimoji="0" lang="ru-RU" sz="2400" dirty="0"/>
              <a:t>или по обоим</a:t>
            </a:r>
            <a:r>
              <a:rPr kumimoji="0" lang="en-US" sz="2400" dirty="0"/>
              <a:t>.</a:t>
            </a:r>
            <a:endParaRPr kumimoji="0" lang="el-GR" sz="2400" dirty="0"/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801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8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Перестановка циклов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295607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8" y="1658939"/>
            <a:ext cx="6912000" cy="4247317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  <a:tileRect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/>
              <a:t>do j = 1, u</a:t>
            </a:r>
            <a:r>
              <a:rPr kumimoji="0" lang="ru-RU" sz="2400" baseline="-25000" dirty="0"/>
              <a:t>2</a:t>
            </a:r>
            <a:endParaRPr kumimoji="0" lang="en-US" sz="2400" baseline="-25000" dirty="0"/>
          </a:p>
          <a:p>
            <a:r>
              <a:rPr kumimoji="0" lang="en-US" sz="2400" dirty="0"/>
              <a:t>    do k = 1,u</a:t>
            </a:r>
            <a:r>
              <a:rPr kumimoji="0" lang="ru-RU" sz="2400" baseline="-25000" dirty="0"/>
              <a:t>3</a:t>
            </a:r>
          </a:p>
          <a:p>
            <a:r>
              <a:rPr kumimoji="0" lang="en-US" sz="2400" dirty="0"/>
              <a:t>        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1,u</a:t>
            </a:r>
            <a:r>
              <a:rPr kumimoji="0" lang="ru-RU" sz="2400" baseline="-25000" dirty="0"/>
              <a:t>1</a:t>
            </a:r>
            <a:endParaRPr kumimoji="0" lang="en-US" sz="2400" baseline="-25000" dirty="0"/>
          </a:p>
          <a:p>
            <a:r>
              <a:rPr kumimoji="0" lang="en-US" sz="2400" dirty="0"/>
              <a:t>              S:	a(</a:t>
            </a:r>
            <a:r>
              <a:rPr kumimoji="0" lang="en-US" sz="2400" dirty="0" err="1"/>
              <a:t>i</a:t>
            </a:r>
            <a:r>
              <a:rPr kumimoji="0" lang="en-US" sz="2400" dirty="0"/>
              <a:t>, j, k) = </a:t>
            </a:r>
            <a:r>
              <a:rPr kumimoji="0" lang="en-US" sz="2400" dirty="0" smtClean="0"/>
              <a:t>f(a(</a:t>
            </a:r>
            <a:r>
              <a:rPr kumimoji="0" lang="en-US" sz="2400" dirty="0" err="1" smtClean="0"/>
              <a:t>i</a:t>
            </a:r>
            <a:r>
              <a:rPr kumimoji="0" lang="en-US" sz="2400" dirty="0"/>
              <a:t>, j-1, k+1))</a:t>
            </a:r>
          </a:p>
          <a:p>
            <a:r>
              <a:rPr kumimoji="0" lang="en-US" sz="2400" dirty="0" smtClean="0"/>
              <a:t>        </a:t>
            </a:r>
            <a:r>
              <a:rPr kumimoji="0" lang="en-US" sz="2400" dirty="0"/>
              <a:t>end do</a:t>
            </a:r>
            <a:endParaRPr kumimoji="0" lang="ru-RU" sz="2400" dirty="0"/>
          </a:p>
          <a:p>
            <a:r>
              <a:rPr kumimoji="0" lang="en-US" sz="2400" dirty="0"/>
              <a:t>    end do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  <a:p>
            <a:pPr algn="ctr">
              <a:spcBef>
                <a:spcPts val="1800"/>
              </a:spcBef>
            </a:pPr>
            <a:r>
              <a:rPr kumimoji="0" lang="ru-RU" sz="2400" dirty="0"/>
              <a:t>Для распараллеливания по индексу</a:t>
            </a:r>
            <a:r>
              <a:rPr kumimoji="0" lang="en-US" sz="2400" dirty="0"/>
              <a:t> k </a:t>
            </a:r>
            <a:r>
              <a:rPr kumimoji="0" lang="ru-RU" sz="2400" dirty="0"/>
              <a:t>нужна барьерная синхронизация после этого цикла</a:t>
            </a:r>
            <a:r>
              <a:rPr kumimoji="0" lang="en-US" sz="2400" dirty="0"/>
              <a:t>.</a:t>
            </a:r>
            <a:endParaRPr kumimoji="0" lang="ru-RU" sz="2400" dirty="0"/>
          </a:p>
          <a:p>
            <a:pPr algn="ctr">
              <a:spcBef>
                <a:spcPts val="600"/>
              </a:spcBef>
            </a:pPr>
            <a:r>
              <a:rPr kumimoji="0" lang="ru-RU" sz="2400" dirty="0"/>
              <a:t>Потребуется</a:t>
            </a:r>
            <a:r>
              <a:rPr kumimoji="0" lang="en-US" sz="2400" dirty="0"/>
              <a:t> u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 </a:t>
            </a:r>
            <a:r>
              <a:rPr kumimoji="0" lang="ru-RU" sz="2400" dirty="0"/>
              <a:t>синхронизаций</a:t>
            </a:r>
            <a:r>
              <a:rPr kumimoji="0" lang="en-US" sz="2400" dirty="0"/>
              <a:t>.</a:t>
            </a:r>
            <a:endParaRPr kumimoji="0" lang="el-GR" sz="2400" dirty="0"/>
          </a:p>
        </p:txBody>
      </p:sp>
      <p:sp>
        <p:nvSpPr>
          <p:cNvPr id="4098" name="Rectangle 2"/>
          <p:cNvSpPr txBox="1">
            <a:spLocks noRot="1" noChangeArrowheads="1"/>
          </p:cNvSpPr>
          <p:nvPr/>
        </p:nvSpPr>
        <p:spPr bwMode="auto">
          <a:xfrm>
            <a:off x="2928801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7" name="Rechteck 36"/>
          <p:cNvSpPr>
            <a:spLocks noChangeArrowheads="1"/>
          </p:cNvSpPr>
          <p:nvPr/>
        </p:nvSpPr>
        <p:spPr bwMode="gray">
          <a:xfrm>
            <a:off x="3171688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Перестановка циклов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66312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986" y="2045635"/>
            <a:ext cx="6912000" cy="283481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0" lang="ru-RU" sz="2800" dirty="0"/>
              <a:t>Эквивалентным преобразованием последовательной программы будем называть изменение динамического порядка ее операторов, сохраняющее граф алгоритма</a:t>
            </a:r>
            <a:r>
              <a:rPr kumimoji="0" lang="en-US" sz="2800" dirty="0">
                <a:solidFill>
                  <a:srgbClr val="17375E"/>
                </a:solidFill>
              </a:rPr>
              <a:t>.</a:t>
            </a:r>
            <a:endParaRPr kumimoji="0" lang="el-GR" sz="2800" dirty="0">
              <a:solidFill>
                <a:srgbClr val="17375E"/>
              </a:solidFill>
            </a:endParaRPr>
          </a:p>
        </p:txBody>
      </p:sp>
      <p:sp>
        <p:nvSpPr>
          <p:cNvPr id="8199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17168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Определение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679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6" y="2619376"/>
            <a:ext cx="6912000" cy="283481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0" lang="ru-RU" sz="2800" dirty="0"/>
              <a:t>Любое изменение динамического порядка операторов последовательной программы, сохраняющее все зависимости по данным, не изменяет граф алгоритма программы</a:t>
            </a:r>
            <a:r>
              <a:rPr kumimoji="0" lang="ru-RU" sz="2800" dirty="0">
                <a:solidFill>
                  <a:srgbClr val="17375E"/>
                </a:solidFill>
              </a:rPr>
              <a:t>.</a:t>
            </a:r>
            <a:endParaRPr kumimoji="0" lang="el-GR" sz="2800" dirty="0">
              <a:solidFill>
                <a:srgbClr val="17375E"/>
              </a:solidFill>
            </a:endParaRPr>
          </a:p>
        </p:txBody>
      </p:sp>
      <p:sp>
        <p:nvSpPr>
          <p:cNvPr id="8199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171686" y="944563"/>
            <a:ext cx="8496300" cy="912812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Фундаментальная теорема </a:t>
            </a:r>
            <a:r>
              <a:rPr kumimoji="0" lang="ru-RU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о зависимости по данным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7224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40" y="1656000"/>
            <a:ext cx="6912000" cy="411805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>
            <a:spAutoFit/>
          </a:bodyPr>
          <a:lstStyle/>
          <a:p>
            <a:endParaRPr kumimoji="0" lang="ru-RU" sz="2400" dirty="0"/>
          </a:p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 u1</a:t>
            </a:r>
          </a:p>
          <a:p>
            <a:r>
              <a:rPr kumimoji="0" lang="ru-RU" sz="2400" dirty="0"/>
              <a:t>     </a:t>
            </a:r>
            <a:r>
              <a:rPr kumimoji="0" lang="en-US" sz="2400" dirty="0"/>
              <a:t>do j = 1,u2</a:t>
            </a:r>
          </a:p>
          <a:p>
            <a:r>
              <a:rPr kumimoji="0" lang="ru-RU" sz="2400" dirty="0"/>
              <a:t>          </a:t>
            </a:r>
            <a:r>
              <a:rPr kumimoji="0" lang="en-US" sz="2400" dirty="0"/>
              <a:t>S:   a</a:t>
            </a:r>
            <a:r>
              <a:rPr kumimoji="0" lang="ru-RU" sz="2400" dirty="0"/>
              <a:t>(</a:t>
            </a:r>
            <a:r>
              <a:rPr kumimoji="0" lang="en-US" sz="2400" dirty="0" err="1"/>
              <a:t>i</a:t>
            </a:r>
            <a:r>
              <a:rPr kumimoji="0" lang="en-US" sz="2400" dirty="0"/>
              <a:t>, j</a:t>
            </a:r>
            <a:r>
              <a:rPr kumimoji="0" lang="ru-RU" sz="2400" dirty="0"/>
              <a:t>)</a:t>
            </a:r>
            <a:r>
              <a:rPr kumimoji="0" lang="en-US" sz="2400" dirty="0"/>
              <a:t> = a</a:t>
            </a:r>
            <a:r>
              <a:rPr kumimoji="0" lang="ru-RU" sz="2400" dirty="0"/>
              <a:t>(</a:t>
            </a:r>
            <a:r>
              <a:rPr kumimoji="0" lang="en-US" sz="2400" dirty="0" err="1"/>
              <a:t>i</a:t>
            </a:r>
            <a:r>
              <a:rPr kumimoji="0" lang="ru-RU" sz="2400" dirty="0"/>
              <a:t>-</a:t>
            </a:r>
            <a:r>
              <a:rPr kumimoji="0" lang="en-US" sz="2400" dirty="0"/>
              <a:t>1,j-1</a:t>
            </a:r>
            <a:r>
              <a:rPr kumimoji="0" lang="ru-RU" sz="2400" dirty="0"/>
              <a:t>)</a:t>
            </a:r>
            <a:r>
              <a:rPr kumimoji="0" lang="en-US" sz="2400" dirty="0"/>
              <a:t>*2</a:t>
            </a:r>
          </a:p>
          <a:p>
            <a:r>
              <a:rPr kumimoji="0" lang="ru-RU" sz="2400" dirty="0"/>
              <a:t>     </a:t>
            </a:r>
            <a:r>
              <a:rPr kumimoji="0" lang="en-US" sz="2400" dirty="0"/>
              <a:t>end do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  <a:p>
            <a:endParaRPr kumimoji="0" lang="ru-RU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>
              <a:lnSpc>
                <a:spcPct val="130000"/>
              </a:lnSpc>
            </a:pPr>
            <a:r>
              <a:rPr kumimoji="0" lang="ru-RU" sz="2400" dirty="0"/>
              <a:t>Возможно распараллеливание только внутреннего цикла при наличии барьерной синхронизации после его окончания</a:t>
            </a:r>
            <a:r>
              <a:rPr kumimoji="0" lang="en-US" sz="2400" dirty="0"/>
              <a:t>. </a:t>
            </a:r>
          </a:p>
        </p:txBody>
      </p:sp>
      <p:sp>
        <p:nvSpPr>
          <p:cNvPr id="10247" name="Rectangle 2"/>
          <p:cNvSpPr txBox="1">
            <a:spLocks noRot="1" noChangeArrowheads="1"/>
          </p:cNvSpPr>
          <p:nvPr/>
        </p:nvSpPr>
        <p:spPr bwMode="auto">
          <a:xfrm>
            <a:off x="2928803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171690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Проблематичность распараллеливания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9260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6" y="1656001"/>
            <a:ext cx="6912000" cy="452431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 wrap="square">
            <a:spAutoFit/>
          </a:bodyPr>
          <a:lstStyle/>
          <a:p>
            <a:endParaRPr kumimoji="0" lang="ru-RU" sz="2400" dirty="0"/>
          </a:p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 u1</a:t>
            </a:r>
          </a:p>
          <a:p>
            <a:r>
              <a:rPr kumimoji="0" lang="ru-RU" sz="2400" dirty="0"/>
              <a:t>     </a:t>
            </a:r>
            <a:r>
              <a:rPr kumimoji="0" lang="en-US" sz="2400" dirty="0"/>
              <a:t>do j = 1,u2</a:t>
            </a:r>
          </a:p>
          <a:p>
            <a:r>
              <a:rPr kumimoji="0" lang="ru-RU" sz="2400" dirty="0"/>
              <a:t>          </a:t>
            </a:r>
            <a:r>
              <a:rPr kumimoji="0" lang="en-US" sz="2400" dirty="0"/>
              <a:t>S:   a</a:t>
            </a:r>
            <a:r>
              <a:rPr kumimoji="0" lang="ru-RU" sz="2400" dirty="0"/>
              <a:t>(</a:t>
            </a:r>
            <a:r>
              <a:rPr kumimoji="0" lang="en-US" sz="2400" dirty="0" err="1"/>
              <a:t>i</a:t>
            </a:r>
            <a:r>
              <a:rPr kumimoji="0" lang="en-US" sz="2400" dirty="0"/>
              <a:t>, j</a:t>
            </a:r>
            <a:r>
              <a:rPr kumimoji="0" lang="ru-RU" sz="2400" dirty="0"/>
              <a:t>)</a:t>
            </a:r>
            <a:r>
              <a:rPr kumimoji="0" lang="en-US" sz="2400" dirty="0"/>
              <a:t> = a</a:t>
            </a:r>
            <a:r>
              <a:rPr kumimoji="0" lang="ru-RU" sz="2400" dirty="0"/>
              <a:t>(</a:t>
            </a:r>
            <a:r>
              <a:rPr kumimoji="0" lang="en-US" sz="2400" dirty="0" err="1"/>
              <a:t>i</a:t>
            </a:r>
            <a:r>
              <a:rPr kumimoji="0" lang="ru-RU" sz="2400" dirty="0"/>
              <a:t>-</a:t>
            </a:r>
            <a:r>
              <a:rPr kumimoji="0" lang="en-US" sz="2400" dirty="0"/>
              <a:t>1,j-1</a:t>
            </a:r>
            <a:r>
              <a:rPr kumimoji="0" lang="ru-RU" sz="2400" dirty="0"/>
              <a:t>)</a:t>
            </a:r>
            <a:r>
              <a:rPr kumimoji="0" lang="en-US" sz="2400" dirty="0"/>
              <a:t>*2</a:t>
            </a:r>
          </a:p>
          <a:p>
            <a:r>
              <a:rPr kumimoji="0" lang="ru-RU" sz="2400" dirty="0"/>
              <a:t>     </a:t>
            </a:r>
            <a:r>
              <a:rPr kumimoji="0" lang="en-US" sz="2400" dirty="0"/>
              <a:t>end do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  <a:p>
            <a:endParaRPr kumimoji="0" lang="en-US" sz="2400" dirty="0"/>
          </a:p>
          <a:p>
            <a:endParaRPr kumimoji="0" lang="ru-RU" sz="2400" dirty="0"/>
          </a:p>
          <a:p>
            <a:pPr algn="ctr"/>
            <a:r>
              <a:rPr kumimoji="0" lang="ru-RU" sz="2400" dirty="0"/>
              <a:t>После эквивалентного преобразования (замены индексных переменных) возможно распараллеливание по внешнему циклу без барьерной синхронизации.</a:t>
            </a:r>
            <a:r>
              <a:rPr kumimoji="0" lang="en-US" sz="2400" dirty="0"/>
              <a:t> </a:t>
            </a:r>
            <a:endParaRPr kumimoji="0" lang="el-GR" sz="2400" dirty="0"/>
          </a:p>
        </p:txBody>
      </p:sp>
      <p:pic>
        <p:nvPicPr>
          <p:cNvPr id="11266" name="Рисунок 4" descr="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50832" y="1816620"/>
            <a:ext cx="2654046" cy="257213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</p:pic>
      <p:sp>
        <p:nvSpPr>
          <p:cNvPr id="11272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13" name="Rechteck 36"/>
          <p:cNvSpPr>
            <a:spLocks noChangeArrowheads="1"/>
          </p:cNvSpPr>
          <p:nvPr/>
        </p:nvSpPr>
        <p:spPr bwMode="gray">
          <a:xfrm>
            <a:off x="317168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Проблематичность распараллеливания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38675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755834" y="1835036"/>
            <a:ext cx="6912000" cy="3477875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755834" y="1835036"/>
            <a:ext cx="6912000" cy="3379387"/>
          </a:xfrm>
          <a:prstGeom prst="rect">
            <a:avLst/>
          </a:prstGeom>
          <a:noFill/>
          <a:ln w="12700">
            <a:noFill/>
          </a:ln>
          <a:effectLst>
            <a:outerShdw dist="50800" sx="1000" sy="1000" algn="ctr" rotWithShape="0">
              <a:schemeClr val="bg1"/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ru-RU" sz="2400" dirty="0"/>
              <a:t>:</a:t>
            </a:r>
            <a:r>
              <a:rPr kumimoji="0" lang="en-US" sz="2400" dirty="0"/>
              <a:t> a(</a:t>
            </a:r>
            <a:r>
              <a:rPr kumimoji="0" lang="en-US" sz="2400" dirty="0" err="1"/>
              <a:t>i</a:t>
            </a:r>
            <a:r>
              <a:rPr kumimoji="0" lang="en-US" sz="2400" dirty="0"/>
              <a:t>) = d(</a:t>
            </a:r>
            <a:r>
              <a:rPr kumimoji="0" lang="en-US" sz="2400" dirty="0" err="1"/>
              <a:t>i</a:t>
            </a:r>
            <a:r>
              <a:rPr kumimoji="0" lang="en-US" sz="2400" dirty="0"/>
              <a:t>) + 5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ru-RU" sz="2400" dirty="0"/>
              <a:t>:</a:t>
            </a:r>
            <a:r>
              <a:rPr kumimoji="0" lang="en-US" sz="2400" dirty="0"/>
              <a:t> c(</a:t>
            </a:r>
            <a:r>
              <a:rPr kumimoji="0" lang="en-US" sz="2400" dirty="0" err="1"/>
              <a:t>i</a:t>
            </a:r>
            <a:r>
              <a:rPr kumimoji="0" lang="en-US" sz="2400" dirty="0"/>
              <a:t>) = a(</a:t>
            </a:r>
            <a:r>
              <a:rPr kumimoji="0" lang="en-US" sz="2400" dirty="0" err="1"/>
              <a:t>i</a:t>
            </a:r>
            <a:r>
              <a:rPr kumimoji="0" lang="en-US" sz="2400" dirty="0"/>
              <a:t> - 1) * 2</a:t>
            </a:r>
          </a:p>
          <a:p>
            <a:r>
              <a:rPr kumimoji="0" lang="en-US" sz="2400" dirty="0"/>
              <a:t>end do</a:t>
            </a:r>
          </a:p>
          <a:p>
            <a:endParaRPr kumimoji="0" lang="en-US" sz="2400" dirty="0"/>
          </a:p>
          <a:p>
            <a:pPr algn="ctr">
              <a:lnSpc>
                <a:spcPct val="130000"/>
              </a:lnSpc>
            </a:pPr>
            <a:r>
              <a:rPr kumimoji="0" lang="ru-RU" sz="2400" dirty="0"/>
              <a:t>Расстояние зависимости</a:t>
            </a:r>
            <a:r>
              <a:rPr kumimoji="0" lang="en-US" sz="2400" dirty="0"/>
              <a:t> D = 1. </a:t>
            </a:r>
            <a:r>
              <a:rPr kumimoji="0" lang="ru-RU" sz="2400" dirty="0"/>
              <a:t/>
            </a:r>
            <a:br>
              <a:rPr kumimoji="0" lang="ru-RU" sz="2400" dirty="0"/>
            </a:br>
            <a:r>
              <a:rPr kumimoji="0" lang="ru-RU" sz="2400" dirty="0"/>
              <a:t>Это истинная зависимость</a:t>
            </a:r>
            <a:r>
              <a:rPr kumimoji="0" lang="en-US" sz="2400" dirty="0"/>
              <a:t>. </a:t>
            </a:r>
            <a:r>
              <a:rPr kumimoji="0" lang="ru-RU" sz="2400" dirty="0"/>
              <a:t/>
            </a:r>
            <a:br>
              <a:rPr kumimoji="0" lang="ru-RU" sz="2400" dirty="0"/>
            </a:br>
            <a:r>
              <a:rPr kumimoji="0" lang="ru-RU" sz="2400" dirty="0"/>
              <a:t>Цикл нельзя распараллелить по итерациям.</a:t>
            </a:r>
            <a:endParaRPr kumimoji="0" lang="ru-RU" sz="1800" dirty="0"/>
          </a:p>
        </p:txBody>
      </p:sp>
      <p:sp>
        <p:nvSpPr>
          <p:cNvPr id="8199" name="Rectangle 2"/>
          <p:cNvSpPr txBox="1">
            <a:spLocks noRot="1" noChangeArrowheads="1"/>
          </p:cNvSpPr>
          <p:nvPr/>
        </p:nvSpPr>
        <p:spPr bwMode="auto">
          <a:xfrm>
            <a:off x="2928797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171684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Разделение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distribution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8060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4755836" y="1835035"/>
            <a:ext cx="6912000" cy="428322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>
              <a:spcAft>
                <a:spcPts val="1000"/>
              </a:spcAft>
            </a:pPr>
            <a:endParaRPr lang="ru-RU" dirty="0"/>
          </a:p>
          <a:p>
            <a:pPr>
              <a:spcAft>
                <a:spcPts val="1000"/>
              </a:spcAft>
            </a:pP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8208730" y="4054883"/>
            <a:ext cx="3393920" cy="178510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4755836" y="1835035"/>
            <a:ext cx="6912000" cy="4360168"/>
          </a:xfrm>
          <a:prstGeom prst="rect">
            <a:avLst/>
          </a:prstGeom>
          <a:noFill/>
          <a:ln w="12700">
            <a:noFill/>
          </a:ln>
          <a:effectLst>
            <a:outerShdw dist="50800" sx="1000" sy="1000" algn="ctr" rotWithShape="0">
              <a:schemeClr val="bg1"/>
            </a:outerShdw>
          </a:effectLst>
        </p:spPr>
        <p:txBody>
          <a:bodyPr>
            <a:spAutoFit/>
          </a:bodyPr>
          <a:lstStyle/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ru-RU" sz="2400" dirty="0"/>
              <a:t>:</a:t>
            </a:r>
            <a:r>
              <a:rPr kumimoji="0" lang="en-US" sz="2400" dirty="0"/>
              <a:t> a(</a:t>
            </a:r>
            <a:r>
              <a:rPr kumimoji="0" lang="en-US" sz="2400" dirty="0" err="1"/>
              <a:t>i</a:t>
            </a:r>
            <a:r>
              <a:rPr kumimoji="0" lang="en-US" sz="2400" dirty="0"/>
              <a:t>) = d(</a:t>
            </a:r>
            <a:r>
              <a:rPr kumimoji="0" lang="en-US" sz="2400" dirty="0" err="1"/>
              <a:t>i</a:t>
            </a:r>
            <a:r>
              <a:rPr kumimoji="0" lang="en-US" sz="2400" dirty="0"/>
              <a:t>) + 5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ru-RU" sz="2400" dirty="0"/>
              <a:t>:</a:t>
            </a:r>
            <a:r>
              <a:rPr kumimoji="0" lang="en-US" sz="2400" dirty="0"/>
              <a:t> c(</a:t>
            </a:r>
            <a:r>
              <a:rPr kumimoji="0" lang="en-US" sz="2400" dirty="0" err="1"/>
              <a:t>i</a:t>
            </a:r>
            <a:r>
              <a:rPr kumimoji="0" lang="en-US" sz="2400" dirty="0"/>
              <a:t>) = a(</a:t>
            </a:r>
            <a:r>
              <a:rPr kumimoji="0" lang="en-US" sz="2400" dirty="0" err="1"/>
              <a:t>i</a:t>
            </a:r>
            <a:r>
              <a:rPr kumimoji="0" lang="en-US" sz="2400" dirty="0"/>
              <a:t> - 1) * 2</a:t>
            </a:r>
          </a:p>
          <a:p>
            <a:r>
              <a:rPr kumimoji="0" lang="en-US" sz="2400" dirty="0"/>
              <a:t>end do</a:t>
            </a:r>
          </a:p>
          <a:p>
            <a:pPr>
              <a:spcBef>
                <a:spcPts val="1600"/>
              </a:spcBef>
            </a:pPr>
            <a:r>
              <a:rPr kumimoji="0" lang="ru-RU" sz="2400" dirty="0"/>
              <a:t>После преобразования</a:t>
            </a:r>
            <a:endParaRPr kumimoji="0" lang="en-US" sz="2400" dirty="0"/>
          </a:p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ru-RU" sz="2400" dirty="0"/>
              <a:t>:</a:t>
            </a:r>
            <a:r>
              <a:rPr kumimoji="0" lang="en-US" sz="2400" dirty="0"/>
              <a:t> a(</a:t>
            </a:r>
            <a:r>
              <a:rPr kumimoji="0" lang="en-US" sz="2400" dirty="0" err="1"/>
              <a:t>i</a:t>
            </a:r>
            <a:r>
              <a:rPr kumimoji="0" lang="en-US" sz="2400" dirty="0"/>
              <a:t>) = d(</a:t>
            </a:r>
            <a:r>
              <a:rPr kumimoji="0" lang="en-US" sz="2400" dirty="0" err="1"/>
              <a:t>i</a:t>
            </a:r>
            <a:r>
              <a:rPr kumimoji="0" lang="en-US" sz="2400" dirty="0"/>
              <a:t>) + 5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r>
              <a:rPr kumimoji="0" lang="en-US" sz="2400" dirty="0"/>
              <a:t>end do</a:t>
            </a:r>
          </a:p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ru-RU" sz="2400" dirty="0"/>
              <a:t>:</a:t>
            </a:r>
            <a:r>
              <a:rPr kumimoji="0" lang="en-US" sz="2400" dirty="0"/>
              <a:t> c(</a:t>
            </a:r>
            <a:r>
              <a:rPr kumimoji="0" lang="en-US" sz="2400" dirty="0" err="1"/>
              <a:t>i</a:t>
            </a:r>
            <a:r>
              <a:rPr kumimoji="0" lang="en-US" sz="2400" dirty="0"/>
              <a:t>) = a(</a:t>
            </a:r>
            <a:r>
              <a:rPr kumimoji="0" lang="en-US" sz="2400" dirty="0" err="1"/>
              <a:t>i</a:t>
            </a:r>
            <a:r>
              <a:rPr kumimoji="0" lang="en-US" sz="2400" dirty="0"/>
              <a:t> - 1) * 2</a:t>
            </a:r>
          </a:p>
          <a:p>
            <a:r>
              <a:rPr kumimoji="0" lang="en-US" sz="2400" dirty="0"/>
              <a:t>end do</a:t>
            </a:r>
            <a:r>
              <a:rPr kumimoji="0" lang="ru-RU" sz="2400" dirty="0"/>
              <a:t>.</a:t>
            </a:r>
            <a:endParaRPr kumimoji="0" lang="ru-RU" sz="1800" dirty="0"/>
          </a:p>
        </p:txBody>
      </p:sp>
      <p:sp>
        <p:nvSpPr>
          <p:cNvPr id="8199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9" name="Rechteck 36"/>
          <p:cNvSpPr>
            <a:spLocks noChangeArrowheads="1"/>
          </p:cNvSpPr>
          <p:nvPr/>
        </p:nvSpPr>
        <p:spPr bwMode="gray">
          <a:xfrm>
            <a:off x="317168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Разделение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distribution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8277154" y="4067864"/>
            <a:ext cx="3325496" cy="156966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50800" sx="1000" sy="1000" algn="ctr" rotWithShape="0">
              <a:schemeClr val="bg1"/>
            </a:outerShdw>
          </a:effectLst>
        </p:spPr>
        <p:txBody>
          <a:bodyPr wrap="square">
            <a:spAutoFit/>
          </a:bodyPr>
          <a:lstStyle/>
          <a:p>
            <a:r>
              <a:rPr kumimoji="0" lang="ru-RU" sz="2400" dirty="0"/>
              <a:t>Циклы параллельны</a:t>
            </a:r>
            <a:r>
              <a:rPr kumimoji="0" lang="en-US" sz="2400" dirty="0"/>
              <a:t>. </a:t>
            </a:r>
          </a:p>
          <a:p>
            <a:r>
              <a:rPr kumimoji="0" lang="ru-RU" sz="2400" dirty="0"/>
              <a:t>Нужна барьерная синхронизация между циклами</a:t>
            </a:r>
            <a:r>
              <a:rPr kumimoji="0" lang="en-US" sz="2400" dirty="0"/>
              <a:t>.</a:t>
            </a:r>
            <a:endParaRPr kumimoji="0" lang="ru-RU" sz="2400" dirty="0"/>
          </a:p>
        </p:txBody>
      </p:sp>
    </p:spTree>
    <p:extLst>
      <p:ext uri="{BB962C8B-B14F-4D97-AF65-F5344CB8AC3E}">
        <p14:creationId xmlns:p14="http://schemas.microsoft.com/office/powerpoint/2010/main" val="346072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6" y="1799999"/>
            <a:ext cx="6912000" cy="406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kumimoji="0" lang="ru-RU" sz="2400" dirty="0"/>
              <a:t>Два набора операторов в цикле с </a:t>
            </a:r>
            <a:r>
              <a:rPr kumimoji="0" lang="en-US" sz="2400" dirty="0"/>
              <a:t>loop carried dependence </a:t>
            </a:r>
            <a:r>
              <a:rPr kumimoji="0" lang="ru-RU" sz="2400" dirty="0"/>
              <a:t>могут быть распределены по двум циклам, если в исходном цикле</a:t>
            </a:r>
            <a:r>
              <a:rPr kumimoji="0" lang="en-US" sz="2400" dirty="0"/>
              <a:t> </a:t>
            </a:r>
            <a:r>
              <a:rPr kumimoji="0" lang="ru-RU" sz="2400" dirty="0"/>
              <a:t>не существует рекурсивных истинных зависимостей</a:t>
            </a:r>
            <a:r>
              <a:rPr kumimoji="0" lang="en-US" sz="2400" dirty="0"/>
              <a:t>.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kumimoji="0" lang="ru-RU" sz="2400" dirty="0"/>
              <a:t>Для случая, когда тело цикла состоит из двух операторов</a:t>
            </a:r>
            <a:r>
              <a:rPr kumimoji="0" lang="en-US" sz="2400" dirty="0"/>
              <a:t> 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 </a:t>
            </a:r>
            <a:r>
              <a:rPr kumimoji="0" lang="ru-RU" sz="2400" dirty="0"/>
              <a:t>и</a:t>
            </a:r>
            <a:r>
              <a:rPr kumimoji="0" lang="en-US" sz="2400" dirty="0"/>
              <a:t> 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 </a:t>
            </a:r>
            <a:r>
              <a:rPr kumimoji="0" lang="ru-RU" sz="2400" dirty="0"/>
              <a:t>, это означает, что не существует значений</a:t>
            </a:r>
            <a:r>
              <a:rPr kumimoji="0" lang="en-US" sz="2400" dirty="0"/>
              <a:t>  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k1,k2,</a:t>
            </a:r>
            <a:r>
              <a:rPr kumimoji="0" lang="el-G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λ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1,</a:t>
            </a:r>
            <a:r>
              <a:rPr kumimoji="0" lang="el-G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λ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0" lang="ru-RU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, для которых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S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n-US" sz="2400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k1 </a:t>
            </a:r>
            <a:r>
              <a:rPr kumimoji="0" lang="el-G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δ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S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0" lang="el-GR" sz="2400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λ</a:t>
            </a:r>
            <a:r>
              <a:rPr kumimoji="0" lang="en-US" sz="2400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ru-RU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ru-RU" sz="2400" dirty="0"/>
              <a:t>и 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0" lang="en-US" sz="2400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k2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kumimoji="0" lang="el-GR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δ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S</a:t>
            </a:r>
            <a:r>
              <a:rPr kumimoji="0" lang="en-US" sz="2400" baseline="-25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kumimoji="0" lang="el-GR" sz="2400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λ</a:t>
            </a:r>
            <a:r>
              <a:rPr kumimoji="0" lang="en-US" sz="2400" baseline="30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0" 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sp>
        <p:nvSpPr>
          <p:cNvPr id="14343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17168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Разделение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distribution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4219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4" y="1985895"/>
            <a:ext cx="6912000" cy="304698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>
            <a:spAutoFit/>
          </a:bodyPr>
          <a:lstStyle/>
          <a:p>
            <a:r>
              <a:rPr kumimoji="0" lang="ru-RU" sz="2400" dirty="0"/>
              <a:t>Мы не можем использовать разделение циклов в следующем примере</a:t>
            </a:r>
            <a:r>
              <a:rPr kumimoji="0" lang="en-US" sz="2400" dirty="0"/>
              <a:t>:</a:t>
            </a:r>
          </a:p>
          <a:p>
            <a:endParaRPr kumimoji="0" lang="en-US" sz="2400" dirty="0"/>
          </a:p>
          <a:p>
            <a:endParaRPr kumimoji="0" lang="en-US" sz="2400" dirty="0"/>
          </a:p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 = 1, u</a:t>
            </a:r>
          </a:p>
          <a:p>
            <a:r>
              <a:rPr kumimoji="0" lang="en-US" sz="2400" dirty="0"/>
              <a:t>	S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:	a</a:t>
            </a:r>
            <a:r>
              <a:rPr kumimoji="0" lang="ru-RU" sz="2400" dirty="0"/>
              <a:t>(</a:t>
            </a:r>
            <a:r>
              <a:rPr kumimoji="0" lang="en-US" sz="2400" dirty="0" err="1"/>
              <a:t>i</a:t>
            </a:r>
            <a:r>
              <a:rPr kumimoji="0" lang="ru-RU" sz="2400" dirty="0"/>
              <a:t>)</a:t>
            </a:r>
            <a:r>
              <a:rPr kumimoji="0" lang="en-US" sz="2400" dirty="0"/>
              <a:t> = </a:t>
            </a:r>
            <a:r>
              <a:rPr kumimoji="0" lang="ru-RU" sz="2400" dirty="0"/>
              <a:t>с(</a:t>
            </a:r>
            <a:r>
              <a:rPr kumimoji="0" lang="en-US" sz="2400" dirty="0" err="1"/>
              <a:t>i</a:t>
            </a:r>
            <a:r>
              <a:rPr kumimoji="0" lang="ru-RU" sz="2400" dirty="0"/>
              <a:t> - 1)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5</a:t>
            </a:r>
            <a:r>
              <a:rPr kumimoji="0" lang="ru-RU" sz="2400" dirty="0"/>
              <a:t> </a:t>
            </a:r>
            <a:r>
              <a:rPr kumimoji="0" lang="en-US" sz="2400" dirty="0"/>
              <a:t>*</a:t>
            </a:r>
            <a:r>
              <a:rPr kumimoji="0" lang="ru-RU" sz="2400" dirty="0"/>
              <a:t>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r>
              <a:rPr kumimoji="0" lang="en-US" sz="2400" dirty="0"/>
              <a:t>	S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:	c</a:t>
            </a:r>
            <a:r>
              <a:rPr kumimoji="0" lang="ru-RU" sz="2400" dirty="0"/>
              <a:t>(</a:t>
            </a:r>
            <a:r>
              <a:rPr kumimoji="0" lang="en-US" sz="2400" dirty="0" err="1"/>
              <a:t>i</a:t>
            </a:r>
            <a:r>
              <a:rPr kumimoji="0" lang="ru-RU" sz="2400" dirty="0"/>
              <a:t>)</a:t>
            </a:r>
            <a:r>
              <a:rPr kumimoji="0" lang="en-US" sz="2400" dirty="0"/>
              <a:t> = a</a:t>
            </a:r>
            <a:r>
              <a:rPr kumimoji="0" lang="ru-RU" sz="2400" dirty="0"/>
              <a:t>(</a:t>
            </a:r>
            <a:r>
              <a:rPr kumimoji="0" lang="en-US" sz="2400" dirty="0" err="1"/>
              <a:t>i</a:t>
            </a:r>
            <a:r>
              <a:rPr kumimoji="0" lang="ru-RU" sz="2400" dirty="0"/>
              <a:t> </a:t>
            </a:r>
            <a:r>
              <a:rPr kumimoji="0" lang="en-US" sz="2400" dirty="0"/>
              <a:t>–</a:t>
            </a:r>
            <a:r>
              <a:rPr kumimoji="0" lang="ru-RU" sz="2400" dirty="0"/>
              <a:t> </a:t>
            </a:r>
            <a:r>
              <a:rPr kumimoji="0" lang="en-US" sz="2400" dirty="0"/>
              <a:t>1</a:t>
            </a:r>
            <a:r>
              <a:rPr kumimoji="0" lang="ru-RU" sz="2400" dirty="0"/>
              <a:t>) </a:t>
            </a:r>
            <a:r>
              <a:rPr kumimoji="0" lang="en-US" sz="2400" dirty="0"/>
              <a:t>*</a:t>
            </a:r>
            <a:r>
              <a:rPr kumimoji="0" lang="ru-RU" sz="2400" dirty="0"/>
              <a:t> </a:t>
            </a:r>
            <a:r>
              <a:rPr kumimoji="0" lang="en-US" sz="2400" dirty="0"/>
              <a:t>2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797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171684" y="955715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Разделение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distribution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68921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6" y="1620000"/>
            <a:ext cx="6912000" cy="2484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>
            <a:spAutoFit/>
          </a:bodyPr>
          <a:lstStyle/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=</a:t>
            </a:r>
            <a:r>
              <a:rPr kumimoji="0" lang="ru-RU" sz="2400" dirty="0"/>
              <a:t>1</a:t>
            </a:r>
            <a:r>
              <a:rPr kumimoji="0" lang="en-US" sz="2400" dirty="0"/>
              <a:t>,n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: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d(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: c(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a(</a:t>
            </a:r>
            <a:r>
              <a:rPr kumimoji="0" lang="en-US" sz="2400" dirty="0" err="1"/>
              <a:t>i</a:t>
            </a:r>
            <a:r>
              <a:rPr kumimoji="0" lang="ru-RU" sz="2400" dirty="0"/>
              <a:t> </a:t>
            </a:r>
            <a:r>
              <a:rPr kumimoji="0" lang="en-US" sz="2400" dirty="0"/>
              <a:t>-</a:t>
            </a:r>
            <a:r>
              <a:rPr kumimoji="0" lang="ru-RU" sz="2400" dirty="0"/>
              <a:t> </a:t>
            </a:r>
            <a:r>
              <a:rPr kumimoji="0" lang="en-US" sz="2400" dirty="0"/>
              <a:t>1) * 2</a:t>
            </a:r>
          </a:p>
          <a:p>
            <a:r>
              <a:rPr kumimoji="0" lang="en-US" sz="2400" dirty="0"/>
              <a:t>end do</a:t>
            </a:r>
          </a:p>
          <a:p>
            <a:pPr>
              <a:spcBef>
                <a:spcPts val="1200"/>
              </a:spcBef>
            </a:pPr>
            <a:r>
              <a:rPr kumimoji="0" lang="ru-RU" dirty="0"/>
              <a:t>Это истинная зависимость</a:t>
            </a:r>
            <a:r>
              <a:rPr kumimoji="0" lang="en-US" dirty="0"/>
              <a:t>. </a:t>
            </a:r>
            <a:r>
              <a:rPr kumimoji="0" lang="ru-RU" dirty="0"/>
              <a:t>Расстояние зависимости</a:t>
            </a:r>
            <a:r>
              <a:rPr kumimoji="0" lang="en-US" dirty="0"/>
              <a:t> D = 1</a:t>
            </a:r>
            <a:r>
              <a:rPr kumimoji="0" lang="ru-RU" dirty="0"/>
              <a:t>.</a:t>
            </a:r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6709571" y="466814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7393783" y="46681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8076408" y="46681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8760621" y="466814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9444833" y="46681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709571" y="553174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7393783" y="55317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8076408" y="55317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8760621" y="553174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9444833" y="55317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5952334" y="4741170"/>
            <a:ext cx="5413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 dirty="0"/>
              <a:t>S</a:t>
            </a:r>
            <a:r>
              <a:rPr kumimoji="0" lang="en-US" sz="1800" baseline="-25000" dirty="0"/>
              <a:t>1</a:t>
            </a:r>
            <a:endParaRPr kumimoji="0" lang="ru-RU" sz="1800" baseline="-25000" dirty="0"/>
          </a:p>
        </p:txBody>
      </p:sp>
      <p:sp>
        <p:nvSpPr>
          <p:cNvPr id="22" name="Text Box 16"/>
          <p:cNvSpPr txBox="1">
            <a:spLocks noChangeArrowheads="1"/>
          </p:cNvSpPr>
          <p:nvPr/>
        </p:nvSpPr>
        <p:spPr bwMode="auto">
          <a:xfrm>
            <a:off x="5988845" y="5604770"/>
            <a:ext cx="5413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 dirty="0"/>
              <a:t>S</a:t>
            </a:r>
            <a:r>
              <a:rPr kumimoji="0" lang="en-US" sz="1800" baseline="-25000" dirty="0"/>
              <a:t>2</a:t>
            </a:r>
            <a:endParaRPr kumimoji="0" lang="ru-RU" sz="1800" baseline="-25000" dirty="0"/>
          </a:p>
        </p:txBody>
      </p:sp>
      <p:sp>
        <p:nvSpPr>
          <p:cNvPr id="23" name="Text Box 17"/>
          <p:cNvSpPr txBox="1">
            <a:spLocks noChangeArrowheads="1"/>
          </p:cNvSpPr>
          <p:nvPr/>
        </p:nvSpPr>
        <p:spPr bwMode="auto">
          <a:xfrm>
            <a:off x="6888958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1</a:t>
            </a:r>
            <a:endParaRPr kumimoji="0" lang="ru-RU" sz="1800"/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7501733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2</a:t>
            </a:r>
            <a:endParaRPr kumimoji="0" lang="ru-RU" sz="1800"/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8185945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3</a:t>
            </a:r>
            <a:endParaRPr kumimoji="0" lang="ru-RU" sz="1800"/>
          </a:p>
        </p:txBody>
      </p:sp>
      <p:sp>
        <p:nvSpPr>
          <p:cNvPr id="26" name="Text Box 20"/>
          <p:cNvSpPr txBox="1">
            <a:spLocks noChangeArrowheads="1"/>
          </p:cNvSpPr>
          <p:nvPr/>
        </p:nvSpPr>
        <p:spPr bwMode="auto">
          <a:xfrm>
            <a:off x="8905083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4</a:t>
            </a:r>
            <a:endParaRPr kumimoji="0" lang="ru-RU" sz="1800"/>
          </a:p>
        </p:txBody>
      </p:sp>
      <p:sp>
        <p:nvSpPr>
          <p:cNvPr id="27" name="Text Box 21"/>
          <p:cNvSpPr txBox="1">
            <a:spLocks noChangeArrowheads="1"/>
          </p:cNvSpPr>
          <p:nvPr/>
        </p:nvSpPr>
        <p:spPr bwMode="auto">
          <a:xfrm>
            <a:off x="9589295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5</a:t>
            </a:r>
            <a:endParaRPr kumimoji="0" lang="ru-RU" sz="1800"/>
          </a:p>
        </p:txBody>
      </p:sp>
      <p:cxnSp>
        <p:nvCxnSpPr>
          <p:cNvPr id="28" name="AutoShape 22"/>
          <p:cNvCxnSpPr>
            <a:cxnSpLocks noChangeShapeType="1"/>
            <a:stCxn id="10" idx="2"/>
            <a:endCxn id="16" idx="0"/>
          </p:cNvCxnSpPr>
          <p:nvPr/>
        </p:nvCxnSpPr>
        <p:spPr bwMode="auto">
          <a:xfrm>
            <a:off x="7052471" y="5185671"/>
            <a:ext cx="684213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9" name="AutoShape 23"/>
          <p:cNvCxnSpPr>
            <a:cxnSpLocks noChangeShapeType="1"/>
            <a:stCxn id="11" idx="2"/>
            <a:endCxn id="17" idx="0"/>
          </p:cNvCxnSpPr>
          <p:nvPr/>
        </p:nvCxnSpPr>
        <p:spPr bwMode="auto">
          <a:xfrm>
            <a:off x="7736684" y="5185671"/>
            <a:ext cx="682625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0" name="AutoShape 24"/>
          <p:cNvCxnSpPr>
            <a:cxnSpLocks noChangeShapeType="1"/>
            <a:stCxn id="12" idx="2"/>
            <a:endCxn id="18" idx="0"/>
          </p:cNvCxnSpPr>
          <p:nvPr/>
        </p:nvCxnSpPr>
        <p:spPr bwMode="auto">
          <a:xfrm>
            <a:off x="8419308" y="5185671"/>
            <a:ext cx="684212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31" name="AutoShape 26"/>
          <p:cNvCxnSpPr>
            <a:cxnSpLocks noChangeShapeType="1"/>
            <a:stCxn id="13" idx="2"/>
            <a:endCxn id="19" idx="0"/>
          </p:cNvCxnSpPr>
          <p:nvPr/>
        </p:nvCxnSpPr>
        <p:spPr bwMode="auto">
          <a:xfrm>
            <a:off x="9103521" y="5185671"/>
            <a:ext cx="684213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2" name="Rechteck 36"/>
          <p:cNvSpPr>
            <a:spLocks noChangeArrowheads="1"/>
          </p:cNvSpPr>
          <p:nvPr/>
        </p:nvSpPr>
        <p:spPr bwMode="gray">
          <a:xfrm>
            <a:off x="317168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Выравнивание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alignment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5312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4"/>
          <p:cNvSpPr>
            <a:spLocks noChangeArrowheads="1"/>
          </p:cNvSpPr>
          <p:nvPr/>
        </p:nvSpPr>
        <p:spPr bwMode="auto">
          <a:xfrm>
            <a:off x="7393788" y="46681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8078001" y="466814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4" name="Rectangle 6"/>
          <p:cNvSpPr>
            <a:spLocks noChangeArrowheads="1"/>
          </p:cNvSpPr>
          <p:nvPr/>
        </p:nvSpPr>
        <p:spPr bwMode="auto">
          <a:xfrm>
            <a:off x="8760626" y="466814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9444838" y="46681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6" name="Rectangle 8"/>
          <p:cNvSpPr>
            <a:spLocks noChangeArrowheads="1"/>
          </p:cNvSpPr>
          <p:nvPr/>
        </p:nvSpPr>
        <p:spPr bwMode="auto">
          <a:xfrm>
            <a:off x="10129051" y="466814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6709576" y="553174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8" name="Rectangle 10"/>
          <p:cNvSpPr>
            <a:spLocks noChangeArrowheads="1"/>
          </p:cNvSpPr>
          <p:nvPr/>
        </p:nvSpPr>
        <p:spPr bwMode="auto">
          <a:xfrm>
            <a:off x="7393788" y="55317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9" name="Rectangle 11"/>
          <p:cNvSpPr>
            <a:spLocks noChangeArrowheads="1"/>
          </p:cNvSpPr>
          <p:nvPr/>
        </p:nvSpPr>
        <p:spPr bwMode="auto">
          <a:xfrm>
            <a:off x="8076413" y="55317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40" name="Rectangle 12"/>
          <p:cNvSpPr>
            <a:spLocks noChangeArrowheads="1"/>
          </p:cNvSpPr>
          <p:nvPr/>
        </p:nvSpPr>
        <p:spPr bwMode="auto">
          <a:xfrm>
            <a:off x="8760626" y="553174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41" name="Rectangle 13"/>
          <p:cNvSpPr>
            <a:spLocks noChangeArrowheads="1"/>
          </p:cNvSpPr>
          <p:nvPr/>
        </p:nvSpPr>
        <p:spPr bwMode="auto">
          <a:xfrm>
            <a:off x="9444838" y="553174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42" name="Text Box 14"/>
          <p:cNvSpPr txBox="1">
            <a:spLocks noChangeArrowheads="1"/>
          </p:cNvSpPr>
          <p:nvPr/>
        </p:nvSpPr>
        <p:spPr bwMode="auto">
          <a:xfrm>
            <a:off x="5952339" y="4741170"/>
            <a:ext cx="5413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 dirty="0"/>
              <a:t>S</a:t>
            </a:r>
            <a:r>
              <a:rPr kumimoji="0" lang="en-US" sz="1800" baseline="-25000" dirty="0"/>
              <a:t>1</a:t>
            </a:r>
            <a:endParaRPr kumimoji="0" lang="ru-RU" sz="1800" baseline="-25000" dirty="0"/>
          </a:p>
        </p:txBody>
      </p:sp>
      <p:sp>
        <p:nvSpPr>
          <p:cNvPr id="43" name="Text Box 15"/>
          <p:cNvSpPr txBox="1">
            <a:spLocks noChangeArrowheads="1"/>
          </p:cNvSpPr>
          <p:nvPr/>
        </p:nvSpPr>
        <p:spPr bwMode="auto">
          <a:xfrm>
            <a:off x="5988850" y="5604770"/>
            <a:ext cx="5413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 dirty="0"/>
              <a:t>S</a:t>
            </a:r>
            <a:r>
              <a:rPr kumimoji="0" lang="en-US" sz="1800" baseline="-25000" dirty="0"/>
              <a:t>2</a:t>
            </a:r>
            <a:endParaRPr kumimoji="0" lang="ru-RU" sz="1800" baseline="-25000" dirty="0"/>
          </a:p>
        </p:txBody>
      </p:sp>
      <p:sp>
        <p:nvSpPr>
          <p:cNvPr id="44" name="Text Box 16"/>
          <p:cNvSpPr txBox="1">
            <a:spLocks noChangeArrowheads="1"/>
          </p:cNvSpPr>
          <p:nvPr/>
        </p:nvSpPr>
        <p:spPr bwMode="auto">
          <a:xfrm>
            <a:off x="6871906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1</a:t>
            </a:r>
            <a:endParaRPr kumimoji="0" lang="ru-RU" sz="1800"/>
          </a:p>
        </p:txBody>
      </p:sp>
      <p:sp>
        <p:nvSpPr>
          <p:cNvPr id="45" name="Text Box 17"/>
          <p:cNvSpPr txBox="1">
            <a:spLocks noChangeArrowheads="1"/>
          </p:cNvSpPr>
          <p:nvPr/>
        </p:nvSpPr>
        <p:spPr bwMode="auto">
          <a:xfrm>
            <a:off x="7484681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2</a:t>
            </a:r>
            <a:endParaRPr kumimoji="0" lang="ru-RU" sz="1800"/>
          </a:p>
        </p:txBody>
      </p:sp>
      <p:sp>
        <p:nvSpPr>
          <p:cNvPr id="46" name="Text Box 18"/>
          <p:cNvSpPr txBox="1">
            <a:spLocks noChangeArrowheads="1"/>
          </p:cNvSpPr>
          <p:nvPr/>
        </p:nvSpPr>
        <p:spPr bwMode="auto">
          <a:xfrm>
            <a:off x="8168894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3</a:t>
            </a:r>
            <a:endParaRPr kumimoji="0" lang="ru-RU" sz="1800"/>
          </a:p>
        </p:txBody>
      </p:sp>
      <p:sp>
        <p:nvSpPr>
          <p:cNvPr id="47" name="Text Box 19"/>
          <p:cNvSpPr txBox="1">
            <a:spLocks noChangeArrowheads="1"/>
          </p:cNvSpPr>
          <p:nvPr/>
        </p:nvSpPr>
        <p:spPr bwMode="auto">
          <a:xfrm>
            <a:off x="8888031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4</a:t>
            </a:r>
            <a:endParaRPr kumimoji="0" lang="ru-RU" sz="1800"/>
          </a:p>
        </p:txBody>
      </p:sp>
      <p:sp>
        <p:nvSpPr>
          <p:cNvPr id="48" name="Text Box 20"/>
          <p:cNvSpPr txBox="1">
            <a:spLocks noChangeArrowheads="1"/>
          </p:cNvSpPr>
          <p:nvPr/>
        </p:nvSpPr>
        <p:spPr bwMode="auto">
          <a:xfrm>
            <a:off x="9572244" y="4272858"/>
            <a:ext cx="431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5</a:t>
            </a:r>
            <a:endParaRPr kumimoji="0" lang="ru-RU" sz="1800"/>
          </a:p>
        </p:txBody>
      </p:sp>
      <p:cxnSp>
        <p:nvCxnSpPr>
          <p:cNvPr id="49" name="AutoShape 21"/>
          <p:cNvCxnSpPr>
            <a:cxnSpLocks noChangeShapeType="1"/>
            <a:stCxn id="32" idx="2"/>
            <a:endCxn id="38" idx="0"/>
          </p:cNvCxnSpPr>
          <p:nvPr/>
        </p:nvCxnSpPr>
        <p:spPr bwMode="auto">
          <a:xfrm>
            <a:off x="7736688" y="518567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0" name="AutoShape 22"/>
          <p:cNvCxnSpPr>
            <a:cxnSpLocks noChangeShapeType="1"/>
            <a:stCxn id="33" idx="2"/>
            <a:endCxn id="39" idx="0"/>
          </p:cNvCxnSpPr>
          <p:nvPr/>
        </p:nvCxnSpPr>
        <p:spPr bwMode="auto">
          <a:xfrm flipH="1">
            <a:off x="8419314" y="5185671"/>
            <a:ext cx="1587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" name="AutoShape 23"/>
          <p:cNvCxnSpPr>
            <a:cxnSpLocks noChangeShapeType="1"/>
            <a:stCxn id="34" idx="2"/>
            <a:endCxn id="40" idx="0"/>
          </p:cNvCxnSpPr>
          <p:nvPr/>
        </p:nvCxnSpPr>
        <p:spPr bwMode="auto">
          <a:xfrm>
            <a:off x="9103525" y="518567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2" name="AutoShape 24"/>
          <p:cNvCxnSpPr>
            <a:cxnSpLocks noChangeShapeType="1"/>
            <a:stCxn id="35" idx="2"/>
            <a:endCxn id="41" idx="0"/>
          </p:cNvCxnSpPr>
          <p:nvPr/>
        </p:nvCxnSpPr>
        <p:spPr bwMode="auto">
          <a:xfrm>
            <a:off x="9787738" y="518567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1" name="Прямоугольник 20"/>
          <p:cNvSpPr/>
          <p:nvPr/>
        </p:nvSpPr>
        <p:spPr>
          <a:xfrm>
            <a:off x="4755836" y="1619999"/>
            <a:ext cx="6912000" cy="2484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>
            <a:spAutoFit/>
          </a:bodyPr>
          <a:lstStyle/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=</a:t>
            </a:r>
            <a:r>
              <a:rPr kumimoji="0" lang="ru-RU" sz="2400" dirty="0"/>
              <a:t>1</a:t>
            </a:r>
            <a:r>
              <a:rPr kumimoji="0" lang="en-US" sz="2400" dirty="0"/>
              <a:t>,n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: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d(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: c(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a(</a:t>
            </a:r>
            <a:r>
              <a:rPr kumimoji="0" lang="en-US" sz="2400" dirty="0" err="1"/>
              <a:t>i</a:t>
            </a:r>
            <a:r>
              <a:rPr kumimoji="0" lang="ru-RU" sz="2400" dirty="0"/>
              <a:t> </a:t>
            </a:r>
            <a:r>
              <a:rPr kumimoji="0" lang="en-US" sz="2400" dirty="0"/>
              <a:t>-</a:t>
            </a:r>
            <a:r>
              <a:rPr kumimoji="0" lang="ru-RU" sz="2400" dirty="0"/>
              <a:t> </a:t>
            </a:r>
            <a:r>
              <a:rPr kumimoji="0" lang="en-US" sz="2400" dirty="0"/>
              <a:t>1) * 2</a:t>
            </a:r>
          </a:p>
          <a:p>
            <a:r>
              <a:rPr kumimoji="0" lang="en-US" sz="2400" dirty="0"/>
              <a:t>end do</a:t>
            </a:r>
          </a:p>
          <a:p>
            <a:pPr>
              <a:spcBef>
                <a:spcPts val="1200"/>
              </a:spcBef>
            </a:pPr>
            <a:r>
              <a:rPr kumimoji="0" lang="ru-RU" dirty="0"/>
              <a:t>Это истинная зависимость</a:t>
            </a:r>
            <a:r>
              <a:rPr kumimoji="0" lang="en-US" dirty="0"/>
              <a:t>. </a:t>
            </a:r>
            <a:r>
              <a:rPr kumimoji="0" lang="ru-RU" dirty="0"/>
              <a:t>Расстояние зависимости</a:t>
            </a:r>
            <a:r>
              <a:rPr kumimoji="0" lang="en-US" dirty="0"/>
              <a:t> D = 1</a:t>
            </a:r>
            <a:r>
              <a:rPr kumimoji="0" lang="ru-RU" dirty="0"/>
              <a:t>.</a:t>
            </a:r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799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53" name="Rechteck 36"/>
          <p:cNvSpPr>
            <a:spLocks noChangeArrowheads="1"/>
          </p:cNvSpPr>
          <p:nvPr/>
        </p:nvSpPr>
        <p:spPr bwMode="gray">
          <a:xfrm>
            <a:off x="3171686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Выравнивание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alignment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830700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8" y="1620000"/>
            <a:ext cx="6912000" cy="2484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>
            <a:spAutoFit/>
          </a:bodyPr>
          <a:lstStyle/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=</a:t>
            </a:r>
            <a:r>
              <a:rPr kumimoji="0" lang="ru-RU" sz="2400" dirty="0"/>
              <a:t>1</a:t>
            </a:r>
            <a:r>
              <a:rPr kumimoji="0" lang="en-US" sz="2400" dirty="0"/>
              <a:t>,n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: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d(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: c(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a(</a:t>
            </a:r>
            <a:r>
              <a:rPr kumimoji="0" lang="en-US" sz="2400" dirty="0" err="1"/>
              <a:t>i</a:t>
            </a:r>
            <a:r>
              <a:rPr kumimoji="0" lang="ru-RU" sz="2400" dirty="0"/>
              <a:t> </a:t>
            </a:r>
            <a:r>
              <a:rPr kumimoji="0" lang="en-US" sz="2400" dirty="0"/>
              <a:t>-</a:t>
            </a:r>
            <a:r>
              <a:rPr kumimoji="0" lang="ru-RU" sz="2400" dirty="0"/>
              <a:t> </a:t>
            </a:r>
            <a:r>
              <a:rPr kumimoji="0" lang="en-US" sz="2400" dirty="0"/>
              <a:t>1) * 2</a:t>
            </a:r>
          </a:p>
          <a:p>
            <a:r>
              <a:rPr kumimoji="0" lang="en-US" sz="2400" dirty="0"/>
              <a:t>end do</a:t>
            </a:r>
          </a:p>
          <a:p>
            <a:pPr>
              <a:spcBef>
                <a:spcPts val="1200"/>
              </a:spcBef>
            </a:pPr>
            <a:r>
              <a:rPr kumimoji="0" lang="ru-RU" dirty="0"/>
              <a:t>Это истинная зависимость</a:t>
            </a:r>
            <a:r>
              <a:rPr kumimoji="0" lang="en-US" dirty="0"/>
              <a:t>. </a:t>
            </a:r>
            <a:r>
              <a:rPr kumimoji="0" lang="ru-RU" dirty="0"/>
              <a:t>Расстояние зависимости</a:t>
            </a:r>
            <a:r>
              <a:rPr kumimoji="0" lang="en-US" dirty="0"/>
              <a:t> D = 1</a:t>
            </a:r>
            <a:r>
              <a:rPr kumimoji="0" lang="ru-RU" dirty="0"/>
              <a:t>.</a:t>
            </a:r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801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28" name="Прямоугольник 27"/>
          <p:cNvSpPr/>
          <p:nvPr/>
        </p:nvSpPr>
        <p:spPr>
          <a:xfrm>
            <a:off x="4755838" y="4290438"/>
            <a:ext cx="6912000" cy="186204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</a:pPr>
            <a:r>
              <a:rPr kumimoji="0" lang="ru-RU" dirty="0"/>
              <a:t>После преобразования</a:t>
            </a:r>
            <a:endParaRPr kumimoji="0" lang="en-US" dirty="0"/>
          </a:p>
          <a:p>
            <a:pPr>
              <a:spcBef>
                <a:spcPts val="600"/>
              </a:spcBef>
            </a:pPr>
            <a:r>
              <a:rPr kumimoji="0" lang="en-US" dirty="0"/>
              <a:t>do </a:t>
            </a:r>
            <a:r>
              <a:rPr kumimoji="0" lang="en-US" dirty="0" err="1"/>
              <a:t>i</a:t>
            </a:r>
            <a:r>
              <a:rPr kumimoji="0" lang="en-US" dirty="0"/>
              <a:t>=</a:t>
            </a:r>
            <a:r>
              <a:rPr kumimoji="0" lang="ru-RU" dirty="0"/>
              <a:t>0</a:t>
            </a:r>
            <a:r>
              <a:rPr kumimoji="0" lang="en-US" dirty="0"/>
              <a:t>,n</a:t>
            </a:r>
          </a:p>
          <a:p>
            <a:r>
              <a:rPr kumimoji="0" lang="ru-RU" dirty="0"/>
              <a:t>	</a:t>
            </a:r>
            <a:r>
              <a:rPr kumimoji="0" lang="en-US" dirty="0"/>
              <a:t>S</a:t>
            </a:r>
            <a:r>
              <a:rPr kumimoji="0" lang="en-US" baseline="-25000" dirty="0"/>
              <a:t>1</a:t>
            </a:r>
            <a:r>
              <a:rPr kumimoji="0" lang="en-US" dirty="0"/>
              <a:t>: if (</a:t>
            </a:r>
            <a:r>
              <a:rPr kumimoji="0" lang="en-US" dirty="0" err="1"/>
              <a:t>i</a:t>
            </a:r>
            <a:r>
              <a:rPr kumimoji="0" lang="ru-RU" dirty="0"/>
              <a:t> </a:t>
            </a:r>
            <a:r>
              <a:rPr kumimoji="0" lang="en-US" dirty="0"/>
              <a:t>&gt;</a:t>
            </a:r>
            <a:r>
              <a:rPr kumimoji="0" lang="ru-RU" dirty="0"/>
              <a:t> </a:t>
            </a:r>
            <a:r>
              <a:rPr kumimoji="0" lang="en-US" dirty="0"/>
              <a:t>0) a(</a:t>
            </a:r>
            <a:r>
              <a:rPr kumimoji="0" lang="en-US" dirty="0" err="1"/>
              <a:t>i</a:t>
            </a:r>
            <a:r>
              <a:rPr kumimoji="0" lang="en-US" dirty="0"/>
              <a:t>)</a:t>
            </a:r>
            <a:r>
              <a:rPr kumimoji="0" lang="ru-RU" dirty="0"/>
              <a:t> </a:t>
            </a:r>
            <a:r>
              <a:rPr kumimoji="0" lang="en-US" dirty="0"/>
              <a:t>= d(</a:t>
            </a:r>
            <a:r>
              <a:rPr kumimoji="0" lang="en-US" dirty="0" err="1"/>
              <a:t>i</a:t>
            </a:r>
            <a:r>
              <a:rPr kumimoji="0" lang="en-US" dirty="0"/>
              <a:t>)</a:t>
            </a:r>
            <a:r>
              <a:rPr kumimoji="0" lang="ru-RU" dirty="0"/>
              <a:t> </a:t>
            </a:r>
            <a:r>
              <a:rPr kumimoji="0" lang="en-US" dirty="0"/>
              <a:t>+</a:t>
            </a:r>
            <a:r>
              <a:rPr kumimoji="0" lang="ru-RU" dirty="0"/>
              <a:t> </a:t>
            </a:r>
            <a:r>
              <a:rPr kumimoji="0" lang="en-US" dirty="0"/>
              <a:t>5 * </a:t>
            </a:r>
            <a:r>
              <a:rPr kumimoji="0" lang="en-US" dirty="0" err="1"/>
              <a:t>i</a:t>
            </a:r>
            <a:endParaRPr kumimoji="0" lang="en-US" dirty="0"/>
          </a:p>
          <a:p>
            <a:r>
              <a:rPr kumimoji="0" lang="ru-RU" dirty="0"/>
              <a:t>	</a:t>
            </a:r>
            <a:r>
              <a:rPr kumimoji="0" lang="en-US" dirty="0"/>
              <a:t>S</a:t>
            </a:r>
            <a:r>
              <a:rPr kumimoji="0" lang="en-US" baseline="-25000" dirty="0"/>
              <a:t>2</a:t>
            </a:r>
            <a:r>
              <a:rPr kumimoji="0" lang="en-US" dirty="0"/>
              <a:t>: if (</a:t>
            </a:r>
            <a:r>
              <a:rPr kumimoji="0" lang="en-US" dirty="0" err="1"/>
              <a:t>i</a:t>
            </a:r>
            <a:r>
              <a:rPr kumimoji="0" lang="ru-RU" dirty="0"/>
              <a:t> </a:t>
            </a:r>
            <a:r>
              <a:rPr kumimoji="0" lang="en-US" dirty="0"/>
              <a:t>&lt;</a:t>
            </a:r>
            <a:r>
              <a:rPr kumimoji="0" lang="ru-RU" dirty="0"/>
              <a:t> </a:t>
            </a:r>
            <a:r>
              <a:rPr kumimoji="0" lang="en-US" dirty="0"/>
              <a:t>n) c(</a:t>
            </a:r>
            <a:r>
              <a:rPr kumimoji="0" lang="en-US" dirty="0" err="1"/>
              <a:t>i</a:t>
            </a:r>
            <a:r>
              <a:rPr kumimoji="0" lang="ru-RU" dirty="0"/>
              <a:t> </a:t>
            </a:r>
            <a:r>
              <a:rPr kumimoji="0" lang="en-US" dirty="0"/>
              <a:t>+</a:t>
            </a:r>
            <a:r>
              <a:rPr kumimoji="0" lang="ru-RU" dirty="0"/>
              <a:t> </a:t>
            </a:r>
            <a:r>
              <a:rPr kumimoji="0" lang="en-US" dirty="0"/>
              <a:t>1)</a:t>
            </a:r>
            <a:r>
              <a:rPr kumimoji="0" lang="ru-RU" dirty="0"/>
              <a:t> </a:t>
            </a:r>
            <a:r>
              <a:rPr kumimoji="0" lang="en-US" dirty="0"/>
              <a:t>= a(</a:t>
            </a:r>
            <a:r>
              <a:rPr kumimoji="0" lang="en-US" dirty="0" err="1"/>
              <a:t>i</a:t>
            </a:r>
            <a:r>
              <a:rPr kumimoji="0" lang="en-US" dirty="0"/>
              <a:t>) * 2</a:t>
            </a:r>
          </a:p>
          <a:p>
            <a:r>
              <a:rPr kumimoji="0" lang="en-US" dirty="0"/>
              <a:t>end do</a:t>
            </a:r>
          </a:p>
        </p:txBody>
      </p:sp>
      <p:sp>
        <p:nvSpPr>
          <p:cNvPr id="29" name="Rechteck 36"/>
          <p:cNvSpPr>
            <a:spLocks noChangeArrowheads="1"/>
          </p:cNvSpPr>
          <p:nvPr/>
        </p:nvSpPr>
        <p:spPr bwMode="gray">
          <a:xfrm>
            <a:off x="3171688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Выравнивание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alignment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30445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4" y="1985894"/>
            <a:ext cx="6912000" cy="3384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 tIns="108000">
            <a:spAutoFit/>
          </a:bodyPr>
          <a:lstStyle/>
          <a:p>
            <a:r>
              <a:rPr kumimoji="0" lang="ru-RU" sz="2400" dirty="0"/>
              <a:t>Мы можем устранить условные операторы</a:t>
            </a:r>
            <a:r>
              <a:rPr kumimoji="0" lang="en-US" sz="2400" dirty="0"/>
              <a:t>:</a:t>
            </a:r>
          </a:p>
          <a:p>
            <a:pPr>
              <a:spcBef>
                <a:spcPct val="50000"/>
              </a:spcBef>
            </a:pPr>
            <a:r>
              <a:rPr kumimoji="0" lang="en-US" sz="2400" dirty="0"/>
              <a:t>c(1) = a(0)*2</a:t>
            </a:r>
            <a:endParaRPr kumimoji="0" lang="ru-RU" sz="2400" dirty="0"/>
          </a:p>
          <a:p>
            <a:pPr>
              <a:spcBef>
                <a:spcPct val="50000"/>
              </a:spcBef>
            </a:pPr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=1,n - 1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: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d(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: c(</a:t>
            </a:r>
            <a:r>
              <a:rPr kumimoji="0" lang="en-US" sz="2400" dirty="0" err="1"/>
              <a:t>i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1)</a:t>
            </a:r>
            <a:r>
              <a:rPr kumimoji="0" lang="ru-RU" sz="2400" dirty="0"/>
              <a:t> </a:t>
            </a:r>
            <a:r>
              <a:rPr kumimoji="0" lang="en-US" sz="2400" dirty="0"/>
              <a:t>= a(</a:t>
            </a:r>
            <a:r>
              <a:rPr kumimoji="0" lang="en-US" sz="2400" dirty="0" err="1"/>
              <a:t>i</a:t>
            </a:r>
            <a:r>
              <a:rPr kumimoji="0" lang="en-US" sz="2400" dirty="0"/>
              <a:t>) * 2</a:t>
            </a:r>
          </a:p>
          <a:p>
            <a:r>
              <a:rPr kumimoji="0" lang="en-US" sz="2400" dirty="0"/>
              <a:t>end do</a:t>
            </a:r>
          </a:p>
          <a:p>
            <a:pPr>
              <a:spcBef>
                <a:spcPts val="1440"/>
              </a:spcBef>
            </a:pPr>
            <a:r>
              <a:rPr kumimoji="0" lang="en-US" sz="2400" dirty="0"/>
              <a:t>a(n) = d(n) + 5*n</a:t>
            </a:r>
            <a:endParaRPr kumimoji="0" lang="ru-RU" sz="2400" dirty="0"/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797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171684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Выравнивание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alignment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7517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8" y="1985895"/>
            <a:ext cx="6912000" cy="156966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=</a:t>
            </a:r>
            <a:r>
              <a:rPr kumimoji="0" lang="ru-RU" sz="2400" dirty="0"/>
              <a:t>1</a:t>
            </a:r>
            <a:r>
              <a:rPr kumimoji="0" lang="en-US" sz="2400" dirty="0"/>
              <a:t>,n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: a(</a:t>
            </a:r>
            <a:r>
              <a:rPr kumimoji="0" lang="en-US" sz="2400" dirty="0" err="1"/>
              <a:t>i</a:t>
            </a:r>
            <a:r>
              <a:rPr kumimoji="0" lang="en-US" sz="2400" dirty="0"/>
              <a:t> + 1)</a:t>
            </a:r>
            <a:r>
              <a:rPr kumimoji="0" lang="ru-RU" sz="2400" dirty="0"/>
              <a:t> </a:t>
            </a:r>
            <a:r>
              <a:rPr kumimoji="0" lang="en-US" sz="2400" dirty="0"/>
              <a:t>= d(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: c(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a(</a:t>
            </a:r>
            <a:r>
              <a:rPr kumimoji="0" lang="en-US" sz="2400" dirty="0" err="1"/>
              <a:t>i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1) * 2 +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/>
              <a:t>end do</a:t>
            </a:r>
            <a:endParaRPr kumimoji="0" lang="en-US" sz="1800" dirty="0"/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801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6700610" y="411162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7384822" y="41116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8067447" y="41116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8751660" y="411162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9435872" y="41116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6700610" y="497522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8" name="Rectangle 11"/>
          <p:cNvSpPr>
            <a:spLocks noChangeArrowheads="1"/>
          </p:cNvSpPr>
          <p:nvPr/>
        </p:nvSpPr>
        <p:spPr bwMode="auto">
          <a:xfrm>
            <a:off x="7384822" y="49752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8067447" y="49752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40" name="Rectangle 13"/>
          <p:cNvSpPr>
            <a:spLocks noChangeArrowheads="1"/>
          </p:cNvSpPr>
          <p:nvPr/>
        </p:nvSpPr>
        <p:spPr bwMode="auto">
          <a:xfrm>
            <a:off x="8751660" y="497522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9435872" y="49752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/>
          </a:p>
        </p:txBody>
      </p:sp>
      <p:sp>
        <p:nvSpPr>
          <p:cNvPr id="42" name="Text Box 15"/>
          <p:cNvSpPr txBox="1">
            <a:spLocks noChangeArrowheads="1"/>
          </p:cNvSpPr>
          <p:nvPr/>
        </p:nvSpPr>
        <p:spPr bwMode="auto">
          <a:xfrm>
            <a:off x="5943373" y="4184651"/>
            <a:ext cx="5413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 dirty="0"/>
              <a:t>S</a:t>
            </a:r>
            <a:r>
              <a:rPr kumimoji="0" lang="en-US" sz="1800" baseline="-25000" dirty="0"/>
              <a:t>1</a:t>
            </a:r>
            <a:endParaRPr kumimoji="0" lang="ru-RU" sz="1800" baseline="-25000" dirty="0"/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5979884" y="5048251"/>
            <a:ext cx="5413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 dirty="0"/>
              <a:t>S</a:t>
            </a:r>
            <a:r>
              <a:rPr kumimoji="0" lang="en-US" sz="1800" baseline="-25000" dirty="0"/>
              <a:t>2</a:t>
            </a:r>
            <a:endParaRPr kumimoji="0" lang="ru-RU" sz="1800" baseline="-25000" dirty="0"/>
          </a:p>
        </p:txBody>
      </p:sp>
      <p:sp>
        <p:nvSpPr>
          <p:cNvPr id="44" name="Text Box 17"/>
          <p:cNvSpPr txBox="1">
            <a:spLocks noChangeArrowheads="1"/>
          </p:cNvSpPr>
          <p:nvPr/>
        </p:nvSpPr>
        <p:spPr bwMode="auto">
          <a:xfrm>
            <a:off x="6879997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1</a:t>
            </a:r>
            <a:endParaRPr kumimoji="0" lang="ru-RU" sz="1800"/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7492772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2</a:t>
            </a:r>
            <a:endParaRPr kumimoji="0" lang="ru-RU" sz="1800"/>
          </a:p>
        </p:txBody>
      </p:sp>
      <p:sp>
        <p:nvSpPr>
          <p:cNvPr id="46" name="Text Box 19"/>
          <p:cNvSpPr txBox="1">
            <a:spLocks noChangeArrowheads="1"/>
          </p:cNvSpPr>
          <p:nvPr/>
        </p:nvSpPr>
        <p:spPr bwMode="auto">
          <a:xfrm>
            <a:off x="8176984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3</a:t>
            </a:r>
            <a:endParaRPr kumimoji="0" lang="ru-RU" sz="1800"/>
          </a:p>
        </p:txBody>
      </p:sp>
      <p:sp>
        <p:nvSpPr>
          <p:cNvPr id="47" name="Text Box 20"/>
          <p:cNvSpPr txBox="1">
            <a:spLocks noChangeArrowheads="1"/>
          </p:cNvSpPr>
          <p:nvPr/>
        </p:nvSpPr>
        <p:spPr bwMode="auto">
          <a:xfrm>
            <a:off x="8896122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4</a:t>
            </a:r>
            <a:endParaRPr kumimoji="0" lang="ru-RU" sz="1800"/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>
            <a:off x="9580334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5</a:t>
            </a:r>
            <a:endParaRPr kumimoji="0" lang="ru-RU" sz="1800"/>
          </a:p>
        </p:txBody>
      </p:sp>
      <p:cxnSp>
        <p:nvCxnSpPr>
          <p:cNvPr id="49" name="AutoShape 22"/>
          <p:cNvCxnSpPr>
            <a:cxnSpLocks noChangeShapeType="1"/>
            <a:stCxn id="32" idx="2"/>
            <a:endCxn id="38" idx="0"/>
          </p:cNvCxnSpPr>
          <p:nvPr/>
        </p:nvCxnSpPr>
        <p:spPr bwMode="auto">
          <a:xfrm>
            <a:off x="7043510" y="4629151"/>
            <a:ext cx="684213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0" name="AutoShape 23"/>
          <p:cNvCxnSpPr>
            <a:cxnSpLocks noChangeShapeType="1"/>
            <a:stCxn id="33" idx="2"/>
            <a:endCxn id="39" idx="0"/>
          </p:cNvCxnSpPr>
          <p:nvPr/>
        </p:nvCxnSpPr>
        <p:spPr bwMode="auto">
          <a:xfrm>
            <a:off x="7727723" y="4629151"/>
            <a:ext cx="682625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1" name="AutoShape 24"/>
          <p:cNvCxnSpPr>
            <a:cxnSpLocks noChangeShapeType="1"/>
            <a:stCxn id="34" idx="2"/>
            <a:endCxn id="40" idx="0"/>
          </p:cNvCxnSpPr>
          <p:nvPr/>
        </p:nvCxnSpPr>
        <p:spPr bwMode="auto">
          <a:xfrm>
            <a:off x="8410347" y="4629151"/>
            <a:ext cx="684212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2" name="AutoShape 25"/>
          <p:cNvCxnSpPr>
            <a:cxnSpLocks noChangeShapeType="1"/>
            <a:stCxn id="35" idx="2"/>
            <a:endCxn id="41" idx="0"/>
          </p:cNvCxnSpPr>
          <p:nvPr/>
        </p:nvCxnSpPr>
        <p:spPr bwMode="auto">
          <a:xfrm>
            <a:off x="9094560" y="4629151"/>
            <a:ext cx="684213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3" name="AutoShape 26"/>
          <p:cNvCxnSpPr>
            <a:cxnSpLocks noChangeShapeType="1"/>
            <a:stCxn id="32" idx="2"/>
            <a:endCxn id="37" idx="0"/>
          </p:cNvCxnSpPr>
          <p:nvPr/>
        </p:nvCxnSpPr>
        <p:spPr bwMode="auto">
          <a:xfrm>
            <a:off x="7043509" y="462915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4" name="AutoShape 27"/>
          <p:cNvCxnSpPr>
            <a:cxnSpLocks noChangeShapeType="1"/>
            <a:stCxn id="33" idx="2"/>
            <a:endCxn id="38" idx="0"/>
          </p:cNvCxnSpPr>
          <p:nvPr/>
        </p:nvCxnSpPr>
        <p:spPr bwMode="auto">
          <a:xfrm>
            <a:off x="7727722" y="462915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5" name="AutoShape 28"/>
          <p:cNvCxnSpPr>
            <a:cxnSpLocks noChangeShapeType="1"/>
            <a:stCxn id="34" idx="2"/>
            <a:endCxn id="39" idx="0"/>
          </p:cNvCxnSpPr>
          <p:nvPr/>
        </p:nvCxnSpPr>
        <p:spPr bwMode="auto">
          <a:xfrm>
            <a:off x="8410347" y="462915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6" name="AutoShape 29"/>
          <p:cNvCxnSpPr>
            <a:cxnSpLocks noChangeShapeType="1"/>
            <a:stCxn id="35" idx="2"/>
            <a:endCxn id="40" idx="0"/>
          </p:cNvCxnSpPr>
          <p:nvPr/>
        </p:nvCxnSpPr>
        <p:spPr bwMode="auto">
          <a:xfrm>
            <a:off x="9094559" y="462915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57" name="Rechteck 36"/>
          <p:cNvSpPr>
            <a:spLocks noChangeArrowheads="1"/>
          </p:cNvSpPr>
          <p:nvPr/>
        </p:nvSpPr>
        <p:spPr bwMode="gray">
          <a:xfrm>
            <a:off x="3171688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Выравнивание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alignment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8982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838" y="1985895"/>
            <a:ext cx="6912000" cy="156966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=</a:t>
            </a:r>
            <a:r>
              <a:rPr kumimoji="0" lang="ru-RU" sz="2400" dirty="0"/>
              <a:t>1</a:t>
            </a:r>
            <a:r>
              <a:rPr kumimoji="0" lang="en-US" sz="2400" dirty="0"/>
              <a:t>,n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: a(</a:t>
            </a:r>
            <a:r>
              <a:rPr kumimoji="0" lang="en-US" sz="2400" dirty="0" err="1"/>
              <a:t>i</a:t>
            </a:r>
            <a:r>
              <a:rPr kumimoji="0" lang="en-US" sz="2400" dirty="0"/>
              <a:t> + 1)</a:t>
            </a:r>
            <a:r>
              <a:rPr kumimoji="0" lang="ru-RU" sz="2400" dirty="0"/>
              <a:t> </a:t>
            </a:r>
            <a:r>
              <a:rPr kumimoji="0" lang="en-US" sz="2400" dirty="0"/>
              <a:t>= d(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: c(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a(</a:t>
            </a:r>
            <a:r>
              <a:rPr kumimoji="0" lang="en-US" sz="2400" dirty="0" err="1"/>
              <a:t>i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1) * 2 +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/>
              <a:t>end do</a:t>
            </a:r>
            <a:endParaRPr kumimoji="0" lang="en-US" sz="1800" dirty="0"/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801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42" name="Text Box 15"/>
          <p:cNvSpPr txBox="1">
            <a:spLocks noChangeArrowheads="1"/>
          </p:cNvSpPr>
          <p:nvPr/>
        </p:nvSpPr>
        <p:spPr bwMode="auto">
          <a:xfrm>
            <a:off x="5943372" y="4184651"/>
            <a:ext cx="5413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 dirty="0"/>
              <a:t>S</a:t>
            </a:r>
            <a:r>
              <a:rPr kumimoji="0" lang="en-US" sz="1800" baseline="-25000" dirty="0"/>
              <a:t>1</a:t>
            </a:r>
            <a:endParaRPr kumimoji="0" lang="ru-RU" sz="1800" baseline="-25000" dirty="0"/>
          </a:p>
        </p:txBody>
      </p:sp>
      <p:sp>
        <p:nvSpPr>
          <p:cNvPr id="43" name="Text Box 16"/>
          <p:cNvSpPr txBox="1">
            <a:spLocks noChangeArrowheads="1"/>
          </p:cNvSpPr>
          <p:nvPr/>
        </p:nvSpPr>
        <p:spPr bwMode="auto">
          <a:xfrm>
            <a:off x="5979883" y="5048251"/>
            <a:ext cx="5413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 dirty="0"/>
              <a:t>S</a:t>
            </a:r>
            <a:r>
              <a:rPr kumimoji="0" lang="en-US" sz="1800" baseline="-25000" dirty="0"/>
              <a:t>2</a:t>
            </a:r>
            <a:endParaRPr kumimoji="0" lang="ru-RU" sz="1800" baseline="-25000" dirty="0"/>
          </a:p>
        </p:txBody>
      </p:sp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7384821" y="41116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58" name="Rectangle 5"/>
          <p:cNvSpPr>
            <a:spLocks noChangeArrowheads="1"/>
          </p:cNvSpPr>
          <p:nvPr/>
        </p:nvSpPr>
        <p:spPr bwMode="auto">
          <a:xfrm>
            <a:off x="8069034" y="411162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59" name="Rectangle 6"/>
          <p:cNvSpPr>
            <a:spLocks noChangeArrowheads="1"/>
          </p:cNvSpPr>
          <p:nvPr/>
        </p:nvSpPr>
        <p:spPr bwMode="auto">
          <a:xfrm>
            <a:off x="8751659" y="411162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60" name="Rectangle 7"/>
          <p:cNvSpPr>
            <a:spLocks noChangeArrowheads="1"/>
          </p:cNvSpPr>
          <p:nvPr/>
        </p:nvSpPr>
        <p:spPr bwMode="auto">
          <a:xfrm>
            <a:off x="9435871" y="41116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61" name="Rectangle 8"/>
          <p:cNvSpPr>
            <a:spLocks noChangeArrowheads="1"/>
          </p:cNvSpPr>
          <p:nvPr/>
        </p:nvSpPr>
        <p:spPr bwMode="auto">
          <a:xfrm>
            <a:off x="10120084" y="411162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62" name="Rectangle 9"/>
          <p:cNvSpPr>
            <a:spLocks noChangeArrowheads="1"/>
          </p:cNvSpPr>
          <p:nvPr/>
        </p:nvSpPr>
        <p:spPr bwMode="auto">
          <a:xfrm>
            <a:off x="6700609" y="497522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63" name="Rectangle 10"/>
          <p:cNvSpPr>
            <a:spLocks noChangeArrowheads="1"/>
          </p:cNvSpPr>
          <p:nvPr/>
        </p:nvSpPr>
        <p:spPr bwMode="auto">
          <a:xfrm>
            <a:off x="7384821" y="49752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64" name="Rectangle 11"/>
          <p:cNvSpPr>
            <a:spLocks noChangeArrowheads="1"/>
          </p:cNvSpPr>
          <p:nvPr/>
        </p:nvSpPr>
        <p:spPr bwMode="auto">
          <a:xfrm>
            <a:off x="8067446" y="49752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65" name="Rectangle 12"/>
          <p:cNvSpPr>
            <a:spLocks noChangeArrowheads="1"/>
          </p:cNvSpPr>
          <p:nvPr/>
        </p:nvSpPr>
        <p:spPr bwMode="auto">
          <a:xfrm>
            <a:off x="8751659" y="4975226"/>
            <a:ext cx="684213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66" name="Rectangle 13"/>
          <p:cNvSpPr>
            <a:spLocks noChangeArrowheads="1"/>
          </p:cNvSpPr>
          <p:nvPr/>
        </p:nvSpPr>
        <p:spPr bwMode="auto">
          <a:xfrm>
            <a:off x="9435871" y="4975226"/>
            <a:ext cx="684212" cy="504825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ru-RU" sz="1800">
              <a:latin typeface="Calibri" pitchFamily="34" charset="0"/>
            </a:endParaRPr>
          </a:p>
        </p:txBody>
      </p:sp>
      <p:sp>
        <p:nvSpPr>
          <p:cNvPr id="67" name="Text Box 16"/>
          <p:cNvSpPr txBox="1">
            <a:spLocks noChangeArrowheads="1"/>
          </p:cNvSpPr>
          <p:nvPr/>
        </p:nvSpPr>
        <p:spPr bwMode="auto">
          <a:xfrm>
            <a:off x="7597176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1</a:t>
            </a:r>
            <a:endParaRPr kumimoji="0" lang="ru-RU" sz="1800"/>
          </a:p>
        </p:txBody>
      </p:sp>
      <p:sp>
        <p:nvSpPr>
          <p:cNvPr id="68" name="Text Box 17"/>
          <p:cNvSpPr txBox="1">
            <a:spLocks noChangeArrowheads="1"/>
          </p:cNvSpPr>
          <p:nvPr/>
        </p:nvSpPr>
        <p:spPr bwMode="auto">
          <a:xfrm>
            <a:off x="8209951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2</a:t>
            </a:r>
            <a:endParaRPr kumimoji="0" lang="ru-RU" sz="1800"/>
          </a:p>
        </p:txBody>
      </p:sp>
      <p:sp>
        <p:nvSpPr>
          <p:cNvPr id="69" name="Text Box 18"/>
          <p:cNvSpPr txBox="1">
            <a:spLocks noChangeArrowheads="1"/>
          </p:cNvSpPr>
          <p:nvPr/>
        </p:nvSpPr>
        <p:spPr bwMode="auto">
          <a:xfrm>
            <a:off x="8894163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3</a:t>
            </a:r>
            <a:endParaRPr kumimoji="0" lang="ru-RU" sz="1800"/>
          </a:p>
        </p:txBody>
      </p:sp>
      <p:sp>
        <p:nvSpPr>
          <p:cNvPr id="70" name="Text Box 19"/>
          <p:cNvSpPr txBox="1">
            <a:spLocks noChangeArrowheads="1"/>
          </p:cNvSpPr>
          <p:nvPr/>
        </p:nvSpPr>
        <p:spPr bwMode="auto">
          <a:xfrm>
            <a:off x="9613301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4</a:t>
            </a:r>
            <a:endParaRPr kumimoji="0" lang="ru-RU" sz="1800"/>
          </a:p>
        </p:txBody>
      </p:sp>
      <p:sp>
        <p:nvSpPr>
          <p:cNvPr id="71" name="Text Box 20"/>
          <p:cNvSpPr txBox="1">
            <a:spLocks noChangeArrowheads="1"/>
          </p:cNvSpPr>
          <p:nvPr/>
        </p:nvSpPr>
        <p:spPr bwMode="auto">
          <a:xfrm>
            <a:off x="10297513" y="3716338"/>
            <a:ext cx="431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en-US" sz="1800"/>
              <a:t>5</a:t>
            </a:r>
            <a:endParaRPr kumimoji="0" lang="ru-RU" sz="1800"/>
          </a:p>
        </p:txBody>
      </p:sp>
      <p:cxnSp>
        <p:nvCxnSpPr>
          <p:cNvPr id="72" name="AutoShape 21"/>
          <p:cNvCxnSpPr>
            <a:cxnSpLocks noChangeShapeType="1"/>
            <a:stCxn id="57" idx="2"/>
            <a:endCxn id="63" idx="0"/>
          </p:cNvCxnSpPr>
          <p:nvPr/>
        </p:nvCxnSpPr>
        <p:spPr bwMode="auto">
          <a:xfrm>
            <a:off x="7727721" y="462915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3" name="AutoShape 22"/>
          <p:cNvCxnSpPr>
            <a:cxnSpLocks noChangeShapeType="1"/>
            <a:stCxn id="58" idx="2"/>
            <a:endCxn id="64" idx="0"/>
          </p:cNvCxnSpPr>
          <p:nvPr/>
        </p:nvCxnSpPr>
        <p:spPr bwMode="auto">
          <a:xfrm flipH="1">
            <a:off x="8410347" y="4629151"/>
            <a:ext cx="1587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4" name="AutoShape 23"/>
          <p:cNvCxnSpPr>
            <a:cxnSpLocks noChangeShapeType="1"/>
            <a:stCxn id="59" idx="2"/>
            <a:endCxn id="65" idx="0"/>
          </p:cNvCxnSpPr>
          <p:nvPr/>
        </p:nvCxnSpPr>
        <p:spPr bwMode="auto">
          <a:xfrm>
            <a:off x="9094558" y="462915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5" name="AutoShape 24"/>
          <p:cNvCxnSpPr>
            <a:cxnSpLocks noChangeShapeType="1"/>
            <a:stCxn id="60" idx="2"/>
            <a:endCxn id="66" idx="0"/>
          </p:cNvCxnSpPr>
          <p:nvPr/>
        </p:nvCxnSpPr>
        <p:spPr bwMode="auto">
          <a:xfrm>
            <a:off x="9778771" y="4629151"/>
            <a:ext cx="0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6" name="AutoShape 25"/>
          <p:cNvCxnSpPr>
            <a:cxnSpLocks noChangeShapeType="1"/>
            <a:stCxn id="57" idx="2"/>
            <a:endCxn id="62" idx="0"/>
          </p:cNvCxnSpPr>
          <p:nvPr/>
        </p:nvCxnSpPr>
        <p:spPr bwMode="auto">
          <a:xfrm flipH="1">
            <a:off x="7043509" y="4629151"/>
            <a:ext cx="684213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7" name="AutoShape 26"/>
          <p:cNvCxnSpPr>
            <a:cxnSpLocks noChangeShapeType="1"/>
            <a:stCxn id="58" idx="2"/>
            <a:endCxn id="63" idx="0"/>
          </p:cNvCxnSpPr>
          <p:nvPr/>
        </p:nvCxnSpPr>
        <p:spPr bwMode="auto">
          <a:xfrm flipH="1">
            <a:off x="7727721" y="4629151"/>
            <a:ext cx="684212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8" name="AutoShape 27"/>
          <p:cNvCxnSpPr>
            <a:cxnSpLocks noChangeShapeType="1"/>
            <a:stCxn id="59" idx="2"/>
            <a:endCxn id="64" idx="0"/>
          </p:cNvCxnSpPr>
          <p:nvPr/>
        </p:nvCxnSpPr>
        <p:spPr bwMode="auto">
          <a:xfrm flipH="1">
            <a:off x="8410346" y="4629151"/>
            <a:ext cx="684212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9" name="AutoShape 28"/>
          <p:cNvCxnSpPr>
            <a:cxnSpLocks noChangeShapeType="1"/>
            <a:stCxn id="60" idx="2"/>
            <a:endCxn id="65" idx="0"/>
          </p:cNvCxnSpPr>
          <p:nvPr/>
        </p:nvCxnSpPr>
        <p:spPr bwMode="auto">
          <a:xfrm flipH="1">
            <a:off x="9094559" y="4629151"/>
            <a:ext cx="684213" cy="3333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80" name="Rechteck 36"/>
          <p:cNvSpPr>
            <a:spLocks noChangeArrowheads="1"/>
          </p:cNvSpPr>
          <p:nvPr/>
        </p:nvSpPr>
        <p:spPr bwMode="gray">
          <a:xfrm>
            <a:off x="3171688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Выравнивание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alignment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4210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/>
          <p:cNvSpPr/>
          <p:nvPr/>
        </p:nvSpPr>
        <p:spPr>
          <a:xfrm>
            <a:off x="4755475" y="1985895"/>
            <a:ext cx="6912000" cy="2880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 tIns="14400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=</a:t>
            </a:r>
            <a:r>
              <a:rPr kumimoji="0" lang="ru-RU" sz="2400" dirty="0"/>
              <a:t>1</a:t>
            </a:r>
            <a:r>
              <a:rPr kumimoji="0" lang="en-US" sz="2400" dirty="0"/>
              <a:t>,n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: a(</a:t>
            </a:r>
            <a:r>
              <a:rPr kumimoji="0" lang="en-US" sz="2400" dirty="0" err="1"/>
              <a:t>i</a:t>
            </a:r>
            <a:r>
              <a:rPr kumimoji="0" lang="en-US" sz="2400" dirty="0"/>
              <a:t> + 1)</a:t>
            </a:r>
            <a:r>
              <a:rPr kumimoji="0" lang="ru-RU" sz="2400" dirty="0"/>
              <a:t> </a:t>
            </a:r>
            <a:r>
              <a:rPr kumimoji="0" lang="en-US" sz="2400" dirty="0"/>
              <a:t>= d(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: c(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a(</a:t>
            </a:r>
            <a:r>
              <a:rPr kumimoji="0" lang="en-US" sz="2400" dirty="0" err="1"/>
              <a:t>i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1) * 2 +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/>
              <a:t>end do</a:t>
            </a:r>
            <a:endParaRPr kumimoji="0" lang="ru-RU" sz="24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ru-RU" sz="24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/>
              <a:t>Мы не можем применить выравнивание циклов для этого примера</a:t>
            </a:r>
            <a:r>
              <a:rPr kumimoji="0" lang="en-US" sz="2400" dirty="0"/>
              <a:t>. </a:t>
            </a:r>
            <a:endParaRPr kumimoji="0"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38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3" name="Rechteck 36"/>
          <p:cNvSpPr>
            <a:spLocks noChangeArrowheads="1"/>
          </p:cNvSpPr>
          <p:nvPr/>
        </p:nvSpPr>
        <p:spPr bwMode="gray">
          <a:xfrm>
            <a:off x="3171325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Выравнивание цикла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loop alignment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77917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755475" y="1707120"/>
            <a:ext cx="6912000" cy="449353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4755475" y="1707120"/>
            <a:ext cx="6912000" cy="4366324"/>
          </a:xfrm>
          <a:prstGeom prst="rect">
            <a:avLst/>
          </a:prstGeom>
          <a:noFill/>
          <a:ln w="12700">
            <a:noFill/>
          </a:ln>
          <a:effectLst>
            <a:outerShdw dist="50800" sx="1000" sy="1000" algn="ctr" rotWithShape="0">
              <a:schemeClr val="bg1"/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=</a:t>
            </a:r>
            <a:r>
              <a:rPr kumimoji="0" lang="ru-RU" sz="2400" dirty="0"/>
              <a:t>1</a:t>
            </a:r>
            <a:r>
              <a:rPr kumimoji="0" lang="en-US" sz="2400" dirty="0"/>
              <a:t>,n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1</a:t>
            </a:r>
            <a:r>
              <a:rPr kumimoji="0" lang="en-US" sz="2400" dirty="0"/>
              <a:t>: a(</a:t>
            </a:r>
            <a:r>
              <a:rPr kumimoji="0" lang="en-US" sz="2400" dirty="0" err="1"/>
              <a:t>i</a:t>
            </a:r>
            <a:r>
              <a:rPr kumimoji="0" lang="en-US" sz="2400" dirty="0"/>
              <a:t> + 1)</a:t>
            </a:r>
            <a:r>
              <a:rPr kumimoji="0" lang="ru-RU" sz="2400" dirty="0"/>
              <a:t> </a:t>
            </a:r>
            <a:r>
              <a:rPr kumimoji="0" lang="en-US" sz="2400" dirty="0"/>
              <a:t>= d(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ru-RU" sz="2400" dirty="0"/>
              <a:t>	</a:t>
            </a:r>
            <a:r>
              <a:rPr kumimoji="0" lang="en-US" sz="2400" dirty="0"/>
              <a:t>S</a:t>
            </a:r>
            <a:r>
              <a:rPr kumimoji="0" lang="en-US" sz="2400" baseline="-25000" dirty="0"/>
              <a:t>2</a:t>
            </a:r>
            <a:r>
              <a:rPr kumimoji="0" lang="en-US" sz="2400" dirty="0"/>
              <a:t>: c(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  <a:r>
              <a:rPr kumimoji="0" lang="ru-RU" sz="2400" dirty="0"/>
              <a:t> </a:t>
            </a:r>
            <a:r>
              <a:rPr kumimoji="0" lang="en-US" sz="2400" dirty="0"/>
              <a:t>= a(</a:t>
            </a:r>
            <a:r>
              <a:rPr kumimoji="0" lang="en-US" sz="2400" dirty="0" err="1"/>
              <a:t>i</a:t>
            </a:r>
            <a:r>
              <a:rPr kumimoji="0" lang="ru-RU" sz="2400" dirty="0"/>
              <a:t> </a:t>
            </a:r>
            <a:r>
              <a:rPr kumimoji="0" lang="en-US" sz="2400" dirty="0"/>
              <a:t>+</a:t>
            </a:r>
            <a:r>
              <a:rPr kumimoji="0" lang="ru-RU" sz="2400" dirty="0"/>
              <a:t> </a:t>
            </a:r>
            <a:r>
              <a:rPr kumimoji="0" lang="en-US" sz="2400" dirty="0"/>
              <a:t>1) * 2 +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sz="2400" dirty="0"/>
              <a:t>end do</a:t>
            </a:r>
            <a:endParaRPr kumimoji="0" lang="ru-RU" sz="2400" dirty="0"/>
          </a:p>
          <a:p>
            <a:pPr>
              <a:lnSpc>
                <a:spcPct val="80000"/>
              </a:lnSpc>
              <a:spcBef>
                <a:spcPts val="1200"/>
              </a:spcBef>
              <a:spcAft>
                <a:spcPts val="600"/>
              </a:spcAft>
            </a:pPr>
            <a:r>
              <a:rPr kumimoji="0" lang="ru-RU" sz="2400" dirty="0"/>
              <a:t>После преобразования</a:t>
            </a:r>
            <a:r>
              <a:rPr kumimoji="0" lang="en-US" sz="2400" dirty="0"/>
              <a:t>: </a:t>
            </a:r>
          </a:p>
          <a:p>
            <a:pPr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=1,n</a:t>
            </a:r>
          </a:p>
          <a:p>
            <a:r>
              <a:rPr kumimoji="0" lang="en-US" sz="2400" dirty="0"/>
              <a:t>	a(</a:t>
            </a:r>
            <a:r>
              <a:rPr kumimoji="0" lang="en-US" sz="2400" dirty="0" err="1"/>
              <a:t>i</a:t>
            </a:r>
            <a:r>
              <a:rPr kumimoji="0" lang="en-US" sz="2400" dirty="0"/>
              <a:t> + 1)= d(</a:t>
            </a:r>
            <a:r>
              <a:rPr kumimoji="0" lang="en-US" sz="2400" dirty="0" err="1"/>
              <a:t>i</a:t>
            </a:r>
            <a:r>
              <a:rPr kumimoji="0" lang="en-US" sz="2400" dirty="0"/>
              <a:t>) + 5 * </a:t>
            </a:r>
            <a:r>
              <a:rPr kumimoji="0" lang="en-US" sz="2400" dirty="0" err="1"/>
              <a:t>i</a:t>
            </a:r>
            <a:endParaRPr kumimoji="0" lang="en-US" sz="2400" dirty="0"/>
          </a:p>
          <a:p>
            <a:r>
              <a:rPr kumimoji="0" lang="en-US" sz="2400" dirty="0"/>
              <a:t>	if (</a:t>
            </a:r>
            <a:r>
              <a:rPr kumimoji="0" lang="en-US" sz="2400" dirty="0" err="1"/>
              <a:t>i</a:t>
            </a:r>
            <a:r>
              <a:rPr kumimoji="0" lang="en-US" sz="2400" dirty="0"/>
              <a:t> == 1)</a:t>
            </a:r>
            <a:r>
              <a:rPr kumimoji="0" lang="ru-RU" sz="2400" dirty="0"/>
              <a:t> </a:t>
            </a:r>
            <a:r>
              <a:rPr kumimoji="0" lang="en-US" sz="2400" dirty="0" err="1"/>
              <a:t>tmp</a:t>
            </a:r>
            <a:r>
              <a:rPr kumimoji="0" lang="en-US" sz="2400" dirty="0"/>
              <a:t>(</a:t>
            </a:r>
            <a:r>
              <a:rPr kumimoji="0" lang="en-US" sz="2400" dirty="0" err="1"/>
              <a:t>i</a:t>
            </a:r>
            <a:r>
              <a:rPr kumimoji="0" lang="en-US" sz="2400" dirty="0"/>
              <a:t>) = a(1)</a:t>
            </a:r>
          </a:p>
          <a:p>
            <a:r>
              <a:rPr kumimoji="0" lang="en-US" sz="2400" dirty="0"/>
              <a:t>	else</a:t>
            </a:r>
            <a:r>
              <a:rPr kumimoji="0" lang="ru-RU" sz="2400" dirty="0"/>
              <a:t> </a:t>
            </a:r>
            <a:r>
              <a:rPr kumimoji="0" lang="en-US" sz="2400" dirty="0" err="1"/>
              <a:t>tmp</a:t>
            </a:r>
            <a:r>
              <a:rPr kumimoji="0" lang="en-US" sz="2400" dirty="0"/>
              <a:t>(</a:t>
            </a:r>
            <a:r>
              <a:rPr kumimoji="0" lang="en-US" sz="2400" dirty="0" err="1"/>
              <a:t>i</a:t>
            </a:r>
            <a:r>
              <a:rPr kumimoji="0" lang="en-US" sz="2400" dirty="0"/>
              <a:t>) = d(</a:t>
            </a:r>
            <a:r>
              <a:rPr kumimoji="0" lang="en-US" sz="2400" dirty="0" err="1"/>
              <a:t>i</a:t>
            </a:r>
            <a:r>
              <a:rPr kumimoji="0" lang="en-US" sz="2400" dirty="0"/>
              <a:t> - 1) + 5 * (</a:t>
            </a:r>
            <a:r>
              <a:rPr kumimoji="0" lang="en-US" sz="2400" dirty="0" err="1"/>
              <a:t>i</a:t>
            </a:r>
            <a:r>
              <a:rPr kumimoji="0" lang="en-US" sz="2400" dirty="0"/>
              <a:t> – 1)</a:t>
            </a:r>
          </a:p>
          <a:p>
            <a:r>
              <a:rPr kumimoji="0" lang="en-US" sz="2400" dirty="0"/>
              <a:t>	c(</a:t>
            </a:r>
            <a:r>
              <a:rPr kumimoji="0" lang="en-US" sz="2400" dirty="0" err="1"/>
              <a:t>i</a:t>
            </a:r>
            <a:r>
              <a:rPr kumimoji="0" lang="en-US" sz="2400" dirty="0"/>
              <a:t>) = a(</a:t>
            </a:r>
            <a:r>
              <a:rPr kumimoji="0" lang="en-US" sz="2400" dirty="0" err="1"/>
              <a:t>i</a:t>
            </a:r>
            <a:r>
              <a:rPr kumimoji="0" lang="en-US" sz="2400" dirty="0"/>
              <a:t> + 1) * 2 + </a:t>
            </a:r>
            <a:r>
              <a:rPr kumimoji="0" lang="en-US" sz="2400" dirty="0" err="1"/>
              <a:t>tmp</a:t>
            </a:r>
            <a:r>
              <a:rPr kumimoji="0" lang="en-US" sz="2400" dirty="0"/>
              <a:t>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r>
              <a:rPr kumimoji="0" lang="en-US" sz="2400" dirty="0"/>
              <a:t>end do</a:t>
            </a:r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38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3" name="Rechteck 36"/>
          <p:cNvSpPr>
            <a:spLocks noChangeArrowheads="1"/>
          </p:cNvSpPr>
          <p:nvPr/>
        </p:nvSpPr>
        <p:spPr bwMode="gray">
          <a:xfrm>
            <a:off x="3171325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Репликация кода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code replication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12913" y="3708471"/>
            <a:ext cx="28547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ru-RU" sz="2400" dirty="0"/>
              <a:t>Этот цикл можно распараллелить!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1097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44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3" name="Rechteck 36"/>
          <p:cNvSpPr>
            <a:spLocks noChangeArrowheads="1"/>
          </p:cNvSpPr>
          <p:nvPr/>
        </p:nvSpPr>
        <p:spPr bwMode="gray">
          <a:xfrm>
            <a:off x="3171331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Репликация кода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code replication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39D5124-84BD-4883-881B-3518EC3BF387}"/>
              </a:ext>
            </a:extLst>
          </p:cNvPr>
          <p:cNvSpPr txBox="1"/>
          <p:nvPr/>
        </p:nvSpPr>
        <p:spPr>
          <a:xfrm>
            <a:off x="4755481" y="2816132"/>
            <a:ext cx="6912000" cy="181588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ru-RU" sz="2800" dirty="0"/>
              <a:t>Не является эквивалентным преобразованием программы.</a:t>
            </a:r>
          </a:p>
          <a:p>
            <a:pPr algn="ctr"/>
            <a:r>
              <a:rPr lang="ru-RU" sz="2800" dirty="0"/>
              <a:t>Это эквивалентное преобразование алгоритма.</a:t>
            </a:r>
          </a:p>
        </p:txBody>
      </p:sp>
    </p:spTree>
    <p:extLst>
      <p:ext uri="{BB962C8B-B14F-4D97-AF65-F5344CB8AC3E}">
        <p14:creationId xmlns:p14="http://schemas.microsoft.com/office/powerpoint/2010/main" val="1810007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38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3" name="Rechteck 36"/>
          <p:cNvSpPr>
            <a:spLocks noChangeArrowheads="1"/>
          </p:cNvSpPr>
          <p:nvPr/>
        </p:nvSpPr>
        <p:spPr bwMode="gray">
          <a:xfrm>
            <a:off x="3171325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Репликация кода (</a:t>
            </a:r>
            <a:r>
              <a:rPr kumimoji="0" lang="en-US" sz="32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code replication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pic>
        <p:nvPicPr>
          <p:cNvPr id="1026" name="Рисунок 7" descr="C:\Documents and Settings\carpson\Мои документы\7.4a.bm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36363" y="1996068"/>
            <a:ext cx="3143110" cy="2025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Рисунок 8" descr="C:\Documents and Settings\carpson\Мои документы\7.4b.bmp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5217" y="4066972"/>
            <a:ext cx="3154256" cy="2032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8363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38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Эквивалентные преобразования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3" name="Rechteck 36"/>
          <p:cNvSpPr>
            <a:spLocks noChangeArrowheads="1"/>
          </p:cNvSpPr>
          <p:nvPr/>
        </p:nvSpPr>
        <p:spPr bwMode="gray">
          <a:xfrm>
            <a:off x="3171325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Основная теорема для </a:t>
            </a:r>
            <a:r>
              <a:rPr kumimoji="0" lang="ru-RU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невложенных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циклов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755625" y="2107199"/>
            <a:ext cx="6912000" cy="404418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0" lang="ru-RU" sz="2400" dirty="0"/>
              <a:t>Приемы разделения цикла, выравнивания цикла и эквивалентная перестановка операторов в теле цикла достаточны для «обхода» зависимостей, связанных с циклом, если</a:t>
            </a:r>
            <a:endParaRPr kumimoji="0" lang="ru-RU" sz="2400" dirty="0">
              <a:solidFill>
                <a:srgbClr val="17375E"/>
              </a:solidFill>
            </a:endParaRPr>
          </a:p>
          <a:p>
            <a:pPr>
              <a:lnSpc>
                <a:spcPct val="130000"/>
              </a:lnSpc>
            </a:pPr>
            <a:r>
              <a:rPr kumimoji="0" lang="ru-RU" sz="2400" dirty="0"/>
              <a:t>	- в цикле нет рекурсивных истинных</a:t>
            </a:r>
            <a:r>
              <a:rPr kumimoji="0" lang="en-US" sz="2400" dirty="0"/>
              <a:t> </a:t>
            </a:r>
            <a:r>
              <a:rPr kumimoji="0" lang="ru-RU" sz="2400" dirty="0"/>
              <a:t>зависимостей</a:t>
            </a:r>
            <a:r>
              <a:rPr kumimoji="0" lang="en-US" sz="2400" dirty="0"/>
              <a:t>.</a:t>
            </a:r>
            <a:r>
              <a:rPr kumimoji="0" lang="ru-RU" sz="2400" dirty="0"/>
              <a:t> </a:t>
            </a:r>
            <a:endParaRPr kumimoji="0" lang="en-US" sz="2400" dirty="0"/>
          </a:p>
          <a:p>
            <a:pPr>
              <a:lnSpc>
                <a:spcPct val="130000"/>
              </a:lnSpc>
            </a:pPr>
            <a:r>
              <a:rPr kumimoji="0" lang="ru-RU" sz="2400" dirty="0"/>
              <a:t>	- расстояние для каждой зависимости есть  константа, не зависящая от индекса цикла</a:t>
            </a:r>
            <a:r>
              <a:rPr kumimoji="0" lang="en-US" sz="2400" dirty="0">
                <a:solidFill>
                  <a:srgbClr val="17375E"/>
                </a:solidFill>
              </a:rPr>
              <a:t>.</a:t>
            </a:r>
            <a:endParaRPr kumimoji="0" lang="ru-RU" sz="2400" dirty="0">
              <a:solidFill>
                <a:srgbClr val="17375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867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755475" y="1707120"/>
            <a:ext cx="6912000" cy="415498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</a:ln>
          <a:effectLst>
            <a:outerShdw dist="50800" dir="2700000" algn="ctr" rotWithShape="0">
              <a:srgbClr val="808080">
                <a:alpha val="40000"/>
              </a:srgbClr>
            </a:outerShdw>
          </a:effectLst>
        </p:spPr>
        <p:txBody>
          <a:bodyPr wrap="square" lIns="180000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38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Скалярные переменные в циклах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3" name="Rechteck 36"/>
          <p:cNvSpPr>
            <a:spLocks noChangeArrowheads="1"/>
          </p:cNvSpPr>
          <p:nvPr/>
        </p:nvSpPr>
        <p:spPr bwMode="gray">
          <a:xfrm>
            <a:off x="3171325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Приватизация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755475" y="1874115"/>
            <a:ext cx="6912000" cy="378565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dist="50800" sx="1000" sy="1000" algn="ctr" rotWithShape="0">
              <a:schemeClr val="bg1"/>
            </a:outerShdw>
          </a:effectLst>
        </p:spPr>
        <p:txBody>
          <a:bodyPr>
            <a:spAutoFit/>
          </a:bodyPr>
          <a:lstStyle/>
          <a:p>
            <a:r>
              <a:rPr kumimoji="0" lang="ru-RU" sz="2400" dirty="0"/>
              <a:t> </a:t>
            </a:r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ru-RU" sz="2400" dirty="0"/>
              <a:t>	</a:t>
            </a:r>
            <a:r>
              <a:rPr kumimoji="0" lang="en-US" sz="2400" dirty="0" err="1"/>
              <a:t>tmp</a:t>
            </a:r>
            <a:r>
              <a:rPr kumimoji="0" lang="en-US" sz="2400" dirty="0"/>
              <a:t> = b(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b(</a:t>
            </a:r>
            <a:r>
              <a:rPr kumimoji="0" lang="en-US" sz="2400" dirty="0" err="1"/>
              <a:t>i</a:t>
            </a:r>
            <a:r>
              <a:rPr kumimoji="0" lang="en-US" sz="2400" dirty="0"/>
              <a:t>) =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r>
              <a:rPr kumimoji="0" lang="en-US" sz="2400" dirty="0"/>
              <a:t>	a(</a:t>
            </a:r>
            <a:r>
              <a:rPr kumimoji="0" lang="en-US" sz="2400" dirty="0" err="1"/>
              <a:t>i</a:t>
            </a:r>
            <a:r>
              <a:rPr kumimoji="0" lang="en-US" sz="2400" dirty="0"/>
              <a:t>) = </a:t>
            </a:r>
            <a:r>
              <a:rPr kumimoji="0" lang="en-US" sz="2400" dirty="0" err="1"/>
              <a:t>tmp</a:t>
            </a:r>
            <a:endParaRPr kumimoji="0" lang="en-US" sz="2400" dirty="0"/>
          </a:p>
          <a:p>
            <a:r>
              <a:rPr kumimoji="0" lang="ru-RU" sz="2400" dirty="0"/>
              <a:t> </a:t>
            </a:r>
            <a:r>
              <a:rPr kumimoji="0" lang="en-US" sz="2400" dirty="0"/>
              <a:t>end do</a:t>
            </a:r>
          </a:p>
          <a:p>
            <a:pPr algn="ctr">
              <a:spcBef>
                <a:spcPct val="50000"/>
              </a:spcBef>
            </a:pPr>
            <a:r>
              <a:rPr kumimoji="0" lang="ru-RU" sz="2400" dirty="0"/>
              <a:t>Скалярная переменная</a:t>
            </a:r>
            <a:r>
              <a:rPr kumimoji="0" lang="en-US" sz="2400" dirty="0"/>
              <a:t> </a:t>
            </a:r>
            <a:r>
              <a:rPr kumimoji="0" lang="en-US" sz="2400" u="sng" dirty="0" err="1"/>
              <a:t>tmp</a:t>
            </a:r>
            <a:r>
              <a:rPr kumimoji="0" lang="en-US" sz="2400" dirty="0"/>
              <a:t> </a:t>
            </a:r>
            <a:r>
              <a:rPr kumimoji="0" lang="ru-RU" sz="2400" dirty="0"/>
              <a:t>препятствует распараллеливанию цикла</a:t>
            </a:r>
            <a:r>
              <a:rPr kumimoji="0" lang="en-US" sz="2400" dirty="0"/>
              <a:t>.</a:t>
            </a:r>
            <a:endParaRPr kumimoji="0" lang="ru-RU" sz="2400" dirty="0"/>
          </a:p>
          <a:p>
            <a:pPr algn="ctr">
              <a:spcBef>
                <a:spcPct val="50000"/>
              </a:spcBef>
            </a:pPr>
            <a:r>
              <a:rPr kumimoji="0" lang="ru-RU" sz="2400" dirty="0"/>
              <a:t>Заводим на каждой итерации или на каждом исполнителе свою переменную</a:t>
            </a:r>
            <a:r>
              <a:rPr kumimoji="0" lang="ru-RU" sz="2400" b="1" dirty="0"/>
              <a:t> </a:t>
            </a:r>
            <a:r>
              <a:rPr kumimoji="0" lang="en-US" sz="2400" u="sng" dirty="0" err="1"/>
              <a:t>tmp</a:t>
            </a:r>
            <a:r>
              <a:rPr kumimoji="0" lang="en-US" sz="2400" dirty="0">
                <a:solidFill>
                  <a:srgbClr val="17375E"/>
                </a:solidFill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4903" y="2263697"/>
            <a:ext cx="47727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0" lang="ru-RU" sz="2400" dirty="0"/>
              <a:t>Для массивов все зависимости - это</a:t>
            </a:r>
            <a:r>
              <a:rPr kumimoji="0" lang="en-US" sz="2400" dirty="0"/>
              <a:t> loop independent dependences. </a:t>
            </a:r>
          </a:p>
        </p:txBody>
      </p:sp>
    </p:spTree>
    <p:extLst>
      <p:ext uri="{BB962C8B-B14F-4D97-AF65-F5344CB8AC3E}">
        <p14:creationId xmlns:p14="http://schemas.microsoft.com/office/powerpoint/2010/main" val="15649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41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Скалярные переменные в циклах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3" name="Rechteck 36"/>
          <p:cNvSpPr>
            <a:spLocks noChangeArrowheads="1"/>
          </p:cNvSpPr>
          <p:nvPr/>
        </p:nvSpPr>
        <p:spPr bwMode="gray">
          <a:xfrm>
            <a:off x="3171328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Приватизация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755478" y="1874115"/>
            <a:ext cx="6912000" cy="334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kumimoji="0" lang="ru-RU" sz="2400" dirty="0"/>
              <a:t> </a:t>
            </a:r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en-US" sz="2400" dirty="0"/>
              <a:t>     private </a:t>
            </a:r>
            <a:r>
              <a:rPr kumimoji="0" lang="en-US" sz="2400" dirty="0" err="1"/>
              <a:t>tmp</a:t>
            </a:r>
            <a:endParaRPr kumimoji="0" lang="en-US" sz="2400" dirty="0"/>
          </a:p>
          <a:p>
            <a:r>
              <a:rPr kumimoji="0" lang="ru-RU" sz="2400" dirty="0"/>
              <a:t>	</a:t>
            </a:r>
            <a:r>
              <a:rPr kumimoji="0" lang="en-US" sz="2400" dirty="0" err="1"/>
              <a:t>tmp</a:t>
            </a:r>
            <a:r>
              <a:rPr kumimoji="0" lang="en-US" sz="2400" dirty="0"/>
              <a:t> = b(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b(</a:t>
            </a:r>
            <a:r>
              <a:rPr kumimoji="0" lang="en-US" sz="2400" dirty="0" err="1"/>
              <a:t>i</a:t>
            </a:r>
            <a:r>
              <a:rPr kumimoji="0" lang="en-US" sz="2400" dirty="0"/>
              <a:t>) =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r>
              <a:rPr kumimoji="0" lang="en-US" sz="2400" dirty="0"/>
              <a:t>	a(</a:t>
            </a:r>
            <a:r>
              <a:rPr kumimoji="0" lang="en-US" sz="2400" dirty="0" err="1"/>
              <a:t>i</a:t>
            </a:r>
            <a:r>
              <a:rPr kumimoji="0" lang="en-US" sz="2400" dirty="0"/>
              <a:t>) = </a:t>
            </a:r>
            <a:r>
              <a:rPr kumimoji="0" lang="en-US" sz="2400" dirty="0" err="1"/>
              <a:t>tmp</a:t>
            </a:r>
            <a:endParaRPr kumimoji="0" lang="en-US" sz="2400" dirty="0"/>
          </a:p>
          <a:p>
            <a:r>
              <a:rPr kumimoji="0" lang="ru-RU" sz="2400"/>
              <a:t> </a:t>
            </a:r>
            <a:r>
              <a:rPr kumimoji="0" lang="en-US" sz="2400"/>
              <a:t>end </a:t>
            </a:r>
            <a:r>
              <a:rPr kumimoji="0" lang="en-US" sz="2400" dirty="0"/>
              <a:t>do</a:t>
            </a:r>
          </a:p>
          <a:p>
            <a:pPr algn="ctr">
              <a:spcBef>
                <a:spcPct val="50000"/>
              </a:spcBef>
            </a:pPr>
            <a:r>
              <a:rPr kumimoji="0" lang="ru-RU" sz="2400" dirty="0"/>
              <a:t>Это эквивалентное преобразование программы</a:t>
            </a:r>
            <a:r>
              <a:rPr kumimoji="0"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9469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34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Скалярные переменные в циклах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3" name="Rechteck 36"/>
          <p:cNvSpPr>
            <a:spLocks noChangeArrowheads="1"/>
          </p:cNvSpPr>
          <p:nvPr/>
        </p:nvSpPr>
        <p:spPr bwMode="gray">
          <a:xfrm>
            <a:off x="3171321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Подстановка индукционных переменных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755471" y="1874116"/>
            <a:ext cx="6912000" cy="3550141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r>
              <a:rPr kumimoji="0" lang="ru-RU" sz="2400" dirty="0"/>
              <a:t>	</a:t>
            </a:r>
            <a:r>
              <a:rPr kumimoji="0" lang="en-US" sz="2400" dirty="0"/>
              <a:t>j = j0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ru-RU" sz="2400" dirty="0"/>
              <a:t>		</a:t>
            </a:r>
            <a:r>
              <a:rPr kumimoji="0" lang="en-US" sz="2400" dirty="0"/>
              <a:t>j = j + k</a:t>
            </a:r>
          </a:p>
          <a:p>
            <a:r>
              <a:rPr kumimoji="0" lang="ru-RU" sz="2400" dirty="0"/>
              <a:t>		</a:t>
            </a:r>
            <a:r>
              <a:rPr kumimoji="0" lang="en-US" sz="2400" dirty="0"/>
              <a:t>a(</a:t>
            </a:r>
            <a:r>
              <a:rPr kumimoji="0" lang="en-US" sz="2400" dirty="0" err="1"/>
              <a:t>i</a:t>
            </a:r>
            <a:r>
              <a:rPr kumimoji="0" lang="en-US" sz="2400" dirty="0"/>
              <a:t>) = j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end do</a:t>
            </a:r>
          </a:p>
          <a:p>
            <a:pPr algn="ctr">
              <a:spcBef>
                <a:spcPct val="50000"/>
              </a:spcBef>
            </a:pPr>
            <a:endParaRPr kumimoji="0" lang="ru-RU" sz="2400" dirty="0"/>
          </a:p>
          <a:p>
            <a:pPr algn="ctr">
              <a:spcBef>
                <a:spcPct val="50000"/>
              </a:spcBef>
            </a:pPr>
            <a:r>
              <a:rPr kumimoji="0" lang="ru-RU" sz="2400" dirty="0"/>
              <a:t>Это неэквивалентное преобразование</a:t>
            </a:r>
            <a:r>
              <a:rPr kumimoji="0" lang="en-US" sz="2400" dirty="0"/>
              <a:t>. </a:t>
            </a:r>
            <a:r>
              <a:rPr kumimoji="0" lang="ru-RU" sz="2400" dirty="0"/>
              <a:t>Оно может изменить результат вычислений.</a:t>
            </a:r>
            <a:endParaRPr kumimoji="0"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7998721" y="2030230"/>
            <a:ext cx="3668751" cy="176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500"/>
              </a:spcBef>
              <a:spcAft>
                <a:spcPts val="1500"/>
              </a:spcAft>
            </a:pPr>
            <a:r>
              <a:rPr kumimoji="0" lang="ru-RU" sz="2400" dirty="0"/>
              <a:t>После преобразования</a:t>
            </a:r>
            <a:r>
              <a:rPr kumimoji="0" lang="en-US" sz="2400" dirty="0"/>
              <a:t>:</a:t>
            </a:r>
          </a:p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a(</a:t>
            </a:r>
            <a:r>
              <a:rPr kumimoji="0" lang="en-US" sz="2400" dirty="0" err="1"/>
              <a:t>i</a:t>
            </a:r>
            <a:r>
              <a:rPr kumimoji="0" lang="en-US" sz="2400" dirty="0"/>
              <a:t>) = </a:t>
            </a:r>
            <a:r>
              <a:rPr kumimoji="0" lang="en-US" sz="2400" dirty="0" err="1"/>
              <a:t>i</a:t>
            </a:r>
            <a:r>
              <a:rPr kumimoji="0" lang="en-US" sz="2400" dirty="0"/>
              <a:t> * k + j0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</p:txBody>
      </p:sp>
    </p:spTree>
    <p:extLst>
      <p:ext uri="{BB962C8B-B14F-4D97-AF65-F5344CB8AC3E}">
        <p14:creationId xmlns:p14="http://schemas.microsoft.com/office/powerpoint/2010/main" val="18739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44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Скалярные переменные в циклах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33" name="Rechteck 36"/>
          <p:cNvSpPr>
            <a:spLocks noChangeArrowheads="1"/>
          </p:cNvSpPr>
          <p:nvPr/>
        </p:nvSpPr>
        <p:spPr bwMode="gray">
          <a:xfrm>
            <a:off x="3171331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Подстановка индукционных переменных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755631" y="2009319"/>
            <a:ext cx="6912000" cy="352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 algn="ctr">
              <a:lnSpc>
                <a:spcPct val="130000"/>
              </a:lnSpc>
            </a:pPr>
            <a:r>
              <a:rPr kumimoji="0" lang="ru-RU" sz="2400" dirty="0">
                <a:solidFill>
                  <a:srgbClr val="17375E"/>
                </a:solidFill>
              </a:rPr>
              <a:t>	</a:t>
            </a:r>
            <a:r>
              <a:rPr kumimoji="0" lang="ru-RU" sz="2800" dirty="0"/>
              <a:t>Индукционными называют переменные, значения которых на </a:t>
            </a:r>
            <a:r>
              <a:rPr kumimoji="0" lang="en-US" sz="2800" dirty="0"/>
              <a:t>n</a:t>
            </a:r>
            <a:r>
              <a:rPr kumimoji="0" lang="ru-RU" sz="2800" dirty="0"/>
              <a:t>-</a:t>
            </a:r>
            <a:r>
              <a:rPr kumimoji="0" lang="ru-RU" sz="2800" dirty="0" err="1"/>
              <a:t>й</a:t>
            </a:r>
            <a:r>
              <a:rPr kumimoji="0" lang="ru-RU" sz="2800" dirty="0"/>
              <a:t> итерации представляют собой функцию только от номера итерации и, возможно, некоторого начального значения, присвоенного вне цикла</a:t>
            </a:r>
            <a:r>
              <a:rPr kumimoji="0" lang="en-US" sz="2400" dirty="0">
                <a:solidFill>
                  <a:srgbClr val="17375E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188228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7" name="Rectangle 2"/>
          <p:cNvSpPr txBox="1">
            <a:spLocks noRot="1" noChangeArrowheads="1"/>
          </p:cNvSpPr>
          <p:nvPr/>
        </p:nvSpPr>
        <p:spPr bwMode="auto">
          <a:xfrm>
            <a:off x="2928441" y="106364"/>
            <a:ext cx="89281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kumimoji="0" lang="ru-RU" sz="3600" b="1" dirty="0">
                <a:solidFill>
                  <a:srgbClr val="003794"/>
                </a:solidFill>
              </a:rPr>
              <a:t>Скалярные переменные в циклах</a:t>
            </a:r>
            <a:endParaRPr kumimoji="0" lang="ru-RU" sz="3600" b="1" dirty="0">
              <a:solidFill>
                <a:schemeClr val="folHlink"/>
              </a:solidFill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4383316" y="1885266"/>
            <a:ext cx="7284163" cy="3785652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endParaRPr kumimoji="0" lang="en-US" sz="2400" dirty="0"/>
          </a:p>
          <a:p>
            <a:endParaRPr kumimoji="0" lang="en-US" sz="2400" dirty="0"/>
          </a:p>
          <a:p>
            <a:r>
              <a:rPr kumimoji="0" lang="en-US" sz="2400" dirty="0"/>
              <a:t>sum = 0</a:t>
            </a:r>
          </a:p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sum = sum + a(</a:t>
            </a:r>
            <a:r>
              <a:rPr kumimoji="0" lang="en-US" sz="2400" dirty="0" err="1"/>
              <a:t>i</a:t>
            </a:r>
            <a:r>
              <a:rPr kumimoji="0" lang="en-US" sz="2400" dirty="0"/>
              <a:t>)</a:t>
            </a:r>
          </a:p>
          <a:p>
            <a:r>
              <a:rPr kumimoji="0" lang="en-US" sz="2400" dirty="0"/>
              <a:t>end do</a:t>
            </a:r>
          </a:p>
          <a:p>
            <a:pPr algn="ctr">
              <a:spcBef>
                <a:spcPct val="50000"/>
              </a:spcBef>
            </a:pPr>
            <a:endParaRPr kumimoji="0" lang="ru-RU" sz="2400" dirty="0"/>
          </a:p>
          <a:p>
            <a:pPr algn="ctr">
              <a:spcBef>
                <a:spcPct val="50000"/>
              </a:spcBef>
            </a:pPr>
            <a:r>
              <a:rPr kumimoji="0" lang="ru-RU" sz="2400" dirty="0"/>
              <a:t>Это неэквивалентное преобразование</a:t>
            </a:r>
            <a:r>
              <a:rPr kumimoji="0" lang="en-US" sz="2400" dirty="0"/>
              <a:t>. </a:t>
            </a:r>
            <a:r>
              <a:rPr kumimoji="0" lang="ru-RU" sz="2400" dirty="0"/>
              <a:t>Оно может изменить результат вычислений.</a:t>
            </a:r>
            <a:endParaRPr kumimoji="0"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7685985" y="2197224"/>
            <a:ext cx="4170556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0" lang="ru-RU" sz="2400" dirty="0"/>
              <a:t>После преобразования</a:t>
            </a:r>
            <a:r>
              <a:rPr kumimoji="0" lang="en-US" sz="2400" dirty="0"/>
              <a:t>:</a:t>
            </a:r>
            <a:endParaRPr kumimoji="0" lang="en-US" sz="2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r>
              <a:rPr kumimoji="0" lang="en-US" sz="2400" dirty="0"/>
              <a:t>sum = 0</a:t>
            </a:r>
          </a:p>
          <a:p>
            <a:r>
              <a:rPr kumimoji="0" lang="en-US" sz="2400" dirty="0"/>
              <a:t>do </a:t>
            </a:r>
            <a:r>
              <a:rPr kumimoji="0" lang="en-US" sz="2400" dirty="0" err="1"/>
              <a:t>i</a:t>
            </a:r>
            <a:r>
              <a:rPr kumimoji="0" lang="en-US" sz="2400" dirty="0"/>
              <a:t> = 1, n</a:t>
            </a:r>
          </a:p>
          <a:p>
            <a:r>
              <a:rPr kumimoji="0" lang="ru-RU" sz="2400" dirty="0"/>
              <a:t>	</a:t>
            </a:r>
            <a:r>
              <a:rPr kumimoji="0" lang="en-US" sz="2400" dirty="0"/>
              <a:t>reduction(add</a:t>
            </a:r>
            <a:r>
              <a:rPr kumimoji="0" lang="ru-RU" sz="2400" dirty="0"/>
              <a:t>:</a:t>
            </a:r>
            <a:r>
              <a:rPr kumimoji="0" lang="en-US" sz="2400" dirty="0"/>
              <a:t> a, n, sum)</a:t>
            </a:r>
          </a:p>
          <a:p>
            <a:r>
              <a:rPr kumimoji="0" lang="en-US" sz="2400" dirty="0"/>
              <a:t>end do</a:t>
            </a:r>
            <a:endParaRPr kumimoji="0" lang="ru-RU" sz="2400" dirty="0"/>
          </a:p>
        </p:txBody>
      </p:sp>
      <p:sp>
        <p:nvSpPr>
          <p:cNvPr id="11" name="Rechteck 36"/>
          <p:cNvSpPr>
            <a:spLocks noChangeArrowheads="1"/>
          </p:cNvSpPr>
          <p:nvPr/>
        </p:nvSpPr>
        <p:spPr bwMode="gray">
          <a:xfrm>
            <a:off x="3171328" y="944564"/>
            <a:ext cx="8496300" cy="50323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>
              <a:spcAft>
                <a:spcPct val="20000"/>
              </a:spcAft>
            </a:pP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Редукционные операции 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reduction(</a:t>
            </a:r>
            <a:r>
              <a:rPr kumimoji="0" lang="en-US" sz="32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op:list</a:t>
            </a:r>
            <a:r>
              <a:rPr kumimoji="0" lang="en-US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)</a:t>
            </a:r>
            <a:r>
              <a:rPr kumimoji="0" lang="ru-RU" sz="3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rPr>
              <a:t> </a:t>
            </a:r>
            <a:endParaRPr kumimoji="0" lang="ru-RU" sz="32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4620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7202699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 defTabSz="914400">
                <a:defRPr/>
              </a:pPr>
              <a:r>
                <a:rPr lang="ru-RU" sz="3600" kern="1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latin typeface="Arial Black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6911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1130</TotalTime>
  <Words>547</Words>
  <Application>Microsoft Office PowerPoint</Application>
  <PresentationFormat>Широкоэкранный</PresentationFormat>
  <Paragraphs>350</Paragraphs>
  <Slides>34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34</vt:i4>
      </vt:variant>
    </vt:vector>
  </HeadingPairs>
  <TitlesOfParts>
    <vt:vector size="44" baseType="lpstr">
      <vt:lpstr>Arial Unicode MS</vt:lpstr>
      <vt:lpstr>ＭＳ Ｐゴシック</vt:lpstr>
      <vt:lpstr>Arial</vt:lpstr>
      <vt:lpstr>Arial Black</vt:lpstr>
      <vt:lpstr>Calibri</vt:lpstr>
      <vt:lpstr>Symbol</vt:lpstr>
      <vt:lpstr>Wingdings</vt:lpstr>
      <vt:lpstr>Тема Office</vt:lpstr>
      <vt:lpstr>2_Тема Office</vt:lpstr>
      <vt:lpstr>2_Larissa-Design</vt:lpstr>
      <vt:lpstr>Презентация PowerPoint</vt:lpstr>
      <vt:lpstr>Тема 8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elena</dc:creator>
  <cp:lastModifiedBy>carpson</cp:lastModifiedBy>
  <cp:revision>180</cp:revision>
  <dcterms:created xsi:type="dcterms:W3CDTF">2013-06-06T20:15:57Z</dcterms:created>
  <dcterms:modified xsi:type="dcterms:W3CDTF">2025-11-01T01:07:21Z</dcterms:modified>
</cp:coreProperties>
</file>