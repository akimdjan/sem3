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21" r:id="rId2"/>
    <p:sldMasterId id="2147483723" r:id="rId3"/>
    <p:sldMasterId id="2147483728" r:id="rId4"/>
  </p:sldMasterIdLst>
  <p:notesMasterIdLst>
    <p:notesMasterId r:id="rId27"/>
  </p:notesMasterIdLst>
  <p:sldIdLst>
    <p:sldId id="257" r:id="rId5"/>
    <p:sldId id="339" r:id="rId6"/>
    <p:sldId id="301" r:id="rId7"/>
    <p:sldId id="302" r:id="rId8"/>
    <p:sldId id="296" r:id="rId9"/>
    <p:sldId id="259" r:id="rId10"/>
    <p:sldId id="297" r:id="rId11"/>
    <p:sldId id="298" r:id="rId12"/>
    <p:sldId id="299" r:id="rId13"/>
    <p:sldId id="261" r:id="rId14"/>
    <p:sldId id="300" r:id="rId15"/>
    <p:sldId id="262" r:id="rId16"/>
    <p:sldId id="393" r:id="rId17"/>
    <p:sldId id="391" r:id="rId18"/>
    <p:sldId id="325" r:id="rId19"/>
    <p:sldId id="361" r:id="rId20"/>
    <p:sldId id="390" r:id="rId21"/>
    <p:sldId id="363" r:id="rId22"/>
    <p:sldId id="364" r:id="rId23"/>
    <p:sldId id="304" r:id="rId24"/>
    <p:sldId id="326" r:id="rId25"/>
    <p:sldId id="392" r:id="rId26"/>
  </p:sldIdLst>
  <p:sldSz cx="12192000" cy="6858000"/>
  <p:notesSz cx="6858000" cy="9144000"/>
  <p:defaultTextStyle>
    <a:defPPr>
      <a:defRPr lang="ru-RU"/>
    </a:defPPr>
    <a:lvl1pPr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E39"/>
    <a:srgbClr val="808080"/>
    <a:srgbClr val="C0C0C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16" autoAdjust="0"/>
    <p:restoredTop sz="91667" autoAdjust="0"/>
  </p:normalViewPr>
  <p:slideViewPr>
    <p:cSldViewPr snapToGrid="0" snapToObjects="1">
      <p:cViewPr varScale="1">
        <p:scale>
          <a:sx n="82" d="100"/>
          <a:sy n="82" d="100"/>
        </p:scale>
        <p:origin x="420" y="90"/>
      </p:cViewPr>
      <p:guideLst>
        <p:guide orient="horz" pos="25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pPr>
              <a:defRPr/>
            </a:pPr>
            <a:fld id="{61FE9D34-791F-4EF8-A4F0-542CA03A1025}" type="datetimeFigureOut">
              <a:rPr lang="ru-RU"/>
              <a:pPr>
                <a:defRPr/>
              </a:pPr>
              <a:t>12.10.2024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pPr>
              <a:defRPr/>
            </a:pPr>
            <a:fld id="{9E823CC4-FED0-46D8-B338-6A49B477DF9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8518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dirty="0"/>
          </a:p>
        </p:txBody>
      </p:sp>
      <p:sp>
        <p:nvSpPr>
          <p:cNvPr id="12291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E310F7-BA59-4BCC-B944-CD6B53D59584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alt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225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A6DC00C-841F-4BC7-8427-A94FCE121A07}" type="slidenum">
              <a:rPr lang="ru-RU" smtClean="0"/>
              <a:pPr/>
              <a:t>3</a:t>
            </a:fld>
            <a:endParaRPr lang="de-DE"/>
          </a:p>
        </p:txBody>
      </p:sp>
      <p:sp>
        <p:nvSpPr>
          <p:cNvPr id="80899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9F65053A-7B2E-4867-A32F-597E313E3C28}" type="slidenum">
              <a:rPr kumimoji="0" lang="en-GB" sz="1300"/>
              <a:pPr algn="r" defTabSz="947738"/>
              <a:t>3</a:t>
            </a:fld>
            <a:endParaRPr kumimoji="0" lang="en-GB" sz="1300"/>
          </a:p>
        </p:txBody>
      </p:sp>
      <p:sp>
        <p:nvSpPr>
          <p:cNvPr id="809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90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252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1E2875A-E8D7-4A49-A976-A71891A80C04}" type="slidenum">
              <a:rPr lang="ru-RU" smtClean="0"/>
              <a:pPr/>
              <a:t>4</a:t>
            </a:fld>
            <a:endParaRPr lang="de-DE"/>
          </a:p>
        </p:txBody>
      </p:sp>
      <p:sp>
        <p:nvSpPr>
          <p:cNvPr id="81923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4499E5D6-CFED-4F4E-A2C8-7F591B072701}" type="slidenum">
              <a:rPr kumimoji="0" lang="en-GB" sz="1300"/>
              <a:pPr algn="r" defTabSz="947738"/>
              <a:t>4</a:t>
            </a:fld>
            <a:endParaRPr kumimoji="0" lang="en-GB" sz="1300"/>
          </a:p>
        </p:txBody>
      </p:sp>
      <p:sp>
        <p:nvSpPr>
          <p:cNvPr id="819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8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60C6212-D0C4-4DCF-B8A2-9A3F7ACE12CE}" type="slidenum">
              <a:rPr lang="ru-RU" smtClean="0"/>
              <a:pPr/>
              <a:t>5</a:t>
            </a:fld>
            <a:endParaRPr lang="de-DE"/>
          </a:p>
        </p:txBody>
      </p:sp>
      <p:sp>
        <p:nvSpPr>
          <p:cNvPr id="76803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5E179B65-EE42-4876-822F-299FC17BAC00}" type="slidenum">
              <a:rPr kumimoji="0" lang="en-GB" sz="1300"/>
              <a:pPr algn="r" defTabSz="947738"/>
              <a:t>5</a:t>
            </a:fld>
            <a:endParaRPr kumimoji="0" lang="en-GB" sz="1300"/>
          </a:p>
        </p:txBody>
      </p:sp>
      <p:sp>
        <p:nvSpPr>
          <p:cNvPr id="768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501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C0D6097-B086-4271-8FFC-A669E5E01473}" type="slidenum">
              <a:rPr lang="ru-RU" smtClean="0"/>
              <a:pPr/>
              <a:t>10</a:t>
            </a:fld>
            <a:endParaRPr lang="de-DE"/>
          </a:p>
        </p:txBody>
      </p:sp>
      <p:sp>
        <p:nvSpPr>
          <p:cNvPr id="778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156FBAC5-457F-4D7C-9650-CD27CA0AF117}" type="slidenum">
              <a:rPr kumimoji="0" lang="en-GB" sz="1300"/>
              <a:pPr algn="r" defTabSz="947738"/>
              <a:t>10</a:t>
            </a:fld>
            <a:endParaRPr kumimoji="0" lang="en-GB" sz="1300"/>
          </a:p>
        </p:txBody>
      </p:sp>
      <p:sp>
        <p:nvSpPr>
          <p:cNvPr id="778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86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16459A6-ECC4-4A5B-BE34-BF49A646CC43}" type="slidenum">
              <a:rPr lang="ru-RU" smtClean="0"/>
              <a:pPr/>
              <a:t>11</a:t>
            </a:fld>
            <a:endParaRPr lang="de-DE"/>
          </a:p>
        </p:txBody>
      </p:sp>
      <p:sp>
        <p:nvSpPr>
          <p:cNvPr id="7885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0A7A7F15-098E-4D28-A528-4CCAC7F7C863}" type="slidenum">
              <a:rPr kumimoji="0" lang="en-GB" sz="1300"/>
              <a:pPr algn="r" defTabSz="947738"/>
              <a:t>11</a:t>
            </a:fld>
            <a:endParaRPr kumimoji="0" lang="en-GB" sz="1300"/>
          </a:p>
        </p:txBody>
      </p:sp>
      <p:sp>
        <p:nvSpPr>
          <p:cNvPr id="788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751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70B42CF-ECDE-49E3-9294-187A1FD71598}" type="slidenum">
              <a:rPr lang="ru-RU" smtClean="0"/>
              <a:pPr/>
              <a:t>12</a:t>
            </a:fld>
            <a:endParaRPr lang="de-DE"/>
          </a:p>
        </p:txBody>
      </p:sp>
      <p:sp>
        <p:nvSpPr>
          <p:cNvPr id="79875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32A9AAEC-25D4-4AAA-B7E0-A1B9D399E66F}" type="slidenum">
              <a:rPr kumimoji="0" lang="en-GB" sz="1300"/>
              <a:pPr algn="r" defTabSz="947738"/>
              <a:t>12</a:t>
            </a:fld>
            <a:endParaRPr kumimoji="0" lang="en-GB" sz="1300"/>
          </a:p>
        </p:txBody>
      </p:sp>
      <p:sp>
        <p:nvSpPr>
          <p:cNvPr id="798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129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70B42CF-ECDE-49E3-9294-187A1FD71598}" type="slidenum">
              <a:rPr lang="ru-RU" smtClean="0"/>
              <a:pPr/>
              <a:t>13</a:t>
            </a:fld>
            <a:endParaRPr lang="de-DE"/>
          </a:p>
        </p:txBody>
      </p:sp>
      <p:sp>
        <p:nvSpPr>
          <p:cNvPr id="79875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32A9AAEC-25D4-4AAA-B7E0-A1B9D399E66F}" type="slidenum">
              <a:rPr kumimoji="0" lang="en-GB" sz="1300"/>
              <a:pPr algn="r" defTabSz="947738"/>
              <a:t>13</a:t>
            </a:fld>
            <a:endParaRPr kumimoji="0" lang="en-GB" sz="1300"/>
          </a:p>
        </p:txBody>
      </p:sp>
      <p:sp>
        <p:nvSpPr>
          <p:cNvPr id="798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334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A521D1-8719-45B4-8508-7E0FAEF0CEB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  <p:sp>
        <p:nvSpPr>
          <p:cNvPr id="8294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358702-A98A-41FB-B2A9-8302E8D09278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  <p:sp>
        <p:nvSpPr>
          <p:cNvPr id="829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642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161CF47-2B27-46D5-B4F2-578C6F2C109A}" type="slidenum">
              <a:rPr kumimoji="0" lang="ru-RU" sz="1200"/>
              <a:pPr algn="r"/>
              <a:t>15</a:t>
            </a:fld>
            <a:endParaRPr kumimoji="0" lang="de-DE" sz="1200"/>
          </a:p>
        </p:txBody>
      </p:sp>
      <p:sp>
        <p:nvSpPr>
          <p:cNvPr id="839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D68C991B-EC30-47EE-87A6-8659701507CD}" type="slidenum">
              <a:rPr kumimoji="0" lang="en-GB" sz="1300"/>
              <a:pPr algn="r" defTabSz="947738"/>
              <a:t>15</a:t>
            </a:fld>
            <a:endParaRPr kumimoji="0" lang="en-GB" sz="1300"/>
          </a:p>
        </p:txBody>
      </p:sp>
      <p:sp>
        <p:nvSpPr>
          <p:cNvPr id="839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9434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4A521D1-8719-45B4-8508-7E0FAEF0CEB6}" type="slidenum">
              <a:rPr lang="ru-RU" smtClean="0"/>
              <a:pPr/>
              <a:t>16</a:t>
            </a:fld>
            <a:endParaRPr lang="de-DE"/>
          </a:p>
        </p:txBody>
      </p:sp>
      <p:sp>
        <p:nvSpPr>
          <p:cNvPr id="8294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6B358702-A98A-41FB-B2A9-8302E8D09278}" type="slidenum">
              <a:rPr kumimoji="0" lang="en-GB" sz="1300"/>
              <a:pPr algn="r" defTabSz="947738"/>
              <a:t>16</a:t>
            </a:fld>
            <a:endParaRPr kumimoji="0" lang="en-GB" sz="1300"/>
          </a:p>
        </p:txBody>
      </p:sp>
      <p:sp>
        <p:nvSpPr>
          <p:cNvPr id="829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723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A521D1-8719-45B4-8508-7E0FAEF0CEB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  <p:sp>
        <p:nvSpPr>
          <p:cNvPr id="8294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358702-A98A-41FB-B2A9-8302E8D09278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  <p:sp>
        <p:nvSpPr>
          <p:cNvPr id="829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3232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4A521D1-8719-45B4-8508-7E0FAEF0CEB6}" type="slidenum">
              <a:rPr lang="ru-RU" smtClean="0"/>
              <a:pPr/>
              <a:t>18</a:t>
            </a:fld>
            <a:endParaRPr lang="de-DE"/>
          </a:p>
        </p:txBody>
      </p:sp>
      <p:sp>
        <p:nvSpPr>
          <p:cNvPr id="8294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6B358702-A98A-41FB-B2A9-8302E8D09278}" type="slidenum">
              <a:rPr kumimoji="0" lang="en-GB" sz="1300"/>
              <a:pPr algn="r" defTabSz="947738"/>
              <a:t>18</a:t>
            </a:fld>
            <a:endParaRPr kumimoji="0" lang="en-GB" sz="1300"/>
          </a:p>
        </p:txBody>
      </p:sp>
      <p:sp>
        <p:nvSpPr>
          <p:cNvPr id="829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291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4A521D1-8719-45B4-8508-7E0FAEF0CEB6}" type="slidenum">
              <a:rPr lang="ru-RU" smtClean="0"/>
              <a:pPr/>
              <a:t>19</a:t>
            </a:fld>
            <a:endParaRPr lang="de-DE"/>
          </a:p>
        </p:txBody>
      </p:sp>
      <p:sp>
        <p:nvSpPr>
          <p:cNvPr id="8294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6B358702-A98A-41FB-B2A9-8302E8D09278}" type="slidenum">
              <a:rPr kumimoji="0" lang="en-GB" sz="1300"/>
              <a:pPr algn="r" defTabSz="947738"/>
              <a:t>19</a:t>
            </a:fld>
            <a:endParaRPr kumimoji="0" lang="en-GB" sz="1300"/>
          </a:p>
        </p:txBody>
      </p:sp>
      <p:sp>
        <p:nvSpPr>
          <p:cNvPr id="829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023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2A13427-9F31-47B6-9C03-4FA11E150287}" type="slidenum">
              <a:rPr lang="ru-RU" smtClean="0"/>
              <a:pPr/>
              <a:t>20</a:t>
            </a:fld>
            <a:endParaRPr lang="de-DE"/>
          </a:p>
        </p:txBody>
      </p:sp>
      <p:sp>
        <p:nvSpPr>
          <p:cNvPr id="84995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2D09976A-F76C-4796-A4E6-F04851542037}" type="slidenum">
              <a:rPr kumimoji="0" lang="en-GB" sz="1300"/>
              <a:pPr algn="r" defTabSz="947738"/>
              <a:t>20</a:t>
            </a:fld>
            <a:endParaRPr kumimoji="0" lang="en-GB" sz="1300"/>
          </a:p>
        </p:txBody>
      </p:sp>
      <p:sp>
        <p:nvSpPr>
          <p:cNvPr id="849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9325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D0DE79B-9EA1-4442-AA91-39F522E38EEA}" type="slidenum">
              <a:rPr kumimoji="0" lang="ru-RU" sz="1200"/>
              <a:pPr algn="r"/>
              <a:t>21</a:t>
            </a:fld>
            <a:endParaRPr kumimoji="0" lang="de-DE" sz="1200"/>
          </a:p>
        </p:txBody>
      </p:sp>
      <p:sp>
        <p:nvSpPr>
          <p:cNvPr id="86019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DEFEEB7-03A1-467D-BC66-0A03E817218A}" type="slidenum">
              <a:rPr kumimoji="0" lang="en-GB" sz="1300"/>
              <a:pPr algn="r" defTabSz="947738"/>
              <a:t>21</a:t>
            </a:fld>
            <a:endParaRPr kumimoji="0" lang="en-GB" sz="1300"/>
          </a:p>
        </p:txBody>
      </p:sp>
      <p:sp>
        <p:nvSpPr>
          <p:cNvPr id="860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740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A90FD3-1104-4C0E-BD19-C04AAB04E560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281509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Стр. </a:t>
            </a:r>
            <a:fld id="{4E7C34D8-C312-4D46-ABF5-8CA01CE57B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125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E6757-8804-42E5-B1D5-8001F45B6EDF}" type="datetime1">
              <a:rPr lang="de-DE" altLang="ru-RU" smtClean="0"/>
              <a:t>12.10.2024</a:t>
            </a:fld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/>
              <a:t>Стр. </a:t>
            </a:r>
            <a:fld id="{2CF74CB0-F0B5-41E9-BA71-20606D10B8F1}" type="slidenum">
              <a:rPr lang="de-DE" altLang="ru-RU" smtClean="0"/>
              <a:pPr>
                <a:defRPr/>
              </a:pPr>
              <a:t>‹#›</a:t>
            </a:fld>
            <a:endParaRPr lang="de-DE" altLang="ru-RU" dirty="0"/>
          </a:p>
        </p:txBody>
      </p:sp>
    </p:spTree>
    <p:extLst>
      <p:ext uri="{BB962C8B-B14F-4D97-AF65-F5344CB8AC3E}">
        <p14:creationId xmlns:p14="http://schemas.microsoft.com/office/powerpoint/2010/main" val="398008610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A13C1-0FCD-4F01-AC7E-70D3C55F45C7}" type="datetime1">
              <a:rPr lang="de-DE" altLang="ru-RU" smtClean="0"/>
              <a:t>12.10.2024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A4CED0C5-ED51-4CAE-B403-C2A41A79FC68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1102695337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99CA09-1AF8-4748-A45E-AF91C8090DA7}" type="datetime1">
              <a:rPr lang="de-DE" altLang="ru-RU" smtClean="0"/>
              <a:t>12.10.2024</a:t>
            </a:fld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/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56F2DCAE-80BF-45C3-B74A-3BA349CF89F6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2238370068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AC376-73FF-46E7-B915-F9E62041705A}" type="datetime1">
              <a:rPr lang="de-DE" altLang="ru-RU" smtClean="0"/>
              <a:t>12.10.2024</a:t>
            </a:fld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A128D019-E771-49AB-93BA-BEA67AACC870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3581743692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72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758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062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525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7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/>
              <a:t>Стр. </a:t>
            </a:r>
            <a:fld id="{827EB3EC-A0FC-4DD2-B272-B8CC7C9619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011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8833E3C-6C88-4444-8CA8-803D753C9E8A}" type="datetime1">
              <a:rPr lang="de-DE" altLang="ru-RU" smtClean="0"/>
              <a:t>12.10.2024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42D759B2-9E95-43EC-A219-6234572FE2A1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745668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8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834057" y="548199"/>
            <a:ext cx="8026151" cy="543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914400">
              <a:defRPr/>
            </a:pP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Введение в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  <a:t/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распараллеливание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  <a:t> </a:t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алгоритмов и </a:t>
            </a:r>
            <a:b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программ</a:t>
            </a:r>
          </a:p>
          <a:p>
            <a:pPr defTabSz="914400">
              <a:defRPr/>
            </a:pPr>
            <a:endParaRPr kumimoji="0" lang="ru-RU" sz="2800" dirty="0">
              <a:solidFill>
                <a:srgbClr val="800000"/>
              </a:solidFill>
              <a:latin typeface="Arial" pitchFamily="34" charset="0"/>
            </a:endParaRPr>
          </a:p>
          <a:p>
            <a:pPr algn="r" defTabSz="914400">
              <a:spcBef>
                <a:spcPts val="1800"/>
              </a:spcBef>
              <a:defRPr/>
            </a:pPr>
            <a:r>
              <a:rPr kumimoji="0" lang="ru-RU" sz="3600" dirty="0">
                <a:solidFill>
                  <a:srgbClr val="800000"/>
                </a:solidFill>
                <a:latin typeface="Arial" pitchFamily="34" charset="0"/>
              </a:rPr>
              <a:t>Карпов Владимир Ефимович,</a:t>
            </a:r>
          </a:p>
          <a:p>
            <a:pPr algn="r" defTabSz="914400">
              <a:defRPr/>
            </a:pPr>
            <a:r>
              <a:rPr kumimoji="0" lang="ru-RU" sz="2400" dirty="0">
                <a:solidFill>
                  <a:srgbClr val="800000"/>
                </a:solidFill>
                <a:latin typeface="Arial" pitchFamily="34" charset="0"/>
              </a:rPr>
              <a:t>кандидат физико-математических наук, доцент</a:t>
            </a:r>
          </a:p>
          <a:p>
            <a:pPr defTabSz="914400">
              <a:defRPr/>
            </a:pPr>
            <a:r>
              <a:rPr kumimoji="0" lang="ru-RU" sz="2800" dirty="0">
                <a:solidFill>
                  <a:srgbClr val="800000"/>
                </a:solidFill>
                <a:latin typeface="Arial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821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Название 1"/>
          <p:cNvSpPr>
            <a:spLocks noGrp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Тема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altLang="ru-RU" sz="3600" smtClean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3</a:t>
            </a:r>
            <a:endParaRPr lang="ru-RU" altLang="ru-RU" sz="3600" dirty="0">
              <a:solidFill>
                <a:srgbClr val="003794"/>
              </a:solidFill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701314" y="1069975"/>
            <a:ext cx="8325200" cy="378565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defTabSz="914400">
              <a:lnSpc>
                <a:spcPct val="120000"/>
              </a:lnSpc>
              <a:defRPr/>
            </a:pPr>
            <a:r>
              <a:rPr kumimoji="0" lang="ru-RU" altLang="ru-RU" sz="4000" dirty="0">
                <a:solidFill>
                  <a:srgbClr val="404040"/>
                </a:solidFill>
                <a:latin typeface="Lucida Grande CY" pitchFamily="2" charset="-52"/>
              </a:rPr>
              <a:t>		</a:t>
            </a:r>
          </a:p>
          <a:p>
            <a:pPr marL="2160000" defTabSz="914400">
              <a:lnSpc>
                <a:spcPct val="120000"/>
              </a:lnSpc>
              <a:defRPr/>
            </a:pPr>
            <a:r>
              <a:rPr kumimoji="0" lang="ru-RU" sz="4000" dirty="0">
                <a:latin typeface="Arial" pitchFamily="34" charset="0"/>
              </a:rPr>
              <a:t>Асимптотический анализ</a:t>
            </a:r>
            <a:r>
              <a:rPr kumimoji="0" lang="ru-RU" altLang="ru-RU" sz="40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4000" dirty="0">
                <a:latin typeface="Arial" pitchFamily="34" charset="0"/>
              </a:rPr>
              <a:t>алгоритмов и</a:t>
            </a:r>
            <a:r>
              <a:rPr kumimoji="0" lang="en-US" sz="4000" dirty="0">
                <a:latin typeface="Arial" pitchFamily="34" charset="0"/>
              </a:rPr>
              <a:t> </a:t>
            </a:r>
            <a:r>
              <a:rPr kumimoji="0" lang="ru-RU" sz="4000" dirty="0">
                <a:latin typeface="Arial" pitchFamily="34" charset="0"/>
              </a:rPr>
              <a:t>распараллеливание</a:t>
            </a:r>
            <a:r>
              <a:rPr kumimoji="0" lang="ru-RU" sz="4000" dirty="0">
                <a:solidFill>
                  <a:srgbClr val="00235C"/>
                </a:solidFill>
                <a:latin typeface="Lucida Grande CY" pitchFamily="2" charset="-52"/>
              </a:rPr>
              <a:t> </a:t>
            </a:r>
            <a:r>
              <a:rPr kumimoji="0" lang="ru-RU" sz="4000" dirty="0">
                <a:latin typeface="Arial" panose="020B0604020202020204" pitchFamily="34" charset="0"/>
              </a:rPr>
              <a:t>(часть </a:t>
            </a:r>
            <a:r>
              <a:rPr kumimoji="0" lang="en-US" sz="4000" dirty="0">
                <a:latin typeface="Arial" panose="020B0604020202020204" pitchFamily="34" charset="0"/>
              </a:rPr>
              <a:t>II)</a:t>
            </a:r>
            <a:endParaRPr kumimoji="0" lang="ru-RU" sz="4000" dirty="0"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754" y="936000"/>
            <a:ext cx="8496300" cy="5976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Сравнение параллельных алгоритмов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754" y="1874248"/>
            <a:ext cx="8496300" cy="411915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180000" rIns="216000" bIns="36000"/>
          <a:lstStyle/>
          <a:p>
            <a:pPr>
              <a:lnSpc>
                <a:spcPct val="110000"/>
              </a:lnSpc>
              <a:spcAft>
                <a:spcPts val="1800"/>
              </a:spcAft>
              <a:defRPr/>
            </a:pPr>
            <a:r>
              <a:rPr kumimoji="0" lang="ru-RU" altLang="ko-KR" sz="2400" dirty="0">
                <a:latin typeface="Arial" pitchFamily="34" charset="0"/>
              </a:rPr>
              <a:t>Параллельные алгоритмы решения задачи имеют дополнительный параметр масштаба </a:t>
            </a:r>
            <a:r>
              <a:rPr kumimoji="0" lang="en-US" altLang="ko-KR" sz="2400" i="1" dirty="0">
                <a:latin typeface="Arial" pitchFamily="34" charset="0"/>
                <a:ea typeface="굴림" charset="-127"/>
              </a:rPr>
              <a:t>N</a:t>
            </a:r>
            <a:r>
              <a:rPr kumimoji="0" lang="ru-RU" altLang="ko-KR" sz="2400" dirty="0">
                <a:latin typeface="Arial" pitchFamily="34" charset="0"/>
              </a:rPr>
              <a:t> — количество исполнителей, задействованных при их выполнении. </a:t>
            </a: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10000"/>
              </a:lnSpc>
              <a:spcAft>
                <a:spcPts val="1800"/>
              </a:spcAft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Для сравнения алгоритмов необходимо фиксировать значение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i="1" noProof="1">
                <a:solidFill>
                  <a:srgbClr val="404040"/>
                </a:solidFill>
                <a:latin typeface="Arial" pitchFamily="34" charset="0"/>
              </a:rPr>
              <a:t>N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1800"/>
              </a:spcAft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Пусть 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 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и 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– времена исполнения алгоритмов </a:t>
            </a:r>
            <a:b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</a:b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1 и 2 соответственно при фиксированном числе исполнителей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754" y="1927091"/>
            <a:ext cx="8496300" cy="32806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180000" rIns="216000" bIns="36000" anchor="t" anchorCtr="0"/>
          <a:lstStyle/>
          <a:p>
            <a:pPr>
              <a:lnSpc>
                <a:spcPct val="110000"/>
              </a:lnSpc>
              <a:spcAft>
                <a:spcPts val="1800"/>
              </a:spcAft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Если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 = O(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))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,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то алгоритм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1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не хуже алгоритма 2 по поведению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1800"/>
              </a:spcAft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Если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 =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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))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,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то алгоритм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1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не лучше алгоритма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2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 по поведению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1800"/>
              </a:spcAft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Если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1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 = </a:t>
            </a:r>
            <a:r>
              <a:rPr kumimoji="0" lang="en-US" sz="2400" dirty="0">
                <a:latin typeface="Arial" pitchFamily="34" charset="0"/>
                <a:sym typeface="Symbol" pitchFamily="18" charset="2"/>
              </a:rPr>
              <a:t>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T</a:t>
            </a:r>
            <a:r>
              <a:rPr kumimoji="0" lang="en-US" sz="2400" i="1" baseline="-25000" dirty="0">
                <a:latin typeface="Arial" pitchFamily="34" charset="0"/>
              </a:rPr>
              <a:t>2</a:t>
            </a:r>
            <a:r>
              <a:rPr kumimoji="0" lang="en-US" sz="2400" dirty="0">
                <a:latin typeface="Arial" pitchFamily="34" charset="0"/>
              </a:rPr>
              <a:t>(</a:t>
            </a:r>
            <a:r>
              <a:rPr kumimoji="0" lang="en-US" sz="2400" i="1" dirty="0">
                <a:latin typeface="Arial" pitchFamily="34" charset="0"/>
              </a:rPr>
              <a:t>n</a:t>
            </a:r>
            <a:r>
              <a:rPr kumimoji="0" lang="en-US" sz="2400" dirty="0">
                <a:latin typeface="Arial" pitchFamily="34" charset="0"/>
              </a:rPr>
              <a:t>))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,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то алгоритмы 1 и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2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 одинаковы по поведению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 </a:t>
            </a:r>
          </a:p>
        </p:txBody>
      </p:sp>
      <p:sp>
        <p:nvSpPr>
          <p:cNvPr id="5" name="Rechteck 36">
            <a:extLst>
              <a:ext uri="{FF2B5EF4-FFF2-40B4-BE49-F238E27FC236}">
                <a16:creationId xmlns="" xmlns:a16="http://schemas.microsoft.com/office/drawing/2014/main" id="{9E5F52FC-DF89-4AFA-B8A3-911FEE241E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754" y="936000"/>
            <a:ext cx="8496300" cy="5976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Сравнение параллельных алгоритмов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Классификация компьютеров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8454" y="1980000"/>
            <a:ext cx="8496300" cy="4572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По числу потоков команд и данных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:</a:t>
            </a: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SISD – Single Instruction Single Data</a:t>
            </a: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SIMD – Single Instruction Multiple Data</a:t>
            </a: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MISD – Multiple Instruction Single Data</a:t>
            </a: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MIMD – Multiple Instruction Multiple Data</a:t>
            </a: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65754" y="93600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Таксономия </a:t>
            </a:r>
            <a:r>
              <a:rPr kumimoji="0" lang="ru-RU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Флинна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 (19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6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6)</a:t>
            </a:r>
          </a:p>
        </p:txBody>
      </p:sp>
      <p:pic>
        <p:nvPicPr>
          <p:cNvPr id="32773" name="Рисунок 6" descr="Flynn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19266" y="2445902"/>
            <a:ext cx="2011363" cy="234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60979" y="1148833"/>
            <a:ext cx="8777288" cy="5400000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D9D9D9"/>
              </a:gs>
            </a:gsLst>
            <a:lin ang="5400000" scaled="0"/>
          </a:gradFill>
          <a:ln w="12700">
            <a:solidFill>
              <a:srgbClr val="C0C0C0"/>
            </a:solidFill>
          </a:ln>
          <a:effectLst>
            <a:outerShdw blurRad="50800"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33794" name="Название 1"/>
          <p:cNvSpPr>
            <a:spLocks noGrp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Таксономия Флинна</a:t>
            </a: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5505704" y="1984376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>
              <a:defRPr/>
            </a:pPr>
            <a:endParaRPr kumimoji="0" lang="ru-RU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7253904" y="1333500"/>
            <a:ext cx="4320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kumimoji="0"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</a:t>
            </a:r>
            <a:r>
              <a:rPr kumimoji="0" lang="en-US" sz="2800" b="1" dirty="0">
                <a:latin typeface="Arial" pitchFamily="34" charset="0"/>
              </a:rPr>
              <a:t>SISD</a:t>
            </a:r>
            <a:endParaRPr kumimoji="0" lang="ru-RU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6920167" y="1947948"/>
            <a:ext cx="5118100" cy="2385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spcBef>
                <a:spcPts val="3000"/>
              </a:spcBef>
            </a:pPr>
            <a:r>
              <a:rPr kumimoji="0" lang="en-US" sz="2400" dirty="0">
                <a:latin typeface="Arial" pitchFamily="34" charset="0"/>
              </a:rPr>
              <a:t>SISD </a:t>
            </a:r>
            <a:r>
              <a:rPr kumimoji="0" lang="ru-RU" sz="2400" dirty="0">
                <a:latin typeface="Arial" pitchFamily="34" charset="0"/>
              </a:rPr>
              <a:t>архитектура является классической фон-Неймановской архитектурой для последовательных</a:t>
            </a:r>
            <a:r>
              <a:rPr kumimoji="0" lang="en-US" sz="2400" dirty="0">
                <a:latin typeface="Arial" pitchFamily="34" charset="0"/>
              </a:rPr>
              <a:t> </a:t>
            </a:r>
            <a:r>
              <a:rPr kumimoji="0" lang="ru-RU" sz="2400" dirty="0">
                <a:latin typeface="Arial" pitchFamily="34" charset="0"/>
              </a:rPr>
              <a:t>компьютеров</a:t>
            </a:r>
            <a:r>
              <a:rPr kumimoji="0" lang="en-US" sz="2400" dirty="0">
                <a:latin typeface="Arial" pitchFamily="34" charset="0"/>
              </a:rPr>
              <a:t>.</a:t>
            </a:r>
          </a:p>
          <a:p>
            <a:pPr defTabSz="914400">
              <a:spcBef>
                <a:spcPts val="600"/>
              </a:spcBef>
            </a:pPr>
            <a:r>
              <a:rPr kumimoji="0" lang="ru-RU" sz="2400" dirty="0">
                <a:latin typeface="Arial" pitchFamily="34" charset="0"/>
              </a:rPr>
              <a:t>У нас есть единственный исполнитель – </a:t>
            </a:r>
            <a:r>
              <a:rPr kumimoji="0" lang="en-US" sz="2400" dirty="0">
                <a:latin typeface="Arial" pitchFamily="34" charset="0"/>
              </a:rPr>
              <a:t>processing unit (PU)</a:t>
            </a:r>
          </a:p>
        </p:txBody>
      </p:sp>
      <p:pic>
        <p:nvPicPr>
          <p:cNvPr id="33798" name="Рисунок 7" descr="SISD.bmp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78454" y="1749424"/>
            <a:ext cx="3420000" cy="26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9" name="Text Box 5"/>
          <p:cNvSpPr txBox="1">
            <a:spLocks noChangeArrowheads="1"/>
          </p:cNvSpPr>
          <p:nvPr/>
        </p:nvSpPr>
        <p:spPr bwMode="auto">
          <a:xfrm>
            <a:off x="3487992" y="4680001"/>
            <a:ext cx="8178800" cy="1646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spcBef>
                <a:spcPts val="3000"/>
              </a:spcBef>
            </a:pPr>
            <a:r>
              <a:rPr kumimoji="0" lang="ru-RU" sz="2400" dirty="0">
                <a:latin typeface="Arial" pitchFamily="34" charset="0"/>
              </a:rPr>
              <a:t>Команды выполняются одна за другой из единственного потока команд.</a:t>
            </a:r>
            <a:endParaRPr kumimoji="0" lang="en-US" sz="2400" dirty="0">
              <a:latin typeface="Arial" pitchFamily="34" charset="0"/>
            </a:endParaRPr>
          </a:p>
          <a:p>
            <a:pPr defTabSz="914400">
              <a:spcBef>
                <a:spcPts val="600"/>
              </a:spcBef>
            </a:pPr>
            <a:r>
              <a:rPr kumimoji="0" lang="ru-RU" sz="2400" dirty="0">
                <a:latin typeface="Arial" pitchFamily="34" charset="0"/>
              </a:rPr>
              <a:t>Каждая команда инициирует единственную операцию над данными из единственного потока данных. </a:t>
            </a:r>
            <a:endParaRPr kumimoji="0" lang="en-US" sz="2400" dirty="0"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60979" y="1148833"/>
            <a:ext cx="8777288" cy="5400000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D9D9D9"/>
              </a:gs>
            </a:gsLst>
            <a:lin ang="5400000" scaled="0"/>
          </a:gradFill>
          <a:ln w="12700">
            <a:solidFill>
              <a:srgbClr val="C0C0C0"/>
            </a:solidFill>
          </a:ln>
          <a:effectLst>
            <a:outerShdw blurRad="50800"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34818" name="Название 1"/>
          <p:cNvSpPr>
            <a:spLocks noGrp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Таксономия Флинна</a:t>
            </a: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5505704" y="1984376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>
              <a:defRPr/>
            </a:pPr>
            <a:endParaRPr kumimoji="0" lang="ru-RU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7253904" y="1332000"/>
            <a:ext cx="4320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kumimoji="0"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</a:t>
            </a:r>
            <a:r>
              <a:rPr kumimoji="0" lang="en-US" sz="2800" b="1" dirty="0">
                <a:latin typeface="Arial" pitchFamily="34" charset="0"/>
              </a:rPr>
              <a:t>SIMD</a:t>
            </a:r>
            <a:endParaRPr kumimoji="0" lang="ru-RU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8549" name="Text Box 5"/>
          <p:cNvSpPr txBox="1">
            <a:spLocks noChangeArrowheads="1"/>
          </p:cNvSpPr>
          <p:nvPr/>
        </p:nvSpPr>
        <p:spPr bwMode="auto">
          <a:xfrm>
            <a:off x="6920168" y="1947600"/>
            <a:ext cx="5265737" cy="201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>
              <a:spcBef>
                <a:spcPts val="3000"/>
              </a:spcBef>
              <a:defRPr/>
            </a:pPr>
            <a:r>
              <a:rPr kumimoji="0" lang="en-US" sz="2400" dirty="0">
                <a:latin typeface="Arial" pitchFamily="34" charset="0"/>
              </a:rPr>
              <a:t>SIMD </a:t>
            </a:r>
            <a:r>
              <a:rPr kumimoji="0" lang="ru-RU" sz="2400" dirty="0">
                <a:latin typeface="Arial" pitchFamily="34" charset="0"/>
              </a:rPr>
              <a:t>архитектура позволяет выполнять векторные или матричные операции</a:t>
            </a:r>
            <a:r>
              <a:rPr kumimoji="0" lang="en-US" sz="2400" dirty="0">
                <a:latin typeface="Arial" pitchFamily="34" charset="0"/>
              </a:rPr>
              <a:t>.</a:t>
            </a:r>
          </a:p>
          <a:p>
            <a:pPr defTabSz="914400">
              <a:spcBef>
                <a:spcPts val="600"/>
              </a:spcBef>
              <a:defRPr/>
            </a:pPr>
            <a:r>
              <a:rPr kumimoji="0" lang="ru-RU" sz="2400" dirty="0">
                <a:latin typeface="Arial" pitchFamily="34" charset="0"/>
              </a:rPr>
              <a:t>У нас есть много исполнителей (</a:t>
            </a:r>
            <a:r>
              <a:rPr kumimoji="0" lang="en-US" sz="2400" dirty="0">
                <a:latin typeface="Arial" pitchFamily="34" charset="0"/>
              </a:rPr>
              <a:t>PU)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.</a:t>
            </a:r>
          </a:p>
        </p:txBody>
      </p:sp>
      <p:pic>
        <p:nvPicPr>
          <p:cNvPr id="34822" name="Рисунок 7" descr="SISD.bmp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78453" y="1749425"/>
            <a:ext cx="3420000" cy="26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3" name="Text Box 5"/>
          <p:cNvSpPr txBox="1">
            <a:spLocks noChangeArrowheads="1"/>
          </p:cNvSpPr>
          <p:nvPr/>
        </p:nvSpPr>
        <p:spPr bwMode="auto">
          <a:xfrm>
            <a:off x="3487992" y="4680001"/>
            <a:ext cx="8178800" cy="1646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spcBef>
                <a:spcPts val="3000"/>
              </a:spcBef>
            </a:pPr>
            <a:r>
              <a:rPr kumimoji="0" lang="ru-RU" sz="2400" dirty="0">
                <a:latin typeface="Arial" pitchFamily="34" charset="0"/>
              </a:rPr>
              <a:t>Команды выполняются одна за другой из единственного потока команд.</a:t>
            </a:r>
            <a:endParaRPr kumimoji="0" lang="en-US" sz="2400" dirty="0">
              <a:latin typeface="Arial" pitchFamily="34" charset="0"/>
            </a:endParaRPr>
          </a:p>
          <a:p>
            <a:pPr defTabSz="914400">
              <a:spcBef>
                <a:spcPts val="600"/>
              </a:spcBef>
            </a:pPr>
            <a:r>
              <a:rPr kumimoji="0" lang="ru-RU" sz="2400" dirty="0">
                <a:latin typeface="Arial" pitchFamily="34" charset="0"/>
              </a:rPr>
              <a:t>Каждая команда инициирует множество одинаковых операций над данными из различных потоков данных</a:t>
            </a:r>
            <a:r>
              <a:rPr kumimoji="0" lang="en-US" sz="2400" dirty="0">
                <a:latin typeface="Arial" pitchFamily="34" charset="0"/>
              </a:rPr>
              <a:t>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60979" y="1148833"/>
            <a:ext cx="8777288" cy="5400000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D9D9D9"/>
              </a:gs>
            </a:gsLst>
            <a:lin ang="5400000" scaled="0"/>
          </a:gradFill>
          <a:ln w="12700">
            <a:solidFill>
              <a:srgbClr val="C0C0C0"/>
            </a:solidFill>
          </a:ln>
          <a:effectLst>
            <a:outerShdw blurRad="50800"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35842" name="Название 1"/>
          <p:cNvSpPr>
            <a:spLocks noGrp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Таксономия Флинна</a:t>
            </a: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5505704" y="1984376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>
              <a:defRPr/>
            </a:pPr>
            <a:endParaRPr kumimoji="0" lang="ru-RU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7253904" y="1332000"/>
            <a:ext cx="432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kumimoji="0"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</a:t>
            </a:r>
            <a:r>
              <a:rPr kumimoji="0" lang="en-US" sz="2800" b="1" dirty="0">
                <a:latin typeface="Arial" pitchFamily="34" charset="0"/>
              </a:rPr>
              <a:t>MISD</a:t>
            </a:r>
            <a:endParaRPr kumimoji="0" lang="ru-RU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6920168" y="2262189"/>
            <a:ext cx="4821600" cy="1646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spcBef>
                <a:spcPts val="3000"/>
              </a:spcBef>
            </a:pPr>
            <a:r>
              <a:rPr kumimoji="0" lang="en-US" sz="2400" dirty="0">
                <a:latin typeface="Arial" pitchFamily="34" charset="0"/>
              </a:rPr>
              <a:t>MISD </a:t>
            </a:r>
            <a:r>
              <a:rPr kumimoji="0" lang="ru-RU" sz="2400" dirty="0">
                <a:latin typeface="Arial" pitchFamily="34" charset="0"/>
              </a:rPr>
              <a:t>архитектура – это теоретический класс.</a:t>
            </a:r>
            <a:endParaRPr kumimoji="0" lang="en-US" sz="2400" dirty="0">
              <a:latin typeface="Arial" pitchFamily="34" charset="0"/>
            </a:endParaRPr>
          </a:p>
          <a:p>
            <a:pPr defTabSz="914400">
              <a:spcBef>
                <a:spcPts val="600"/>
              </a:spcBef>
            </a:pPr>
            <a:r>
              <a:rPr kumimoji="0" lang="ru-RU" sz="2400" dirty="0">
                <a:latin typeface="Arial" pitchFamily="34" charset="0"/>
              </a:rPr>
              <a:t>В действительности – не существует</a:t>
            </a:r>
            <a:r>
              <a:rPr kumimoji="0" lang="ru-RU" sz="2300" dirty="0">
                <a:latin typeface="Arial" pitchFamily="34" charset="0"/>
              </a:rPr>
              <a:t>.</a:t>
            </a:r>
            <a:endParaRPr kumimoji="0" lang="en-US" sz="2300" dirty="0">
              <a:latin typeface="Arial" pitchFamily="34" charset="0"/>
            </a:endParaRPr>
          </a:p>
        </p:txBody>
      </p:sp>
      <p:pic>
        <p:nvPicPr>
          <p:cNvPr id="35846" name="Рисунок 7" descr="SISD.bmp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78454" y="1749425"/>
            <a:ext cx="3420000" cy="26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7" name="Text Box 5"/>
          <p:cNvSpPr txBox="1">
            <a:spLocks noChangeArrowheads="1"/>
          </p:cNvSpPr>
          <p:nvPr/>
        </p:nvSpPr>
        <p:spPr bwMode="auto">
          <a:xfrm>
            <a:off x="3487992" y="4680001"/>
            <a:ext cx="8178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spcBef>
                <a:spcPts val="3000"/>
              </a:spcBef>
            </a:pPr>
            <a:r>
              <a:rPr kumimoji="0" lang="ru-RU" sz="2400" dirty="0">
                <a:latin typeface="Arial" pitchFamily="34" charset="0"/>
              </a:rPr>
              <a:t>Различные команды исполняются одновременно из различных потоков команд</a:t>
            </a:r>
            <a:r>
              <a:rPr kumimoji="0" lang="en-US" sz="2400" dirty="0">
                <a:latin typeface="Arial" pitchFamily="34" charset="0"/>
              </a:rPr>
              <a:t>, </a:t>
            </a:r>
            <a:r>
              <a:rPr kumimoji="0" lang="ru-RU" sz="2400" dirty="0">
                <a:latin typeface="Arial" pitchFamily="34" charset="0"/>
              </a:rPr>
              <a:t>но все они обрабатывают одни и те же данные из единственного потока данных</a:t>
            </a:r>
            <a:r>
              <a:rPr kumimoji="0" lang="en-US" sz="2400" dirty="0">
                <a:latin typeface="Arial" pitchFamily="34" charset="0"/>
              </a:rPr>
              <a:t>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60979" y="1148833"/>
            <a:ext cx="8777288" cy="5400000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D9D9D9"/>
              </a:gs>
            </a:gsLst>
            <a:lin ang="5400000" scaled="0"/>
          </a:gradFill>
          <a:ln w="12700">
            <a:solidFill>
              <a:srgbClr val="C0C0C0"/>
            </a:solidFill>
          </a:ln>
          <a:effectLst>
            <a:outerShdw blurRad="50800"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en-US" dirty="0">
              <a:latin typeface="Arial" pitchFamily="34" charset="0"/>
            </a:endParaRPr>
          </a:p>
          <a:p>
            <a:endParaRPr lang="ru-RU" dirty="0">
              <a:latin typeface="Arial" pitchFamily="34" charset="0"/>
            </a:endParaRPr>
          </a:p>
        </p:txBody>
      </p:sp>
      <p:sp>
        <p:nvSpPr>
          <p:cNvPr id="36866" name="Название 1"/>
          <p:cNvSpPr>
            <a:spLocks noGrp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Таксономия Флинна</a:t>
            </a: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5505704" y="1984376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>
              <a:defRPr/>
            </a:pPr>
            <a:endParaRPr kumimoji="0" lang="ru-RU"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7253904" y="1332000"/>
            <a:ext cx="4320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algn="ctr" defTabSz="914400">
              <a:spcBef>
                <a:spcPct val="50000"/>
              </a:spcBef>
              <a:defRPr/>
            </a:pPr>
            <a:r>
              <a:rPr kumimoji="0"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</a:t>
            </a:r>
            <a:r>
              <a:rPr kumimoji="0" lang="en-US" sz="2800" b="1" dirty="0">
                <a:latin typeface="Arial" pitchFamily="34" charset="0"/>
              </a:rPr>
              <a:t>MIMD</a:t>
            </a:r>
            <a:endParaRPr kumimoji="0" lang="ru-RU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8549" name="Text Box 5"/>
          <p:cNvSpPr txBox="1">
            <a:spLocks noChangeArrowheads="1"/>
          </p:cNvSpPr>
          <p:nvPr/>
        </p:nvSpPr>
        <p:spPr bwMode="auto">
          <a:xfrm>
            <a:off x="6920168" y="1980000"/>
            <a:ext cx="5265737" cy="2385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>
              <a:spcBef>
                <a:spcPts val="600"/>
              </a:spcBef>
              <a:defRPr/>
            </a:pPr>
            <a:r>
              <a:rPr kumimoji="0" lang="ru-RU" sz="2400" dirty="0">
                <a:latin typeface="Arial" pitchFamily="34" charset="0"/>
              </a:rPr>
              <a:t>У нас много исполнителей (</a:t>
            </a:r>
            <a:r>
              <a:rPr kumimoji="0" lang="en-US" sz="2400" dirty="0">
                <a:latin typeface="Arial" pitchFamily="34" charset="0"/>
              </a:rPr>
              <a:t>PU</a:t>
            </a:r>
            <a:r>
              <a:rPr kumimoji="0" lang="ru-RU" sz="2400" dirty="0">
                <a:latin typeface="Arial" pitchFamily="34" charset="0"/>
              </a:rPr>
              <a:t>)</a:t>
            </a:r>
            <a:r>
              <a:rPr kumimoji="0" lang="en-US" sz="2400" dirty="0">
                <a:latin typeface="Arial" pitchFamily="34" charset="0"/>
              </a:rPr>
              <a:t>.</a:t>
            </a:r>
          </a:p>
          <a:p>
            <a:pPr defTabSz="914400">
              <a:spcBef>
                <a:spcPts val="600"/>
              </a:spcBef>
              <a:defRPr/>
            </a:pPr>
            <a:r>
              <a:rPr kumimoji="0" lang="ru-RU" sz="2400" dirty="0">
                <a:latin typeface="Arial" pitchFamily="34" charset="0"/>
              </a:rPr>
              <a:t>Каждый</a:t>
            </a:r>
            <a:r>
              <a:rPr kumimoji="0" lang="en-US" sz="2400" dirty="0">
                <a:latin typeface="Arial" pitchFamily="34" charset="0"/>
              </a:rPr>
              <a:t> PU </a:t>
            </a:r>
            <a:r>
              <a:rPr kumimoji="0" lang="ru-RU" sz="2400" dirty="0">
                <a:latin typeface="Arial" pitchFamily="34" charset="0"/>
              </a:rPr>
              <a:t>выполняет собственные команды из собственного потока команд для обработки данных из собственного потока данных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.</a:t>
            </a:r>
          </a:p>
        </p:txBody>
      </p:sp>
      <p:pic>
        <p:nvPicPr>
          <p:cNvPr id="36870" name="Рисунок 7" descr="SISD.bmp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78453" y="1749425"/>
            <a:ext cx="3420000" cy="26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1" name="Text Box 5"/>
          <p:cNvSpPr txBox="1">
            <a:spLocks noChangeArrowheads="1"/>
          </p:cNvSpPr>
          <p:nvPr/>
        </p:nvSpPr>
        <p:spPr bwMode="auto">
          <a:xfrm>
            <a:off x="3487992" y="4680001"/>
            <a:ext cx="8178800" cy="1800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spcBef>
                <a:spcPts val="3000"/>
              </a:spcBef>
            </a:pPr>
            <a:r>
              <a:rPr kumimoji="0" lang="en-US" sz="2400" dirty="0">
                <a:latin typeface="Arial" pitchFamily="34" charset="0"/>
              </a:rPr>
              <a:t>MIMD </a:t>
            </a:r>
            <a:r>
              <a:rPr kumimoji="0" lang="ru-RU" sz="2400" dirty="0">
                <a:latin typeface="Arial" pitchFamily="34" charset="0"/>
              </a:rPr>
              <a:t>класс слишком широк</a:t>
            </a:r>
            <a:r>
              <a:rPr kumimoji="0" lang="en-US" sz="2400" dirty="0">
                <a:latin typeface="Arial" pitchFamily="34" charset="0"/>
              </a:rPr>
              <a:t>.</a:t>
            </a:r>
          </a:p>
          <a:p>
            <a:pPr defTabSz="914400">
              <a:spcBef>
                <a:spcPts val="600"/>
              </a:spcBef>
            </a:pPr>
            <a:r>
              <a:rPr kumimoji="0" lang="ru-RU" sz="2400" dirty="0">
                <a:latin typeface="Arial" pitchFamily="34" charset="0"/>
              </a:rPr>
              <a:t>Мы будем делить его на два подкласса</a:t>
            </a:r>
            <a:r>
              <a:rPr kumimoji="0" lang="en-US" sz="2400" dirty="0">
                <a:latin typeface="Arial" pitchFamily="34" charset="0"/>
              </a:rPr>
              <a:t>:</a:t>
            </a:r>
          </a:p>
          <a:p>
            <a:pPr defTabSz="914400">
              <a:spcBef>
                <a:spcPts val="600"/>
              </a:spcBef>
            </a:pPr>
            <a:r>
              <a:rPr kumimoji="0" lang="en-US" sz="2400" dirty="0">
                <a:latin typeface="Arial" pitchFamily="34" charset="0"/>
              </a:rPr>
              <a:t>	MIMD </a:t>
            </a:r>
            <a:r>
              <a:rPr kumimoji="0" lang="ru-RU" sz="2400" dirty="0">
                <a:latin typeface="Arial" pitchFamily="34" charset="0"/>
              </a:rPr>
              <a:t>компьютеры с общей памятью и</a:t>
            </a:r>
            <a:endParaRPr kumimoji="0" lang="en-US" sz="2400" dirty="0">
              <a:latin typeface="Arial" pitchFamily="34" charset="0"/>
            </a:endParaRPr>
          </a:p>
          <a:p>
            <a:pPr defTabSz="914400">
              <a:spcBef>
                <a:spcPts val="600"/>
              </a:spcBef>
            </a:pPr>
            <a:r>
              <a:rPr kumimoji="0" lang="en-US" sz="2400" dirty="0">
                <a:latin typeface="Arial" pitchFamily="34" charset="0"/>
              </a:rPr>
              <a:t>	MIMD </a:t>
            </a:r>
            <a:r>
              <a:rPr kumimoji="0" lang="ru-RU" sz="2400" dirty="0">
                <a:latin typeface="Arial" pitchFamily="34" charset="0"/>
              </a:rPr>
              <a:t>компьютеры с распределенной памятью.</a:t>
            </a:r>
            <a:endParaRPr kumimoji="0" lang="en-US" sz="2400" dirty="0"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754" y="936000"/>
            <a:ext cx="8496300" cy="598488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PRAM (Parallel Random Access Machine)</a:t>
            </a: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754" y="1798950"/>
            <a:ext cx="8496300" cy="4680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108000" rIns="216000" bIns="36000"/>
          <a:lstStyle/>
          <a:p>
            <a:pPr marL="457200" indent="-457200">
              <a:spcBef>
                <a:spcPts val="600"/>
              </a:spcBef>
              <a:spcAft>
                <a:spcPts val="800"/>
              </a:spcAft>
              <a:buFontTx/>
              <a:buAutoNum type="arabicParenR"/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Много процессоров и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/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или ядер с общей памятью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marL="457200" indent="-457200">
              <a:lnSpc>
                <a:spcPct val="110000"/>
              </a:lnSpc>
              <a:spcAft>
                <a:spcPts val="800"/>
              </a:spcAft>
              <a:buFontTx/>
              <a:buAutoNum type="arabicParenR"/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Ячейки памяти доступны в произвольном порядке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marL="457200" indent="-457200">
              <a:lnSpc>
                <a:spcPct val="110000"/>
              </a:lnSpc>
              <a:spcAft>
                <a:spcPts val="800"/>
              </a:spcAft>
              <a:buFontTx/>
              <a:buAutoNum type="arabicParenR"/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Время доступа к памяти есть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  <a:sym typeface="Symbol" pitchFamily="18" charset="2"/>
              </a:rPr>
              <a:t>(1)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независимо от того, чтение это или запись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marL="457200" indent="-457200">
              <a:lnSpc>
                <a:spcPct val="110000"/>
              </a:lnSpc>
              <a:spcAft>
                <a:spcPts val="800"/>
              </a:spcAft>
              <a:buFontTx/>
              <a:buAutoNum type="arabicParenR"/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Время выполнения любой базовой операции на процессоре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(ядре) не зависит от данных и есть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  <a:sym typeface="Symbol" pitchFamily="18" charset="2"/>
              </a:rPr>
              <a:t>(1)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marL="457200" indent="-457200">
              <a:lnSpc>
                <a:spcPct val="110000"/>
              </a:lnSpc>
              <a:spcAft>
                <a:spcPts val="800"/>
              </a:spcAft>
              <a:buFontTx/>
              <a:buAutoNum type="arabicParenR"/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В зависимости от того, разрешены ли одновременное </a:t>
            </a:r>
            <a:r>
              <a:rPr kumimoji="0" lang="ru-RU" sz="2400" dirty="0"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чтение из одной ячейки памяти или одновременная запись в одну ячейку памяти различают 4 разновидности модели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  <a:endParaRPr kumimoji="0" lang="ru-RU" sz="2400" noProof="1">
              <a:solidFill>
                <a:srgbClr val="00235C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uiExpand="1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en-US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PRAM – </a:t>
            </a:r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конфликты по памяти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754" y="1438276"/>
            <a:ext cx="8496300" cy="4509679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24000" rIns="216000" bIns="36000"/>
          <a:lstStyle/>
          <a:p>
            <a:pPr marL="457200" indent="-457200">
              <a:spcAft>
                <a:spcPct val="20000"/>
              </a:spcAft>
              <a:buFontTx/>
              <a:buAutoNum type="arabicParenR"/>
              <a:defRPr/>
            </a:pPr>
            <a:r>
              <a:rPr kumimoji="0" lang="en-US" sz="2800" noProof="1">
                <a:solidFill>
                  <a:srgbClr val="404040"/>
                </a:solidFill>
                <a:latin typeface="Arial" pitchFamily="34" charset="0"/>
              </a:rPr>
              <a:t>EREW – Exclusive Read Exclusive Write – </a:t>
            </a: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наиболее строгая подмодель</a:t>
            </a:r>
            <a:r>
              <a:rPr kumimoji="0" lang="en-US" sz="2800" noProof="1">
                <a:solidFill>
                  <a:srgbClr val="404040"/>
                </a:solidFill>
                <a:latin typeface="Arial" pitchFamily="34" charset="0"/>
              </a:rPr>
              <a:t> PRAM.</a:t>
            </a:r>
          </a:p>
          <a:p>
            <a:pPr marL="457200" indent="-457200">
              <a:lnSpc>
                <a:spcPct val="130000"/>
              </a:lnSpc>
              <a:spcAft>
                <a:spcPct val="20000"/>
              </a:spcAft>
              <a:buFontTx/>
              <a:buAutoNum type="arabicParenR"/>
              <a:defRPr/>
            </a:pPr>
            <a:r>
              <a:rPr kumimoji="0" lang="en-US" sz="2800" noProof="1">
                <a:solidFill>
                  <a:srgbClr val="404040"/>
                </a:solidFill>
                <a:latin typeface="Arial" pitchFamily="34" charset="0"/>
              </a:rPr>
              <a:t>CREW – Concurrent Read Exclusive Write – </a:t>
            </a: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наиболее используемая модель</a:t>
            </a:r>
            <a:r>
              <a:rPr kumimoji="0" lang="en-US" sz="2800" noProof="1">
                <a:solidFill>
                  <a:srgbClr val="404040"/>
                </a:solidFill>
                <a:latin typeface="Arial" pitchFamily="34" charset="0"/>
              </a:rPr>
              <a:t> PRAM.</a:t>
            </a:r>
          </a:p>
          <a:p>
            <a:pPr marL="457200" indent="-457200">
              <a:lnSpc>
                <a:spcPct val="130000"/>
              </a:lnSpc>
              <a:spcAft>
                <a:spcPct val="20000"/>
              </a:spcAft>
              <a:buFontTx/>
              <a:buAutoNum type="arabicParenR"/>
              <a:defRPr/>
            </a:pPr>
            <a:r>
              <a:rPr kumimoji="0" lang="en-US" sz="2800" noProof="1">
                <a:solidFill>
                  <a:srgbClr val="404040"/>
                </a:solidFill>
                <a:latin typeface="Arial" pitchFamily="34" charset="0"/>
              </a:rPr>
              <a:t>CRCW – Concurrent Read Concurrent Write.</a:t>
            </a:r>
          </a:p>
          <a:p>
            <a:pPr marL="457200" indent="-457200">
              <a:lnSpc>
                <a:spcPct val="130000"/>
              </a:lnSpc>
              <a:spcAft>
                <a:spcPct val="20000"/>
              </a:spcAft>
              <a:buFontTx/>
              <a:buAutoNum type="arabicParenR"/>
              <a:defRPr/>
            </a:pPr>
            <a:r>
              <a:rPr kumimoji="0" lang="en-US" sz="2800" noProof="1">
                <a:solidFill>
                  <a:srgbClr val="404040"/>
                </a:solidFill>
                <a:latin typeface="Arial" pitchFamily="34" charset="0"/>
              </a:rPr>
              <a:t>ERCW – Exclusive Read Concurrent Write – </a:t>
            </a: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наиболее </a:t>
            </a:r>
            <a:r>
              <a:rPr kumimoji="0" lang="ru-RU" sz="2800" dirty="0" err="1">
                <a:solidFill>
                  <a:srgbClr val="404040"/>
                </a:solidFill>
                <a:latin typeface="Arial" pitchFamily="34" charset="0"/>
              </a:rPr>
              <a:t>дурацкая</a:t>
            </a: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 модель</a:t>
            </a:r>
            <a:r>
              <a:rPr kumimoji="0" lang="en-US" sz="2800" noProof="1">
                <a:solidFill>
                  <a:srgbClr val="404040"/>
                </a:solidFill>
                <a:latin typeface="Arial" pitchFamily="34" charset="0"/>
              </a:rPr>
              <a:t> PRAM.</a:t>
            </a:r>
          </a:p>
          <a:p>
            <a:pPr marL="457200" indent="-457200">
              <a:spcAft>
                <a:spcPct val="20000"/>
              </a:spcAft>
              <a:buFontTx/>
              <a:buAutoNum type="arabicParenR"/>
              <a:defRPr/>
            </a:pPr>
            <a:endParaRPr kumimoji="0" lang="en-US" sz="2300" i="1" noProof="1">
              <a:solidFill>
                <a:srgbClr val="00235C"/>
              </a:solidFill>
              <a:latin typeface="Arial" pitchFamily="34" charset="0"/>
            </a:endParaRPr>
          </a:p>
          <a:p>
            <a:pPr marL="457200" indent="-457200">
              <a:spcAft>
                <a:spcPct val="20000"/>
              </a:spcAft>
              <a:buFontTx/>
              <a:buAutoNum type="arabicParenR"/>
              <a:defRPr/>
            </a:pPr>
            <a:endParaRPr kumimoji="0" lang="en-US" sz="2300" i="1" noProof="1">
              <a:solidFill>
                <a:srgbClr val="00235C"/>
              </a:solidFill>
              <a:latin typeface="Arial" pitchFamily="34" charset="0"/>
            </a:endParaRPr>
          </a:p>
          <a:p>
            <a:pPr marL="457200" indent="-457200">
              <a:spcAft>
                <a:spcPct val="20000"/>
              </a:spcAft>
              <a:buFontTx/>
              <a:buAutoNum type="arabicParenR"/>
              <a:defRPr/>
            </a:pPr>
            <a:endParaRPr kumimoji="0" lang="en-US" sz="2300" i="1" noProof="1">
              <a:solidFill>
                <a:srgbClr val="00235C"/>
              </a:solidFill>
              <a:latin typeface="Arial" pitchFamily="34" charset="0"/>
            </a:endParaRPr>
          </a:p>
          <a:p>
            <a:pPr marL="457200" indent="-457200">
              <a:spcAft>
                <a:spcPct val="20000"/>
              </a:spcAft>
              <a:buFontTx/>
              <a:buAutoNum type="arabicParenR"/>
              <a:defRPr/>
            </a:pPr>
            <a:endParaRPr kumimoji="0" lang="en-US" sz="2300" i="1" noProof="1">
              <a:solidFill>
                <a:srgbClr val="00235C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en-US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PRAM – </a:t>
            </a:r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конфликты по памяти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754" y="936000"/>
            <a:ext cx="8496300" cy="5976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Способы разрешения конфликтов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754" y="1820093"/>
            <a:ext cx="8496300" cy="425743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144000" rIns="216000" bIns="36000"/>
          <a:lstStyle/>
          <a:p>
            <a:pPr marL="457200" indent="-457200">
              <a:lnSpc>
                <a:spcPct val="120000"/>
              </a:lnSpc>
              <a:spcAft>
                <a:spcPct val="20000"/>
              </a:spcAft>
              <a:buFontTx/>
              <a:buAutoNum type="arabicParenR"/>
              <a:defRPr/>
            </a:pP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Общая</a:t>
            </a:r>
            <a:r>
              <a:rPr kumimoji="0" lang="ru-RU" sz="2800" noProof="1">
                <a:solidFill>
                  <a:srgbClr val="404040"/>
                </a:solidFill>
                <a:latin typeface="Arial" pitchFamily="34" charset="0"/>
              </a:rPr>
              <a:t> – </a:t>
            </a: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все исполнители записывают одинаковые значения</a:t>
            </a:r>
            <a:r>
              <a:rPr kumimoji="0" lang="ru-RU" sz="2800" noProof="1">
                <a:solidFill>
                  <a:srgbClr val="404040"/>
                </a:solidFill>
                <a:latin typeface="Arial" pitchFamily="34" charset="0"/>
              </a:rPr>
              <a:t>; </a:t>
            </a: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иначе – запись запрещена</a:t>
            </a:r>
            <a:r>
              <a:rPr kumimoji="0" lang="ru-RU" sz="28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marL="457200" indent="-457200">
              <a:lnSpc>
                <a:spcPct val="120000"/>
              </a:lnSpc>
              <a:spcAft>
                <a:spcPct val="20000"/>
              </a:spcAft>
              <a:buFontTx/>
              <a:buAutoNum type="arabicParenR"/>
              <a:defRPr/>
            </a:pP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Объединяющая</a:t>
            </a:r>
            <a:r>
              <a:rPr kumimoji="0" lang="ru-RU" sz="2800" noProof="1">
                <a:solidFill>
                  <a:srgbClr val="404040"/>
                </a:solidFill>
                <a:latin typeface="Arial" pitchFamily="34" charset="0"/>
              </a:rPr>
              <a:t> –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реально записывается значение некоторой функции (</a:t>
            </a:r>
            <a:r>
              <a:rPr kumimoji="0" lang="en-US" sz="2800" dirty="0">
                <a:latin typeface="Arial" pitchFamily="34" charset="0"/>
                <a:sym typeface="Symbol" pitchFamily="18" charset="2"/>
              </a:rPr>
              <a:t>max, min,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 среднее значение и т.д.) от всех значений, которые пытались записать</a:t>
            </a:r>
            <a:r>
              <a:rPr kumimoji="0" lang="ru-RU" sz="28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en-US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PRAM – </a:t>
            </a:r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конфликты по памяти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754" y="1937794"/>
            <a:ext cx="8496300" cy="398420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180000" rIns="216000" bIns="36000"/>
          <a:lstStyle/>
          <a:p>
            <a:pPr marL="457200" indent="-457200">
              <a:lnSpc>
                <a:spcPct val="120000"/>
              </a:lnSpc>
              <a:spcAft>
                <a:spcPct val="20000"/>
              </a:spcAft>
              <a:buFont typeface="+mj-lt"/>
              <a:buAutoNum type="arabicParenR" startAt="3"/>
              <a:defRPr/>
            </a:pP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Произвольная</a:t>
            </a:r>
            <a:r>
              <a:rPr kumimoji="0" lang="ru-RU" sz="2800" noProof="1">
                <a:solidFill>
                  <a:srgbClr val="404040"/>
                </a:solidFill>
                <a:latin typeface="Arial" pitchFamily="34" charset="0"/>
              </a:rPr>
              <a:t> –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записывается только одно из предлагаемых значений, выбранное произвольно</a:t>
            </a:r>
            <a:r>
              <a:rPr kumimoji="0" lang="ru-RU" sz="28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marL="457200" indent="-457200">
              <a:lnSpc>
                <a:spcPct val="120000"/>
              </a:lnSpc>
              <a:spcAft>
                <a:spcPct val="20000"/>
              </a:spcAft>
              <a:buFontTx/>
              <a:buAutoNum type="arabicParenR" startAt="3"/>
              <a:defRPr/>
            </a:pP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С приоритетами</a:t>
            </a:r>
            <a:r>
              <a:rPr kumimoji="0" lang="ru-RU" sz="2800" noProof="1">
                <a:solidFill>
                  <a:srgbClr val="404040"/>
                </a:solidFill>
                <a:latin typeface="Arial" pitchFamily="34" charset="0"/>
              </a:rPr>
              <a:t> – </a:t>
            </a:r>
            <a:r>
              <a:rPr kumimoji="0" lang="ru-RU" sz="2800" dirty="0">
                <a:latin typeface="Arial" pitchFamily="34" charset="0"/>
                <a:sym typeface="Symbol" pitchFamily="18" charset="2"/>
              </a:rPr>
              <a:t>у каждого исполнителя есть приоритет, запись произведет процессор с наибольшим приоритетом.</a:t>
            </a:r>
            <a:endParaRPr kumimoji="0" lang="ru-RU" sz="2800" noProof="1">
              <a:latin typeface="Arial" pitchFamily="34" charset="0"/>
              <a:sym typeface="Symbol" pitchFamily="18" charset="2"/>
            </a:endParaRPr>
          </a:p>
        </p:txBody>
      </p:sp>
      <p:sp>
        <p:nvSpPr>
          <p:cNvPr id="5" name="Rechteck 36">
            <a:extLst>
              <a:ext uri="{FF2B5EF4-FFF2-40B4-BE49-F238E27FC236}">
                <a16:creationId xmlns="" xmlns:a16="http://schemas.microsoft.com/office/drawing/2014/main" id="{0431F17A-081E-4CD4-B4E4-FB8D150F36A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754" y="936000"/>
            <a:ext cx="8496300" cy="5976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Способы разрешения конфликтов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580292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754" y="936000"/>
            <a:ext cx="8496300" cy="969962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Сравнение параллельных 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и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последовательных алгоритмов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220430" y="2283437"/>
            <a:ext cx="8786949" cy="35251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180000" rIns="216000" bIns="36000"/>
          <a:lstStyle/>
          <a:p>
            <a:pPr>
              <a:lnSpc>
                <a:spcPct val="110000"/>
              </a:lnSpc>
              <a:spcAft>
                <a:spcPts val="1800"/>
              </a:spcAft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Теоретическое ускорение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= 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время работы наилучшего последовательного алгоритма при наихудших начальных данных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) / (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время работы параллельного алгоритма при тех же начальных данных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).</a:t>
            </a:r>
          </a:p>
          <a:p>
            <a:pPr>
              <a:lnSpc>
                <a:spcPct val="110000"/>
              </a:lnSpc>
              <a:spcAft>
                <a:spcPct val="20000"/>
              </a:spcAft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Для 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N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исполнителей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b="1" dirty="0">
                <a:solidFill>
                  <a:srgbClr val="800000"/>
                </a:solidFill>
                <a:latin typeface="Arial" pitchFamily="34" charset="0"/>
              </a:rPr>
              <a:t>теоретическое ускорение всегда будет ≤</a:t>
            </a:r>
            <a:r>
              <a:rPr kumimoji="0" lang="en-US" sz="2400" b="1" noProof="1">
                <a:solidFill>
                  <a:srgbClr val="800000"/>
                </a:solidFill>
                <a:latin typeface="Arial" pitchFamily="34" charset="0"/>
              </a:rPr>
              <a:t> N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.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В противном случае последовательный алгоритм не был наилучшим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181241" y="2824163"/>
            <a:ext cx="8874034" cy="218326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180000" rIns="216000" bIns="36000"/>
          <a:lstStyle/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ru-RU" sz="2800" dirty="0">
                <a:latin typeface="Arial" pitchFamily="34" charset="0"/>
                <a:sym typeface="Symbol" pitchFamily="18" charset="2"/>
              </a:rPr>
              <a:t>В реальной жизни часто ускорение считается для последовательной и параллельной версий одного и того же алгоритма на одном наборе данных.</a:t>
            </a:r>
            <a:endParaRPr kumimoji="0" lang="ru-RU" sz="28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</p:txBody>
      </p:sp>
      <p:sp>
        <p:nvSpPr>
          <p:cNvPr id="5" name="Rechteck 36">
            <a:extLst>
              <a:ext uri="{FF2B5EF4-FFF2-40B4-BE49-F238E27FC236}">
                <a16:creationId xmlns="" xmlns:a16="http://schemas.microsoft.com/office/drawing/2014/main" id="{A766A4E5-058C-428D-AE8D-A47131FD64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754" y="936000"/>
            <a:ext cx="8496300" cy="969962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Сравнение параллельных 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и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последовательных алгоритмов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754" y="936000"/>
            <a:ext cx="8496300" cy="5976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Сверхлинейное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ускорение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146407" y="1744223"/>
            <a:ext cx="8848428" cy="39424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144000" tIns="180000" rIns="216000" bIns="36000"/>
          <a:lstStyle/>
          <a:p>
            <a:pPr>
              <a:spcAft>
                <a:spcPts val="0"/>
              </a:spcAft>
              <a:defRPr/>
            </a:pP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for (</a:t>
            </a:r>
            <a:r>
              <a:rPr kumimoji="0" lang="en-US" sz="2400" dirty="0" err="1">
                <a:solidFill>
                  <a:srgbClr val="404040"/>
                </a:solidFill>
                <a:latin typeface="Arial" pitchFamily="34" charset="0"/>
              </a:rPr>
              <a:t>i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=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n-1; </a:t>
            </a:r>
            <a:r>
              <a:rPr kumimoji="0" lang="en-US" sz="2400" dirty="0" err="1">
                <a:solidFill>
                  <a:srgbClr val="404040"/>
                </a:solidFill>
                <a:latin typeface="Arial" pitchFamily="34" charset="0"/>
              </a:rPr>
              <a:t>i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&gt;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0;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dirty="0" err="1">
                <a:solidFill>
                  <a:srgbClr val="404040"/>
                </a:solidFill>
                <a:latin typeface="Arial" pitchFamily="34" charset="0"/>
              </a:rPr>
              <a:t>i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--)</a:t>
            </a:r>
          </a:p>
          <a:p>
            <a:pPr>
              <a:spcAft>
                <a:spcPts val="0"/>
              </a:spcAft>
              <a:defRPr/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	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for (j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=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0; j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&lt;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i-1;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dirty="0" err="1">
                <a:solidFill>
                  <a:srgbClr val="404040"/>
                </a:solidFill>
                <a:latin typeface="Arial" pitchFamily="34" charset="0"/>
              </a:rPr>
              <a:t>j++</a:t>
            </a:r>
            <a:r>
              <a:rPr kumimoji="0" lang="en-US" sz="2400" dirty="0">
                <a:solidFill>
                  <a:srgbClr val="404040"/>
                </a:solidFill>
                <a:latin typeface="Arial" pitchFamily="34" charset="0"/>
              </a:rPr>
              <a:t>)</a:t>
            </a:r>
          </a:p>
          <a:p>
            <a:pPr>
              <a:spcAft>
                <a:spcPts val="0"/>
              </a:spcAft>
              <a:defRPr/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		if(a[j]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&gt;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a[j+1]) swap(a[j],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a[j+1]);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	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Необходимо 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n(n-1)/2 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операций.</a:t>
            </a:r>
          </a:p>
          <a:p>
            <a:pPr algn="ctr">
              <a:spcAft>
                <a:spcPct val="20000"/>
              </a:spcAft>
              <a:defRPr/>
            </a:pP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Разобъем исходное множество на 2. Отсортируем их параллельно и затем соединим слиянием.</a:t>
            </a:r>
          </a:p>
          <a:p>
            <a:pPr>
              <a:spcAft>
                <a:spcPts val="600"/>
              </a:spcAft>
              <a:defRPr/>
            </a:pP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Для параллельной версии на 2 ядра – 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n(n-2)/8+n 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операций.</a:t>
            </a:r>
          </a:p>
          <a:p>
            <a:pPr algn="ctr"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Ускорение 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~ 4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раза.</a:t>
            </a:r>
            <a:endParaRPr kumimoji="0" lang="en-US" sz="24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en-US" sz="2300" noProof="1">
                <a:solidFill>
                  <a:srgbClr val="404040"/>
                </a:solidFill>
                <a:latin typeface="Arial" pitchFamily="34" charset="0"/>
              </a:rPr>
              <a:t>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1C855E4-68DC-419E-A7A1-E845D6F43B69}"/>
              </a:ext>
            </a:extLst>
          </p:cNvPr>
          <p:cNvSpPr txBox="1"/>
          <p:nvPr/>
        </p:nvSpPr>
        <p:spPr>
          <a:xfrm>
            <a:off x="4906902" y="5985211"/>
            <a:ext cx="5442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rgbClr val="FF0000"/>
                </a:solidFill>
                <a:latin typeface="Arial" panose="020B0604020202020204" pitchFamily="34" charset="0"/>
              </a:rPr>
              <a:t>Мы изменили алгоритм!</a:t>
            </a:r>
          </a:p>
        </p:txBody>
      </p:sp>
    </p:spTree>
    <p:extLst>
      <p:ext uri="{BB962C8B-B14F-4D97-AF65-F5344CB8AC3E}">
        <p14:creationId xmlns:p14="http://schemas.microsoft.com/office/powerpoint/2010/main" val="36015145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uiExpand="1" build="allAtOnce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754" y="936000"/>
            <a:ext cx="8496300" cy="5976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Закон Амдала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207219" y="1803466"/>
            <a:ext cx="8733856" cy="4370911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180000" rIns="216000" bIns="36000"/>
          <a:lstStyle/>
          <a:p>
            <a:pPr>
              <a:spcAft>
                <a:spcPts val="1800"/>
              </a:spcAft>
              <a:defRPr/>
            </a:pPr>
            <a:r>
              <a:rPr kumimoji="0" lang="ru-RU" sz="2400" noProof="1">
                <a:solidFill>
                  <a:prstClr val="black"/>
                </a:solidFill>
                <a:latin typeface="Arial" pitchFamily="34" charset="0"/>
              </a:rPr>
              <a:t>Пусть для некоторого алгоритма  известно  время работы последовательной реализации </a:t>
            </a:r>
            <a:r>
              <a:rPr kumimoji="0" lang="en-US" sz="2400" i="1" noProof="1">
                <a:solidFill>
                  <a:prstClr val="black"/>
                </a:solidFill>
                <a:latin typeface="Arial" pitchFamily="34" charset="0"/>
              </a:rPr>
              <a:t>T</a:t>
            </a:r>
            <a:r>
              <a:rPr kumimoji="0" lang="en-US" sz="2400" i="1" baseline="-25000" noProof="1">
                <a:solidFill>
                  <a:prstClr val="black"/>
                </a:solidFill>
                <a:latin typeface="Arial" pitchFamily="34" charset="0"/>
              </a:rPr>
              <a:t>seq</a:t>
            </a:r>
            <a:r>
              <a:rPr kumimoji="0" lang="en-US" sz="2400" noProof="1">
                <a:solidFill>
                  <a:prstClr val="black"/>
                </a:solidFill>
                <a:latin typeface="Arial" pitchFamily="34" charset="0"/>
              </a:rPr>
              <a:t>. </a:t>
            </a:r>
            <a:endParaRPr kumimoji="0" lang="ru-RU" sz="2400" noProof="1">
              <a:solidFill>
                <a:prstClr val="black"/>
              </a:solidFill>
              <a:latin typeface="Arial" pitchFamily="34" charset="0"/>
            </a:endParaRPr>
          </a:p>
          <a:p>
            <a:pPr>
              <a:spcAft>
                <a:spcPts val="1800"/>
              </a:spcAft>
              <a:defRPr/>
            </a:pPr>
            <a:r>
              <a:rPr kumimoji="0" lang="ru-RU" sz="2400" noProof="1">
                <a:solidFill>
                  <a:prstClr val="black"/>
                </a:solidFill>
                <a:latin typeface="Arial" pitchFamily="34" charset="0"/>
              </a:rPr>
              <a:t>Пусть нераспараллеливаемая часть алгоритма работает время </a:t>
            </a:r>
            <a:r>
              <a:rPr kumimoji="0" lang="en-US" sz="2400" i="1" noProof="1">
                <a:solidFill>
                  <a:prstClr val="black"/>
                </a:solidFill>
                <a:latin typeface="Arial" pitchFamily="34" charset="0"/>
              </a:rPr>
              <a:t>T</a:t>
            </a:r>
            <a:r>
              <a:rPr kumimoji="0" lang="en-US" sz="2400" i="1" baseline="-25000" noProof="1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en-US" sz="2400" noProof="1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400" noProof="1">
                <a:solidFill>
                  <a:prstClr val="black"/>
                </a:solidFill>
                <a:latin typeface="Arial" pitchFamily="34" charset="0"/>
              </a:rPr>
              <a:t> а распараллеливаемая – время </a:t>
            </a:r>
            <a:r>
              <a:rPr kumimoji="0" lang="en-US" sz="2400" i="1" noProof="1">
                <a:solidFill>
                  <a:prstClr val="black"/>
                </a:solidFill>
                <a:latin typeface="Arial" pitchFamily="34" charset="0"/>
              </a:rPr>
              <a:t>T</a:t>
            </a:r>
            <a:r>
              <a:rPr kumimoji="0" lang="en-US" sz="2400" i="1" baseline="-25000" noProof="1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noProof="1">
                <a:solidFill>
                  <a:prstClr val="black"/>
                </a:solidFill>
                <a:latin typeface="Arial" pitchFamily="34" charset="0"/>
              </a:rPr>
              <a:t>.</a:t>
            </a:r>
            <a:endParaRPr kumimoji="0" lang="ru-RU" sz="2400" noProof="1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spcBef>
                <a:spcPts val="1200"/>
              </a:spcBef>
              <a:spcAft>
                <a:spcPts val="1800"/>
              </a:spcAft>
              <a:defRPr/>
            </a:pPr>
            <a:r>
              <a:rPr kumimoji="0" lang="en-US" sz="2400" i="1" noProof="1">
                <a:solidFill>
                  <a:prstClr val="black"/>
                </a:solidFill>
                <a:latin typeface="Arial" pitchFamily="34" charset="0"/>
              </a:rPr>
              <a:t>T</a:t>
            </a:r>
            <a:r>
              <a:rPr kumimoji="0" lang="en-US" sz="2400" i="1" baseline="-25000" noProof="1">
                <a:solidFill>
                  <a:prstClr val="black"/>
                </a:solidFill>
                <a:latin typeface="Arial" pitchFamily="34" charset="0"/>
              </a:rPr>
              <a:t>seq</a:t>
            </a:r>
            <a:r>
              <a:rPr kumimoji="0" lang="en-US" sz="2400" noProof="1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kumimoji="0" lang="en-US" sz="2400" i="1" noProof="1">
                <a:solidFill>
                  <a:prstClr val="black"/>
                </a:solidFill>
                <a:latin typeface="Arial" pitchFamily="34" charset="0"/>
              </a:rPr>
              <a:t>T</a:t>
            </a:r>
            <a:r>
              <a:rPr kumimoji="0" lang="en-US" sz="2400" i="1" baseline="-25000" noProof="1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kumimoji="0" lang="en-US" sz="2400" i="1" noProof="1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400" noProof="1">
                <a:solidFill>
                  <a:prstClr val="black"/>
                </a:solidFill>
                <a:latin typeface="Arial" pitchFamily="34" charset="0"/>
              </a:rPr>
              <a:t>+ </a:t>
            </a:r>
            <a:r>
              <a:rPr kumimoji="0" lang="en-US" sz="2400" i="1" noProof="1">
                <a:solidFill>
                  <a:prstClr val="black"/>
                </a:solidFill>
                <a:latin typeface="Arial" pitchFamily="34" charset="0"/>
              </a:rPr>
              <a:t>T</a:t>
            </a:r>
            <a:r>
              <a:rPr kumimoji="0" lang="en-US" sz="2400" i="1" baseline="-25000" noProof="1">
                <a:solidFill>
                  <a:prstClr val="black"/>
                </a:solidFill>
                <a:latin typeface="Arial" pitchFamily="34" charset="0"/>
              </a:rPr>
              <a:t>1</a:t>
            </a:r>
          </a:p>
          <a:p>
            <a:pPr>
              <a:lnSpc>
                <a:spcPct val="130000"/>
              </a:lnSpc>
              <a:spcBef>
                <a:spcPts val="1800"/>
              </a:spcBef>
              <a:spcAft>
                <a:spcPct val="20000"/>
              </a:spcAft>
              <a:defRPr/>
            </a:pPr>
            <a:r>
              <a:rPr kumimoji="0" lang="en-US" sz="2400" noProof="1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400" noProof="1">
                <a:solidFill>
                  <a:prstClr val="black"/>
                </a:solidFill>
                <a:latin typeface="Arial" pitchFamily="34" charset="0"/>
              </a:rPr>
              <a:t>Обозначим </a:t>
            </a:r>
            <a:r>
              <a:rPr kumimoji="0" lang="en-US" sz="2400" noProof="1">
                <a:solidFill>
                  <a:prstClr val="black"/>
                </a:solidFill>
                <a:latin typeface="Arial" pitchFamily="34" charset="0"/>
              </a:rPr>
              <a:t>				</a:t>
            </a: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	</a:t>
            </a: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296235"/>
              </p:ext>
            </p:extLst>
          </p:nvPr>
        </p:nvGraphicFramePr>
        <p:xfrm>
          <a:off x="5167568" y="4716464"/>
          <a:ext cx="120808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06" name="Equation" r:id="rId4" imgW="583920" imgH="444240" progId="Equation.DSMT4">
                  <p:embed/>
                </p:oleObj>
              </mc:Choice>
              <mc:Fallback>
                <p:oleObj name="Equation" r:id="rId4" imgW="583920" imgH="444240" progId="Equation.DSMT4">
                  <p:embed/>
                  <p:pic>
                    <p:nvPicPr>
                      <p:cNvPr id="2" name="Объект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67568" y="4716464"/>
                        <a:ext cx="1208087" cy="917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574363" y="4941341"/>
            <a:ext cx="99978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300" dirty="0">
                <a:solidFill>
                  <a:prstClr val="black"/>
                </a:solidFill>
                <a:latin typeface="Arial" panose="020B0604020202020204" pitchFamily="34" charset="0"/>
              </a:rPr>
              <a:t>тогда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934078"/>
              </p:ext>
            </p:extLst>
          </p:nvPr>
        </p:nvGraphicFramePr>
        <p:xfrm>
          <a:off x="7559930" y="4879976"/>
          <a:ext cx="21447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07" name="Equation" r:id="rId6" imgW="927000" imgH="253800" progId="Equation.DSMT4">
                  <p:embed/>
                </p:oleObj>
              </mc:Choice>
              <mc:Fallback>
                <p:oleObj name="Equation" r:id="rId6" imgW="927000" imgH="253800" progId="Equation.DSMT4">
                  <p:embed/>
                  <p:pic>
                    <p:nvPicPr>
                      <p:cNvPr id="4" name="Объект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59930" y="4879976"/>
                        <a:ext cx="2144713" cy="587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838168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754" y="936000"/>
            <a:ext cx="8496300" cy="5976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Закон Амдала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260979" y="1881051"/>
            <a:ext cx="8733856" cy="427817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180000" rIns="216000" bIns="36000"/>
          <a:lstStyle/>
          <a:p>
            <a:pPr>
              <a:spcAft>
                <a:spcPct val="20000"/>
              </a:spcAft>
              <a:defRPr/>
            </a:pPr>
            <a:r>
              <a:rPr kumimoji="0" lang="en-US" sz="2300" noProof="1">
                <a:latin typeface="Arial" pitchFamily="34" charset="0"/>
              </a:rPr>
              <a:t> </a:t>
            </a:r>
            <a:r>
              <a:rPr kumimoji="0" lang="ru-RU" sz="2400" noProof="1">
                <a:latin typeface="Arial" pitchFamily="34" charset="0"/>
              </a:rPr>
              <a:t>Теоретическое время работы параллельной версии алгоритма на </a:t>
            </a:r>
            <a:r>
              <a:rPr kumimoji="0" lang="en-US" sz="2400" i="1" noProof="1">
                <a:latin typeface="Arial" pitchFamily="34" charset="0"/>
              </a:rPr>
              <a:t>N</a:t>
            </a:r>
            <a:r>
              <a:rPr kumimoji="0" lang="ru-RU" sz="2400" noProof="1">
                <a:latin typeface="Arial" pitchFamily="34" charset="0"/>
              </a:rPr>
              <a:t> исполнителях составит: </a:t>
            </a:r>
            <a:r>
              <a:rPr kumimoji="0" lang="en-US" sz="2400" noProof="1">
                <a:latin typeface="Arial" pitchFamily="34" charset="0"/>
              </a:rPr>
              <a:t>	</a:t>
            </a: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endParaRPr kumimoji="0" lang="en-US" sz="2300" noProof="1">
              <a:latin typeface="Arial" pitchFamily="34" charset="0"/>
            </a:endParaRP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endParaRPr kumimoji="0" lang="en-US" sz="2300" noProof="1">
              <a:latin typeface="Arial" pitchFamily="34" charset="0"/>
            </a:endParaRPr>
          </a:p>
          <a:p>
            <a:pPr>
              <a:lnSpc>
                <a:spcPct val="130000"/>
              </a:lnSpc>
              <a:spcBef>
                <a:spcPts val="2900"/>
              </a:spcBef>
              <a:spcAft>
                <a:spcPct val="20000"/>
              </a:spcAft>
              <a:defRPr/>
            </a:pPr>
            <a:r>
              <a:rPr kumimoji="0" lang="ru-RU" sz="2400" noProof="1">
                <a:latin typeface="Arial" pitchFamily="34" charset="0"/>
              </a:rPr>
              <a:t>Ускорение</a:t>
            </a:r>
            <a:r>
              <a:rPr kumimoji="0" lang="ru-RU" sz="2300" noProof="1">
                <a:latin typeface="Arial" pitchFamily="34" charset="0"/>
              </a:rPr>
              <a:t>: </a:t>
            </a:r>
            <a:r>
              <a:rPr kumimoji="0" lang="en-US" sz="2300" noProof="1">
                <a:latin typeface="Arial" pitchFamily="34" charset="0"/>
              </a:rPr>
              <a:t>			</a:t>
            </a: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en-US" sz="2300" noProof="1">
                <a:solidFill>
                  <a:srgbClr val="404040"/>
                </a:solidFill>
                <a:latin typeface="Arial" pitchFamily="34" charset="0"/>
              </a:rPr>
              <a:t>	</a:t>
            </a: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554227"/>
              </p:ext>
            </p:extLst>
          </p:nvPr>
        </p:nvGraphicFramePr>
        <p:xfrm>
          <a:off x="6708236" y="3022600"/>
          <a:ext cx="18113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26" name="Equation" r:id="rId4" imgW="876240" imgH="393480" progId="Equation.DSMT4">
                  <p:embed/>
                </p:oleObj>
              </mc:Choice>
              <mc:Fallback>
                <p:oleObj name="Equation" r:id="rId4" imgW="8762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08236" y="3022600"/>
                        <a:ext cx="1811337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784425"/>
              </p:ext>
            </p:extLst>
          </p:nvPr>
        </p:nvGraphicFramePr>
        <p:xfrm>
          <a:off x="5062792" y="4112858"/>
          <a:ext cx="2336800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27" name="Equation" r:id="rId6" imgW="1130040" imgH="609480" progId="Equation.DSMT4">
                  <p:embed/>
                </p:oleObj>
              </mc:Choice>
              <mc:Fallback>
                <p:oleObj name="Equation" r:id="rId6" imgW="113004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62792" y="4112858"/>
                        <a:ext cx="2336800" cy="1258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338224"/>
              </p:ext>
            </p:extLst>
          </p:nvPr>
        </p:nvGraphicFramePr>
        <p:xfrm>
          <a:off x="7540879" y="4100158"/>
          <a:ext cx="4122738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28" name="Equation" r:id="rId8" imgW="1993680" imgH="634680" progId="Equation.DSMT4">
                  <p:embed/>
                </p:oleObj>
              </mc:Choice>
              <mc:Fallback>
                <p:oleObj name="Equation" r:id="rId8" imgW="19936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40879" y="4100158"/>
                        <a:ext cx="4122738" cy="1311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47706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754" y="936000"/>
            <a:ext cx="8496300" cy="5976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Закон Амдала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508" y="1671011"/>
            <a:ext cx="7840793" cy="494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95556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57045" y="2528073"/>
            <a:ext cx="8496300" cy="328054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lnSpc>
                <a:spcPct val="110000"/>
              </a:lnSpc>
              <a:spcAft>
                <a:spcPts val="1800"/>
              </a:spcAft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Стоимость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= (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время работы параллельного алгоритма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)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 x (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число исполнителей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)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.</a:t>
            </a: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10000"/>
              </a:lnSpc>
              <a:spcAft>
                <a:spcPts val="1800"/>
              </a:spcAft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Если теоретическая нижняя граница времени исполнения любого последовательного алгоритма для решения задачи есть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lang="ru-RU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(</a:t>
            </a: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f(n))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и стоимость параллельного алгоритма есть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lang="ru-RU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(</a:t>
            </a: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Symbol" pitchFamily="18" charset="2"/>
              </a:rPr>
              <a:t>f(n))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,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то параллельный алгоритм оптимален по стоимости.</a:t>
            </a: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</p:txBody>
      </p:sp>
      <p:sp>
        <p:nvSpPr>
          <p:cNvPr id="5" name="Rechteck 36">
            <a:extLst>
              <a:ext uri="{FF2B5EF4-FFF2-40B4-BE49-F238E27FC236}">
                <a16:creationId xmlns="" xmlns:a16="http://schemas.microsoft.com/office/drawing/2014/main" id="{CF0826A0-EF22-44BF-8A0F-03D246D58B4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754" y="936000"/>
            <a:ext cx="8496300" cy="969962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Сравнение параллельных 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и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последовательных алгоритмов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Асимптотический анализ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754" y="2541487"/>
            <a:ext cx="8496300" cy="30842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lnSpc>
                <a:spcPct val="110000"/>
              </a:lnSpc>
              <a:spcAft>
                <a:spcPts val="1800"/>
              </a:spcAft>
              <a:defRPr/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Теоретическая эффективность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= (</a:t>
            </a:r>
            <a:r>
              <a:rPr kumimoji="0" lang="ru-RU" sz="2400" dirty="0">
                <a:latin typeface="Arial" pitchFamily="34" charset="0"/>
              </a:rPr>
              <a:t>время работы наилучшего последовательного алгоритма при наихудших начальных данных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) /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стоимость параллельного алгоритма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1800"/>
              </a:spcAft>
              <a:defRPr/>
            </a:pP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Иначе: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Теоретическая эффективность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= теоретическое ускорение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</a:rPr>
              <a:t> / 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количество исполнителей.</a:t>
            </a:r>
            <a:endParaRPr kumimoji="0" lang="en-US" sz="2400" noProof="1">
              <a:solidFill>
                <a:srgbClr val="404040"/>
              </a:solidFill>
              <a:latin typeface="Arial" pitchFamily="34" charset="0"/>
            </a:endParaRPr>
          </a:p>
        </p:txBody>
      </p:sp>
      <p:sp>
        <p:nvSpPr>
          <p:cNvPr id="5" name="Rechteck 36">
            <a:extLst>
              <a:ext uri="{FF2B5EF4-FFF2-40B4-BE49-F238E27FC236}">
                <a16:creationId xmlns="" xmlns:a16="http://schemas.microsoft.com/office/drawing/2014/main" id="{87C9443E-412B-40EA-8F28-ADFB94F2273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754" y="936000"/>
            <a:ext cx="8496300" cy="969962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lnSpc>
                <a:spcPct val="90000"/>
              </a:lnSpc>
              <a:spcAft>
                <a:spcPts val="600"/>
              </a:spcAft>
              <a:defRPr/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Сравнение параллельных 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и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последовательных алгоритмов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8258588" y="836712"/>
            <a:ext cx="2982912" cy="3433762"/>
            <a:chOff x="2775273" y="1162323"/>
            <a:chExt cx="2982912" cy="3433762"/>
          </a:xfrm>
        </p:grpSpPr>
        <p:sp>
          <p:nvSpPr>
            <p:cNvPr id="143361" name="WordArt 3"/>
            <p:cNvSpPr>
              <a:spLocks noChangeArrowheads="1" noChangeShapeType="1" noTextEdit="1"/>
            </p:cNvSpPr>
            <p:nvPr/>
          </p:nvSpPr>
          <p:spPr bwMode="gray">
            <a:xfrm>
              <a:off x="3592835" y="1162323"/>
              <a:ext cx="1322388" cy="2166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C0C0C0"/>
                      </a:gs>
                      <a:gs pos="100000">
                        <a:srgbClr val="484848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2" name="WordArt 8"/>
            <p:cNvSpPr>
              <a:spLocks noChangeArrowheads="1" noChangeShapeType="1" noTextEdit="1"/>
            </p:cNvSpPr>
            <p:nvPr/>
          </p:nvSpPr>
          <p:spPr bwMode="gray">
            <a:xfrm>
              <a:off x="2775273" y="2113235"/>
              <a:ext cx="1004887" cy="16478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B4B4B4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3" name="WordArt 9"/>
            <p:cNvSpPr>
              <a:spLocks noChangeArrowheads="1" noChangeShapeType="1" noTextEdit="1"/>
            </p:cNvSpPr>
            <p:nvPr/>
          </p:nvSpPr>
          <p:spPr bwMode="gray">
            <a:xfrm>
              <a:off x="4211960" y="2060848"/>
              <a:ext cx="1546225" cy="25352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1C4FF"/>
                      </a:gs>
                      <a:gs pos="100000">
                        <a:srgbClr val="2A79FF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91556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1_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3281</TotalTime>
  <Words>814</Words>
  <Application>Microsoft Office PowerPoint</Application>
  <PresentationFormat>Широкоэкранный</PresentationFormat>
  <Paragraphs>215</Paragraphs>
  <Slides>22</Slides>
  <Notes>18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6" baseType="lpstr">
      <vt:lpstr>Arial Unicode MS</vt:lpstr>
      <vt:lpstr>맑은 고딕</vt:lpstr>
      <vt:lpstr>Arial</vt:lpstr>
      <vt:lpstr>Arial Black</vt:lpstr>
      <vt:lpstr>Calibri</vt:lpstr>
      <vt:lpstr>굴림</vt:lpstr>
      <vt:lpstr>Lucida Grande CY</vt:lpstr>
      <vt:lpstr>Symbol</vt:lpstr>
      <vt:lpstr>Wingdings</vt:lpstr>
      <vt:lpstr>Тема Office</vt:lpstr>
      <vt:lpstr>1_Тема Office</vt:lpstr>
      <vt:lpstr>Larissa-Design</vt:lpstr>
      <vt:lpstr>1_Larissa-Design</vt:lpstr>
      <vt:lpstr>Equation</vt:lpstr>
      <vt:lpstr>Презентация PowerPoint</vt:lpstr>
      <vt:lpstr>Тема 3</vt:lpstr>
      <vt:lpstr>Асимптотический анализ</vt:lpstr>
      <vt:lpstr>Асимптотический анализ</vt:lpstr>
      <vt:lpstr>Классификация компьютеров</vt:lpstr>
      <vt:lpstr>Таксономия Флинна</vt:lpstr>
      <vt:lpstr>Таксономия Флинна</vt:lpstr>
      <vt:lpstr>Таксономия Флинна</vt:lpstr>
      <vt:lpstr>Таксономия Флинна</vt:lpstr>
      <vt:lpstr>Асимптотический анализ</vt:lpstr>
      <vt:lpstr>PRAM – конфликты по памяти</vt:lpstr>
      <vt:lpstr>PRAM – конфликты по памяти</vt:lpstr>
      <vt:lpstr>PRAM – конфликты по памяти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Асимптотический анализ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elena</dc:creator>
  <cp:lastModifiedBy>carpson</cp:lastModifiedBy>
  <cp:revision>364</cp:revision>
  <dcterms:created xsi:type="dcterms:W3CDTF">2013-05-29T11:36:45Z</dcterms:created>
  <dcterms:modified xsi:type="dcterms:W3CDTF">2024-10-12T03:34:09Z</dcterms:modified>
</cp:coreProperties>
</file>