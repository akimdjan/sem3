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74" r:id="rId2"/>
    <p:sldMasterId id="2147483676" r:id="rId3"/>
    <p:sldMasterId id="2147483681" r:id="rId4"/>
  </p:sldMasterIdLst>
  <p:notesMasterIdLst>
    <p:notesMasterId r:id="rId19"/>
  </p:notesMasterIdLst>
  <p:sldIdLst>
    <p:sldId id="329" r:id="rId5"/>
    <p:sldId id="330" r:id="rId6"/>
    <p:sldId id="318" r:id="rId7"/>
    <p:sldId id="331" r:id="rId8"/>
    <p:sldId id="332" r:id="rId9"/>
    <p:sldId id="321" r:id="rId10"/>
    <p:sldId id="322" r:id="rId11"/>
    <p:sldId id="323" r:id="rId12"/>
    <p:sldId id="324" r:id="rId13"/>
    <p:sldId id="326" r:id="rId14"/>
    <p:sldId id="336" r:id="rId15"/>
    <p:sldId id="337" r:id="rId16"/>
    <p:sldId id="338" r:id="rId17"/>
    <p:sldId id="335" r:id="rId18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4FF"/>
    <a:srgbClr val="DCE6F2"/>
    <a:srgbClr val="C6D9F1"/>
    <a:srgbClr val="FF6600"/>
    <a:srgbClr val="808080"/>
    <a:srgbClr val="C0C0C0"/>
    <a:srgbClr val="D9D9D9"/>
    <a:srgbClr val="8EB4E3"/>
    <a:srgbClr val="5F8ED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4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1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itchFamily="34" charset="0"/>
              </a:defRPr>
            </a:lvl1pPr>
          </a:lstStyle>
          <a:p>
            <a:fld id="{22DBE9E6-B3BC-44A3-B02B-4A6CE96D6B25}" type="datetimeFigureOut">
              <a:rPr lang="ru-RU"/>
              <a:pPr/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itchFamily="34" charset="0"/>
              </a:defRPr>
            </a:lvl1pPr>
          </a:lstStyle>
          <a:p>
            <a:fld id="{0E4F07C9-4859-4E18-98E7-DD9B7155928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0448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1pPr>
    <a:lvl2pPr marL="4572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2pPr>
    <a:lvl3pPr marL="9144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3pPr>
    <a:lvl4pPr marL="13716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4pPr>
    <a:lvl5pPr marL="18288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510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E310F7-BA59-4BCC-B944-CD6B53D59584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alt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046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4F07C9-4859-4E18-98E7-DD9B71559281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654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4F07C9-4859-4E18-98E7-DD9B71559281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561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4F07C9-4859-4E18-98E7-DD9B71559281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56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4F07C9-4859-4E18-98E7-DD9B71559281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629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86265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9AE2B-8784-4E7B-B6D6-AC7CA41CF265}" type="datetime1">
              <a:rPr lang="ru-RU" smtClean="0"/>
              <a:pPr/>
              <a:t>21.10.2025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24ADBFAD-7AFA-4998-B83F-B0EB8D0944C1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05FB-FD7C-49DD-BFA0-D837972B04F3}" type="datetime1">
              <a:rPr lang="ru-RU" smtClean="0"/>
              <a:pPr/>
              <a:t>21.10.2025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24ADBFAD-7AFA-4998-B83F-B0EB8D0944C1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58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E6757-8804-42E5-B1D5-8001F45B6EDF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37535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4513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CA09-1AF8-4748-A45E-AF91C8090DA7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53968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AC376-73FF-46E7-B915-F9E62041705A}" type="datetime1">
              <a:rPr lang="de-DE" altLang="ru-RU" smtClean="0"/>
              <a:pPr>
                <a:defRPr/>
              </a:pPr>
              <a:t>21.10.2025</a:t>
            </a:fld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3842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144109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332979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34138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71244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944772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3795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7955C41-7C96-42F3-B351-A4F35C526428}" type="datetime1">
              <a:rPr lang="ru-RU" smtClean="0"/>
              <a:pPr/>
              <a:t>21.10.2025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4801" y="6356351"/>
            <a:ext cx="1928388" cy="365125"/>
          </a:xfrm>
          <a:prstGeom prst="rect">
            <a:avLst/>
          </a:prstGeom>
          <a:gradFill flip="none" rotWithShape="1"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/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245267" y="6356351"/>
            <a:ext cx="13218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u-RU" dirty="0"/>
              <a:t>Стр. </a:t>
            </a:r>
            <a:fld id="{24ADBFAD-7AFA-4998-B83F-B0EB8D0944C1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6" r:id="rId2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Arial" pitchFamily="34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4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8833E3C-6C88-4444-8CA8-803D753C9E8A}" type="datetime1">
              <a:rPr lang="de-DE" altLang="ru-RU">
                <a:latin typeface="Calibri" pitchFamily="34" charset="0"/>
              </a:rPr>
              <a:pPr>
                <a:defRPr/>
              </a:pPr>
              <a:t>21.10.2025</a:t>
            </a:fld>
            <a:endParaRPr lang="de-DE" altLang="ru-RU">
              <a:latin typeface="Calibri" pitchFamily="34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71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31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5430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</a:rPr>
              <a:t/>
            </a:r>
            <a:br>
              <a:rPr kumimoji="0" lang="en-US" sz="5400" dirty="0">
                <a:solidFill>
                  <a:srgbClr val="800000"/>
                </a:solidFill>
              </a:rPr>
            </a:br>
            <a:r>
              <a:rPr kumimoji="0" lang="ru-RU" sz="5400" dirty="0">
                <a:solidFill>
                  <a:srgbClr val="800000"/>
                </a:solidFill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</a:rPr>
              <a:t> </a:t>
            </a:r>
            <a:br>
              <a:rPr kumimoji="0" lang="en-US" sz="5400" dirty="0">
                <a:solidFill>
                  <a:srgbClr val="800000"/>
                </a:solidFill>
              </a:rPr>
            </a:br>
            <a:r>
              <a:rPr kumimoji="0" lang="ru-RU" sz="5400" dirty="0">
                <a:solidFill>
                  <a:srgbClr val="800000"/>
                </a:solidFill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</a:rPr>
            </a:br>
            <a:r>
              <a:rPr kumimoji="0" lang="ru-RU" sz="5400" dirty="0">
                <a:solidFill>
                  <a:srgbClr val="800000"/>
                </a:solidFill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8455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2750" y="238125"/>
            <a:ext cx="8496300" cy="123556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altLang="ru-RU" sz="3600" dirty="0" smtClean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9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</a:b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5106298" y="2435150"/>
            <a:ext cx="6752753" cy="1501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440000">
              <a:lnSpc>
                <a:spcPct val="120000"/>
              </a:lnSpc>
            </a:pPr>
            <a:r>
              <a:rPr kumimoji="0" lang="ru-RU" sz="4000" dirty="0">
                <a:solidFill>
                  <a:prstClr val="black"/>
                </a:solidFill>
              </a:rPr>
              <a:t>Назначение </a:t>
            </a:r>
            <a:br>
              <a:rPr kumimoji="0" lang="ru-RU" sz="4000" dirty="0">
                <a:solidFill>
                  <a:prstClr val="black"/>
                </a:solidFill>
              </a:rPr>
            </a:br>
            <a:r>
              <a:rPr kumimoji="0" lang="ru-RU" sz="4000" dirty="0">
                <a:solidFill>
                  <a:prstClr val="black"/>
                </a:solidFill>
              </a:rPr>
              <a:t>и </a:t>
            </a:r>
            <a:r>
              <a:rPr kumimoji="0" lang="ru-RU" sz="4000" dirty="0" err="1">
                <a:solidFill>
                  <a:prstClr val="black"/>
                </a:solidFill>
              </a:rPr>
              <a:t>оркестрирование</a:t>
            </a:r>
            <a:endParaRPr kumimoji="0" lang="ru-RU" sz="1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54233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4" y="1976986"/>
            <a:ext cx="6912000" cy="378565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</a:rPr>
              <a:t>a(0:101)</a:t>
            </a: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while (some condition) do</a:t>
            </a:r>
          </a:p>
          <a:p>
            <a:r>
              <a:rPr kumimoji="0" lang="en-US" sz="2400" dirty="0">
                <a:solidFill>
                  <a:prstClr val="black"/>
                </a:solidFill>
              </a:rPr>
              <a:t>	do 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 = 1,</a:t>
            </a:r>
            <a:r>
              <a:rPr kumimoji="0" lang="ru-RU" sz="2400" dirty="0">
                <a:solidFill>
                  <a:prstClr val="black"/>
                </a:solidFill>
              </a:rPr>
              <a:t>100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	a1(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 = f(a(i-1), a(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), a(i+1)</a:t>
            </a:r>
            <a:r>
              <a:rPr kumimoji="0" lang="ru-RU" sz="2400" dirty="0">
                <a:solidFill>
                  <a:prstClr val="black"/>
                </a:solidFill>
              </a:rPr>
              <a:t>)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end do</a:t>
            </a:r>
          </a:p>
          <a:p>
            <a:r>
              <a:rPr kumimoji="0" lang="en-US" sz="2400" dirty="0">
                <a:solidFill>
                  <a:prstClr val="black"/>
                </a:solidFill>
              </a:rPr>
              <a:t>	do 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 = 1,</a:t>
            </a:r>
            <a:r>
              <a:rPr kumimoji="0" lang="ru-RU" sz="2400" dirty="0">
                <a:solidFill>
                  <a:prstClr val="black"/>
                </a:solidFill>
              </a:rPr>
              <a:t>100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	a(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 = a1(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</a:rPr>
              <a:t>	end do</a:t>
            </a:r>
          </a:p>
          <a:p>
            <a:r>
              <a:rPr kumimoji="0" lang="en-US" sz="2400" dirty="0">
                <a:solidFill>
                  <a:prstClr val="black"/>
                </a:solidFill>
              </a:rPr>
              <a:t>end do</a:t>
            </a: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7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4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Статическая схема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10499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6" y="1990922"/>
            <a:ext cx="6912000" cy="41549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Статическая схема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23836" y="4104000"/>
            <a:ext cx="3240000" cy="612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971836" y="3024000"/>
            <a:ext cx="3240000" cy="612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98337" y="2600809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836" y="2574591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2383" y="4783848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2429" y="4783849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101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067836" y="4104000"/>
            <a:ext cx="2952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8525634" y="4153325"/>
            <a:ext cx="2132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Исполнитель</a:t>
            </a:r>
            <a:r>
              <a:rPr lang="ru-RU" dirty="0"/>
              <a:t> </a:t>
            </a:r>
            <a:r>
              <a:rPr lang="ru-RU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115836" y="3024000"/>
            <a:ext cx="2952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5645483" y="3098329"/>
            <a:ext cx="2132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Исполнитель 1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067836" y="3024000"/>
            <a:ext cx="144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7923836" y="4104000"/>
            <a:ext cx="144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 стрелкой 15"/>
          <p:cNvCxnSpPr>
            <a:cxnSpLocks/>
          </p:cNvCxnSpPr>
          <p:nvPr/>
        </p:nvCxnSpPr>
        <p:spPr>
          <a:xfrm flipV="1">
            <a:off x="8139836" y="3636000"/>
            <a:ext cx="0" cy="468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</p:cNvCxnSpPr>
          <p:nvPr/>
        </p:nvCxnSpPr>
        <p:spPr>
          <a:xfrm flipV="1">
            <a:off x="7995836" y="3636000"/>
            <a:ext cx="0" cy="4680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7764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15" grpId="0" animBg="1"/>
      <p:bldP spid="15" grpId="1" animBg="1"/>
      <p:bldP spid="5" grpId="0" animBg="1"/>
      <p:bldP spid="5" grpId="1" animBg="1"/>
      <p:bldP spid="6" grpId="0" animBg="1"/>
      <p:bldP spid="6" grpId="1" animBg="1"/>
      <p:bldP spid="17" grpId="0" animBg="1"/>
      <p:bldP spid="1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2" y="1990922"/>
            <a:ext cx="6912000" cy="41549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  <a:p>
            <a:endParaRPr kumimoji="0" lang="en-US" sz="2400" dirty="0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5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2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Статическая схема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923832" y="4104000"/>
            <a:ext cx="3240000" cy="612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971832" y="3024000"/>
            <a:ext cx="3240000" cy="612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98333" y="2600809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832" y="2574591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2379" y="4783848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2425" y="4783849"/>
            <a:ext cx="10189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101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067832" y="4104000"/>
            <a:ext cx="2952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5630" y="4153325"/>
            <a:ext cx="2132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Исполнитель 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115832" y="3024000"/>
            <a:ext cx="2952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45479" y="3098329"/>
            <a:ext cx="2132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Исполнитель 1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067832" y="3024000"/>
            <a:ext cx="144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923832" y="4104000"/>
            <a:ext cx="144000" cy="612000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rgbClr val="FF6600"/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cxnSp>
        <p:nvCxnSpPr>
          <p:cNvPr id="16" name="Прямая со стрелкой 15"/>
          <p:cNvCxnSpPr>
            <a:cxnSpLocks/>
          </p:cNvCxnSpPr>
          <p:nvPr/>
        </p:nvCxnSpPr>
        <p:spPr>
          <a:xfrm flipV="1">
            <a:off x="8139832" y="3636000"/>
            <a:ext cx="0" cy="468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cxnSpLocks/>
          </p:cNvCxnSpPr>
          <p:nvPr/>
        </p:nvCxnSpPr>
        <p:spPr>
          <a:xfrm flipV="1">
            <a:off x="7995832" y="3636000"/>
            <a:ext cx="0" cy="4680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176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animBg="1"/>
      <p:bldP spid="5" grpId="1" animBg="1"/>
      <p:bldP spid="6" grpId="0" animBg="1"/>
      <p:bldP spid="6" grpId="1" animBg="1"/>
      <p:bldP spid="17" grpId="0" animBg="1"/>
      <p:bldP spid="1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475" y="1752386"/>
            <a:ext cx="6912000" cy="41549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Master - Worker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63475" y="1987833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Последовательный ярус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3475" y="2955245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Параллельный  ярус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3475" y="3949163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Последовательный ярус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3475" y="4837055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Параллельный  ярус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7743475" y="3420000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9903475" y="2376000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9903475" y="4426644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23476" y="3528001"/>
            <a:ext cx="11330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Master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10119476" y="2484001"/>
            <a:ext cx="1107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10119475" y="4536001"/>
            <a:ext cx="1117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</a:t>
            </a:r>
            <a:endParaRPr lang="ru-RU" dirty="0"/>
          </a:p>
        </p:txBody>
      </p:sp>
      <p:cxnSp>
        <p:nvCxnSpPr>
          <p:cNvPr id="33" name="Прямая со стрелкой 32"/>
          <p:cNvCxnSpPr/>
          <p:nvPr/>
        </p:nvCxnSpPr>
        <p:spPr>
          <a:xfrm flipV="1">
            <a:off x="9255475" y="3060000"/>
            <a:ext cx="658122" cy="337518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31475" y="2376000"/>
            <a:ext cx="1296000" cy="7920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Работа и вход</a:t>
            </a:r>
          </a:p>
        </p:txBody>
      </p:sp>
      <p:cxnSp>
        <p:nvCxnSpPr>
          <p:cNvPr id="36" name="Прямая со стрелкой 35"/>
          <p:cNvCxnSpPr/>
          <p:nvPr/>
        </p:nvCxnSpPr>
        <p:spPr>
          <a:xfrm>
            <a:off x="9255475" y="4104000"/>
            <a:ext cx="658122" cy="331716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031475" y="4408586"/>
            <a:ext cx="1296000" cy="7920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Работа и вход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 flipH="1">
            <a:off x="9255475" y="3060000"/>
            <a:ext cx="658122" cy="337518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903475" y="3491077"/>
            <a:ext cx="1368000" cy="43200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Выход</a:t>
            </a:r>
          </a:p>
        </p:txBody>
      </p:sp>
      <p:cxnSp>
        <p:nvCxnSpPr>
          <p:cNvPr id="42" name="Прямая со стрелкой 41"/>
          <p:cNvCxnSpPr/>
          <p:nvPr/>
        </p:nvCxnSpPr>
        <p:spPr>
          <a:xfrm flipH="1" flipV="1">
            <a:off x="9255475" y="4104000"/>
            <a:ext cx="658122" cy="331716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338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3" dur="indefinit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6FC12"/>
                                      </p:to>
                                    </p:animClr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6FC12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2" dur="indefinite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DFD41"/>
                                      </p:to>
                                    </p:animClr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FD41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8" dur="indefinite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1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20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1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2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4" grpId="0" build="allAtOnce"/>
      <p:bldP spid="14" grpId="1" build="allAtOnce"/>
      <p:bldP spid="22" grpId="0" build="allAtOnce"/>
      <p:bldP spid="25" grpId="1" build="allAtOnce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26" grpId="0" animBg="1"/>
      <p:bldP spid="26" grpId="1" animBg="1"/>
      <p:bldP spid="26" grpId="2" animBg="1"/>
      <p:bldP spid="26" grpId="3" animBg="1"/>
      <p:bldP spid="26" grpId="4" animBg="1"/>
      <p:bldP spid="27" grpId="0" animBg="1"/>
      <p:bldP spid="27" grpId="1" animBg="1"/>
      <p:bldP spid="27" grpId="2" animBg="1"/>
      <p:bldP spid="27" grpId="3" animBg="1"/>
      <p:bldP spid="27" grpId="4" animBg="1"/>
      <p:bldP spid="19" grpId="0"/>
      <p:bldP spid="30" grpId="0"/>
      <p:bldP spid="32" grpId="0"/>
      <p:bldP spid="34" grpId="0" animBg="1"/>
      <p:bldP spid="34" grpId="1" animBg="1"/>
      <p:bldP spid="34" grpId="2" animBg="1"/>
      <p:bldP spid="34" grpId="3" animBg="1"/>
      <p:bldP spid="38" grpId="0" animBg="1"/>
      <p:bldP spid="38" grpId="1" animBg="1"/>
      <p:bldP spid="38" grpId="2" animBg="1"/>
      <p:bldP spid="38" grpId="3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475" y="1752386"/>
            <a:ext cx="6912000" cy="41549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Master – Worker 2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63475" y="1987833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Последовательный ярус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3475" y="2955245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Параллельный  ярус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3475" y="3949163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Последовательный ярус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3475" y="4837055"/>
            <a:ext cx="27233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Параллельный  ярус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7743475" y="3420000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9903475" y="2376000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9903475" y="4428000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23476" y="3528001"/>
            <a:ext cx="11008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Master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10119476" y="2484001"/>
            <a:ext cx="11593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10119476" y="4536001"/>
            <a:ext cx="12501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</a:t>
            </a:r>
            <a:endParaRPr lang="ru-RU" dirty="0"/>
          </a:p>
        </p:txBody>
      </p:sp>
      <p:cxnSp>
        <p:nvCxnSpPr>
          <p:cNvPr id="33" name="Прямая со стрелкой 32"/>
          <p:cNvCxnSpPr/>
          <p:nvPr/>
        </p:nvCxnSpPr>
        <p:spPr>
          <a:xfrm flipV="1">
            <a:off x="9255475" y="3060000"/>
            <a:ext cx="658122" cy="337518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66099" y="2657398"/>
            <a:ext cx="1296000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Работа</a:t>
            </a:r>
          </a:p>
        </p:txBody>
      </p:sp>
      <p:cxnSp>
        <p:nvCxnSpPr>
          <p:cNvPr id="36" name="Прямая со стрелкой 35"/>
          <p:cNvCxnSpPr/>
          <p:nvPr/>
        </p:nvCxnSpPr>
        <p:spPr>
          <a:xfrm>
            <a:off x="9255475" y="4104000"/>
            <a:ext cx="658122" cy="331716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66099" y="4435717"/>
            <a:ext cx="1296000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Работа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 flipH="1">
            <a:off x="9255475" y="3060000"/>
            <a:ext cx="658122" cy="337518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69077" y="3491078"/>
            <a:ext cx="1634297" cy="4399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Выход</a:t>
            </a:r>
          </a:p>
        </p:txBody>
      </p:sp>
      <p:cxnSp>
        <p:nvCxnSpPr>
          <p:cNvPr id="42" name="Прямая со стрелкой 41"/>
          <p:cNvCxnSpPr/>
          <p:nvPr/>
        </p:nvCxnSpPr>
        <p:spPr>
          <a:xfrm flipH="1" flipV="1">
            <a:off x="9255475" y="4104000"/>
            <a:ext cx="658122" cy="331716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67906" y="3564414"/>
            <a:ext cx="1634297" cy="4399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Broadcast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85169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7" dur="indefinit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DFD41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FD41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30" dur="indefinite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1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3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C281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DFD41"/>
                                      </p:to>
                                    </p:animClr>
                                    <p:animClr clrSpc="rgb" dir="cw">
                                      <p:cBhvr>
                                        <p:cTn id="1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FD41"/>
                                      </p:to>
                                    </p:animClr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1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1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1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1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animClr clrSpc="rgb" dir="cw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2812"/>
                                      </p:to>
                                    </p:animClr>
                                    <p:set>
                                      <p:cBhvr>
                                        <p:cTn id="2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2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1" presetID="1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animClr clrSpc="rgb" dir="cw">
                                      <p:cBhvr>
                                        <p:cTn id="2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5F4FF"/>
                                      </p:to>
                                    </p:animClr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allAtOnce"/>
      <p:bldP spid="23" grpId="0" build="allAtOnce"/>
      <p:bldP spid="25" grpId="0"/>
      <p:bldP spid="25" grpId="1"/>
      <p:bldP spid="18" grpId="0" animBg="1"/>
      <p:bldP spid="18" grpId="1" animBg="1"/>
      <p:bldP spid="18" grpId="2" animBg="1"/>
      <p:bldP spid="18" grpId="3" animBg="1"/>
      <p:bldP spid="18" grpId="4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34" grpId="0" animBg="1"/>
      <p:bldP spid="34" grpId="1" animBg="1"/>
      <p:bldP spid="34" grpId="2" animBg="1"/>
      <p:bldP spid="34" grpId="3" animBg="1"/>
      <p:bldP spid="38" grpId="0" animBg="1"/>
      <p:bldP spid="38" grpId="1" animBg="1"/>
      <p:bldP spid="38" grpId="2" animBg="1"/>
      <p:bldP spid="38" grpId="3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476" y="1782970"/>
            <a:ext cx="6912000" cy="41549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43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32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Pool of works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9908333" y="2982152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114725" y="3096001"/>
            <a:ext cx="10984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9938980" y="4049403"/>
            <a:ext cx="1512000" cy="684000"/>
          </a:xfrm>
          <a:prstGeom prst="rect">
            <a:avLst/>
          </a:prstGeom>
          <a:solidFill>
            <a:srgbClr val="E5F4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114725" y="4140001"/>
            <a:ext cx="11560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</a:t>
            </a:r>
            <a:endParaRPr lang="ru-RU" dirty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5152581" y="1937069"/>
            <a:ext cx="3617844" cy="3816626"/>
          </a:xfrm>
          <a:prstGeom prst="roundRect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689295" y="2434027"/>
            <a:ext cx="974035" cy="689429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689289" y="2556355"/>
            <a:ext cx="10894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Work1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7153663" y="2467159"/>
            <a:ext cx="974035" cy="689429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7154327" y="2563297"/>
            <a:ext cx="10894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Work2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5689295" y="3620103"/>
            <a:ext cx="974035" cy="689429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5689295" y="3734305"/>
            <a:ext cx="1089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Work3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7153663" y="3606847"/>
            <a:ext cx="974035" cy="689429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7154869" y="3749373"/>
            <a:ext cx="10894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Work4</a:t>
            </a:r>
            <a:endParaRPr lang="ru-RU" dirty="0"/>
          </a:p>
        </p:txBody>
      </p:sp>
      <p:sp>
        <p:nvSpPr>
          <p:cNvPr id="45" name="Прямоугольник 44"/>
          <p:cNvSpPr/>
          <p:nvPr/>
        </p:nvSpPr>
        <p:spPr>
          <a:xfrm>
            <a:off x="6464545" y="4759791"/>
            <a:ext cx="974035" cy="689429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6510863" y="4882119"/>
            <a:ext cx="10894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Work5</a:t>
            </a:r>
            <a:endParaRPr lang="ru-RU" dirty="0"/>
          </a:p>
        </p:txBody>
      </p:sp>
      <p:cxnSp>
        <p:nvCxnSpPr>
          <p:cNvPr id="6" name="Прямая со стрелкой 5"/>
          <p:cNvCxnSpPr>
            <a:stCxn id="26" idx="1"/>
          </p:cNvCxnSpPr>
          <p:nvPr/>
        </p:nvCxnSpPr>
        <p:spPr>
          <a:xfrm flipH="1">
            <a:off x="8752673" y="3324152"/>
            <a:ext cx="1155660" cy="5868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>
            <a:cxnSpLocks/>
            <a:stCxn id="28" idx="1"/>
          </p:cNvCxnSpPr>
          <p:nvPr/>
        </p:nvCxnSpPr>
        <p:spPr>
          <a:xfrm flipH="1">
            <a:off x="8766130" y="4391403"/>
            <a:ext cx="1172850" cy="0"/>
          </a:xfrm>
          <a:prstGeom prst="straightConnector1">
            <a:avLst/>
          </a:prstGeom>
          <a:ln w="508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cxnSpLocks/>
            <a:stCxn id="26" idx="1"/>
          </p:cNvCxnSpPr>
          <p:nvPr/>
        </p:nvCxnSpPr>
        <p:spPr>
          <a:xfrm flipH="1" flipV="1">
            <a:off x="8774725" y="3311442"/>
            <a:ext cx="1133608" cy="12710"/>
          </a:xfrm>
          <a:prstGeom prst="straightConnector1">
            <a:avLst/>
          </a:prstGeom>
          <a:ln w="50800">
            <a:solidFill>
              <a:srgbClr val="FFFF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>
            <a:cxnSpLocks/>
            <a:stCxn id="28" idx="1"/>
          </p:cNvCxnSpPr>
          <p:nvPr/>
        </p:nvCxnSpPr>
        <p:spPr>
          <a:xfrm flipH="1">
            <a:off x="8806620" y="4391403"/>
            <a:ext cx="1132360" cy="7144"/>
          </a:xfrm>
          <a:prstGeom prst="straightConnector1">
            <a:avLst/>
          </a:prstGeom>
          <a:ln w="50800">
            <a:solidFill>
              <a:srgbClr val="FFFF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="" xmlns:a16="http://schemas.microsoft.com/office/drawing/2014/main" id="{0DB1B5EA-811B-42CD-AF0F-2662157F5C56}"/>
              </a:ext>
            </a:extLst>
          </p:cNvPr>
          <p:cNvCxnSpPr>
            <a:stCxn id="3" idx="2"/>
            <a:endCxn id="37" idx="0"/>
          </p:cNvCxnSpPr>
          <p:nvPr/>
        </p:nvCxnSpPr>
        <p:spPr>
          <a:xfrm>
            <a:off x="6176312" y="3123456"/>
            <a:ext cx="0" cy="49664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="" xmlns:a16="http://schemas.microsoft.com/office/drawing/2014/main" id="{C8FFD4C2-A646-4010-B1E4-606606E61813}"/>
              </a:ext>
            </a:extLst>
          </p:cNvPr>
          <p:cNvCxnSpPr>
            <a:stCxn id="31" idx="2"/>
            <a:endCxn id="37" idx="0"/>
          </p:cNvCxnSpPr>
          <p:nvPr/>
        </p:nvCxnSpPr>
        <p:spPr>
          <a:xfrm flipH="1">
            <a:off x="6176312" y="3156588"/>
            <a:ext cx="1464368" cy="463515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="" xmlns:a16="http://schemas.microsoft.com/office/drawing/2014/main" id="{CE4A356B-9700-49C9-81C1-24FA1FE6D0A3}"/>
              </a:ext>
            </a:extLst>
          </p:cNvPr>
          <p:cNvCxnSpPr>
            <a:stCxn id="37" idx="2"/>
            <a:endCxn id="45" idx="0"/>
          </p:cNvCxnSpPr>
          <p:nvPr/>
        </p:nvCxnSpPr>
        <p:spPr>
          <a:xfrm>
            <a:off x="6176312" y="4309532"/>
            <a:ext cx="775250" cy="45025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="" xmlns:a16="http://schemas.microsoft.com/office/drawing/2014/main" id="{8FC91829-47AB-492F-B9E5-FD0AA89C2EB3}"/>
              </a:ext>
            </a:extLst>
          </p:cNvPr>
          <p:cNvCxnSpPr>
            <a:cxnSpLocks/>
          </p:cNvCxnSpPr>
          <p:nvPr/>
        </p:nvCxnSpPr>
        <p:spPr>
          <a:xfrm>
            <a:off x="6663476" y="3964816"/>
            <a:ext cx="504000" cy="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537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BFB1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BFB1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1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5F4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CC04E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1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5F4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3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BFB1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7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1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5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1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1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5F4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5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BFB1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5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BFB1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9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3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mph" presetSubtype="1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7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1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3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mph" presetSubtype="1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D22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7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mph" presetSubtype="1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5F4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3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mph" presetSubtype="1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5F4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3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30" grpId="0"/>
      <p:bldP spid="28" grpId="0" animBg="1"/>
      <p:bldP spid="28" grpId="1" animBg="1"/>
      <p:bldP spid="28" grpId="2" animBg="1"/>
      <p:bldP spid="28" grpId="3" animBg="1"/>
      <p:bldP spid="28" grpId="4" animBg="1"/>
      <p:bldP spid="29" grpId="0"/>
      <p:bldP spid="2" grpId="0" animBg="1"/>
      <p:bldP spid="3" grpId="0" animBg="1"/>
      <p:bldP spid="3" grpId="1" animBg="1"/>
      <p:bldP spid="3" grpId="2" animBg="1"/>
      <p:bldP spid="3" grpId="3" animBg="1"/>
      <p:bldP spid="4" grpId="0"/>
      <p:bldP spid="4" grpId="1"/>
      <p:bldP spid="31" grpId="0" animBg="1"/>
      <p:bldP spid="31" grpId="1" animBg="1"/>
      <p:bldP spid="31" grpId="2" animBg="1"/>
      <p:bldP spid="31" grpId="3" animBg="1"/>
      <p:bldP spid="35" grpId="0"/>
      <p:bldP spid="35" grpId="1"/>
      <p:bldP spid="37" grpId="0" animBg="1"/>
      <p:bldP spid="37" grpId="1" animBg="1"/>
      <p:bldP spid="37" grpId="2" animBg="1"/>
      <p:bldP spid="37" grpId="3" animBg="1"/>
      <p:bldP spid="37" grpId="4" animBg="1"/>
      <p:bldP spid="41" grpId="0"/>
      <p:bldP spid="41" grpId="1"/>
      <p:bldP spid="43" grpId="0" animBg="1"/>
      <p:bldP spid="43" grpId="1" animBg="1"/>
      <p:bldP spid="43" grpId="2" animBg="1"/>
      <p:bldP spid="43" grpId="3" animBg="1"/>
      <p:bldP spid="44" grpId="0"/>
      <p:bldP spid="44" grpId="1"/>
      <p:bldP spid="45" grpId="0" animBg="1"/>
      <p:bldP spid="45" grpId="1" animBg="1"/>
      <p:bldP spid="45" grpId="2" animBg="1"/>
      <p:bldP spid="45" grpId="3" animBg="1"/>
      <p:bldP spid="46" grpId="0"/>
      <p:bldP spid="4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294535" y="1782970"/>
            <a:ext cx="7373090" cy="4536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noAutofit/>
          </a:bodyPr>
          <a:lstStyle/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  <a:p>
            <a:endParaRPr kumimoji="0" lang="ru-RU" sz="2400" dirty="0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Competition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786" y="1996106"/>
            <a:ext cx="3571875" cy="2940844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722213"/>
              </p:ext>
            </p:extLst>
          </p:nvPr>
        </p:nvGraphicFramePr>
        <p:xfrm>
          <a:off x="8318756" y="1998727"/>
          <a:ext cx="3228837" cy="134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130040" imgH="469800" progId="">
                  <p:embed/>
                </p:oleObj>
              </mc:Choice>
              <mc:Fallback>
                <p:oleObj name="Equation" r:id="rId5" imgW="1130040" imgH="469800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756" y="1998727"/>
                        <a:ext cx="3228837" cy="134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B56FB25-1C0A-4FBC-90A2-FCC47F82A412}"/>
              </a:ext>
            </a:extLst>
          </p:cNvPr>
          <p:cNvSpPr txBox="1"/>
          <p:nvPr/>
        </p:nvSpPr>
        <p:spPr>
          <a:xfrm>
            <a:off x="8216694" y="3439270"/>
            <a:ext cx="36398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Чем ближе начальное приближение к решению, тем быстрее сходится.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F360207-20A9-4E08-8408-2EF5B7105592}"/>
              </a:ext>
            </a:extLst>
          </p:cNvPr>
          <p:cNvSpPr txBox="1"/>
          <p:nvPr/>
        </p:nvSpPr>
        <p:spPr>
          <a:xfrm>
            <a:off x="5189755" y="5243240"/>
            <a:ext cx="68017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Разбиваем отрезок на части и каждую часть поручаем</a:t>
            </a:r>
            <a:r>
              <a:rPr lang="en-US" dirty="0"/>
              <a:t> </a:t>
            </a:r>
            <a:r>
              <a:rPr lang="ru-RU" dirty="0"/>
              <a:t>своему исполнителю.</a:t>
            </a:r>
          </a:p>
        </p:txBody>
      </p:sp>
    </p:spTree>
    <p:extLst>
      <p:ext uri="{BB962C8B-B14F-4D97-AF65-F5344CB8AC3E}">
        <p14:creationId xmlns:p14="http://schemas.microsoft.com/office/powerpoint/2010/main" val="32790573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475" y="1687859"/>
            <a:ext cx="6912000" cy="493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r>
              <a:rPr kumimoji="0" lang="en-US" sz="2400" dirty="0">
                <a:solidFill>
                  <a:prstClr val="black"/>
                </a:solidFill>
              </a:rPr>
              <a:t>while (some condition) do</a:t>
            </a:r>
          </a:p>
          <a:p>
            <a:r>
              <a:rPr kumimoji="0" lang="en-US" sz="2400" dirty="0">
                <a:solidFill>
                  <a:prstClr val="black"/>
                </a:solidFill>
              </a:rPr>
              <a:t>	do 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 = 1,</a:t>
            </a:r>
            <a:r>
              <a:rPr kumimoji="0" lang="ru-RU" sz="2400" dirty="0">
                <a:solidFill>
                  <a:prstClr val="black"/>
                </a:solidFill>
              </a:rPr>
              <a:t>100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	b(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 = f(a(i-1), a(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), a(i+1)</a:t>
            </a:r>
            <a:r>
              <a:rPr kumimoji="0" lang="ru-RU" sz="2400" dirty="0">
                <a:solidFill>
                  <a:prstClr val="black"/>
                </a:solidFill>
              </a:rPr>
              <a:t>)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end do</a:t>
            </a:r>
            <a:endParaRPr kumimoji="0" lang="ru-RU" sz="2400" dirty="0">
              <a:solidFill>
                <a:prstClr val="black"/>
              </a:solidFill>
            </a:endParaRPr>
          </a:p>
          <a:p>
            <a:pPr>
              <a:spcBef>
                <a:spcPts val="600"/>
              </a:spcBef>
            </a:pPr>
            <a:r>
              <a:rPr kumimoji="0" lang="en-US" sz="2400" dirty="0">
                <a:solidFill>
                  <a:prstClr val="black"/>
                </a:solidFill>
              </a:rPr>
              <a:t>	do 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 = 1,</a:t>
            </a:r>
            <a:r>
              <a:rPr kumimoji="0" lang="ru-RU" sz="2400" dirty="0">
                <a:solidFill>
                  <a:prstClr val="black"/>
                </a:solidFill>
              </a:rPr>
              <a:t>100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	c(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 </a:t>
            </a:r>
            <a:r>
              <a:rPr kumimoji="0" lang="en-US" sz="2400">
                <a:solidFill>
                  <a:prstClr val="black"/>
                </a:solidFill>
              </a:rPr>
              <a:t>= g(</a:t>
            </a:r>
            <a:r>
              <a:rPr kumimoji="0" lang="en-US" sz="2400" dirty="0">
                <a:solidFill>
                  <a:prstClr val="black"/>
                </a:solidFill>
              </a:rPr>
              <a:t>b(i-1), b(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), b(i+1)</a:t>
            </a:r>
            <a:r>
              <a:rPr kumimoji="0" lang="ru-RU" sz="2400" dirty="0">
                <a:solidFill>
                  <a:prstClr val="black"/>
                </a:solidFill>
              </a:rPr>
              <a:t>)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end do</a:t>
            </a:r>
            <a:endParaRPr kumimoji="0" lang="ru-RU" sz="2400" dirty="0">
              <a:solidFill>
                <a:prstClr val="black"/>
              </a:solidFill>
            </a:endParaRPr>
          </a:p>
          <a:p>
            <a:pPr>
              <a:spcBef>
                <a:spcPts val="600"/>
              </a:spcBef>
            </a:pPr>
            <a:r>
              <a:rPr kumimoji="0" lang="en-US" sz="2400" dirty="0">
                <a:solidFill>
                  <a:prstClr val="black"/>
                </a:solidFill>
              </a:rPr>
              <a:t>	do 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 = 1,</a:t>
            </a:r>
            <a:r>
              <a:rPr kumimoji="0" lang="ru-RU" sz="2400" dirty="0">
                <a:solidFill>
                  <a:prstClr val="black"/>
                </a:solidFill>
              </a:rPr>
              <a:t>100</a:t>
            </a:r>
            <a:endParaRPr kumimoji="0" lang="en-US" sz="2400" dirty="0">
              <a:solidFill>
                <a:prstClr val="black"/>
              </a:solidFill>
            </a:endParaRPr>
          </a:p>
          <a:p>
            <a:r>
              <a:rPr kumimoji="0" lang="en-US" sz="2400" dirty="0">
                <a:solidFill>
                  <a:prstClr val="black"/>
                </a:solidFill>
              </a:rPr>
              <a:t>		a(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 = c(</a:t>
            </a:r>
            <a:r>
              <a:rPr kumimoji="0" lang="en-US" sz="2400" dirty="0" err="1">
                <a:solidFill>
                  <a:prstClr val="black"/>
                </a:solidFill>
              </a:rPr>
              <a:t>i</a:t>
            </a:r>
            <a:r>
              <a:rPr kumimoji="0" lang="en-US" sz="2400" dirty="0">
                <a:solidFill>
                  <a:prstClr val="black"/>
                </a:solidFill>
              </a:rPr>
              <a:t>)</a:t>
            </a:r>
          </a:p>
          <a:p>
            <a:r>
              <a:rPr kumimoji="0" lang="en-US" sz="2400" dirty="0">
                <a:solidFill>
                  <a:prstClr val="black"/>
                </a:solidFill>
              </a:rPr>
              <a:t>	end do</a:t>
            </a:r>
          </a:p>
          <a:p>
            <a:r>
              <a:rPr kumimoji="0" lang="en-US" sz="2400" dirty="0">
                <a:solidFill>
                  <a:prstClr val="black"/>
                </a:solidFill>
              </a:rPr>
              <a:t>end do</a:t>
            </a: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 err="1">
                <a:solidFill>
                  <a:srgbClr val="003794"/>
                </a:solidFill>
              </a:rPr>
              <a:t>Оркестрирование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Перекрытия</a:t>
            </a: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764763"/>
              </p:ext>
            </p:extLst>
          </p:nvPr>
        </p:nvGraphicFramePr>
        <p:xfrm>
          <a:off x="8876699" y="4336420"/>
          <a:ext cx="2413553" cy="700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3" imgW="787320" imgH="228600" progId="Equation.DSMT4">
                  <p:embed/>
                </p:oleObj>
              </mc:Choice>
              <mc:Fallback>
                <p:oleObj name="Equation" r:id="rId3" imgW="787320" imgH="228600" progId="Equation.DSMT4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6699" y="4336420"/>
                        <a:ext cx="2413553" cy="7007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789263"/>
              </p:ext>
            </p:extLst>
          </p:nvPr>
        </p:nvGraphicFramePr>
        <p:xfrm>
          <a:off x="9297250" y="4966660"/>
          <a:ext cx="1519237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5" imgW="495000" imgH="228600" progId="">
                  <p:embed/>
                </p:oleObj>
              </mc:Choice>
              <mc:Fallback>
                <p:oleObj name="Equation" r:id="rId5" imgW="495000" imgH="228600" progId="">
                  <p:embed/>
                  <p:pic>
                    <p:nvPicPr>
                      <p:cNvPr id="0" name="Picture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7250" y="4966660"/>
                        <a:ext cx="1519237" cy="70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462312"/>
              </p:ext>
            </p:extLst>
          </p:nvPr>
        </p:nvGraphicFramePr>
        <p:xfrm>
          <a:off x="8714636" y="5700085"/>
          <a:ext cx="268605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7" imgW="876240" imgH="228600" progId="">
                  <p:embed/>
                </p:oleObj>
              </mc:Choice>
              <mc:Fallback>
                <p:oleObj name="Equation" r:id="rId7" imgW="876240" imgH="228600" progId="">
                  <p:embed/>
                  <p:pic>
                    <p:nvPicPr>
                      <p:cNvPr id="0" name="Picture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4636" y="5700085"/>
                        <a:ext cx="2686050" cy="70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Прямая соединительная линия 3"/>
          <p:cNvCxnSpPr/>
          <p:nvPr/>
        </p:nvCxnSpPr>
        <p:spPr>
          <a:xfrm>
            <a:off x="3364311" y="3259138"/>
            <a:ext cx="4214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3364311" y="4422118"/>
            <a:ext cx="42141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425919"/>
              </p:ext>
            </p:extLst>
          </p:nvPr>
        </p:nvGraphicFramePr>
        <p:xfrm>
          <a:off x="8708286" y="5693735"/>
          <a:ext cx="268605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9" imgW="876240" imgH="228600" progId="">
                  <p:embed/>
                </p:oleObj>
              </mc:Choice>
              <mc:Fallback>
                <p:oleObj name="Equation" r:id="rId9" imgW="876240" imgH="228600" progId="">
                  <p:embed/>
                  <p:pic>
                    <p:nvPicPr>
                      <p:cNvPr id="0" name="Picture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8286" y="5693735"/>
                        <a:ext cx="2686050" cy="70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21315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4755834" y="1976986"/>
                <a:ext cx="6912000" cy="424319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D9D9D9"/>
                  </a:gs>
                </a:gsLst>
                <a:lin ang="5400000" scaled="1"/>
                <a:tileRect/>
              </a:gradFill>
              <a:ln w="12700">
                <a:solidFill>
                  <a:srgbClr val="C0C0C0"/>
                </a:solidFill>
              </a:ln>
              <a:effectLst>
                <a:outerShdw dist="50800" dir="2700000" algn="ctr" rotWithShape="0">
                  <a:srgbClr val="808080">
                    <a:alpha val="40000"/>
                  </a:srgbClr>
                </a:outerShdw>
              </a:effectLst>
            </p:spPr>
            <p:txBody>
              <a:bodyPr>
                <a:noAutofit/>
              </a:bodyPr>
              <a:lstStyle/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a(0:101)</a:t>
                </a:r>
                <a:r>
                  <a:rPr kumimoji="0" lang="ru-RU" sz="2400" dirty="0">
                    <a:solidFill>
                      <a:prstClr val="black"/>
                    </a:solidFill>
                  </a:rPr>
                  <a:t> 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while (some condition) do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do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 = 1,</a:t>
                </a:r>
                <a:r>
                  <a:rPr kumimoji="0" lang="ru-RU" sz="2400" dirty="0">
                    <a:solidFill>
                      <a:prstClr val="black"/>
                    </a:solidFill>
                  </a:rPr>
                  <a:t>100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	a1(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 = f(a(i-1), a(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), a(i+1), t</a:t>
                </a:r>
                <a:r>
                  <a:rPr kumimoji="0" lang="ru-RU" sz="2400" dirty="0">
                    <a:solidFill>
                      <a:prstClr val="black"/>
                    </a:solidFill>
                  </a:rPr>
                  <a:t>)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end do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do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 = 1,</a:t>
                </a:r>
                <a:r>
                  <a:rPr kumimoji="0" lang="ru-RU" sz="2400" dirty="0">
                    <a:solidFill>
                      <a:prstClr val="black"/>
                    </a:solidFill>
                  </a:rPr>
                  <a:t>100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	a(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 = a1(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end do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t = g(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0"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0" lang="en-US" sz="240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kumimoji="0"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kumimoji="0"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func>
                    <m:r>
                      <a:rPr kumimoji="0"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0"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kumimoji="0"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dirty="0">
                    <a:solidFill>
                      <a:prstClr val="black"/>
                    </a:solidFill>
                  </a:rPr>
                  <a:t>)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end do</a:t>
                </a:r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834" y="1976986"/>
                <a:ext cx="6912000" cy="4243192"/>
              </a:xfrm>
              <a:prstGeom prst="rect">
                <a:avLst/>
              </a:prstGeom>
              <a:blipFill rotWithShape="0">
                <a:blip r:embed="rId2"/>
                <a:stretch>
                  <a:fillRect l="-522" t="-850"/>
                </a:stretch>
              </a:blipFill>
              <a:ln w="12700">
                <a:solidFill>
                  <a:srgbClr val="C0C0C0"/>
                </a:solidFill>
              </a:ln>
              <a:effectLst>
                <a:outerShdw dist="50800" dir="2700000" algn="ctr" rotWithShape="0">
                  <a:srgbClr val="808080">
                    <a:alpha val="40000"/>
                  </a:srgb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7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4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Оптимизация количества исполнителей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B56FB25-1C0A-4FBC-90A2-FCC47F82A412}"/>
              </a:ext>
            </a:extLst>
          </p:cNvPr>
          <p:cNvSpPr txBox="1"/>
          <p:nvPr/>
        </p:nvSpPr>
        <p:spPr>
          <a:xfrm>
            <a:off x="7592452" y="4639598"/>
            <a:ext cx="40755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Время одной итерации - </a:t>
            </a:r>
            <a:r>
              <a:rPr lang="en-US" b="1" dirty="0" err="1">
                <a:solidFill>
                  <a:srgbClr val="0070C0"/>
                </a:solidFill>
              </a:rPr>
              <a:t>t</a:t>
            </a:r>
            <a:r>
              <a:rPr lang="en-US" b="1" baseline="-25000" dirty="0" err="1">
                <a:solidFill>
                  <a:srgbClr val="0070C0"/>
                </a:solidFill>
              </a:rPr>
              <a:t>seq</a:t>
            </a:r>
            <a:endParaRPr lang="ru-RU" b="1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3478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 20"/>
              <p:cNvSpPr/>
              <p:nvPr/>
            </p:nvSpPr>
            <p:spPr>
              <a:xfrm>
                <a:off x="4755834" y="1976986"/>
                <a:ext cx="6912000" cy="424319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D9D9D9"/>
                  </a:gs>
                </a:gsLst>
                <a:lin ang="5400000" scaled="1"/>
                <a:tileRect/>
              </a:gradFill>
              <a:ln w="12700">
                <a:solidFill>
                  <a:srgbClr val="C0C0C0"/>
                </a:solidFill>
              </a:ln>
              <a:effectLst>
                <a:outerShdw dist="50800" dir="2700000" algn="ctr" rotWithShape="0">
                  <a:srgbClr val="808080">
                    <a:alpha val="40000"/>
                  </a:srgbClr>
                </a:outerShdw>
              </a:effectLst>
            </p:spPr>
            <p:txBody>
              <a:bodyPr>
                <a:noAutofit/>
              </a:bodyPr>
              <a:lstStyle/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a(0:101)</a:t>
                </a:r>
                <a:r>
                  <a:rPr kumimoji="0" lang="ru-RU" sz="2400" dirty="0">
                    <a:solidFill>
                      <a:prstClr val="black"/>
                    </a:solidFill>
                  </a:rPr>
                  <a:t> 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while (some condition) do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do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 =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ibeg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,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iend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	a1(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 = f(a(i-1), a(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), a(i+1), t</a:t>
                </a:r>
                <a:r>
                  <a:rPr kumimoji="0" lang="ru-RU" sz="2400" dirty="0">
                    <a:solidFill>
                      <a:prstClr val="black"/>
                    </a:solidFill>
                  </a:rPr>
                  <a:t>)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end do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do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 =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ibeg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, 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iend</a:t>
                </a:r>
                <a:endParaRPr kumimoji="0" lang="en-US" sz="2400" dirty="0">
                  <a:solidFill>
                    <a:prstClr val="black"/>
                  </a:solidFill>
                </a:endParaRP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	a(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 = a1(</a:t>
                </a:r>
                <a:r>
                  <a:rPr kumimoji="0" lang="en-US" sz="2400" dirty="0" err="1">
                    <a:solidFill>
                      <a:prstClr val="black"/>
                    </a:solidFill>
                  </a:rPr>
                  <a:t>i</a:t>
                </a:r>
                <a:r>
                  <a:rPr kumimoji="0" lang="en-US" sz="2400" dirty="0">
                    <a:solidFill>
                      <a:prstClr val="black"/>
                    </a:solidFill>
                  </a:rPr>
                  <a:t>)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end do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	t = g(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0" lang="en-US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0" lang="en-US" sz="240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kumimoji="0"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m:rPr>
                            <m:sty m:val="p"/>
                          </m:rPr>
                          <a:rPr kumimoji="0" lang="en-US" sz="2400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func>
                    <m:r>
                      <a:rPr kumimoji="0"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0" lang="en-US" sz="24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kumimoji="0" lang="en-US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dirty="0">
                    <a:solidFill>
                      <a:prstClr val="black"/>
                    </a:solidFill>
                  </a:rPr>
                  <a:t>)</a:t>
                </a:r>
              </a:p>
              <a:p>
                <a:r>
                  <a:rPr kumimoji="0" lang="en-US" sz="2400" dirty="0">
                    <a:solidFill>
                      <a:prstClr val="black"/>
                    </a:solidFill>
                  </a:rPr>
                  <a:t>end do</a:t>
                </a:r>
              </a:p>
            </p:txBody>
          </p:sp>
        </mc:Choice>
        <mc:Fallback xmlns="">
          <p:sp>
            <p:nvSpPr>
              <p:cNvPr id="21" name="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834" y="1976986"/>
                <a:ext cx="6912000" cy="4243192"/>
              </a:xfrm>
              <a:prstGeom prst="rect">
                <a:avLst/>
              </a:prstGeom>
              <a:blipFill rotWithShape="0">
                <a:blip r:embed="rId2"/>
                <a:stretch>
                  <a:fillRect l="-522" t="-850"/>
                </a:stretch>
              </a:blipFill>
              <a:ln w="12700">
                <a:solidFill>
                  <a:srgbClr val="C0C0C0"/>
                </a:solidFill>
              </a:ln>
              <a:effectLst>
                <a:outerShdw dist="50800" dir="2700000" algn="ctr" rotWithShape="0">
                  <a:srgbClr val="808080">
                    <a:alpha val="40000"/>
                  </a:srgb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7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4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Оптимизация количества исполнителей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3333656" y="4218693"/>
            <a:ext cx="421419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B56FB25-1C0A-4FBC-90A2-FCC47F82A412}"/>
              </a:ext>
            </a:extLst>
          </p:cNvPr>
          <p:cNvSpPr txBox="1"/>
          <p:nvPr/>
        </p:nvSpPr>
        <p:spPr>
          <a:xfrm>
            <a:off x="7889316" y="3993268"/>
            <a:ext cx="3639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Обмен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b="1" dirty="0">
                <a:solidFill>
                  <a:srgbClr val="C00000"/>
                </a:solidFill>
              </a:rPr>
              <a:t>данными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333656" y="5526122"/>
            <a:ext cx="421419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B56FB25-1C0A-4FBC-90A2-FCC47F82A412}"/>
              </a:ext>
            </a:extLst>
          </p:cNvPr>
          <p:cNvSpPr txBox="1"/>
          <p:nvPr/>
        </p:nvSpPr>
        <p:spPr>
          <a:xfrm>
            <a:off x="7889316" y="5382394"/>
            <a:ext cx="36398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Reduce + Broadcast 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7B56FB25-1C0A-4FBC-90A2-FCC47F82A412}"/>
              </a:ext>
            </a:extLst>
          </p:cNvPr>
          <p:cNvSpPr txBox="1"/>
          <p:nvPr/>
        </p:nvSpPr>
        <p:spPr>
          <a:xfrm>
            <a:off x="7547847" y="2238250"/>
            <a:ext cx="40755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Время счета –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ru-RU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02200" y="2566470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469676" y="2066755"/>
                <a:ext cx="1302707" cy="777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𝒔𝒆𝒒</m:t>
                              </m:r>
                            </m:sub>
                          </m:sSub>
                        </m:num>
                        <m:den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</m:oMath>
                  </m:oMathPara>
                </a14:m>
                <a:endParaRPr lang="ru-RU" sz="24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9676" y="2066755"/>
                <a:ext cx="1302707" cy="77700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92230" y="4403840"/>
                <a:ext cx="26555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ru-RU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2230" y="4403840"/>
                <a:ext cx="2655518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29392" y="5732526"/>
                <a:ext cx="28183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ru-RU" sz="24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𝒍𝒐𝒈𝑵</m:t>
                          </m:r>
                        </m:e>
                      </m:d>
                    </m:oMath>
                  </m:oMathPara>
                </a14:m>
                <a:endParaRPr lang="ru-RU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392" y="5732526"/>
                <a:ext cx="281835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33" b="-210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3007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4" grpId="0"/>
      <p:bldP spid="8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870343" y="1743909"/>
            <a:ext cx="6912000" cy="478239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noAutofit/>
          </a:bodyPr>
          <a:lstStyle/>
          <a:p>
            <a:endParaRPr kumimoji="0" lang="en-US" sz="2400" dirty="0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7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Назначение</a:t>
            </a:r>
            <a:endParaRPr kumimoji="0" lang="ru-RU" sz="3600" b="1" dirty="0">
              <a:solidFill>
                <a:srgbClr val="800080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4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</a:rPr>
              <a:t>Оптимизация количества исполнителей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7B56FB25-1C0A-4FBC-90A2-FCC47F82A412}"/>
              </a:ext>
            </a:extLst>
          </p:cNvPr>
          <p:cNvSpPr txBox="1"/>
          <p:nvPr/>
        </p:nvSpPr>
        <p:spPr>
          <a:xfrm>
            <a:off x="4902200" y="1841702"/>
            <a:ext cx="40755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Время </a:t>
            </a:r>
            <a:r>
              <a:rPr lang="en-US" dirty="0"/>
              <a:t> </a:t>
            </a:r>
            <a:r>
              <a:rPr lang="ru-RU" dirty="0"/>
              <a:t>одной итерации –</a:t>
            </a:r>
            <a:r>
              <a:rPr lang="en-US" dirty="0"/>
              <a:t> </a:t>
            </a:r>
            <a:r>
              <a:rPr lang="ru-RU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02200" y="2122171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37259" y="2220670"/>
                <a:ext cx="1302707" cy="777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𝑠𝑒𝑞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259" y="2220670"/>
                <a:ext cx="1302707" cy="77700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50632" y="2378342"/>
                <a:ext cx="29210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632" y="2378342"/>
                <a:ext cx="2921070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016072" y="2370382"/>
                <a:ext cx="38997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𝑙𝑜𝑔𝑁</m:t>
                          </m:r>
                        </m:e>
                      </m:d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072" y="2370382"/>
                <a:ext cx="3899770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 стрелкой 4"/>
          <p:cNvCxnSpPr/>
          <p:nvPr/>
        </p:nvCxnSpPr>
        <p:spPr>
          <a:xfrm flipV="1">
            <a:off x="6150632" y="3245224"/>
            <a:ext cx="0" cy="3012141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6150632" y="6257365"/>
            <a:ext cx="4858027" cy="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12625" y="3087553"/>
            <a:ext cx="7759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t</a:t>
            </a:r>
            <a:r>
              <a:rPr lang="en-US" i="1" baseline="-25000" dirty="0" err="1"/>
              <a:t>par</a:t>
            </a:r>
            <a:endParaRPr lang="ru-RU" i="1" baseline="-25000" dirty="0"/>
          </a:p>
        </p:txBody>
      </p:sp>
      <p:sp>
        <p:nvSpPr>
          <p:cNvPr id="16" name="TextBox 15"/>
          <p:cNvSpPr txBox="1"/>
          <p:nvPr/>
        </p:nvSpPr>
        <p:spPr>
          <a:xfrm>
            <a:off x="11060721" y="6099400"/>
            <a:ext cx="4979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</a:t>
            </a:r>
            <a:endParaRPr lang="ru-RU" i="1" dirty="0"/>
          </a:p>
        </p:txBody>
      </p:sp>
      <p:sp>
        <p:nvSpPr>
          <p:cNvPr id="22" name="Полилиния 21"/>
          <p:cNvSpPr/>
          <p:nvPr/>
        </p:nvSpPr>
        <p:spPr>
          <a:xfrm>
            <a:off x="6682688" y="3526494"/>
            <a:ext cx="4034118" cy="2241572"/>
          </a:xfrm>
          <a:custGeom>
            <a:avLst/>
            <a:gdLst>
              <a:gd name="connsiteX0" fmla="*/ 0 w 4034118"/>
              <a:gd name="connsiteY0" fmla="*/ 143435 h 2241572"/>
              <a:gd name="connsiteX1" fmla="*/ 2043953 w 4034118"/>
              <a:gd name="connsiteY1" fmla="*/ 2241176 h 2241572"/>
              <a:gd name="connsiteX2" fmla="*/ 4034118 w 4034118"/>
              <a:gd name="connsiteY2" fmla="*/ 0 h 2241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4118" h="2241572">
                <a:moveTo>
                  <a:pt x="0" y="143435"/>
                </a:moveTo>
                <a:cubicBezTo>
                  <a:pt x="685800" y="1204258"/>
                  <a:pt x="1371600" y="2265082"/>
                  <a:pt x="2043953" y="2241176"/>
                </a:cubicBezTo>
                <a:cubicBezTo>
                  <a:pt x="2716306" y="2217270"/>
                  <a:pt x="3375212" y="1108635"/>
                  <a:pt x="4034118" y="0"/>
                </a:cubicBezTo>
              </a:path>
            </a:pathLst>
          </a:custGeom>
          <a:noFill/>
          <a:ln w="317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7107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8" grpId="0"/>
      <p:bldP spid="10" grpId="0"/>
      <p:bldP spid="16" grpId="0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7780215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911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</TotalTime>
  <Words>185</Words>
  <Application>Microsoft Office PowerPoint</Application>
  <PresentationFormat>Широкоэкранный</PresentationFormat>
  <Paragraphs>190</Paragraphs>
  <Slides>14</Slides>
  <Notes>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6" baseType="lpstr">
      <vt:lpstr>Arial Unicode MS</vt:lpstr>
      <vt:lpstr>Arial</vt:lpstr>
      <vt:lpstr>Arial Black</vt:lpstr>
      <vt:lpstr>Calibri</vt:lpstr>
      <vt:lpstr>Cambria Math</vt:lpstr>
      <vt:lpstr>Symbol</vt:lpstr>
      <vt:lpstr>Wingdings</vt:lpstr>
      <vt:lpstr>Тема Office</vt:lpstr>
      <vt:lpstr>2_Тема Office</vt:lpstr>
      <vt:lpstr>Larissa-Design</vt:lpstr>
      <vt:lpstr>2_Larissa-Design</vt:lpstr>
      <vt:lpstr>Equation</vt:lpstr>
      <vt:lpstr>Презентация PowerPoint</vt:lpstr>
      <vt:lpstr>Тема 9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elena</dc:creator>
  <cp:lastModifiedBy>carpson</cp:lastModifiedBy>
  <cp:revision>193</cp:revision>
  <dcterms:created xsi:type="dcterms:W3CDTF">2013-06-06T20:15:57Z</dcterms:created>
  <dcterms:modified xsi:type="dcterms:W3CDTF">2025-10-21T05:14:29Z</dcterms:modified>
</cp:coreProperties>
</file>