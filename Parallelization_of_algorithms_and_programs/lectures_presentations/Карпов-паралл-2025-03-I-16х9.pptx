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21" r:id="rId2"/>
    <p:sldMasterId id="2147483723" r:id="rId3"/>
    <p:sldMasterId id="2147483734" r:id="rId4"/>
  </p:sldMasterIdLst>
  <p:notesMasterIdLst>
    <p:notesMasterId r:id="rId52"/>
  </p:notesMasterIdLst>
  <p:sldIdLst>
    <p:sldId id="257" r:id="rId5"/>
    <p:sldId id="415" r:id="rId6"/>
    <p:sldId id="339" r:id="rId7"/>
    <p:sldId id="412" r:id="rId8"/>
    <p:sldId id="294" r:id="rId9"/>
    <p:sldId id="288" r:id="rId10"/>
    <p:sldId id="289" r:id="rId11"/>
    <p:sldId id="290" r:id="rId12"/>
    <p:sldId id="291" r:id="rId13"/>
    <p:sldId id="292" r:id="rId14"/>
    <p:sldId id="295" r:id="rId15"/>
    <p:sldId id="306" r:id="rId16"/>
    <p:sldId id="351" r:id="rId17"/>
    <p:sldId id="352" r:id="rId18"/>
    <p:sldId id="353" r:id="rId19"/>
    <p:sldId id="354" r:id="rId20"/>
    <p:sldId id="355" r:id="rId21"/>
    <p:sldId id="356" r:id="rId22"/>
    <p:sldId id="357" r:id="rId23"/>
    <p:sldId id="358" r:id="rId24"/>
    <p:sldId id="360" r:id="rId25"/>
    <p:sldId id="393" r:id="rId26"/>
    <p:sldId id="394" r:id="rId27"/>
    <p:sldId id="414" r:id="rId28"/>
    <p:sldId id="349" r:id="rId29"/>
    <p:sldId id="365" r:id="rId30"/>
    <p:sldId id="397" r:id="rId31"/>
    <p:sldId id="396" r:id="rId32"/>
    <p:sldId id="350" r:id="rId33"/>
    <p:sldId id="308" r:id="rId34"/>
    <p:sldId id="309" r:id="rId35"/>
    <p:sldId id="310" r:id="rId36"/>
    <p:sldId id="311" r:id="rId37"/>
    <p:sldId id="312" r:id="rId38"/>
    <p:sldId id="313" r:id="rId39"/>
    <p:sldId id="314" r:id="rId40"/>
    <p:sldId id="315" r:id="rId41"/>
    <p:sldId id="316" r:id="rId42"/>
    <p:sldId id="317" r:id="rId43"/>
    <p:sldId id="318" r:id="rId44"/>
    <p:sldId id="398" r:id="rId45"/>
    <p:sldId id="320" r:id="rId46"/>
    <p:sldId id="321" r:id="rId47"/>
    <p:sldId id="322" r:id="rId48"/>
    <p:sldId id="323" r:id="rId49"/>
    <p:sldId id="324" r:id="rId50"/>
    <p:sldId id="411" r:id="rId51"/>
  </p:sldIdLst>
  <p:sldSz cx="12192000" cy="6858000"/>
  <p:notesSz cx="6858000" cy="9144000"/>
  <p:defaultTextStyle>
    <a:defPPr>
      <a:defRPr lang="ru-RU"/>
    </a:defPPr>
    <a:lvl1pPr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47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  <a:srgbClr val="C0C0C0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16" autoAdjust="0"/>
    <p:restoredTop sz="90506" autoAdjust="0"/>
  </p:normalViewPr>
  <p:slideViewPr>
    <p:cSldViewPr snapToGrid="0" snapToObjects="1">
      <p:cViewPr varScale="1">
        <p:scale>
          <a:sx n="61" d="100"/>
          <a:sy n="61" d="100"/>
        </p:scale>
        <p:origin x="828" y="48"/>
      </p:cViewPr>
      <p:guideLst>
        <p:guide orient="horz" pos="247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pPr>
              <a:defRPr/>
            </a:pPr>
            <a:fld id="{61FE9D34-791F-4EF8-A4F0-542CA03A1025}" type="datetimeFigureOut">
              <a:rPr lang="ru-RU"/>
              <a:pPr>
                <a:defRPr/>
              </a:pPr>
              <a:t>04.10.2024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pPr>
              <a:defRPr/>
            </a:pPr>
            <a:fld id="{9E823CC4-FED0-46D8-B338-6A49B477DF9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8518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defTabSz="914400"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219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Rectangle 7"/>
          <p:cNvSpPr txBox="1">
            <a:spLocks noGrp="1" noChangeArrowheads="1"/>
          </p:cNvSpPr>
          <p:nvPr/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249E4C9-7B76-45C2-9A59-3B91BB30AC31}" type="slidenum">
              <a:rPr kumimoji="0" lang="de-DE" alt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alt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/>
          </a:p>
        </p:txBody>
      </p:sp>
    </p:spTree>
    <p:extLst>
      <p:ext uri="{BB962C8B-B14F-4D97-AF65-F5344CB8AC3E}">
        <p14:creationId xmlns:p14="http://schemas.microsoft.com/office/powerpoint/2010/main" val="2551525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0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ru-RU" dirty="0"/>
          </a:p>
        </p:txBody>
      </p:sp>
      <p:sp>
        <p:nvSpPr>
          <p:cNvPr id="12291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E310F7-BA59-4BCC-B944-CD6B53D59584}" type="slidenum">
              <a:rPr kumimoji="0" lang="de-DE" alt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alt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225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79F1EF9-17F8-4AB0-8AF3-AAF1F4906A49}" type="slidenum">
              <a:rPr lang="ru-RU" smtClean="0"/>
              <a:pPr/>
              <a:t>4</a:t>
            </a:fld>
            <a:endParaRPr lang="de-DE" dirty="0"/>
          </a:p>
        </p:txBody>
      </p:sp>
      <p:sp>
        <p:nvSpPr>
          <p:cNvPr id="50179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07DAC2DC-EC09-4D56-BFA0-1165C12FC691}" type="slidenum">
              <a:rPr kumimoji="0" lang="en-GB" sz="1300"/>
              <a:pPr algn="r" defTabSz="947738"/>
              <a:t>4</a:t>
            </a:fld>
            <a:endParaRPr kumimoji="0" lang="en-GB" sz="1300" dirty="0"/>
          </a:p>
        </p:txBody>
      </p:sp>
      <p:sp>
        <p:nvSpPr>
          <p:cNvPr id="501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8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639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1CCDC18-2183-4FD9-A097-0FDE70CAF979}" type="slidenum">
              <a:rPr lang="ru-RU" smtClean="0"/>
              <a:pPr/>
              <a:t>5</a:t>
            </a:fld>
            <a:endParaRPr lang="de-DE"/>
          </a:p>
        </p:txBody>
      </p:sp>
      <p:sp>
        <p:nvSpPr>
          <p:cNvPr id="51203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A145A945-4214-44BA-B5A9-1CA68303E73B}" type="slidenum">
              <a:rPr kumimoji="0" lang="en-GB" sz="1300"/>
              <a:pPr algn="r" defTabSz="947738"/>
              <a:t>5</a:t>
            </a:fld>
            <a:endParaRPr kumimoji="0" lang="en-GB" sz="1300"/>
          </a:p>
        </p:txBody>
      </p:sp>
      <p:sp>
        <p:nvSpPr>
          <p:cNvPr id="512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717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8D3C842-15F5-4118-93B3-B56D48F51314}" type="slidenum">
              <a:rPr lang="ru-RU" smtClean="0"/>
              <a:pPr/>
              <a:t>6</a:t>
            </a:fld>
            <a:endParaRPr lang="de-DE"/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80EBC222-5CA9-45A5-916B-59235F528885}" type="slidenum">
              <a:rPr kumimoji="0" lang="en-GB" sz="1300"/>
              <a:pPr algn="r" defTabSz="947738"/>
              <a:t>6</a:t>
            </a:fld>
            <a:endParaRPr kumimoji="0" lang="en-GB" sz="1300"/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1. Можно</a:t>
            </a:r>
            <a:r>
              <a:rPr kumimoji="0" lang="ru-RU" baseline="0" noProof="1">
                <a:cs typeface="Arial" pitchFamily="34" charset="0"/>
              </a:rPr>
              <a:t> рассматривать не только время но и память.  </a:t>
            </a:r>
          </a:p>
          <a:p>
            <a:pPr eaLnBrk="1" hangingPunct="1">
              <a:spcBef>
                <a:spcPct val="0"/>
              </a:spcBef>
            </a:pPr>
            <a:r>
              <a:rPr kumimoji="0" lang="ru-RU" baseline="0" noProof="1">
                <a:cs typeface="Arial" pitchFamily="34" charset="0"/>
              </a:rPr>
              <a:t>2. Два подхода к оценке времени – считаем количество операций и измеряем время работы программ. </a:t>
            </a:r>
          </a:p>
          <a:p>
            <a:pPr eaLnBrk="1" hangingPunct="1">
              <a:spcBef>
                <a:spcPct val="0"/>
              </a:spcBef>
            </a:pPr>
            <a:r>
              <a:rPr kumimoji="0" lang="ru-RU" baseline="0" noProof="1">
                <a:cs typeface="Arial" pitchFamily="34" charset="0"/>
              </a:rPr>
              <a:t>Речь идет об алгоритмах, а не о программных реализациях.</a:t>
            </a:r>
          </a:p>
        </p:txBody>
      </p:sp>
    </p:spTree>
    <p:extLst>
      <p:ext uri="{BB962C8B-B14F-4D97-AF65-F5344CB8AC3E}">
        <p14:creationId xmlns:p14="http://schemas.microsoft.com/office/powerpoint/2010/main" val="519270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B7DA795-AF9C-476C-96A1-29C748DB32F3}" type="slidenum">
              <a:rPr lang="ru-RU" smtClean="0"/>
              <a:pPr/>
              <a:t>7</a:t>
            </a:fld>
            <a:endParaRPr lang="de-DE"/>
          </a:p>
        </p:txBody>
      </p:sp>
      <p:sp>
        <p:nvSpPr>
          <p:cNvPr id="5325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C49ED260-AE0A-4061-9DFC-8F372DC99AB6}" type="slidenum">
              <a:rPr kumimoji="0" lang="en-GB" sz="1300"/>
              <a:pPr algn="r" defTabSz="947738"/>
              <a:t>7</a:t>
            </a:fld>
            <a:endParaRPr kumimoji="0" lang="en-GB" sz="1300"/>
          </a:p>
        </p:txBody>
      </p:sp>
      <p:sp>
        <p:nvSpPr>
          <p:cNvPr id="532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504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6353611-A644-41D9-A1BC-49E0AB3B5127}" type="slidenum">
              <a:rPr lang="ru-RU" smtClean="0"/>
              <a:pPr/>
              <a:t>8</a:t>
            </a:fld>
            <a:endParaRPr lang="de-DE"/>
          </a:p>
        </p:txBody>
      </p:sp>
      <p:sp>
        <p:nvSpPr>
          <p:cNvPr id="54275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653C4888-C5E9-4D1E-83BD-806153EE64C1}" type="slidenum">
              <a:rPr kumimoji="0" lang="en-GB" sz="1300"/>
              <a:pPr algn="r" defTabSz="947738"/>
              <a:t>8</a:t>
            </a:fld>
            <a:endParaRPr kumimoji="0" lang="en-GB" sz="1300"/>
          </a:p>
        </p:txBody>
      </p:sp>
      <p:sp>
        <p:nvSpPr>
          <p:cNvPr id="542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954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663A973-8261-4AC1-9025-D9464CDFE8B5}" type="slidenum">
              <a:rPr lang="ru-RU" smtClean="0"/>
              <a:pPr/>
              <a:t>9</a:t>
            </a:fld>
            <a:endParaRPr lang="de-DE"/>
          </a:p>
        </p:txBody>
      </p:sp>
      <p:sp>
        <p:nvSpPr>
          <p:cNvPr id="55299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E206C466-64D1-481D-A971-C41B297B784D}" type="slidenum">
              <a:rPr kumimoji="0" lang="en-GB" sz="1300"/>
              <a:pPr algn="r" defTabSz="947738"/>
              <a:t>9</a:t>
            </a:fld>
            <a:endParaRPr kumimoji="0" lang="en-GB" sz="1300"/>
          </a:p>
        </p:txBody>
      </p:sp>
      <p:sp>
        <p:nvSpPr>
          <p:cNvPr id="553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30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en-US" noProof="1">
                <a:cs typeface="Arial" pitchFamily="34" charset="0"/>
              </a:rPr>
              <a:t>T</a:t>
            </a:r>
            <a:r>
              <a:rPr kumimoji="0" lang="en-US" baseline="-25000" noProof="1">
                <a:cs typeface="Arial" pitchFamily="34" charset="0"/>
              </a:rPr>
              <a:t>o</a:t>
            </a:r>
            <a:r>
              <a:rPr kumimoji="0" lang="en-US" noProof="1">
                <a:cs typeface="Arial" pitchFamily="34" charset="0"/>
              </a:rPr>
              <a:t>(n)</a:t>
            </a:r>
            <a:r>
              <a:rPr kumimoji="0" lang="en-US" baseline="0" noProof="1">
                <a:cs typeface="Arial" pitchFamily="34" charset="0"/>
              </a:rPr>
              <a:t> – </a:t>
            </a:r>
            <a:r>
              <a:rPr kumimoji="0" lang="ru-RU" baseline="0" noProof="1">
                <a:cs typeface="Arial" pitchFamily="34" charset="0"/>
              </a:rPr>
              <a:t>не обязательно </a:t>
            </a:r>
            <a:r>
              <a:rPr kumimoji="0" lang="en-US" baseline="0" noProof="1">
                <a:cs typeface="Arial" pitchFamily="34" charset="0"/>
              </a:rPr>
              <a:t>infimum!!!</a:t>
            </a: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609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21E8325-C993-4687-A8BC-374EE650D633}" type="slidenum">
              <a:rPr lang="ru-RU" smtClean="0"/>
              <a:pPr/>
              <a:t>10</a:t>
            </a:fld>
            <a:endParaRPr lang="de-DE"/>
          </a:p>
        </p:txBody>
      </p:sp>
      <p:sp>
        <p:nvSpPr>
          <p:cNvPr id="56323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0A688F3F-5703-455C-9F9D-80D117A44A11}" type="slidenum">
              <a:rPr kumimoji="0" lang="en-GB" sz="1300"/>
              <a:pPr algn="r" defTabSz="947738"/>
              <a:t>10</a:t>
            </a:fld>
            <a:endParaRPr kumimoji="0" lang="en-GB" sz="1300"/>
          </a:p>
        </p:txBody>
      </p:sp>
      <p:sp>
        <p:nvSpPr>
          <p:cNvPr id="563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7826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A5664B6-60F1-4EE9-AD96-C6C55736F475}" type="slidenum">
              <a:rPr lang="ru-RU" smtClean="0"/>
              <a:pPr/>
              <a:t>11</a:t>
            </a:fld>
            <a:endParaRPr lang="de-DE"/>
          </a:p>
        </p:txBody>
      </p:sp>
      <p:sp>
        <p:nvSpPr>
          <p:cNvPr id="5734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3FBDE5A5-F214-42ED-B255-FC6B968B5CCE}" type="slidenum">
              <a:rPr kumimoji="0" lang="en-GB" sz="1300"/>
              <a:pPr algn="r" defTabSz="947738"/>
              <a:t>11</a:t>
            </a:fld>
            <a:endParaRPr kumimoji="0" lang="en-GB" sz="1300"/>
          </a:p>
        </p:txBody>
      </p:sp>
      <p:sp>
        <p:nvSpPr>
          <p:cNvPr id="573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7416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D0C489C-B8C8-489E-AA71-598221C264FA}" type="slidenum">
              <a:rPr kumimoji="0" lang="ru-RU" sz="1200"/>
              <a:pPr algn="r"/>
              <a:t>12</a:t>
            </a:fld>
            <a:endParaRPr kumimoji="0" lang="de-DE" sz="1200"/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7F1A9281-1597-4286-8723-922DEFD804BC}" type="slidenum">
              <a:rPr kumimoji="0" lang="en-GB" sz="1300"/>
              <a:pPr algn="r" defTabSz="947738"/>
              <a:t>12</a:t>
            </a:fld>
            <a:endParaRPr kumimoji="0" lang="en-GB" sz="1300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130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D0C489C-B8C8-489E-AA71-598221C264FA}" type="slidenum">
              <a:rPr kumimoji="0" lang="ru-RU" sz="1200"/>
              <a:pPr algn="r"/>
              <a:t>13</a:t>
            </a:fld>
            <a:endParaRPr kumimoji="0" lang="de-DE" sz="1200" dirty="0"/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7F1A9281-1597-4286-8723-922DEFD804BC}" type="slidenum">
              <a:rPr kumimoji="0" lang="en-GB" sz="1300"/>
              <a:pPr algn="r" defTabSz="947738"/>
              <a:t>13</a:t>
            </a:fld>
            <a:endParaRPr kumimoji="0" lang="en-GB" sz="1300" dirty="0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4993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D0C489C-B8C8-489E-AA71-598221C264FA}" type="slidenum">
              <a:rPr kumimoji="0" lang="ru-RU" sz="1200"/>
              <a:pPr algn="r"/>
              <a:t>14</a:t>
            </a:fld>
            <a:endParaRPr kumimoji="0" lang="de-DE" sz="1200" dirty="0"/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7F1A9281-1597-4286-8723-922DEFD804BC}" type="slidenum">
              <a:rPr kumimoji="0" lang="en-GB" sz="1300"/>
              <a:pPr algn="r" defTabSz="947738"/>
              <a:t>14</a:t>
            </a:fld>
            <a:endParaRPr kumimoji="0" lang="en-GB" sz="1300" dirty="0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103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D0C489C-B8C8-489E-AA71-598221C264FA}" type="slidenum">
              <a:rPr kumimoji="0" lang="ru-RU" sz="1200"/>
              <a:pPr algn="r"/>
              <a:t>15</a:t>
            </a:fld>
            <a:endParaRPr kumimoji="0" lang="de-DE" sz="1200" dirty="0"/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7F1A9281-1597-4286-8723-922DEFD804BC}" type="slidenum">
              <a:rPr kumimoji="0" lang="en-GB" sz="1300"/>
              <a:pPr algn="r" defTabSz="947738"/>
              <a:t>15</a:t>
            </a:fld>
            <a:endParaRPr kumimoji="0" lang="en-GB" sz="1300" dirty="0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1372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D0C489C-B8C8-489E-AA71-598221C264FA}" type="slidenum">
              <a:rPr kumimoji="0" lang="ru-RU" sz="1200"/>
              <a:pPr algn="r"/>
              <a:t>16</a:t>
            </a:fld>
            <a:endParaRPr kumimoji="0" lang="de-DE" sz="1200" dirty="0"/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7F1A9281-1597-4286-8723-922DEFD804BC}" type="slidenum">
              <a:rPr kumimoji="0" lang="en-GB" sz="1300"/>
              <a:pPr algn="r" defTabSz="947738"/>
              <a:t>16</a:t>
            </a:fld>
            <a:endParaRPr kumimoji="0" lang="en-GB" sz="1300" dirty="0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274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D0C489C-B8C8-489E-AA71-598221C264FA}" type="slidenum">
              <a:rPr kumimoji="0" lang="ru-RU" sz="1200"/>
              <a:pPr algn="r"/>
              <a:t>17</a:t>
            </a:fld>
            <a:endParaRPr kumimoji="0" lang="de-DE" sz="1200" dirty="0"/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7F1A9281-1597-4286-8723-922DEFD804BC}" type="slidenum">
              <a:rPr kumimoji="0" lang="en-GB" sz="1300"/>
              <a:pPr algn="r" defTabSz="947738"/>
              <a:t>17</a:t>
            </a:fld>
            <a:endParaRPr kumimoji="0" lang="en-GB" sz="1300" dirty="0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9950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D0C489C-B8C8-489E-AA71-598221C264FA}" type="slidenum">
              <a:rPr kumimoji="0" lang="ru-RU" sz="1200"/>
              <a:pPr algn="r"/>
              <a:t>18</a:t>
            </a:fld>
            <a:endParaRPr kumimoji="0" lang="de-DE" sz="1200" dirty="0"/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7F1A9281-1597-4286-8723-922DEFD804BC}" type="slidenum">
              <a:rPr kumimoji="0" lang="en-GB" sz="1300"/>
              <a:pPr algn="r" defTabSz="947738"/>
              <a:t>18</a:t>
            </a:fld>
            <a:endParaRPr kumimoji="0" lang="en-GB" sz="1300" dirty="0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6637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D0C489C-B8C8-489E-AA71-598221C264FA}" type="slidenum">
              <a:rPr kumimoji="0" lang="ru-RU" sz="1200"/>
              <a:pPr algn="r"/>
              <a:t>19</a:t>
            </a:fld>
            <a:endParaRPr kumimoji="0" lang="de-DE" sz="1200" dirty="0"/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7F1A9281-1597-4286-8723-922DEFD804BC}" type="slidenum">
              <a:rPr kumimoji="0" lang="en-GB" sz="1300"/>
              <a:pPr algn="r" defTabSz="947738"/>
              <a:t>19</a:t>
            </a:fld>
            <a:endParaRPr kumimoji="0" lang="en-GB" sz="1300" dirty="0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3625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D0C489C-B8C8-489E-AA71-598221C264FA}" type="slidenum">
              <a:rPr kumimoji="0" lang="ru-RU" sz="1200"/>
              <a:pPr algn="r"/>
              <a:t>20</a:t>
            </a:fld>
            <a:endParaRPr kumimoji="0" lang="de-DE" sz="1200" dirty="0"/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7F1A9281-1597-4286-8723-922DEFD804BC}" type="slidenum">
              <a:rPr kumimoji="0" lang="en-GB" sz="1300"/>
              <a:pPr algn="r" defTabSz="947738"/>
              <a:t>20</a:t>
            </a:fld>
            <a:endParaRPr kumimoji="0" lang="en-GB" sz="1300" dirty="0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8261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D0C489C-B8C8-489E-AA71-598221C264FA}" type="slidenum">
              <a:rPr kumimoji="0" lang="ru-RU" sz="1200"/>
              <a:pPr algn="r"/>
              <a:t>21</a:t>
            </a:fld>
            <a:endParaRPr kumimoji="0" lang="de-DE" sz="1200" dirty="0"/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7F1A9281-1597-4286-8723-922DEFD804BC}" type="slidenum">
              <a:rPr kumimoji="0" lang="en-GB" sz="1300"/>
              <a:pPr algn="r" defTabSz="947738"/>
              <a:t>21</a:t>
            </a:fld>
            <a:endParaRPr kumimoji="0" lang="en-GB" sz="1300" dirty="0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7863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D0C489C-B8C8-489E-AA71-598221C264FA}" type="slidenum">
              <a:rPr kumimoji="0" lang="ru-RU" sz="1200"/>
              <a:pPr algn="r"/>
              <a:t>22</a:t>
            </a:fld>
            <a:endParaRPr kumimoji="0" lang="de-DE" sz="1200" dirty="0"/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7F1A9281-1597-4286-8723-922DEFD804BC}" type="slidenum">
              <a:rPr kumimoji="0" lang="en-GB" sz="1300"/>
              <a:pPr algn="r" defTabSz="947738"/>
              <a:t>22</a:t>
            </a:fld>
            <a:endParaRPr kumimoji="0" lang="en-GB" sz="1300" dirty="0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8248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D0C489C-B8C8-489E-AA71-598221C264FA}" type="slidenum">
              <a:rPr kumimoji="0" lang="ru-RU" sz="1200"/>
              <a:pPr algn="r"/>
              <a:t>23</a:t>
            </a:fld>
            <a:endParaRPr kumimoji="0" lang="de-DE" sz="1200" dirty="0"/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7F1A9281-1597-4286-8723-922DEFD804BC}" type="slidenum">
              <a:rPr kumimoji="0" lang="en-GB" sz="1300"/>
              <a:pPr algn="r" defTabSz="947738"/>
              <a:t>23</a:t>
            </a:fld>
            <a:endParaRPr kumimoji="0" lang="en-GB" sz="1300" dirty="0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1741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273805E-47D4-444C-8873-D6B4D963200E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itchFamily="34" charset="0"/>
            </a:endParaRPr>
          </a:p>
        </p:txBody>
      </p:sp>
      <p:sp>
        <p:nvSpPr>
          <p:cNvPr id="75779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D2E1D2-7038-463C-AC85-8AA223C5739E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itchFamily="34" charset="0"/>
            </a:endParaRPr>
          </a:p>
        </p:txBody>
      </p:sp>
      <p:sp>
        <p:nvSpPr>
          <p:cNvPr id="757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1138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273805E-47D4-444C-8873-D6B4D963200E}" type="slidenum">
              <a:rPr kumimoji="0" lang="ru-RU" sz="1200"/>
              <a:pPr algn="r"/>
              <a:t>25</a:t>
            </a:fld>
            <a:endParaRPr kumimoji="0" lang="de-DE" sz="1200"/>
          </a:p>
        </p:txBody>
      </p:sp>
      <p:sp>
        <p:nvSpPr>
          <p:cNvPr id="75779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06D2E1D2-7038-463C-AC85-8AA223C5739E}" type="slidenum">
              <a:rPr kumimoji="0" lang="en-GB" sz="1300"/>
              <a:pPr algn="r" defTabSz="947738"/>
              <a:t>25</a:t>
            </a:fld>
            <a:endParaRPr kumimoji="0" lang="en-GB" sz="1300"/>
          </a:p>
        </p:txBody>
      </p:sp>
      <p:sp>
        <p:nvSpPr>
          <p:cNvPr id="757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2363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D0C489C-B8C8-489E-AA71-598221C264FA}" type="slidenum">
              <a:rPr kumimoji="0" lang="ru-RU" sz="1200"/>
              <a:pPr algn="r"/>
              <a:t>26</a:t>
            </a:fld>
            <a:endParaRPr kumimoji="0" lang="de-DE" sz="1200"/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7F1A9281-1597-4286-8723-922DEFD804BC}" type="slidenum">
              <a:rPr kumimoji="0" lang="en-GB" sz="1300"/>
              <a:pPr algn="r" defTabSz="947738"/>
              <a:t>26</a:t>
            </a:fld>
            <a:endParaRPr kumimoji="0" lang="en-GB" sz="1300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5266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273805E-47D4-444C-8873-D6B4D963200E}" type="slidenum">
              <a:rPr kumimoji="0" lang="ru-RU" sz="1200"/>
              <a:pPr algn="r"/>
              <a:t>27</a:t>
            </a:fld>
            <a:endParaRPr kumimoji="0" lang="de-DE" sz="1200"/>
          </a:p>
        </p:txBody>
      </p:sp>
      <p:sp>
        <p:nvSpPr>
          <p:cNvPr id="75779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06D2E1D2-7038-463C-AC85-8AA223C5739E}" type="slidenum">
              <a:rPr kumimoji="0" lang="en-GB" sz="1300"/>
              <a:pPr algn="r" defTabSz="947738"/>
              <a:t>27</a:t>
            </a:fld>
            <a:endParaRPr kumimoji="0" lang="en-GB" sz="1300"/>
          </a:p>
        </p:txBody>
      </p:sp>
      <p:sp>
        <p:nvSpPr>
          <p:cNvPr id="757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2873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D0C489C-B8C8-489E-AA71-598221C264FA}" type="slidenum">
              <a:rPr kumimoji="0" lang="ru-RU" sz="1200"/>
              <a:pPr algn="r"/>
              <a:t>28</a:t>
            </a:fld>
            <a:endParaRPr kumimoji="0" lang="de-DE" sz="1200"/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7F1A9281-1597-4286-8723-922DEFD804BC}" type="slidenum">
              <a:rPr kumimoji="0" lang="en-GB" sz="1300"/>
              <a:pPr algn="r" defTabSz="947738"/>
              <a:t>28</a:t>
            </a:fld>
            <a:endParaRPr kumimoji="0" lang="en-GB" sz="1300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0254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D0C489C-B8C8-489E-AA71-598221C264FA}" type="slidenum">
              <a:rPr kumimoji="0" lang="ru-RU" sz="1200"/>
              <a:pPr algn="r"/>
              <a:t>29</a:t>
            </a:fld>
            <a:endParaRPr kumimoji="0" lang="de-DE" sz="1200"/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7F1A9281-1597-4286-8723-922DEFD804BC}" type="slidenum">
              <a:rPr kumimoji="0" lang="en-GB" sz="1300"/>
              <a:pPr algn="r" defTabSz="947738"/>
              <a:t>29</a:t>
            </a:fld>
            <a:endParaRPr kumimoji="0" lang="en-GB" sz="1300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0405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9B069D4-DA6E-4B0E-958A-67088517A30C}" type="slidenum">
              <a:rPr kumimoji="0" lang="ru-RU" sz="1200"/>
              <a:pPr algn="r"/>
              <a:t>30</a:t>
            </a:fld>
            <a:endParaRPr kumimoji="0" lang="de-DE" sz="1200" dirty="0"/>
          </a:p>
        </p:txBody>
      </p:sp>
      <p:sp>
        <p:nvSpPr>
          <p:cNvPr id="59395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912DFC47-EDC9-4C18-91C6-520E5CC2E8BC}" type="slidenum">
              <a:rPr kumimoji="0" lang="en-GB" sz="1300"/>
              <a:pPr algn="r" defTabSz="947738"/>
              <a:t>30</a:t>
            </a:fld>
            <a:endParaRPr kumimoji="0" lang="en-GB" sz="1300" dirty="0"/>
          </a:p>
        </p:txBody>
      </p:sp>
      <p:sp>
        <p:nvSpPr>
          <p:cNvPr id="593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7159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F46D5DE-9AC3-448F-8508-8E459455CCF5}" type="slidenum">
              <a:rPr kumimoji="0" lang="ru-RU" sz="1200"/>
              <a:pPr algn="r"/>
              <a:t>31</a:t>
            </a:fld>
            <a:endParaRPr kumimoji="0" lang="de-DE" sz="1200" dirty="0"/>
          </a:p>
        </p:txBody>
      </p:sp>
      <p:sp>
        <p:nvSpPr>
          <p:cNvPr id="60419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95D16E8D-FA2F-4AD7-96B0-9D9DEDE3FAEA}" type="slidenum">
              <a:rPr kumimoji="0" lang="en-GB" sz="1300"/>
              <a:pPr algn="r" defTabSz="947738"/>
              <a:t>31</a:t>
            </a:fld>
            <a:endParaRPr kumimoji="0" lang="en-GB" sz="1300" dirty="0"/>
          </a:p>
        </p:txBody>
      </p:sp>
      <p:sp>
        <p:nvSpPr>
          <p:cNvPr id="604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2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8301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927C353-3C09-40A7-BEBD-7C47C63A8D00}" type="slidenum">
              <a:rPr kumimoji="0" lang="ru-RU" sz="1200"/>
              <a:pPr algn="r"/>
              <a:t>32</a:t>
            </a:fld>
            <a:endParaRPr kumimoji="0" lang="de-DE" sz="1200"/>
          </a:p>
        </p:txBody>
      </p:sp>
      <p:sp>
        <p:nvSpPr>
          <p:cNvPr id="61443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B1787716-8196-4C1B-8B63-CB5B9241342C}" type="slidenum">
              <a:rPr kumimoji="0" lang="en-GB" sz="1300"/>
              <a:pPr algn="r" defTabSz="947738"/>
              <a:t>32</a:t>
            </a:fld>
            <a:endParaRPr kumimoji="0" lang="en-GB" sz="1300"/>
          </a:p>
        </p:txBody>
      </p:sp>
      <p:sp>
        <p:nvSpPr>
          <p:cNvPr id="614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6557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DD5ABC52-DFD0-41AF-9110-5FCE4E46FFD4}" type="slidenum">
              <a:rPr kumimoji="0" lang="ru-RU" sz="1200"/>
              <a:pPr algn="r"/>
              <a:t>33</a:t>
            </a:fld>
            <a:endParaRPr kumimoji="0" lang="de-DE" sz="1200"/>
          </a:p>
        </p:txBody>
      </p:sp>
      <p:sp>
        <p:nvSpPr>
          <p:cNvPr id="6246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B1E0BB8B-71BE-491A-A9CB-76DD58BEC7D9}" type="slidenum">
              <a:rPr kumimoji="0" lang="en-GB" sz="1300"/>
              <a:pPr algn="r" defTabSz="947738"/>
              <a:t>33</a:t>
            </a:fld>
            <a:endParaRPr kumimoji="0" lang="en-GB" sz="1300"/>
          </a:p>
        </p:txBody>
      </p:sp>
      <p:sp>
        <p:nvSpPr>
          <p:cNvPr id="624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66348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C0BC410D-E0D3-45C7-A1C3-84B8EB46649E}" type="slidenum">
              <a:rPr kumimoji="0" lang="ru-RU" sz="1200"/>
              <a:pPr algn="r"/>
              <a:t>34</a:t>
            </a:fld>
            <a:endParaRPr kumimoji="0" lang="de-DE" sz="1200"/>
          </a:p>
        </p:txBody>
      </p:sp>
      <p:sp>
        <p:nvSpPr>
          <p:cNvPr id="6349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767BC502-9A9F-4443-90FD-324D3937B56D}" type="slidenum">
              <a:rPr kumimoji="0" lang="en-GB" sz="1300"/>
              <a:pPr algn="r" defTabSz="947738"/>
              <a:t>34</a:t>
            </a:fld>
            <a:endParaRPr kumimoji="0" lang="en-GB" sz="1300"/>
          </a:p>
        </p:txBody>
      </p:sp>
      <p:sp>
        <p:nvSpPr>
          <p:cNvPr id="634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19111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0089D30-0071-4F67-B57B-EAFD92B93EFA}" type="slidenum">
              <a:rPr kumimoji="0" lang="ru-RU" sz="1200"/>
              <a:pPr algn="r"/>
              <a:t>35</a:t>
            </a:fld>
            <a:endParaRPr kumimoji="0" lang="de-DE" sz="1200"/>
          </a:p>
        </p:txBody>
      </p:sp>
      <p:sp>
        <p:nvSpPr>
          <p:cNvPr id="64515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A592F808-2CDB-4DF1-94CF-6F6484BA5FAA}" type="slidenum">
              <a:rPr kumimoji="0" lang="en-GB" sz="1300"/>
              <a:pPr algn="r" defTabSz="947738"/>
              <a:t>35</a:t>
            </a:fld>
            <a:endParaRPr kumimoji="0" lang="en-GB" sz="1300"/>
          </a:p>
        </p:txBody>
      </p:sp>
      <p:sp>
        <p:nvSpPr>
          <p:cNvPr id="645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7260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F5876EA1-9AE3-40D7-AE4E-2B93E3ACAD13}" type="slidenum">
              <a:rPr kumimoji="0" lang="ru-RU" sz="1200"/>
              <a:pPr algn="r"/>
              <a:t>36</a:t>
            </a:fld>
            <a:endParaRPr kumimoji="0" lang="de-DE" sz="1200"/>
          </a:p>
        </p:txBody>
      </p:sp>
      <p:sp>
        <p:nvSpPr>
          <p:cNvPr id="65539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B50C1F6F-0917-4382-9DE5-943ACBA2475A}" type="slidenum">
              <a:rPr kumimoji="0" lang="en-GB" sz="1300"/>
              <a:pPr algn="r" defTabSz="947738"/>
              <a:t>36</a:t>
            </a:fld>
            <a:endParaRPr kumimoji="0" lang="en-GB" sz="1300"/>
          </a:p>
        </p:txBody>
      </p:sp>
      <p:sp>
        <p:nvSpPr>
          <p:cNvPr id="655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9304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26649BA-7DBE-4563-B712-9689A310E86D}" type="slidenum">
              <a:rPr kumimoji="0" lang="ru-RU" sz="1200"/>
              <a:pPr algn="r"/>
              <a:t>37</a:t>
            </a:fld>
            <a:endParaRPr kumimoji="0" lang="de-DE" sz="1200"/>
          </a:p>
        </p:txBody>
      </p:sp>
      <p:sp>
        <p:nvSpPr>
          <p:cNvPr id="66563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C132BC6B-491E-445B-A86A-D884CA5398FB}" type="slidenum">
              <a:rPr kumimoji="0" lang="en-GB" sz="1300"/>
              <a:pPr algn="r" defTabSz="947738"/>
              <a:t>37</a:t>
            </a:fld>
            <a:endParaRPr kumimoji="0" lang="en-GB" sz="1300"/>
          </a:p>
        </p:txBody>
      </p:sp>
      <p:sp>
        <p:nvSpPr>
          <p:cNvPr id="665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5785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13B2F8B-3D96-4D71-9473-1C7EEC69686D}" type="slidenum">
              <a:rPr kumimoji="0" lang="ru-RU" sz="1200"/>
              <a:pPr algn="r"/>
              <a:t>38</a:t>
            </a:fld>
            <a:endParaRPr kumimoji="0" lang="de-DE" sz="1200"/>
          </a:p>
        </p:txBody>
      </p:sp>
      <p:sp>
        <p:nvSpPr>
          <p:cNvPr id="6758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B7BB6EBF-0FE9-4964-8046-58E59488F99E}" type="slidenum">
              <a:rPr kumimoji="0" lang="en-GB" sz="1300"/>
              <a:pPr algn="r" defTabSz="947738"/>
              <a:t>38</a:t>
            </a:fld>
            <a:endParaRPr kumimoji="0" lang="en-GB" sz="1300"/>
          </a:p>
        </p:txBody>
      </p:sp>
      <p:sp>
        <p:nvSpPr>
          <p:cNvPr id="675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7848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7EA31D5-3C46-4FA3-803A-924A75147FB9}" type="slidenum">
              <a:rPr kumimoji="0" lang="ru-RU" sz="1200"/>
              <a:pPr algn="r"/>
              <a:t>39</a:t>
            </a:fld>
            <a:endParaRPr kumimoji="0" lang="de-DE" sz="1200"/>
          </a:p>
        </p:txBody>
      </p:sp>
      <p:sp>
        <p:nvSpPr>
          <p:cNvPr id="6861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972534B6-1691-4AC8-AF5B-43DCDEC31A15}" type="slidenum">
              <a:rPr kumimoji="0" lang="en-GB" sz="1300"/>
              <a:pPr algn="r" defTabSz="947738"/>
              <a:t>39</a:t>
            </a:fld>
            <a:endParaRPr kumimoji="0" lang="en-GB" sz="1300"/>
          </a:p>
        </p:txBody>
      </p:sp>
      <p:sp>
        <p:nvSpPr>
          <p:cNvPr id="6861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7934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DBF5BE8-D96B-46E9-B0F7-CAFE03FBCC10}" type="slidenum">
              <a:rPr kumimoji="0" lang="ru-RU" sz="1200"/>
              <a:pPr algn="r"/>
              <a:t>40</a:t>
            </a:fld>
            <a:endParaRPr kumimoji="0" lang="de-DE" sz="1200"/>
          </a:p>
        </p:txBody>
      </p:sp>
      <p:sp>
        <p:nvSpPr>
          <p:cNvPr id="69635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83E36FF1-DD0D-4587-AD7D-F5245ED3E5AC}" type="slidenum">
              <a:rPr kumimoji="0" lang="en-GB" sz="1300"/>
              <a:pPr algn="r" defTabSz="947738"/>
              <a:t>40</a:t>
            </a:fld>
            <a:endParaRPr kumimoji="0" lang="en-GB" sz="1300"/>
          </a:p>
        </p:txBody>
      </p:sp>
      <p:sp>
        <p:nvSpPr>
          <p:cNvPr id="696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5420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F5876EA1-9AE3-40D7-AE4E-2B93E3ACAD13}" type="slidenum">
              <a:rPr kumimoji="0" lang="ru-RU" sz="1200"/>
              <a:pPr algn="r"/>
              <a:t>41</a:t>
            </a:fld>
            <a:endParaRPr kumimoji="0" lang="de-DE" sz="1200"/>
          </a:p>
        </p:txBody>
      </p:sp>
      <p:sp>
        <p:nvSpPr>
          <p:cNvPr id="65539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B50C1F6F-0917-4382-9DE5-943ACBA2475A}" type="slidenum">
              <a:rPr kumimoji="0" lang="en-GB" sz="1300"/>
              <a:pPr algn="r" defTabSz="947738"/>
              <a:t>41</a:t>
            </a:fld>
            <a:endParaRPr kumimoji="0" lang="en-GB" sz="1300"/>
          </a:p>
        </p:txBody>
      </p:sp>
      <p:sp>
        <p:nvSpPr>
          <p:cNvPr id="655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40683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CF25102-59D9-41E8-8D5B-83BD335DC871}" type="slidenum">
              <a:rPr kumimoji="0" lang="ru-RU" sz="1200"/>
              <a:pPr algn="r"/>
              <a:t>42</a:t>
            </a:fld>
            <a:endParaRPr kumimoji="0" lang="de-DE" sz="1200"/>
          </a:p>
        </p:txBody>
      </p:sp>
      <p:sp>
        <p:nvSpPr>
          <p:cNvPr id="71683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DFD6C0DB-125B-49BC-9366-84BB93E26300}" type="slidenum">
              <a:rPr kumimoji="0" lang="en-GB" sz="1300"/>
              <a:pPr algn="r" defTabSz="947738"/>
              <a:t>42</a:t>
            </a:fld>
            <a:endParaRPr kumimoji="0" lang="en-GB" sz="1300"/>
          </a:p>
        </p:txBody>
      </p:sp>
      <p:sp>
        <p:nvSpPr>
          <p:cNvPr id="716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92906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A055D731-2FAC-450C-AB70-BF3AFAB72638}" type="slidenum">
              <a:rPr kumimoji="0" lang="ru-RU" sz="1200"/>
              <a:pPr algn="r"/>
              <a:t>43</a:t>
            </a:fld>
            <a:endParaRPr kumimoji="0" lang="de-DE" sz="1200"/>
          </a:p>
        </p:txBody>
      </p:sp>
      <p:sp>
        <p:nvSpPr>
          <p:cNvPr id="7270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0E677292-4462-4F8F-9D95-6B6D3CC54E84}" type="slidenum">
              <a:rPr kumimoji="0" lang="en-GB" sz="1300"/>
              <a:pPr algn="r" defTabSz="947738"/>
              <a:t>43</a:t>
            </a:fld>
            <a:endParaRPr kumimoji="0" lang="en-GB" sz="1300"/>
          </a:p>
        </p:txBody>
      </p:sp>
      <p:sp>
        <p:nvSpPr>
          <p:cNvPr id="727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29611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7C675E8-AB7E-4B38-AA50-7CDD1B5B2FB5}" type="slidenum">
              <a:rPr kumimoji="0" lang="ru-RU" sz="1200"/>
              <a:pPr algn="r"/>
              <a:t>44</a:t>
            </a:fld>
            <a:endParaRPr kumimoji="0" lang="de-DE" sz="1200"/>
          </a:p>
        </p:txBody>
      </p:sp>
      <p:sp>
        <p:nvSpPr>
          <p:cNvPr id="7373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B255D054-CCF0-4EBD-B41B-07D0200A7252}" type="slidenum">
              <a:rPr kumimoji="0" lang="en-GB" sz="1300"/>
              <a:pPr algn="r" defTabSz="947738"/>
              <a:t>44</a:t>
            </a:fld>
            <a:endParaRPr kumimoji="0" lang="en-GB" sz="1300"/>
          </a:p>
        </p:txBody>
      </p:sp>
      <p:sp>
        <p:nvSpPr>
          <p:cNvPr id="737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17786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3D5722B-7DC3-4D87-A9F3-2AD4C17CFBAF}" type="slidenum">
              <a:rPr kumimoji="0" lang="ru-RU" sz="1200"/>
              <a:pPr algn="r"/>
              <a:t>45</a:t>
            </a:fld>
            <a:endParaRPr kumimoji="0" lang="de-DE" sz="1200"/>
          </a:p>
        </p:txBody>
      </p:sp>
      <p:sp>
        <p:nvSpPr>
          <p:cNvPr id="74755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B54B91C6-366B-4BFF-87BD-82613214F007}" type="slidenum">
              <a:rPr kumimoji="0" lang="en-GB" sz="1300"/>
              <a:pPr algn="r" defTabSz="947738"/>
              <a:t>45</a:t>
            </a:fld>
            <a:endParaRPr kumimoji="0" lang="en-GB" sz="1300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36794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273805E-47D4-444C-8873-D6B4D963200E}" type="slidenum">
              <a:rPr kumimoji="0" lang="ru-RU" sz="1200"/>
              <a:pPr algn="r"/>
              <a:t>46</a:t>
            </a:fld>
            <a:endParaRPr kumimoji="0" lang="de-DE" sz="1200"/>
          </a:p>
        </p:txBody>
      </p:sp>
      <p:sp>
        <p:nvSpPr>
          <p:cNvPr id="75779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06D2E1D2-7038-463C-AC85-8AA223C5739E}" type="slidenum">
              <a:rPr kumimoji="0" lang="en-GB" sz="1300"/>
              <a:pPr algn="r" defTabSz="947738"/>
              <a:t>46</a:t>
            </a:fld>
            <a:endParaRPr kumimoji="0" lang="en-GB" sz="1300"/>
          </a:p>
        </p:txBody>
      </p:sp>
      <p:sp>
        <p:nvSpPr>
          <p:cNvPr id="757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23633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A90FD3-1104-4C0E-BD19-C04AAB04E560}" type="slidenum">
              <a:rPr kumimoji="0" lang="de-DE" alt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de-DE" alt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311244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 dirty="0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Стр. </a:t>
            </a:r>
            <a:fld id="{4E7C34D8-C312-4D46-ABF5-8CA01CE57B1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de-DE" dirty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125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BE6757-8804-42E5-B1D5-8001F45B6EDF}" type="datetime1">
              <a:rPr lang="de-DE" altLang="ru-RU" smtClean="0"/>
              <a:t>04.10.2024</a:t>
            </a:fld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 dirty="0"/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/>
              <a:t>Стр. </a:t>
            </a:r>
            <a:fld id="{2CF74CB0-F0B5-41E9-BA71-20606D10B8F1}" type="slidenum">
              <a:rPr lang="de-DE" altLang="ru-RU" smtClean="0"/>
              <a:pPr>
                <a:defRPr/>
              </a:pPr>
              <a:t>‹#›</a:t>
            </a:fld>
            <a:endParaRPr lang="de-DE" altLang="ru-RU" dirty="0"/>
          </a:p>
        </p:txBody>
      </p:sp>
    </p:spTree>
    <p:extLst>
      <p:ext uri="{BB962C8B-B14F-4D97-AF65-F5344CB8AC3E}">
        <p14:creationId xmlns:p14="http://schemas.microsoft.com/office/powerpoint/2010/main" val="3980086106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A13C1-0FCD-4F01-AC7E-70D3C55F45C7}" type="datetime1">
              <a:rPr lang="de-DE" altLang="ru-RU" smtClean="0"/>
              <a:t>04.10.2024</a:t>
            </a:fld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A4CED0C5-ED51-4CAE-B403-C2A41A79FC68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  <p:extLst>
      <p:ext uri="{BB962C8B-B14F-4D97-AF65-F5344CB8AC3E}">
        <p14:creationId xmlns:p14="http://schemas.microsoft.com/office/powerpoint/2010/main" val="1102695337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99CA09-1AF8-4748-A45E-AF91C8090DA7}" type="datetime1">
              <a:rPr lang="de-DE" altLang="ru-RU" smtClean="0"/>
              <a:t>04.10.2024</a:t>
            </a:fld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/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56F2DCAE-80BF-45C3-B74A-3BA349CF89F6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  <p:extLst>
      <p:ext uri="{BB962C8B-B14F-4D97-AF65-F5344CB8AC3E}">
        <p14:creationId xmlns:p14="http://schemas.microsoft.com/office/powerpoint/2010/main" val="2238370068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AC376-73FF-46E7-B915-F9E62041705A}" type="datetime1">
              <a:rPr lang="de-DE" altLang="ru-RU" smtClean="0"/>
              <a:t>04.10.2024</a:t>
            </a:fld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A128D019-E771-49AB-93BA-BEA67AACC870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  <p:extLst>
      <p:ext uri="{BB962C8B-B14F-4D97-AF65-F5344CB8AC3E}">
        <p14:creationId xmlns:p14="http://schemas.microsoft.com/office/powerpoint/2010/main" val="3581743692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62411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37728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57829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4F925C-88EF-41CE-A289-BD24C4C53697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752251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390696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/>
              <a:t>Стр. </a:t>
            </a:r>
            <a:fld id="{827EB3EC-A0FC-4DD2-B272-B8CC7C9619E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011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8833E3C-6C88-4444-8CA8-803D753C9E8A}" type="datetime1">
              <a:rPr lang="de-DE" altLang="ru-RU" smtClean="0"/>
              <a:t>04.10.2024</a:t>
            </a:fld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42D759B2-9E95-43EC-A219-6234572FE2A1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  <p:extLst>
      <p:ext uri="{BB962C8B-B14F-4D97-AF65-F5344CB8AC3E}">
        <p14:creationId xmlns:p14="http://schemas.microsoft.com/office/powerpoint/2010/main" val="745668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 altLang="ru-RU">
              <a:latin typeface="Arial" charset="0"/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94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load.d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6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4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14.bin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2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20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18.wmf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20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17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19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7.bin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6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27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8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36.bin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2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27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oleObject" Target="../embeddings/oleObject42.bin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33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25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34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5.bin"/><Relationship Id="rId5" Type="http://schemas.openxmlformats.org/officeDocument/2006/relationships/oleObject" Target="../embeddings/oleObject44.bin"/><Relationship Id="rId4" Type="http://schemas.openxmlformats.org/officeDocument/2006/relationships/image" Target="../media/image35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36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38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40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42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44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hlinkClick r:id="rId3"/>
          </p:cNvPr>
          <p:cNvSpPr/>
          <p:nvPr/>
        </p:nvSpPr>
        <p:spPr>
          <a:xfrm>
            <a:off x="8401050" y="6276976"/>
            <a:ext cx="2266950" cy="581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244" name="Прямоугольник 3"/>
          <p:cNvSpPr>
            <a:spLocks noChangeArrowheads="1"/>
          </p:cNvSpPr>
          <p:nvPr/>
        </p:nvSpPr>
        <p:spPr bwMode="auto">
          <a:xfrm>
            <a:off x="3831281" y="548199"/>
            <a:ext cx="8026151" cy="5432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914400">
              <a:defRPr/>
            </a:pP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Введение в</a:t>
            </a:r>
            <a:b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</a:b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распараллеливание</a:t>
            </a:r>
            <a: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  <a:t> </a:t>
            </a:r>
            <a:b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</a:b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алгоритмов и </a:t>
            </a:r>
            <a:b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</a:b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программ</a:t>
            </a:r>
          </a:p>
          <a:p>
            <a:pPr defTabSz="914400">
              <a:defRPr/>
            </a:pPr>
            <a:endParaRPr kumimoji="0" lang="ru-RU" sz="2800" dirty="0">
              <a:solidFill>
                <a:srgbClr val="800000"/>
              </a:solidFill>
              <a:latin typeface="Arial" pitchFamily="34" charset="0"/>
            </a:endParaRPr>
          </a:p>
          <a:p>
            <a:pPr algn="r" defTabSz="914400">
              <a:spcBef>
                <a:spcPts val="1800"/>
              </a:spcBef>
              <a:defRPr/>
            </a:pPr>
            <a:r>
              <a:rPr kumimoji="0" lang="ru-RU" sz="3600" dirty="0">
                <a:solidFill>
                  <a:srgbClr val="800000"/>
                </a:solidFill>
                <a:latin typeface="Arial" pitchFamily="34" charset="0"/>
              </a:rPr>
              <a:t>Карпов Владимир Ефимович,</a:t>
            </a:r>
          </a:p>
          <a:p>
            <a:pPr algn="r" defTabSz="914400">
              <a:defRPr/>
            </a:pPr>
            <a:r>
              <a:rPr kumimoji="0" lang="ru-RU" sz="2400" dirty="0">
                <a:solidFill>
                  <a:srgbClr val="800000"/>
                </a:solidFill>
                <a:latin typeface="Arial" pitchFamily="34" charset="0"/>
              </a:rPr>
              <a:t>кандидат физико-математических наук, доцент</a:t>
            </a:r>
          </a:p>
          <a:p>
            <a:pPr defTabSz="914400">
              <a:defRPr/>
            </a:pPr>
            <a:r>
              <a:rPr kumimoji="0" lang="ru-RU" sz="2800" dirty="0">
                <a:solidFill>
                  <a:srgbClr val="800000"/>
                </a:solidFill>
                <a:latin typeface="Arial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28217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r" eaLnBrk="1" hangingPunct="1"/>
            <a:r>
              <a:rPr lang="ru-RU" altLang="ru-RU" dirty="0">
                <a:solidFill>
                  <a:srgbClr val="003794"/>
                </a:solidFill>
                <a:latin typeface="Arial" charset="0"/>
              </a:rPr>
              <a:t>Парадигма параллельного программирования</a:t>
            </a:r>
            <a:endParaRPr lang="ru-RU" altLang="ru-RU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141314" name="Rectangle 5"/>
          <p:cNvSpPr>
            <a:spLocks noChangeArrowheads="1"/>
          </p:cNvSpPr>
          <p:nvPr/>
        </p:nvSpPr>
        <p:spPr bwMode="gray">
          <a:xfrm>
            <a:off x="3384000" y="2700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8016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2000" b="1" i="0" u="none" strike="noStrike" kern="1200" cap="none" spc="0" normalizeH="0" baseline="0" noProof="0">
                <a:ln>
                  <a:noFill/>
                </a:ln>
                <a:solidFill>
                  <a:srgbClr val="00235C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Математическая модель</a:t>
            </a:r>
            <a:endParaRPr kumimoji="0" lang="ru-RU" altLang="ru-RU" sz="2000" b="1" i="0" u="none" strike="noStrike" kern="1200" cap="none" spc="0" normalizeH="0" baseline="0" noProof="1">
              <a:ln>
                <a:noFill/>
              </a:ln>
              <a:solidFill>
                <a:srgbClr val="00235C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46121" name="AutoShape 9"/>
          <p:cNvSpPr>
            <a:spLocks noChangeArrowheads="1"/>
          </p:cNvSpPr>
          <p:nvPr/>
        </p:nvSpPr>
        <p:spPr bwMode="gray">
          <a:xfrm rot="5400000" flipV="1">
            <a:off x="4251176" y="3654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1316" name="Rectangle 5"/>
          <p:cNvSpPr>
            <a:spLocks noChangeArrowheads="1"/>
          </p:cNvSpPr>
          <p:nvPr/>
        </p:nvSpPr>
        <p:spPr bwMode="gray">
          <a:xfrm>
            <a:off x="3384000" y="1188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8016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2000" b="1" i="0" u="none" strike="noStrike" kern="1200" cap="none" spc="0" normalizeH="0" baseline="0" noProof="0">
                <a:ln>
                  <a:noFill/>
                </a:ln>
                <a:solidFill>
                  <a:srgbClr val="00235C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Постановка задачи</a:t>
            </a:r>
            <a:endParaRPr kumimoji="0" lang="ru-RU" altLang="ru-RU" sz="2000" b="1" i="0" u="none" strike="noStrike" kern="1200" cap="none" spc="0" normalizeH="0" baseline="0" noProof="1">
              <a:ln>
                <a:noFill/>
              </a:ln>
              <a:solidFill>
                <a:srgbClr val="00235C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41317" name="Rectangle 5"/>
          <p:cNvSpPr>
            <a:spLocks noChangeArrowheads="1"/>
          </p:cNvSpPr>
          <p:nvPr/>
        </p:nvSpPr>
        <p:spPr bwMode="gray">
          <a:xfrm>
            <a:off x="3384000" y="4212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8016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235C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Метод и </a:t>
            </a:r>
            <a:endParaRPr kumimoji="0" lang="en-US" altLang="ru-RU" sz="2000" b="1" i="0" u="none" strike="noStrike" kern="1200" cap="none" spc="0" normalizeH="0" baseline="0" noProof="0" dirty="0">
              <a:ln>
                <a:noFill/>
              </a:ln>
              <a:solidFill>
                <a:srgbClr val="00235C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0" marR="0" lvl="0" indent="0" algn="ctr" defTabSz="8016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235C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алгоритм</a:t>
            </a:r>
            <a:endParaRPr kumimoji="0" lang="ru-RU" altLang="ru-RU" sz="2000" b="1" i="0" u="none" strike="noStrike" kern="1200" cap="none" spc="0" normalizeH="0" baseline="0" noProof="1">
              <a:ln>
                <a:noFill/>
              </a:ln>
              <a:solidFill>
                <a:srgbClr val="00235C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41318" name="Rectangle 5"/>
          <p:cNvSpPr>
            <a:spLocks noChangeArrowheads="1"/>
          </p:cNvSpPr>
          <p:nvPr/>
        </p:nvSpPr>
        <p:spPr bwMode="gray">
          <a:xfrm>
            <a:off x="6480000" y="4212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8016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2000" b="1" i="0" u="none" strike="noStrike" kern="1200" cap="none" spc="0" normalizeH="0" baseline="0" noProof="0">
                <a:ln>
                  <a:noFill/>
                </a:ln>
                <a:solidFill>
                  <a:srgbClr val="00235C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Декомпозиция</a:t>
            </a:r>
            <a:endParaRPr kumimoji="0" lang="ru-RU" altLang="ru-RU" sz="2000" b="1" i="0" u="none" strike="noStrike" kern="1200" cap="none" spc="0" normalizeH="0" baseline="0" noProof="1">
              <a:ln>
                <a:noFill/>
              </a:ln>
              <a:solidFill>
                <a:srgbClr val="00235C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8" name="AutoShape 9"/>
          <p:cNvSpPr>
            <a:spLocks noChangeArrowheads="1"/>
          </p:cNvSpPr>
          <p:nvPr/>
        </p:nvSpPr>
        <p:spPr bwMode="gray">
          <a:xfrm rot="5400000" flipV="1">
            <a:off x="4251176" y="2160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AutoShape 9"/>
          <p:cNvSpPr>
            <a:spLocks noChangeArrowheads="1"/>
          </p:cNvSpPr>
          <p:nvPr/>
        </p:nvSpPr>
        <p:spPr bwMode="gray">
          <a:xfrm rot="5400000" flipV="1">
            <a:off x="7344000" y="5166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23" name="AutoShape 7"/>
          <p:cNvSpPr>
            <a:spLocks noChangeArrowheads="1"/>
          </p:cNvSpPr>
          <p:nvPr/>
        </p:nvSpPr>
        <p:spPr bwMode="gray">
          <a:xfrm>
            <a:off x="5670000" y="4392000"/>
            <a:ext cx="756000" cy="540000"/>
          </a:xfrm>
          <a:prstGeom prst="rightArrow">
            <a:avLst>
              <a:gd name="adj1" fmla="val 41131"/>
              <a:gd name="adj2" fmla="val 50372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1322" name="Rectangle 5"/>
          <p:cNvSpPr>
            <a:spLocks noChangeArrowheads="1"/>
          </p:cNvSpPr>
          <p:nvPr/>
        </p:nvSpPr>
        <p:spPr bwMode="gray">
          <a:xfrm>
            <a:off x="9576000" y="5724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8016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2000" b="1" i="0" u="none" strike="noStrike" kern="1200" cap="none" spc="0" normalizeH="0" baseline="0" noProof="0">
                <a:ln>
                  <a:noFill/>
                </a:ln>
                <a:solidFill>
                  <a:srgbClr val="00235C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Оркестровка</a:t>
            </a:r>
            <a:endParaRPr kumimoji="0" lang="ru-RU" altLang="ru-RU" sz="2000" b="1" i="0" u="none" strike="noStrike" kern="1200" cap="none" spc="0" normalizeH="0" baseline="0" noProof="1">
              <a:ln>
                <a:noFill/>
              </a:ln>
              <a:solidFill>
                <a:srgbClr val="00235C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41323" name="Rectangle 5"/>
          <p:cNvSpPr>
            <a:spLocks noChangeArrowheads="1"/>
          </p:cNvSpPr>
          <p:nvPr/>
        </p:nvSpPr>
        <p:spPr bwMode="gray">
          <a:xfrm>
            <a:off x="9576000" y="4212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8016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2000" b="1" i="0" u="none" strike="noStrike" kern="1200" cap="none" spc="0" normalizeH="0" baseline="0" noProof="0">
                <a:ln>
                  <a:noFill/>
                </a:ln>
                <a:solidFill>
                  <a:srgbClr val="00235C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Программа</a:t>
            </a:r>
            <a:endParaRPr kumimoji="0" lang="ru-RU" altLang="ru-RU" sz="2000" b="1" i="0" u="none" strike="noStrike" kern="1200" cap="none" spc="0" normalizeH="0" baseline="0" noProof="1">
              <a:ln>
                <a:noFill/>
              </a:ln>
              <a:solidFill>
                <a:srgbClr val="00235C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9" name="AutoShape 7"/>
          <p:cNvSpPr>
            <a:spLocks noChangeArrowheads="1"/>
          </p:cNvSpPr>
          <p:nvPr/>
        </p:nvSpPr>
        <p:spPr bwMode="gray">
          <a:xfrm rot="-5400000">
            <a:off x="10440000" y="3636000"/>
            <a:ext cx="468000" cy="540000"/>
          </a:xfrm>
          <a:prstGeom prst="rightArrow">
            <a:avLst>
              <a:gd name="adj1" fmla="val 41130"/>
              <a:gd name="adj2" fmla="val 50370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rot="10800000" lIns="324000" tIns="0" rIns="0" bIns="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1325" name="Rectangle 5"/>
          <p:cNvSpPr>
            <a:spLocks noChangeArrowheads="1"/>
          </p:cNvSpPr>
          <p:nvPr/>
        </p:nvSpPr>
        <p:spPr bwMode="gray">
          <a:xfrm>
            <a:off x="9576000" y="1188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8016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2000" b="1" i="0" u="none" strike="noStrike" kern="1200" cap="none" spc="0" normalizeH="0" baseline="0" noProof="0">
                <a:ln>
                  <a:noFill/>
                </a:ln>
                <a:solidFill>
                  <a:srgbClr val="00235C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Процессы или нити исполнения</a:t>
            </a:r>
            <a:endParaRPr kumimoji="0" lang="ru-RU" altLang="ru-RU" sz="2000" b="1" i="0" u="none" strike="noStrike" kern="1200" cap="none" spc="0" normalizeH="0" baseline="0" noProof="1">
              <a:ln>
                <a:noFill/>
              </a:ln>
              <a:solidFill>
                <a:srgbClr val="00235C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1" name="AutoShape 7"/>
          <p:cNvSpPr>
            <a:spLocks noChangeArrowheads="1"/>
          </p:cNvSpPr>
          <p:nvPr/>
        </p:nvSpPr>
        <p:spPr bwMode="gray">
          <a:xfrm rot="-5400000">
            <a:off x="10440000" y="2142000"/>
            <a:ext cx="468000" cy="540000"/>
          </a:xfrm>
          <a:prstGeom prst="rightArrow">
            <a:avLst>
              <a:gd name="adj1" fmla="val 41130"/>
              <a:gd name="adj2" fmla="val 50370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rot="10800000" lIns="324000" tIns="0" rIns="0" bIns="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1327" name="Rectangle 4"/>
          <p:cNvSpPr>
            <a:spLocks noChangeArrowheads="1"/>
          </p:cNvSpPr>
          <p:nvPr/>
        </p:nvSpPr>
        <p:spPr bwMode="gray">
          <a:xfrm>
            <a:off x="9576000" y="2700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8016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Отображение</a:t>
            </a:r>
            <a:endParaRPr kumimoji="0" lang="ru-RU" altLang="ru-RU" sz="2000" b="1" i="0" u="none" strike="noStrike" kern="1200" cap="none" spc="0" normalizeH="0" baseline="0" noProof="1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2" name="AutoShape 7"/>
          <p:cNvSpPr>
            <a:spLocks noChangeArrowheads="1"/>
          </p:cNvSpPr>
          <p:nvPr/>
        </p:nvSpPr>
        <p:spPr bwMode="gray">
          <a:xfrm rot="-5400000">
            <a:off x="10440000" y="5158800"/>
            <a:ext cx="468000" cy="540000"/>
          </a:xfrm>
          <a:prstGeom prst="rightArrow">
            <a:avLst>
              <a:gd name="adj1" fmla="val 41130"/>
              <a:gd name="adj2" fmla="val 50370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rot="10800000" lIns="324000" tIns="0" rIns="0" bIns="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4" name="AutoShape 7"/>
          <p:cNvSpPr>
            <a:spLocks noChangeArrowheads="1"/>
          </p:cNvSpPr>
          <p:nvPr/>
        </p:nvSpPr>
        <p:spPr bwMode="gray">
          <a:xfrm>
            <a:off x="8766000" y="5940000"/>
            <a:ext cx="756000" cy="540000"/>
          </a:xfrm>
          <a:prstGeom prst="rightArrow">
            <a:avLst>
              <a:gd name="adj1" fmla="val 41131"/>
              <a:gd name="adj2" fmla="val 50372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1334" name="Rectangle 5"/>
          <p:cNvSpPr>
            <a:spLocks noChangeArrowheads="1"/>
          </p:cNvSpPr>
          <p:nvPr/>
        </p:nvSpPr>
        <p:spPr bwMode="gray">
          <a:xfrm>
            <a:off x="6480000" y="5724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8016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2000" b="1" i="0" u="none" strike="noStrike" kern="1200" cap="none" spc="0" normalizeH="0" baseline="0" noProof="0">
                <a:ln>
                  <a:noFill/>
                </a:ln>
                <a:solidFill>
                  <a:srgbClr val="00235C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Назначение</a:t>
            </a:r>
            <a:endParaRPr kumimoji="0" lang="ru-RU" altLang="ru-RU" sz="2000" b="1" i="0" u="none" strike="noStrike" kern="1200" cap="none" spc="0" normalizeH="0" baseline="0" noProof="1">
              <a:ln>
                <a:noFill/>
              </a:ln>
              <a:solidFill>
                <a:srgbClr val="00235C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352075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Название 1"/>
          <p:cNvSpPr>
            <a:spLocks noGrp="1"/>
          </p:cNvSpPr>
          <p:nvPr>
            <p:ph type="title"/>
          </p:nvPr>
        </p:nvSpPr>
        <p:spPr>
          <a:xfrm>
            <a:off x="3362610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Тема</a:t>
            </a:r>
            <a:r>
              <a:rPr lang="en-US" altLang="ru-RU" sz="3600" dirty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 3</a:t>
            </a:r>
            <a:endParaRPr lang="ru-RU" altLang="ru-RU" sz="3600" dirty="0">
              <a:solidFill>
                <a:srgbClr val="003794"/>
              </a:solidFill>
              <a:latin typeface="Arial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698170" y="1069975"/>
            <a:ext cx="8325200" cy="378565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defTabSz="914400">
              <a:lnSpc>
                <a:spcPct val="120000"/>
              </a:lnSpc>
              <a:defRPr/>
            </a:pPr>
            <a:r>
              <a:rPr kumimoji="0" lang="ru-RU" altLang="ru-RU" sz="4000" dirty="0">
                <a:solidFill>
                  <a:srgbClr val="404040"/>
                </a:solidFill>
                <a:latin typeface="Lucida Grande CY" pitchFamily="2" charset="-52"/>
              </a:rPr>
              <a:t>		</a:t>
            </a:r>
          </a:p>
          <a:p>
            <a:pPr marL="2160000" defTabSz="914400">
              <a:lnSpc>
                <a:spcPct val="120000"/>
              </a:lnSpc>
              <a:defRPr/>
            </a:pPr>
            <a:r>
              <a:rPr kumimoji="0" lang="ru-RU" sz="4000" dirty="0">
                <a:latin typeface="Arial" pitchFamily="34" charset="0"/>
              </a:rPr>
              <a:t>Асимптотический анализ</a:t>
            </a:r>
            <a:r>
              <a:rPr kumimoji="0" lang="ru-RU" altLang="ru-RU" sz="4000" dirty="0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sz="4000" dirty="0">
                <a:latin typeface="Arial" pitchFamily="34" charset="0"/>
              </a:rPr>
              <a:t>алгоритмов и</a:t>
            </a:r>
            <a:r>
              <a:rPr kumimoji="0" lang="en-US" sz="4000" dirty="0">
                <a:latin typeface="Arial" pitchFamily="34" charset="0"/>
              </a:rPr>
              <a:t> </a:t>
            </a:r>
            <a:r>
              <a:rPr kumimoji="0" lang="ru-RU" sz="4000" dirty="0">
                <a:latin typeface="Arial" pitchFamily="34" charset="0"/>
              </a:rPr>
              <a:t>распараллеливание</a:t>
            </a:r>
            <a:r>
              <a:rPr kumimoji="0" lang="ru-RU" sz="4000" dirty="0">
                <a:solidFill>
                  <a:srgbClr val="00235C"/>
                </a:solidFill>
                <a:latin typeface="Lucida Grande CY" pitchFamily="2" charset="-52"/>
              </a:rPr>
              <a:t> </a:t>
            </a:r>
            <a:r>
              <a:rPr kumimoji="0" lang="ru-RU" sz="4000" dirty="0">
                <a:latin typeface="Arial" panose="020B0604020202020204" pitchFamily="34" charset="0"/>
              </a:rPr>
              <a:t>(часть </a:t>
            </a:r>
            <a:r>
              <a:rPr kumimoji="0" lang="en-US" sz="4000" dirty="0">
                <a:latin typeface="Arial" panose="020B0604020202020204" pitchFamily="34" charset="0"/>
              </a:rPr>
              <a:t>I)</a:t>
            </a:r>
            <a:endParaRPr kumimoji="0" lang="ru-RU" sz="4000" dirty="0">
              <a:latin typeface="Arial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_h1"/>
          <p:cNvSpPr>
            <a:spLocks noGrp="1" noChangeArrowheads="1"/>
          </p:cNvSpPr>
          <p:nvPr>
            <p:ph type="title"/>
          </p:nvPr>
        </p:nvSpPr>
        <p:spPr>
          <a:xfrm>
            <a:off x="3362618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Как сравнивать алгоритмы</a:t>
            </a:r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62618" y="2556000"/>
            <a:ext cx="8496300" cy="1044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>
              <a:spcAft>
                <a:spcPct val="20000"/>
              </a:spcAft>
              <a:defRPr/>
            </a:pPr>
            <a:r>
              <a:rPr kumimoji="0" lang="ru-RU" sz="2600" dirty="0">
                <a:latin typeface="Arial" pitchFamily="34" charset="0"/>
              </a:rPr>
              <a:t>Параметры масштаба и параметры размерности – это не одно и то же</a:t>
            </a:r>
            <a:r>
              <a:rPr kumimoji="0" lang="ru-RU" sz="2600" noProof="1">
                <a:latin typeface="Arial" pitchFamily="34" charset="0"/>
              </a:rPr>
              <a:t>.</a:t>
            </a:r>
          </a:p>
        </p:txBody>
      </p:sp>
      <p:sp>
        <p:nvSpPr>
          <p:cNvPr id="52" name="Rechteck 51"/>
          <p:cNvSpPr>
            <a:spLocks noChangeArrowheads="1"/>
          </p:cNvSpPr>
          <p:nvPr/>
        </p:nvSpPr>
        <p:spPr bwMode="gray">
          <a:xfrm>
            <a:off x="3362618" y="3924000"/>
            <a:ext cx="8496300" cy="1044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>
              <a:spcAft>
                <a:spcPct val="20000"/>
              </a:spcAft>
              <a:defRPr/>
            </a:pPr>
            <a:r>
              <a:rPr kumimoji="0" lang="ru-RU" sz="2600" dirty="0">
                <a:latin typeface="Arial" pitchFamily="34" charset="0"/>
              </a:rPr>
              <a:t>Термин размерность связан с количеством независимых или фазовых переменных задачи</a:t>
            </a:r>
            <a:r>
              <a:rPr kumimoji="0" lang="ru-RU" sz="2600" noProof="1">
                <a:latin typeface="Arial" pitchFamily="34" charset="0"/>
              </a:rPr>
              <a:t>.</a:t>
            </a:r>
          </a:p>
        </p:txBody>
      </p:sp>
      <p:sp>
        <p:nvSpPr>
          <p:cNvPr id="62" name="Rechteck 61"/>
          <p:cNvSpPr>
            <a:spLocks noChangeArrowheads="1"/>
          </p:cNvSpPr>
          <p:nvPr/>
        </p:nvSpPr>
        <p:spPr bwMode="gray">
          <a:xfrm>
            <a:off x="3395956" y="5292000"/>
            <a:ext cx="8462962" cy="1044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>
              <a:spcAft>
                <a:spcPct val="20000"/>
              </a:spcAft>
              <a:defRPr/>
            </a:pPr>
            <a:r>
              <a:rPr kumimoji="0" lang="ru-RU" sz="2600" dirty="0">
                <a:latin typeface="Arial" pitchFamily="34" charset="0"/>
              </a:rPr>
              <a:t>Параметры масштаба связаны с объемом входных данных</a:t>
            </a:r>
            <a:r>
              <a:rPr kumimoji="0" lang="ru-RU" sz="2600" noProof="1">
                <a:latin typeface="Arial" pitchFamily="34" charset="0"/>
              </a:rPr>
              <a:t>.</a:t>
            </a: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5318" y="1188000"/>
            <a:ext cx="8496300" cy="1044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>
              <a:spcAft>
                <a:spcPct val="20000"/>
              </a:spcAft>
              <a:defRPr/>
            </a:pPr>
            <a:r>
              <a:rPr kumimoji="0" lang="ru-RU" sz="2600" dirty="0">
                <a:latin typeface="Arial" pitchFamily="34" charset="0"/>
              </a:rPr>
              <a:t>Для большинства задач математического моделирования существуют параметры масштаба</a:t>
            </a:r>
            <a:r>
              <a:rPr kumimoji="0" lang="ru-RU" sz="2600" noProof="1">
                <a:latin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8749645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_h1"/>
          <p:cNvSpPr>
            <a:spLocks noGrp="1" noChangeArrowheads="1"/>
          </p:cNvSpPr>
          <p:nvPr>
            <p:ph type="title"/>
          </p:nvPr>
        </p:nvSpPr>
        <p:spPr>
          <a:xfrm>
            <a:off x="3353370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Как сравнивать алгоритмы</a:t>
            </a:r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66070" y="2852337"/>
            <a:ext cx="8496300" cy="344044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>
              <a:lnSpc>
                <a:spcPct val="120000"/>
              </a:lnSpc>
              <a:spcAft>
                <a:spcPts val="0"/>
              </a:spcAft>
              <a:defRPr/>
            </a:pPr>
            <a:r>
              <a:rPr kumimoji="0" lang="ru-RU" sz="2600" noProof="1">
                <a:latin typeface="Arial" pitchFamily="34" charset="0"/>
              </a:rPr>
              <a:t>Обозначения:</a:t>
            </a:r>
          </a:p>
          <a:p>
            <a:pPr marL="3600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ru-RU" sz="2400" dirty="0">
                <a:latin typeface="Arial" pitchFamily="34" charset="0"/>
              </a:rPr>
              <a:t>Если задача имеет один параметр масштаба</a:t>
            </a:r>
            <a:r>
              <a:rPr kumimoji="0" lang="ru-RU" sz="2400" noProof="1">
                <a:latin typeface="Arial" pitchFamily="34" charset="0"/>
              </a:rPr>
              <a:t> –</a:t>
            </a:r>
            <a:r>
              <a:rPr kumimoji="0" lang="en-US" sz="2400" noProof="1">
                <a:latin typeface="Arial" pitchFamily="34" charset="0"/>
              </a:rPr>
              <a:t> n, </a:t>
            </a:r>
            <a:r>
              <a:rPr kumimoji="0" lang="ru-RU" sz="2400" dirty="0">
                <a:latin typeface="Arial" pitchFamily="34" charset="0"/>
              </a:rPr>
              <a:t>тогда время работы алгоритма</a:t>
            </a:r>
            <a:r>
              <a:rPr kumimoji="0" lang="en-US" sz="2400" noProof="1">
                <a:latin typeface="Arial" pitchFamily="34" charset="0"/>
              </a:rPr>
              <a:t> A </a:t>
            </a:r>
            <a:r>
              <a:rPr kumimoji="0" lang="ru-RU" sz="2400" dirty="0">
                <a:latin typeface="Arial" pitchFamily="34" charset="0"/>
              </a:rPr>
              <a:t>обозначают</a:t>
            </a:r>
            <a:r>
              <a:rPr kumimoji="0" lang="ru-RU" sz="2400" noProof="1">
                <a:latin typeface="Arial" pitchFamily="34" charset="0"/>
              </a:rPr>
              <a:t> </a:t>
            </a:r>
            <a:r>
              <a:rPr kumimoji="0" 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T</a:t>
            </a:r>
            <a:r>
              <a:rPr kumimoji="0" lang="en-US" sz="24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A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(n)</a:t>
            </a:r>
            <a:r>
              <a:rPr kumimoji="0" lang="en-US" sz="2400" noProof="1">
                <a:latin typeface="Arial" pitchFamily="34" charset="0"/>
              </a:rPr>
              <a:t>.  </a:t>
            </a:r>
          </a:p>
          <a:p>
            <a:pPr marL="360000">
              <a:lnSpc>
                <a:spcPct val="120000"/>
              </a:lnSpc>
              <a:spcAft>
                <a:spcPct val="20000"/>
              </a:spcAft>
              <a:defRPr/>
            </a:pPr>
            <a:r>
              <a:rPr kumimoji="0" lang="ru-RU" sz="2400" dirty="0">
                <a:latin typeface="Arial" pitchFamily="34" charset="0"/>
              </a:rPr>
              <a:t>Если задача имеет несколько параметров масштаба</a:t>
            </a:r>
            <a:r>
              <a:rPr kumimoji="0" lang="ru-RU" sz="2400" noProof="1">
                <a:latin typeface="Arial" pitchFamily="34" charset="0"/>
              </a:rPr>
              <a:t> 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n</a:t>
            </a:r>
            <a:r>
              <a:rPr kumimoji="0" lang="en-US" sz="24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1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,…</a:t>
            </a:r>
            <a:r>
              <a:rPr kumimoji="0" lang="ru-RU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,</a:t>
            </a:r>
            <a:r>
              <a:rPr kumimoji="0" lang="en-US" sz="2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n</a:t>
            </a:r>
            <a:r>
              <a:rPr kumimoji="0" lang="en-US" sz="2400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k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, </a:t>
            </a:r>
            <a:r>
              <a:rPr kumimoji="0" lang="ru-RU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</a:rPr>
              <a:t>тогда время работы алгоритма</a:t>
            </a:r>
            <a:r>
              <a:rPr kumimoji="0" lang="en-US" sz="2400" noProof="1">
                <a:latin typeface="Arial" pitchFamily="34" charset="0"/>
              </a:rPr>
              <a:t> A </a:t>
            </a:r>
            <a:r>
              <a:rPr kumimoji="0" lang="ru-RU" sz="2400" dirty="0">
                <a:latin typeface="Arial" pitchFamily="34" charset="0"/>
              </a:rPr>
              <a:t>обозначают</a:t>
            </a:r>
            <a:r>
              <a:rPr kumimoji="0" lang="ru-RU" sz="2400" noProof="1">
                <a:latin typeface="Arial" pitchFamily="34" charset="0"/>
              </a:rPr>
              <a:t> 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T</a:t>
            </a:r>
            <a:r>
              <a:rPr kumimoji="0" lang="en-US" sz="24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A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(n</a:t>
            </a:r>
            <a:r>
              <a:rPr kumimoji="0" lang="en-US" sz="24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1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,…</a:t>
            </a:r>
            <a:r>
              <a:rPr kumimoji="0" lang="ru-RU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,</a:t>
            </a:r>
            <a:r>
              <a:rPr kumimoji="0" lang="en-US" sz="2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n</a:t>
            </a:r>
            <a:r>
              <a:rPr kumimoji="0" lang="en-US" sz="2400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k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) </a:t>
            </a:r>
            <a:r>
              <a:rPr kumimoji="0" lang="ru-RU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или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 T</a:t>
            </a:r>
            <a:r>
              <a:rPr kumimoji="0" lang="en-US" sz="24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A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(</a:t>
            </a:r>
            <a:r>
              <a:rPr kumimoji="0"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n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)</a:t>
            </a:r>
            <a:r>
              <a:rPr kumimoji="0" lang="ru-RU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.</a:t>
            </a:r>
            <a:endParaRPr kumimoji="0" lang="ru-RU" sz="2400" noProof="1">
              <a:latin typeface="Lucida Grande CY" pitchFamily="2" charset="-52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53520" y="1116000"/>
            <a:ext cx="8496300" cy="1476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>
              <a:lnSpc>
                <a:spcPct val="120000"/>
              </a:lnSpc>
              <a:spcAft>
                <a:spcPct val="20000"/>
              </a:spcAft>
              <a:defRPr/>
            </a:pPr>
            <a:r>
              <a:rPr kumimoji="0" lang="ru-RU" sz="2600" dirty="0">
                <a:latin typeface="Arial" pitchFamily="34" charset="0"/>
              </a:rPr>
              <a:t>Параметры масштаба задачи влияют на время работы различных алгоритмов и на объем других ресурсов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62610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Как сравнивать алгоритмы</a:t>
            </a:r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23318" y="1719743"/>
            <a:ext cx="8783273" cy="482367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>
              <a:spcAft>
                <a:spcPct val="20000"/>
              </a:spcAft>
              <a:buFontTx/>
              <a:buAutoNum type="arabicParenR"/>
              <a:defRPr/>
            </a:pPr>
            <a:r>
              <a:rPr kumimoji="0" lang="ru-RU" sz="2400" dirty="0">
                <a:latin typeface="Arial" pitchFamily="34" charset="0"/>
              </a:rPr>
              <a:t>Мы должны сравнивать времена работы двух алгоритмов</a:t>
            </a:r>
            <a:r>
              <a:rPr kumimoji="0" lang="en-US" sz="2400" noProof="1">
                <a:latin typeface="Arial" pitchFamily="34" charset="0"/>
              </a:rPr>
              <a:t> A </a:t>
            </a:r>
            <a:r>
              <a:rPr kumimoji="0" lang="ru-RU" sz="2400" dirty="0">
                <a:latin typeface="Arial" pitchFamily="34" charset="0"/>
              </a:rPr>
              <a:t>и</a:t>
            </a:r>
            <a:r>
              <a:rPr kumimoji="0" lang="en-US" sz="2400" noProof="1">
                <a:latin typeface="Arial" pitchFamily="34" charset="0"/>
              </a:rPr>
              <a:t> B </a:t>
            </a:r>
            <a:r>
              <a:rPr kumimoji="0" lang="ru-RU" sz="2400" dirty="0">
                <a:latin typeface="Arial" pitchFamily="34" charset="0"/>
              </a:rPr>
              <a:t>для одинакового значения параметра масштаба</a:t>
            </a:r>
            <a:r>
              <a:rPr kumimoji="0" lang="ru-RU" sz="2400" noProof="1">
                <a:latin typeface="Arial" pitchFamily="34" charset="0"/>
              </a:rPr>
              <a:t>.</a:t>
            </a:r>
          </a:p>
          <a:p>
            <a:pPr marL="457200" indent="-457200">
              <a:spcAft>
                <a:spcPct val="20000"/>
              </a:spcAft>
              <a:buFontTx/>
              <a:buAutoNum type="arabicParenR"/>
              <a:defRPr/>
            </a:pPr>
            <a:r>
              <a:rPr kumimoji="0" lang="ru-RU" sz="2400" dirty="0">
                <a:latin typeface="Arial" pitchFamily="34" charset="0"/>
              </a:rPr>
              <a:t>Нужно игнорировать зависимость от конкретной ЭВМ</a:t>
            </a:r>
            <a:r>
              <a:rPr kumimoji="0" lang="ru-RU" sz="2400" noProof="1">
                <a:latin typeface="Arial" pitchFamily="34" charset="0"/>
              </a:rPr>
              <a:t>.</a:t>
            </a:r>
          </a:p>
          <a:p>
            <a:pPr marL="457200" indent="-457200">
              <a:spcAft>
                <a:spcPct val="20000"/>
              </a:spcAft>
              <a:defRPr/>
            </a:pPr>
            <a:r>
              <a:rPr kumimoji="0" lang="ru-RU" sz="2300" noProof="1">
                <a:solidFill>
                  <a:srgbClr val="404040"/>
                </a:solidFill>
                <a:latin typeface="Arial" pitchFamily="34" charset="0"/>
              </a:rPr>
              <a:t>	</a:t>
            </a:r>
            <a:r>
              <a:rPr kumimoji="0" lang="ru-RU" sz="2200" noProof="1">
                <a:solidFill>
                  <a:srgbClr val="404040"/>
                </a:solidFill>
                <a:latin typeface="Arial" pitchFamily="34" charset="0"/>
              </a:rPr>
              <a:t>           </a:t>
            </a:r>
            <a:r>
              <a:rPr kumimoji="0" lang="ru-RU" sz="2200" dirty="0">
                <a:solidFill>
                  <a:schemeClr val="tx2"/>
                </a:solidFill>
                <a:latin typeface="Arial" pitchFamily="34" charset="0"/>
              </a:rPr>
              <a:t>Требуется модель вычислительной системы</a:t>
            </a:r>
            <a:r>
              <a:rPr kumimoji="0" lang="ru-RU" sz="2200" noProof="1">
                <a:solidFill>
                  <a:schemeClr val="tx2"/>
                </a:solidFill>
                <a:latin typeface="Arial" pitchFamily="34" charset="0"/>
              </a:rPr>
              <a:t>.</a:t>
            </a:r>
          </a:p>
          <a:p>
            <a:pPr marL="457200" indent="-457200">
              <a:spcAft>
                <a:spcPct val="20000"/>
              </a:spcAft>
              <a:defRPr/>
            </a:pPr>
            <a:r>
              <a:rPr kumimoji="0" lang="ru-RU" sz="2300" noProof="1">
                <a:latin typeface="Arial" pitchFamily="34" charset="0"/>
              </a:rPr>
              <a:t>3)   </a:t>
            </a:r>
            <a:r>
              <a:rPr kumimoji="0" lang="ru-RU" sz="2300" dirty="0">
                <a:latin typeface="Arial" pitchFamily="34" charset="0"/>
              </a:rPr>
              <a:t>Мы должны анализировать значения</a:t>
            </a:r>
            <a:r>
              <a:rPr kumimoji="0" lang="ru-RU" sz="2300" noProof="1">
                <a:latin typeface="Arial" pitchFamily="34" charset="0"/>
              </a:rPr>
              <a:t> </a:t>
            </a:r>
            <a:r>
              <a:rPr kumimoji="0" lang="en-US" sz="2300" i="1" dirty="0">
                <a:latin typeface="Arial" pitchFamily="34" charset="0"/>
              </a:rPr>
              <a:t>T</a:t>
            </a:r>
            <a:r>
              <a:rPr kumimoji="0" lang="en-US" sz="2300" dirty="0">
                <a:latin typeface="Arial" pitchFamily="34" charset="0"/>
              </a:rPr>
              <a:t>(</a:t>
            </a:r>
            <a:r>
              <a:rPr kumimoji="0" lang="en-US" sz="2300" i="1" dirty="0">
                <a:latin typeface="Arial" pitchFamily="34" charset="0"/>
              </a:rPr>
              <a:t>n</a:t>
            </a:r>
            <a:r>
              <a:rPr kumimoji="0" lang="en-US" sz="2300" dirty="0">
                <a:latin typeface="Arial" pitchFamily="34" charset="0"/>
              </a:rPr>
              <a:t>) </a:t>
            </a:r>
            <a:r>
              <a:rPr kumimoji="0" lang="ru-RU" sz="2300" dirty="0">
                <a:latin typeface="Arial" pitchFamily="34" charset="0"/>
              </a:rPr>
              <a:t>при </a:t>
            </a:r>
            <a:r>
              <a:rPr kumimoji="0" lang="en-US" sz="2300" i="1" dirty="0">
                <a:latin typeface="Arial" pitchFamily="34" charset="0"/>
              </a:rPr>
              <a:t>n</a:t>
            </a:r>
            <a:r>
              <a:rPr kumimoji="0" lang="ru-RU" sz="2300" dirty="0">
                <a:latin typeface="Arial" pitchFamily="34" charset="0"/>
              </a:rPr>
              <a:t> </a:t>
            </a:r>
            <a:r>
              <a:rPr kumimoji="0" lang="en-US" sz="2300" dirty="0">
                <a:latin typeface="Arial" pitchFamily="34" charset="0"/>
              </a:rPr>
              <a:t>&gt;&gt; 1</a:t>
            </a:r>
            <a:r>
              <a:rPr kumimoji="0" lang="en-US" sz="23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.</a:t>
            </a:r>
          </a:p>
          <a:p>
            <a:pPr marL="457200" indent="-457200" algn="ctr">
              <a:spcAft>
                <a:spcPct val="20000"/>
              </a:spcAft>
              <a:defRPr/>
            </a:pPr>
            <a:r>
              <a:rPr kumimoji="0" lang="en-US" sz="2300" noProof="1">
                <a:solidFill>
                  <a:srgbClr val="404040"/>
                </a:solidFill>
                <a:latin typeface="Arial" pitchFamily="34" charset="0"/>
              </a:rPr>
              <a:t>            </a:t>
            </a:r>
            <a:r>
              <a:rPr kumimoji="0" lang="ru-RU" sz="2200" dirty="0">
                <a:solidFill>
                  <a:srgbClr val="1F497D"/>
                </a:solidFill>
                <a:latin typeface="Arial" pitchFamily="34" charset="0"/>
              </a:rPr>
              <a:t>Времена работы алгоритмов при малых значениях 	параметра масштаба обычно малоинтересны.</a:t>
            </a:r>
            <a:endParaRPr kumimoji="0" lang="ru-RU" sz="2200" noProof="1">
              <a:solidFill>
                <a:srgbClr val="1F497D"/>
              </a:solidFill>
              <a:latin typeface="Arial" pitchFamily="34" charset="0"/>
            </a:endParaRPr>
          </a:p>
          <a:p>
            <a:pPr marL="457200" indent="-457200" algn="just">
              <a:spcAft>
                <a:spcPct val="20000"/>
              </a:spcAft>
              <a:buFontTx/>
              <a:buAutoNum type="arabicParenR" startAt="4"/>
              <a:defRPr/>
            </a:pPr>
            <a:r>
              <a:rPr kumimoji="0" lang="ru-RU" sz="2400" dirty="0">
                <a:latin typeface="Arial" pitchFamily="34" charset="0"/>
              </a:rPr>
              <a:t>Мы должны</a:t>
            </a:r>
            <a:r>
              <a:rPr kumimoji="0" lang="ru-RU" sz="2400" noProof="1"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</a:rPr>
              <a:t>анализировать скорость роста</a:t>
            </a:r>
            <a:r>
              <a:rPr kumimoji="0" lang="ru-RU" sz="2400" noProof="1">
                <a:latin typeface="Arial" pitchFamily="34" charset="0"/>
              </a:rPr>
              <a:t> </a:t>
            </a:r>
            <a:r>
              <a:rPr kumimoji="0" lang="en-US" sz="2400" i="1" dirty="0">
                <a:latin typeface="Arial" pitchFamily="34" charset="0"/>
                <a:sym typeface="Symbol" pitchFamily="18" charset="2"/>
              </a:rPr>
              <a:t>T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(</a:t>
            </a:r>
            <a:r>
              <a:rPr kumimoji="0" lang="en-US" sz="2400" i="1" dirty="0">
                <a:latin typeface="Arial" pitchFamily="34" charset="0"/>
                <a:sym typeface="Symbol" pitchFamily="18" charset="2"/>
              </a:rPr>
              <a:t>n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)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, а не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 </a:t>
            </a:r>
            <a:r>
              <a:rPr kumimoji="0" lang="ru-RU" sz="2400" dirty="0">
                <a:latin typeface="Arial" pitchFamily="34" charset="0"/>
              </a:rPr>
              <a:t>некоторые конкретные значения</a:t>
            </a:r>
            <a:r>
              <a:rPr kumimoji="0" lang="ru-RU" sz="2400" noProof="1">
                <a:latin typeface="Arial" pitchFamily="34" charset="0"/>
              </a:rPr>
              <a:t>.</a:t>
            </a:r>
          </a:p>
          <a:p>
            <a:pPr marL="457200" indent="-457200" algn="just">
              <a:spcAft>
                <a:spcPct val="20000"/>
              </a:spcAft>
              <a:defRPr/>
            </a:pPr>
            <a:r>
              <a:rPr kumimoji="0" lang="ru-RU" sz="2300" noProof="1">
                <a:solidFill>
                  <a:srgbClr val="404040"/>
                </a:solidFill>
                <a:latin typeface="Arial" pitchFamily="34" charset="0"/>
              </a:rPr>
              <a:t>                     </a:t>
            </a:r>
            <a:r>
              <a:rPr kumimoji="0" lang="ru-RU" sz="2200" dirty="0">
                <a:solidFill>
                  <a:srgbClr val="1F497D"/>
                </a:solidFill>
                <a:latin typeface="Arial" pitchFamily="34" charset="0"/>
              </a:rPr>
              <a:t>Что лучше</a:t>
            </a:r>
            <a:r>
              <a:rPr kumimoji="0" lang="ru-RU" sz="2200" noProof="1">
                <a:solidFill>
                  <a:srgbClr val="1F497D"/>
                </a:solidFill>
                <a:latin typeface="Arial" pitchFamily="34" charset="0"/>
              </a:rPr>
              <a:t> – </a:t>
            </a:r>
            <a:r>
              <a:rPr kumimoji="0" lang="en-US" sz="2200" i="1" dirty="0">
                <a:solidFill>
                  <a:srgbClr val="1F49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T(n)=10</a:t>
            </a:r>
            <a:r>
              <a:rPr kumimoji="0" lang="en-US" sz="2200" i="1" baseline="30000" dirty="0">
                <a:solidFill>
                  <a:srgbClr val="1F49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6</a:t>
            </a:r>
            <a:r>
              <a:rPr kumimoji="0" lang="en-US" sz="2200" i="1" dirty="0">
                <a:solidFill>
                  <a:srgbClr val="1F49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n</a:t>
            </a:r>
            <a:r>
              <a:rPr kumimoji="0" lang="en-US" sz="2200" i="1" baseline="30000" dirty="0">
                <a:solidFill>
                  <a:srgbClr val="1F49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2</a:t>
            </a:r>
            <a:r>
              <a:rPr kumimoji="0" lang="en-US" sz="2200" i="1" dirty="0">
                <a:solidFill>
                  <a:srgbClr val="1F49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 </a:t>
            </a:r>
            <a:r>
              <a:rPr kumimoji="0" lang="ru-RU" sz="2200" i="1" dirty="0">
                <a:solidFill>
                  <a:srgbClr val="1F49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или </a:t>
            </a:r>
            <a:r>
              <a:rPr kumimoji="0" lang="en-US" sz="2200" i="1" dirty="0">
                <a:solidFill>
                  <a:srgbClr val="1F49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T(n)=n</a:t>
            </a:r>
            <a:r>
              <a:rPr kumimoji="0" lang="en-US" sz="2200" i="1" baseline="30000" dirty="0">
                <a:solidFill>
                  <a:srgbClr val="1F49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3 </a:t>
            </a:r>
            <a:r>
              <a:rPr kumimoji="0" lang="en-US" sz="2200" noProof="1">
                <a:solidFill>
                  <a:srgbClr val="1F497D"/>
                </a:solidFill>
                <a:latin typeface="Arial" pitchFamily="34" charset="0"/>
              </a:rPr>
              <a:t>?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10" y="1008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Основные принципы</a:t>
            </a:r>
            <a:endParaRPr kumimoji="0"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allAtOnce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_h1"/>
          <p:cNvSpPr>
            <a:spLocks noGrp="1" noChangeArrowheads="1"/>
          </p:cNvSpPr>
          <p:nvPr>
            <p:ph type="title"/>
          </p:nvPr>
        </p:nvSpPr>
        <p:spPr>
          <a:xfrm>
            <a:off x="3362610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Как сравнивать алгоритмы</a:t>
            </a:r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5310" y="1955801"/>
            <a:ext cx="8496300" cy="30797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2300" noProof="1">
                <a:solidFill>
                  <a:srgbClr val="404040"/>
                </a:solidFill>
                <a:latin typeface="Arial" pitchFamily="34" charset="0"/>
              </a:rPr>
              <a:t>    </a:t>
            </a:r>
            <a:r>
              <a:rPr kumimoji="0" lang="ru-RU" sz="3200" dirty="0">
                <a:latin typeface="Arial" pitchFamily="34" charset="0"/>
              </a:rPr>
              <a:t>Мы имеем дело с асимптотическим анализом</a:t>
            </a:r>
            <a:r>
              <a:rPr kumimoji="0" lang="ru-RU" sz="3200" noProof="1">
                <a:latin typeface="Arial" pitchFamily="34" charset="0"/>
              </a:rPr>
              <a:t>!</a:t>
            </a:r>
          </a:p>
        </p:txBody>
      </p:sp>
      <p:sp>
        <p:nvSpPr>
          <p:cNvPr id="5" name="Rechteck 36">
            <a:extLst>
              <a:ext uri="{FF2B5EF4-FFF2-40B4-BE49-F238E27FC236}">
                <a16:creationId xmlns:a16="http://schemas.microsoft.com/office/drawing/2014/main" id="{BA43E7D8-3D75-496D-8C50-08D82678E9C5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62610" y="1008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Основные принципы</a:t>
            </a:r>
            <a:endParaRPr kumimoji="0"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_h1"/>
          <p:cNvSpPr>
            <a:spLocks noGrp="1" noChangeArrowheads="1"/>
          </p:cNvSpPr>
          <p:nvPr>
            <p:ph type="title"/>
          </p:nvPr>
        </p:nvSpPr>
        <p:spPr>
          <a:xfrm>
            <a:off x="3362611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4931" y="1828800"/>
            <a:ext cx="8800051" cy="4078288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>
              <a:spcAft>
                <a:spcPct val="20000"/>
              </a:spcAft>
              <a:defRPr/>
            </a:pPr>
            <a:r>
              <a:rPr kumimoji="0" lang="ru-RU" sz="2400" dirty="0">
                <a:latin typeface="Arial" pitchFamily="34" charset="0"/>
              </a:rPr>
              <a:t>Пусть</a:t>
            </a:r>
            <a:r>
              <a:rPr kumimoji="0" lang="en-US" sz="2400" noProof="1">
                <a:latin typeface="Arial" pitchFamily="34" charset="0"/>
              </a:rPr>
              <a:t> </a:t>
            </a:r>
            <a:r>
              <a:rPr kumimoji="0" lang="en-US" sz="2400" i="1" noProof="1">
                <a:latin typeface="Arial" pitchFamily="34" charset="0"/>
              </a:rPr>
              <a:t>f(n)</a:t>
            </a:r>
            <a:r>
              <a:rPr kumimoji="0" lang="en-US" sz="2400" noProof="1"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</a:rPr>
              <a:t>и</a:t>
            </a:r>
            <a:r>
              <a:rPr kumimoji="0" lang="en-US" sz="2400" noProof="1">
                <a:latin typeface="Arial" pitchFamily="34" charset="0"/>
              </a:rPr>
              <a:t> </a:t>
            </a:r>
            <a:r>
              <a:rPr kumimoji="0" lang="en-US" sz="2400" i="1" noProof="1">
                <a:latin typeface="Arial" pitchFamily="34" charset="0"/>
              </a:rPr>
              <a:t>g(n)</a:t>
            </a:r>
            <a:r>
              <a:rPr kumimoji="0" lang="en-US" sz="2400" noProof="1"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</a:rPr>
              <a:t>положительные функции целочисленного аргумента</a:t>
            </a:r>
            <a:r>
              <a:rPr kumimoji="0" lang="ru-RU" sz="2400" noProof="1">
                <a:latin typeface="Arial" pitchFamily="34" charset="0"/>
              </a:rPr>
              <a:t>,</a:t>
            </a:r>
            <a:r>
              <a:rPr kumimoji="0" lang="ru-RU" sz="2400" dirty="0">
                <a:latin typeface="Arial" pitchFamily="34" charset="0"/>
              </a:rPr>
              <a:t> тогда</a:t>
            </a:r>
            <a:endParaRPr kumimoji="0" lang="ru-RU" sz="2400" noProof="1">
              <a:latin typeface="Arial" pitchFamily="34" charset="0"/>
            </a:endParaRPr>
          </a:p>
          <a:p>
            <a:pPr>
              <a:spcBef>
                <a:spcPct val="50000"/>
              </a:spcBef>
              <a:defRPr/>
            </a:pPr>
            <a:r>
              <a:rPr kumimoji="0" lang="en-US" sz="2400" i="1" dirty="0">
                <a:latin typeface="Arial" pitchFamily="34" charset="0"/>
              </a:rPr>
              <a:t>f(n)</a:t>
            </a:r>
            <a:r>
              <a:rPr kumimoji="0" lang="en-US" sz="2400" dirty="0">
                <a:latin typeface="Arial" pitchFamily="34" charset="0"/>
              </a:rPr>
              <a:t> = O(</a:t>
            </a:r>
            <a:r>
              <a:rPr kumimoji="0" lang="en-US" sz="2400" i="1" dirty="0">
                <a:latin typeface="Arial" pitchFamily="34" charset="0"/>
              </a:rPr>
              <a:t>g(n)</a:t>
            </a:r>
            <a:r>
              <a:rPr kumimoji="0" lang="en-US" sz="2400" dirty="0">
                <a:latin typeface="Arial" pitchFamily="34" charset="0"/>
              </a:rPr>
              <a:t>) 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  c &gt; 0, n</a:t>
            </a:r>
            <a:r>
              <a:rPr kumimoji="0" lang="en-US" sz="2400" baseline="-25000" dirty="0">
                <a:latin typeface="Arial" pitchFamily="34" charset="0"/>
                <a:sym typeface="Symbol" pitchFamily="18" charset="2"/>
              </a:rPr>
              <a:t>0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 &gt; 0 : </a:t>
            </a:r>
            <a:r>
              <a:rPr kumimoji="0" lang="en-US" sz="2400" i="1" dirty="0">
                <a:latin typeface="Arial" pitchFamily="34" charset="0"/>
                <a:sym typeface="Symbol" pitchFamily="18" charset="2"/>
              </a:rPr>
              <a:t>f(n)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 c</a:t>
            </a:r>
            <a:r>
              <a:rPr kumimoji="0" lang="en-US" sz="2400" i="1" dirty="0">
                <a:latin typeface="Arial" pitchFamily="34" charset="0"/>
                <a:sym typeface="Symbol" pitchFamily="18" charset="2"/>
              </a:rPr>
              <a:t>g(n)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  </a:t>
            </a:r>
            <a:r>
              <a:rPr kumimoji="0" lang="en-US" sz="2400" i="1" dirty="0">
                <a:latin typeface="Arial" pitchFamily="34" charset="0"/>
                <a:sym typeface="Symbol" pitchFamily="18" charset="2"/>
              </a:rPr>
              <a:t>n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  n</a:t>
            </a:r>
            <a:r>
              <a:rPr kumimoji="0" lang="en-US" sz="2400" baseline="-25000" dirty="0">
                <a:latin typeface="Arial" pitchFamily="34" charset="0"/>
                <a:sym typeface="Symbol" pitchFamily="18" charset="2"/>
              </a:rPr>
              <a:t>0</a:t>
            </a:r>
            <a:endParaRPr kumimoji="0" lang="en-US" sz="2400" dirty="0">
              <a:latin typeface="Arial" pitchFamily="34" charset="0"/>
              <a:sym typeface="Symbol" pitchFamily="18" charset="2"/>
            </a:endParaRPr>
          </a:p>
          <a:p>
            <a:pPr>
              <a:spcBef>
                <a:spcPct val="50000"/>
              </a:spcBef>
              <a:defRPr/>
            </a:pPr>
            <a:r>
              <a:rPr kumimoji="0" lang="en-US" sz="2400" i="1" dirty="0">
                <a:latin typeface="Arial" pitchFamily="34" charset="0"/>
              </a:rPr>
              <a:t>f(n)</a:t>
            </a:r>
            <a:r>
              <a:rPr kumimoji="0" lang="en-US" sz="2400" dirty="0">
                <a:latin typeface="Arial" pitchFamily="34" charset="0"/>
              </a:rPr>
              <a:t> = 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</a:t>
            </a:r>
            <a:r>
              <a:rPr kumimoji="0" lang="en-US" sz="2400" dirty="0">
                <a:latin typeface="Arial" pitchFamily="34" charset="0"/>
              </a:rPr>
              <a:t>(</a:t>
            </a:r>
            <a:r>
              <a:rPr kumimoji="0" lang="en-US" sz="2400" i="1" dirty="0">
                <a:latin typeface="Arial" pitchFamily="34" charset="0"/>
              </a:rPr>
              <a:t>g(n)</a:t>
            </a:r>
            <a:r>
              <a:rPr kumimoji="0" lang="en-US" sz="2400" dirty="0">
                <a:latin typeface="Arial" pitchFamily="34" charset="0"/>
              </a:rPr>
              <a:t>) 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  c &gt; 0, n</a:t>
            </a:r>
            <a:r>
              <a:rPr kumimoji="0" lang="en-US" sz="2400" baseline="-25000" dirty="0">
                <a:latin typeface="Arial" pitchFamily="34" charset="0"/>
                <a:sym typeface="Symbol" pitchFamily="18" charset="2"/>
              </a:rPr>
              <a:t>0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 &gt; 0 : c</a:t>
            </a:r>
            <a:r>
              <a:rPr kumimoji="0" lang="en-US" sz="2400" i="1" dirty="0">
                <a:latin typeface="Arial" pitchFamily="34" charset="0"/>
                <a:sym typeface="Symbol" pitchFamily="18" charset="2"/>
              </a:rPr>
              <a:t>g(n)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  </a:t>
            </a:r>
            <a:r>
              <a:rPr kumimoji="0" lang="en-US" sz="2400" i="1" dirty="0">
                <a:latin typeface="Arial" pitchFamily="34" charset="0"/>
                <a:sym typeface="Symbol" pitchFamily="18" charset="2"/>
              </a:rPr>
              <a:t>f(n)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  </a:t>
            </a:r>
            <a:r>
              <a:rPr kumimoji="0" lang="en-US" sz="2400" i="1" dirty="0">
                <a:latin typeface="Arial" pitchFamily="34" charset="0"/>
                <a:sym typeface="Symbol" pitchFamily="18" charset="2"/>
              </a:rPr>
              <a:t>n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  n</a:t>
            </a:r>
            <a:r>
              <a:rPr kumimoji="0" lang="en-US" sz="2400" baseline="-25000" dirty="0">
                <a:latin typeface="Arial" pitchFamily="34" charset="0"/>
                <a:sym typeface="Symbol" pitchFamily="18" charset="2"/>
              </a:rPr>
              <a:t>0</a:t>
            </a:r>
            <a:endParaRPr kumimoji="0" lang="en-US" sz="2400" dirty="0">
              <a:latin typeface="Arial" pitchFamily="34" charset="0"/>
              <a:sym typeface="Symbol" pitchFamily="18" charset="2"/>
            </a:endParaRPr>
          </a:p>
          <a:p>
            <a:pPr>
              <a:spcBef>
                <a:spcPct val="50000"/>
              </a:spcBef>
              <a:defRPr/>
            </a:pPr>
            <a:r>
              <a:rPr kumimoji="0" lang="en-US" sz="2400" i="1" dirty="0">
                <a:latin typeface="Arial" pitchFamily="34" charset="0"/>
              </a:rPr>
              <a:t>f(n)</a:t>
            </a:r>
            <a:r>
              <a:rPr kumimoji="0" lang="en-US" sz="2400" dirty="0">
                <a:latin typeface="Arial" pitchFamily="34" charset="0"/>
              </a:rPr>
              <a:t> = 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</a:t>
            </a:r>
            <a:r>
              <a:rPr kumimoji="0" lang="en-US" sz="2400" dirty="0">
                <a:latin typeface="Arial" pitchFamily="34" charset="0"/>
              </a:rPr>
              <a:t>(</a:t>
            </a:r>
            <a:r>
              <a:rPr kumimoji="0" lang="en-US" sz="2400" i="1" dirty="0">
                <a:latin typeface="Arial" pitchFamily="34" charset="0"/>
              </a:rPr>
              <a:t>g(n)</a:t>
            </a:r>
            <a:r>
              <a:rPr kumimoji="0" lang="en-US" sz="2400" dirty="0">
                <a:latin typeface="Arial" pitchFamily="34" charset="0"/>
              </a:rPr>
              <a:t>) 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  c</a:t>
            </a:r>
            <a:r>
              <a:rPr kumimoji="0" lang="en-US" sz="2400" baseline="-25000" dirty="0">
                <a:latin typeface="Arial" pitchFamily="34" charset="0"/>
                <a:sym typeface="Symbol" pitchFamily="18" charset="2"/>
              </a:rPr>
              <a:t>1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, c</a:t>
            </a:r>
            <a:r>
              <a:rPr kumimoji="0" lang="en-US" sz="2400" baseline="-25000" dirty="0">
                <a:latin typeface="Arial" pitchFamily="34" charset="0"/>
                <a:sym typeface="Symbol" pitchFamily="18" charset="2"/>
              </a:rPr>
              <a:t>2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, n</a:t>
            </a:r>
            <a:r>
              <a:rPr kumimoji="0" lang="en-US" sz="2400" baseline="-25000" dirty="0">
                <a:latin typeface="Arial" pitchFamily="34" charset="0"/>
                <a:sym typeface="Symbol" pitchFamily="18" charset="2"/>
              </a:rPr>
              <a:t>0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 &gt; 0 : c</a:t>
            </a:r>
            <a:r>
              <a:rPr kumimoji="0" lang="en-US" sz="2400" baseline="-25000" dirty="0">
                <a:latin typeface="Arial" pitchFamily="34" charset="0"/>
                <a:sym typeface="Symbol" pitchFamily="18" charset="2"/>
              </a:rPr>
              <a:t>1</a:t>
            </a:r>
            <a:r>
              <a:rPr kumimoji="0" lang="en-US" sz="2400" i="1" dirty="0">
                <a:latin typeface="Arial" pitchFamily="34" charset="0"/>
                <a:sym typeface="Symbol" pitchFamily="18" charset="2"/>
              </a:rPr>
              <a:t>g(n)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  </a:t>
            </a:r>
            <a:r>
              <a:rPr kumimoji="0" lang="en-US" sz="2400" i="1" dirty="0">
                <a:latin typeface="Arial" pitchFamily="34" charset="0"/>
                <a:sym typeface="Symbol" pitchFamily="18" charset="2"/>
              </a:rPr>
              <a:t>f(n)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 c</a:t>
            </a:r>
            <a:r>
              <a:rPr kumimoji="0" lang="en-US" sz="2400" baseline="-25000" dirty="0">
                <a:latin typeface="Arial" pitchFamily="34" charset="0"/>
                <a:sym typeface="Symbol" pitchFamily="18" charset="2"/>
              </a:rPr>
              <a:t>2</a:t>
            </a:r>
            <a:r>
              <a:rPr kumimoji="0" lang="en-US" sz="2400" i="1" dirty="0">
                <a:latin typeface="Arial" pitchFamily="34" charset="0"/>
                <a:sym typeface="Symbol" pitchFamily="18" charset="2"/>
              </a:rPr>
              <a:t>g(n)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  </a:t>
            </a:r>
            <a:r>
              <a:rPr kumimoji="0" lang="en-US" sz="2400" i="1" dirty="0">
                <a:latin typeface="Arial" pitchFamily="34" charset="0"/>
                <a:sym typeface="Symbol" pitchFamily="18" charset="2"/>
              </a:rPr>
              <a:t>n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  n</a:t>
            </a:r>
            <a:r>
              <a:rPr kumimoji="0" lang="en-US" sz="2400" baseline="-25000" dirty="0">
                <a:latin typeface="Arial" pitchFamily="34" charset="0"/>
                <a:sym typeface="Symbol" pitchFamily="18" charset="2"/>
              </a:rPr>
              <a:t>0</a:t>
            </a:r>
            <a:endParaRPr kumimoji="0" lang="en-US" sz="2400" baseline="-25000" noProof="1">
              <a:latin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11" y="1008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Форма записи</a:t>
            </a:r>
            <a:endParaRPr kumimoji="0"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_h1"/>
          <p:cNvSpPr>
            <a:spLocks noGrp="1" noChangeArrowheads="1"/>
          </p:cNvSpPr>
          <p:nvPr>
            <p:ph type="title"/>
          </p:nvPr>
        </p:nvSpPr>
        <p:spPr>
          <a:xfrm>
            <a:off x="3362610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2610" y="2249489"/>
            <a:ext cx="8496300" cy="3740251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>
              <a:lnSpc>
                <a:spcPct val="150000"/>
              </a:lnSpc>
              <a:spcAft>
                <a:spcPct val="20000"/>
              </a:spcAft>
              <a:defRPr/>
            </a:pPr>
            <a:r>
              <a:rPr kumimoji="0" lang="ru-RU" sz="2400" dirty="0">
                <a:latin typeface="Arial" pitchFamily="34" charset="0"/>
              </a:rPr>
              <a:t>Пусть</a:t>
            </a:r>
            <a:r>
              <a:rPr kumimoji="0" lang="ru-RU" sz="2400" noProof="1">
                <a:latin typeface="Arial" pitchFamily="34" charset="0"/>
              </a:rPr>
              <a:t> </a:t>
            </a:r>
            <a:r>
              <a:rPr kumimoji="0" lang="en-US" sz="2400" i="1" dirty="0">
                <a:latin typeface="Arial" pitchFamily="34" charset="0"/>
              </a:rPr>
              <a:t>T</a:t>
            </a:r>
            <a:r>
              <a:rPr kumimoji="0" lang="en-US" sz="2400" i="1" baseline="-25000" dirty="0">
                <a:latin typeface="Arial" pitchFamily="34" charset="0"/>
              </a:rPr>
              <a:t>1</a:t>
            </a:r>
            <a:r>
              <a:rPr kumimoji="0" lang="en-US" sz="2400" i="1" dirty="0">
                <a:latin typeface="Arial" pitchFamily="34" charset="0"/>
              </a:rPr>
              <a:t>(n)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</a:rPr>
              <a:t>и</a:t>
            </a:r>
            <a:r>
              <a:rPr kumimoji="0" lang="ru-RU" sz="2400" noProof="1">
                <a:latin typeface="Arial" pitchFamily="34" charset="0"/>
              </a:rPr>
              <a:t> </a:t>
            </a:r>
            <a:r>
              <a:rPr kumimoji="0" lang="en-US" sz="2400" i="1" dirty="0">
                <a:latin typeface="Arial" pitchFamily="34" charset="0"/>
              </a:rPr>
              <a:t>T</a:t>
            </a:r>
            <a:r>
              <a:rPr kumimoji="0" lang="en-US" sz="2400" i="1" baseline="-25000" dirty="0">
                <a:latin typeface="Arial" pitchFamily="34" charset="0"/>
              </a:rPr>
              <a:t>2</a:t>
            </a:r>
            <a:r>
              <a:rPr kumimoji="0" lang="en-US" sz="2400" i="1" dirty="0">
                <a:latin typeface="Arial" pitchFamily="34" charset="0"/>
              </a:rPr>
              <a:t>(n)</a:t>
            </a:r>
            <a:r>
              <a:rPr kumimoji="0" lang="ru-RU" sz="2400" dirty="0">
                <a:latin typeface="Arial" pitchFamily="34" charset="0"/>
              </a:rPr>
              <a:t> –</a:t>
            </a:r>
            <a:r>
              <a:rPr kumimoji="0" lang="ru-RU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</a:rPr>
              <a:t>времена работы алгоритмов</a:t>
            </a:r>
            <a:r>
              <a:rPr kumimoji="0" lang="ru-RU" sz="2400" noProof="1">
                <a:latin typeface="Arial" pitchFamily="34" charset="0"/>
              </a:rPr>
              <a:t> 1 </a:t>
            </a:r>
            <a:r>
              <a:rPr kumimoji="0" lang="ru-RU" sz="2400" dirty="0">
                <a:latin typeface="Arial" pitchFamily="34" charset="0"/>
              </a:rPr>
              <a:t>и</a:t>
            </a:r>
            <a:r>
              <a:rPr kumimoji="0" lang="ru-RU" sz="2400" noProof="1">
                <a:latin typeface="Arial" pitchFamily="34" charset="0"/>
              </a:rPr>
              <a:t> 2 </a:t>
            </a:r>
            <a:r>
              <a:rPr kumimoji="0" lang="ru-RU" sz="2400" dirty="0">
                <a:latin typeface="Arial" pitchFamily="34" charset="0"/>
              </a:rPr>
              <a:t>соответственно</a:t>
            </a:r>
            <a:r>
              <a:rPr kumimoji="0" lang="ru-RU" sz="2400" noProof="1">
                <a:latin typeface="Arial" pitchFamily="34" charset="0"/>
              </a:rPr>
              <a:t>. </a:t>
            </a: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ct val="20000"/>
              </a:spcAft>
              <a:defRPr/>
            </a:pPr>
            <a:r>
              <a:rPr kumimoji="0" lang="ru-RU" sz="2400" dirty="0">
                <a:latin typeface="Arial" pitchFamily="34" charset="0"/>
              </a:rPr>
              <a:t>Пусть</a:t>
            </a:r>
            <a:r>
              <a:rPr kumimoji="0" lang="en-US" sz="2400" i="1" dirty="0">
                <a:latin typeface="Arial" pitchFamily="34" charset="0"/>
              </a:rPr>
              <a:t>T</a:t>
            </a:r>
            <a:r>
              <a:rPr kumimoji="0" lang="ru-RU" sz="2400" i="1" baseline="-25000" dirty="0">
                <a:latin typeface="Arial" pitchFamily="34" charset="0"/>
              </a:rPr>
              <a:t>0</a:t>
            </a:r>
            <a:r>
              <a:rPr kumimoji="0" lang="en-US" sz="2400" i="1" dirty="0">
                <a:latin typeface="Arial" pitchFamily="34" charset="0"/>
              </a:rPr>
              <a:t>(n)</a:t>
            </a:r>
            <a:r>
              <a:rPr kumimoji="0" lang="en-US" sz="2400" noProof="1"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</a:rPr>
              <a:t>– теоретическая нижняя граница для времени работы любого алгоритма, решающего задачу</a:t>
            </a:r>
            <a:r>
              <a:rPr kumimoji="0" lang="ru-RU" sz="2400" noProof="1">
                <a:latin typeface="Arial" pitchFamily="34" charset="0"/>
              </a:rPr>
              <a:t>. 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10" y="1008000"/>
            <a:ext cx="8496300" cy="5472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Сравнение последовательных алгоритмов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_h1"/>
          <p:cNvSpPr>
            <a:spLocks noGrp="1" noChangeArrowheads="1"/>
          </p:cNvSpPr>
          <p:nvPr>
            <p:ph type="title"/>
          </p:nvPr>
        </p:nvSpPr>
        <p:spPr>
          <a:xfrm>
            <a:off x="3362610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5310" y="1895913"/>
            <a:ext cx="8496300" cy="4443413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>
              <a:lnSpc>
                <a:spcPct val="120000"/>
              </a:lnSpc>
              <a:spcAft>
                <a:spcPts val="600"/>
              </a:spcAft>
              <a:defRPr/>
            </a:pPr>
            <a:r>
              <a:rPr kumimoji="0" lang="ru-RU" sz="2300" dirty="0">
                <a:latin typeface="Arial" pitchFamily="34" charset="0"/>
              </a:rPr>
              <a:t>Если</a:t>
            </a:r>
            <a:r>
              <a:rPr kumimoji="0" lang="en-US" sz="2300" dirty="0">
                <a:latin typeface="Arial" pitchFamily="34" charset="0"/>
              </a:rPr>
              <a:t>  </a:t>
            </a:r>
            <a:r>
              <a:rPr kumimoji="0" lang="en-US" sz="2400" i="1" dirty="0">
                <a:latin typeface="Arial" pitchFamily="34" charset="0"/>
              </a:rPr>
              <a:t>T</a:t>
            </a:r>
            <a:r>
              <a:rPr kumimoji="0" lang="en-US" sz="2400" i="1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(</a:t>
            </a:r>
            <a:r>
              <a:rPr kumimoji="0" lang="en-US" sz="2400" i="1" dirty="0">
                <a:latin typeface="Arial" pitchFamily="34" charset="0"/>
              </a:rPr>
              <a:t>n</a:t>
            </a:r>
            <a:r>
              <a:rPr kumimoji="0" lang="en-US" sz="2400" dirty="0">
                <a:latin typeface="Arial" pitchFamily="34" charset="0"/>
              </a:rPr>
              <a:t>) </a:t>
            </a:r>
            <a:r>
              <a:rPr kumimoji="0" lang="en-US" sz="2300" noProof="1">
                <a:latin typeface="Arial" pitchFamily="34" charset="0"/>
              </a:rPr>
              <a:t>= </a:t>
            </a:r>
            <a:r>
              <a:rPr kumimoji="0" lang="en-US" sz="2400" dirty="0">
                <a:latin typeface="Arial" pitchFamily="34" charset="0"/>
              </a:rPr>
              <a:t>O(</a:t>
            </a:r>
            <a:r>
              <a:rPr kumimoji="0" lang="en-US" sz="2400" i="1" dirty="0">
                <a:latin typeface="Arial" pitchFamily="34" charset="0"/>
              </a:rPr>
              <a:t>T</a:t>
            </a:r>
            <a:r>
              <a:rPr kumimoji="0" lang="en-US" sz="2400" i="1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(</a:t>
            </a:r>
            <a:r>
              <a:rPr kumimoji="0" lang="en-US" sz="2400" i="1" dirty="0">
                <a:latin typeface="Arial" pitchFamily="34" charset="0"/>
              </a:rPr>
              <a:t>n</a:t>
            </a:r>
            <a:r>
              <a:rPr kumimoji="0" lang="en-US" sz="2400" dirty="0">
                <a:latin typeface="Arial" pitchFamily="34" charset="0"/>
              </a:rPr>
              <a:t>)), </a:t>
            </a:r>
            <a:r>
              <a:rPr kumimoji="0" lang="en-US" sz="2300" noProof="1">
                <a:latin typeface="Arial" pitchFamily="34" charset="0"/>
              </a:rPr>
              <a:t> </a:t>
            </a:r>
            <a:r>
              <a:rPr kumimoji="0" lang="ru-RU" sz="2300" dirty="0">
                <a:latin typeface="Arial" pitchFamily="34" charset="0"/>
              </a:rPr>
              <a:t>тогда алгоритм</a:t>
            </a:r>
            <a:r>
              <a:rPr kumimoji="0" lang="ru-RU" sz="2300" noProof="1">
                <a:latin typeface="Arial" pitchFamily="34" charset="0"/>
              </a:rPr>
              <a:t> 1 </a:t>
            </a:r>
            <a:r>
              <a:rPr kumimoji="0" lang="ru-RU" sz="2300" dirty="0">
                <a:latin typeface="Arial" pitchFamily="34" charset="0"/>
              </a:rPr>
              <a:t>не хуже алгоритма</a:t>
            </a:r>
            <a:r>
              <a:rPr kumimoji="0" lang="ru-RU" sz="2300" noProof="1">
                <a:latin typeface="Arial" pitchFamily="34" charset="0"/>
              </a:rPr>
              <a:t> 2</a:t>
            </a:r>
            <a:r>
              <a:rPr kumimoji="0" lang="ru-RU" sz="2300" dirty="0">
                <a:latin typeface="Arial" pitchFamily="34" charset="0"/>
              </a:rPr>
              <a:t> по поведению</a:t>
            </a:r>
            <a:r>
              <a:rPr kumimoji="0" lang="ru-RU" sz="2300" noProof="1">
                <a:latin typeface="Arial" pitchFamily="34" charset="0"/>
              </a:rPr>
              <a:t>. </a:t>
            </a:r>
          </a:p>
          <a:p>
            <a:pPr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kumimoji="0" lang="ru-RU" sz="2300" dirty="0">
                <a:latin typeface="Arial" pitchFamily="34" charset="0"/>
              </a:rPr>
              <a:t>Если</a:t>
            </a:r>
            <a:r>
              <a:rPr kumimoji="0" lang="ru-RU" sz="2300" noProof="1">
                <a:latin typeface="Arial" pitchFamily="34" charset="0"/>
              </a:rPr>
              <a:t>  </a:t>
            </a:r>
            <a:r>
              <a:rPr kumimoji="0" lang="en-US" sz="2400" i="1" dirty="0">
                <a:latin typeface="Arial" pitchFamily="34" charset="0"/>
              </a:rPr>
              <a:t>T</a:t>
            </a:r>
            <a:r>
              <a:rPr kumimoji="0" lang="en-US" sz="2400" i="1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(</a:t>
            </a:r>
            <a:r>
              <a:rPr kumimoji="0" lang="en-US" sz="2400" i="1" dirty="0">
                <a:latin typeface="Arial" pitchFamily="34" charset="0"/>
              </a:rPr>
              <a:t>n</a:t>
            </a:r>
            <a:r>
              <a:rPr kumimoji="0" lang="en-US" sz="2400" dirty="0">
                <a:latin typeface="Arial" pitchFamily="34" charset="0"/>
              </a:rPr>
              <a:t>) = 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</a:t>
            </a:r>
            <a:r>
              <a:rPr kumimoji="0" lang="en-US" sz="2400" dirty="0">
                <a:latin typeface="Arial" pitchFamily="34" charset="0"/>
              </a:rPr>
              <a:t>(</a:t>
            </a:r>
            <a:r>
              <a:rPr kumimoji="0" lang="en-US" sz="2400" i="1" dirty="0">
                <a:latin typeface="Arial" pitchFamily="34" charset="0"/>
              </a:rPr>
              <a:t>T</a:t>
            </a:r>
            <a:r>
              <a:rPr kumimoji="0" lang="en-US" sz="2400" i="1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(</a:t>
            </a:r>
            <a:r>
              <a:rPr kumimoji="0" lang="en-US" sz="2400" i="1" dirty="0">
                <a:latin typeface="Arial" pitchFamily="34" charset="0"/>
              </a:rPr>
              <a:t>n</a:t>
            </a:r>
            <a:r>
              <a:rPr kumimoji="0" lang="en-US" sz="2400" dirty="0">
                <a:latin typeface="Arial" pitchFamily="34" charset="0"/>
              </a:rPr>
              <a:t>))</a:t>
            </a:r>
            <a:r>
              <a:rPr kumimoji="0" lang="en-US" sz="2300" noProof="1">
                <a:latin typeface="Arial" pitchFamily="34" charset="0"/>
              </a:rPr>
              <a:t>, </a:t>
            </a:r>
            <a:r>
              <a:rPr kumimoji="0" lang="ru-RU" sz="2300" dirty="0">
                <a:latin typeface="Arial" pitchFamily="34" charset="0"/>
              </a:rPr>
              <a:t>тогда алгоритм</a:t>
            </a:r>
            <a:r>
              <a:rPr kumimoji="0" lang="ru-RU" sz="2300" noProof="1">
                <a:latin typeface="Arial" pitchFamily="34" charset="0"/>
              </a:rPr>
              <a:t> 1 </a:t>
            </a:r>
            <a:r>
              <a:rPr kumimoji="0" lang="ru-RU" sz="2300" dirty="0">
                <a:latin typeface="Arial" pitchFamily="34" charset="0"/>
              </a:rPr>
              <a:t>не лучше алгоритма</a:t>
            </a:r>
            <a:r>
              <a:rPr kumimoji="0" lang="ru-RU" sz="2300" noProof="1">
                <a:latin typeface="Arial" pitchFamily="34" charset="0"/>
              </a:rPr>
              <a:t> 2</a:t>
            </a:r>
            <a:r>
              <a:rPr kumimoji="0" lang="ru-RU" sz="2300" dirty="0">
                <a:latin typeface="Arial" pitchFamily="34" charset="0"/>
              </a:rPr>
              <a:t> по поведению</a:t>
            </a:r>
            <a:r>
              <a:rPr kumimoji="0" lang="ru-RU" sz="2300" noProof="1">
                <a:latin typeface="Arial" pitchFamily="34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/>
            </a:pPr>
            <a:r>
              <a:rPr kumimoji="0" lang="ru-RU" sz="2300" dirty="0">
                <a:latin typeface="Arial" pitchFamily="34" charset="0"/>
              </a:rPr>
              <a:t>Если</a:t>
            </a:r>
            <a:r>
              <a:rPr kumimoji="0" lang="ru-RU" sz="2300" noProof="1">
                <a:latin typeface="Arial" pitchFamily="34" charset="0"/>
              </a:rPr>
              <a:t> </a:t>
            </a:r>
            <a:r>
              <a:rPr kumimoji="0" lang="en-US" sz="2400" i="1" dirty="0">
                <a:latin typeface="Arial" pitchFamily="34" charset="0"/>
              </a:rPr>
              <a:t>T</a:t>
            </a:r>
            <a:r>
              <a:rPr kumimoji="0" lang="en-US" sz="2400" i="1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(</a:t>
            </a:r>
            <a:r>
              <a:rPr kumimoji="0" lang="en-US" sz="2400" i="1" dirty="0">
                <a:latin typeface="Arial" pitchFamily="34" charset="0"/>
              </a:rPr>
              <a:t>n</a:t>
            </a:r>
            <a:r>
              <a:rPr kumimoji="0" lang="en-US" sz="2400" dirty="0">
                <a:latin typeface="Arial" pitchFamily="34" charset="0"/>
              </a:rPr>
              <a:t>) = 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</a:t>
            </a:r>
            <a:r>
              <a:rPr kumimoji="0" lang="en-US" sz="2400" dirty="0">
                <a:latin typeface="Arial" pitchFamily="34" charset="0"/>
              </a:rPr>
              <a:t>(</a:t>
            </a:r>
            <a:r>
              <a:rPr kumimoji="0" lang="en-US" sz="2400" i="1" dirty="0">
                <a:latin typeface="Arial" pitchFamily="34" charset="0"/>
              </a:rPr>
              <a:t>T</a:t>
            </a:r>
            <a:r>
              <a:rPr kumimoji="0" lang="en-US" sz="2400" i="1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(</a:t>
            </a:r>
            <a:r>
              <a:rPr kumimoji="0" lang="en-US" sz="2400" i="1" dirty="0">
                <a:latin typeface="Arial" pitchFamily="34" charset="0"/>
              </a:rPr>
              <a:t>n</a:t>
            </a:r>
            <a:r>
              <a:rPr kumimoji="0" lang="en-US" sz="2400" dirty="0">
                <a:latin typeface="Arial" pitchFamily="34" charset="0"/>
              </a:rPr>
              <a:t>))</a:t>
            </a:r>
            <a:r>
              <a:rPr kumimoji="0" lang="en-US" sz="2300" noProof="1">
                <a:latin typeface="Arial" pitchFamily="34" charset="0"/>
              </a:rPr>
              <a:t>, </a:t>
            </a:r>
            <a:r>
              <a:rPr kumimoji="0" lang="ru-RU" sz="2300" noProof="1">
                <a:latin typeface="Arial" pitchFamily="34" charset="0"/>
              </a:rPr>
              <a:t>т</a:t>
            </a:r>
            <a:r>
              <a:rPr kumimoji="0" lang="ru-RU" sz="2300" dirty="0" err="1">
                <a:latin typeface="Arial" pitchFamily="34" charset="0"/>
              </a:rPr>
              <a:t>огда</a:t>
            </a:r>
            <a:r>
              <a:rPr kumimoji="0" lang="ru-RU" sz="2300" noProof="1">
                <a:latin typeface="Arial" pitchFamily="34" charset="0"/>
              </a:rPr>
              <a:t> </a:t>
            </a:r>
            <a:r>
              <a:rPr kumimoji="0" lang="ru-RU" sz="2300" dirty="0">
                <a:latin typeface="Arial" pitchFamily="34" charset="0"/>
              </a:rPr>
              <a:t>алгоритмы </a:t>
            </a:r>
            <a:r>
              <a:rPr kumimoji="0" lang="ru-RU" sz="2300" noProof="1">
                <a:latin typeface="Arial" pitchFamily="34" charset="0"/>
              </a:rPr>
              <a:t>1 </a:t>
            </a:r>
            <a:r>
              <a:rPr kumimoji="0" lang="ru-RU" sz="2300" dirty="0">
                <a:latin typeface="Arial" pitchFamily="34" charset="0"/>
              </a:rPr>
              <a:t>и 2 одинаковы по поведению</a:t>
            </a:r>
            <a:r>
              <a:rPr kumimoji="0" lang="ru-RU" sz="2300" noProof="1">
                <a:latin typeface="Arial" pitchFamily="34" charset="0"/>
              </a:rPr>
              <a:t>. </a:t>
            </a:r>
          </a:p>
          <a:p>
            <a:pPr>
              <a:lnSpc>
                <a:spcPct val="120000"/>
              </a:lnSpc>
              <a:spcAft>
                <a:spcPct val="20000"/>
              </a:spcAft>
              <a:defRPr/>
            </a:pPr>
            <a:r>
              <a:rPr kumimoji="0" lang="ru-RU" sz="2300" dirty="0">
                <a:latin typeface="Arial" pitchFamily="34" charset="0"/>
              </a:rPr>
              <a:t>Если </a:t>
            </a:r>
            <a:r>
              <a:rPr kumimoji="0" lang="en-US" sz="2400" i="1" dirty="0">
                <a:latin typeface="Arial" pitchFamily="34" charset="0"/>
              </a:rPr>
              <a:t>T</a:t>
            </a:r>
            <a:r>
              <a:rPr kumimoji="0" lang="en-US" sz="2400" i="1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(</a:t>
            </a:r>
            <a:r>
              <a:rPr kumimoji="0" lang="en-US" sz="2400" i="1" dirty="0">
                <a:latin typeface="Arial" pitchFamily="34" charset="0"/>
              </a:rPr>
              <a:t>n</a:t>
            </a:r>
            <a:r>
              <a:rPr kumimoji="0" lang="en-US" sz="2400" dirty="0">
                <a:latin typeface="Arial" pitchFamily="34" charset="0"/>
              </a:rPr>
              <a:t>) = 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</a:t>
            </a:r>
            <a:r>
              <a:rPr kumimoji="0" lang="en-US" sz="2400" dirty="0">
                <a:latin typeface="Arial" pitchFamily="34" charset="0"/>
              </a:rPr>
              <a:t>(</a:t>
            </a:r>
            <a:r>
              <a:rPr kumimoji="0" lang="en-US" sz="2400" i="1" dirty="0">
                <a:latin typeface="Arial" pitchFamily="34" charset="0"/>
              </a:rPr>
              <a:t>T</a:t>
            </a:r>
            <a:r>
              <a:rPr kumimoji="0" lang="ru-RU" sz="2400" i="1" baseline="-25000" dirty="0">
                <a:latin typeface="Arial" pitchFamily="34" charset="0"/>
              </a:rPr>
              <a:t>0</a:t>
            </a:r>
            <a:r>
              <a:rPr kumimoji="0" lang="en-US" sz="2400" dirty="0">
                <a:latin typeface="Arial" pitchFamily="34" charset="0"/>
              </a:rPr>
              <a:t>(</a:t>
            </a:r>
            <a:r>
              <a:rPr kumimoji="0" lang="en-US" sz="2400" i="1" dirty="0">
                <a:latin typeface="Arial" pitchFamily="34" charset="0"/>
              </a:rPr>
              <a:t>n</a:t>
            </a:r>
            <a:r>
              <a:rPr kumimoji="0" lang="en-US" sz="2400" dirty="0">
                <a:latin typeface="Arial" pitchFamily="34" charset="0"/>
              </a:rPr>
              <a:t>)) </a:t>
            </a:r>
            <a:r>
              <a:rPr kumimoji="0" lang="en-US" sz="2300" noProof="1">
                <a:latin typeface="Arial" pitchFamily="34" charset="0"/>
              </a:rPr>
              <a:t>, </a:t>
            </a:r>
            <a:r>
              <a:rPr kumimoji="0" lang="ru-RU" sz="2300" dirty="0">
                <a:latin typeface="Arial" pitchFamily="34" charset="0"/>
              </a:rPr>
              <a:t>тогда алгоритм 1</a:t>
            </a:r>
            <a:r>
              <a:rPr kumimoji="0" lang="ru-RU" sz="2300" noProof="1">
                <a:latin typeface="Arial" pitchFamily="34" charset="0"/>
              </a:rPr>
              <a:t> </a:t>
            </a:r>
            <a:r>
              <a:rPr kumimoji="0" lang="ru-RU" sz="2300" dirty="0">
                <a:latin typeface="Arial" pitchFamily="34" charset="0"/>
              </a:rPr>
              <a:t>оптимален по поведению</a:t>
            </a:r>
            <a:r>
              <a:rPr kumimoji="0" lang="ru-RU" sz="2300" noProof="1">
                <a:latin typeface="Arial" pitchFamily="34" charset="0"/>
              </a:rPr>
              <a:t>.</a:t>
            </a:r>
          </a:p>
        </p:txBody>
      </p:sp>
      <p:sp>
        <p:nvSpPr>
          <p:cNvPr id="5" name="Rechteck 36">
            <a:extLst>
              <a:ext uri="{FF2B5EF4-FFF2-40B4-BE49-F238E27FC236}">
                <a16:creationId xmlns:a16="http://schemas.microsoft.com/office/drawing/2014/main" id="{47D081AC-1159-4D6F-94BD-6F1ACF60FC39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62610" y="1008000"/>
            <a:ext cx="8496300" cy="5472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Сравнение последовательных алгоритмов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_h1"/>
          <p:cNvSpPr>
            <a:spLocks noGrp="1" noChangeArrowheads="1"/>
          </p:cNvSpPr>
          <p:nvPr>
            <p:ph type="title"/>
          </p:nvPr>
        </p:nvSpPr>
        <p:spPr>
          <a:xfrm>
            <a:off x="3362606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5306" y="1982789"/>
            <a:ext cx="8496300" cy="412439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>
              <a:lnSpc>
                <a:spcPct val="130000"/>
              </a:lnSpc>
              <a:spcAft>
                <a:spcPts val="1200"/>
              </a:spcAft>
              <a:buFontTx/>
              <a:buAutoNum type="arabicParenR"/>
              <a:defRPr/>
            </a:pPr>
            <a:r>
              <a:rPr kumimoji="0" lang="ru-RU" sz="2400" dirty="0">
                <a:latin typeface="Arial" pitchFamily="34" charset="0"/>
              </a:rPr>
              <a:t>Один процессор с одним ядром</a:t>
            </a:r>
            <a:r>
              <a:rPr kumimoji="0" lang="ru-RU" sz="2400" noProof="1">
                <a:latin typeface="Arial" pitchFamily="34" charset="0"/>
              </a:rPr>
              <a:t>.</a:t>
            </a:r>
          </a:p>
          <a:p>
            <a:pPr marL="457200" indent="-457200">
              <a:lnSpc>
                <a:spcPct val="130000"/>
              </a:lnSpc>
              <a:spcAft>
                <a:spcPts val="1200"/>
              </a:spcAft>
              <a:buFontTx/>
              <a:buAutoNum type="arabicParenR"/>
              <a:defRPr/>
            </a:pPr>
            <a:r>
              <a:rPr kumimoji="0" lang="ru-RU" sz="2400" dirty="0">
                <a:latin typeface="Arial" pitchFamily="34" charset="0"/>
              </a:rPr>
              <a:t>Ячейки памяти доступны в произвольном порядке</a:t>
            </a:r>
            <a:r>
              <a:rPr kumimoji="0" lang="ru-RU" sz="2400" noProof="1">
                <a:latin typeface="Arial" pitchFamily="34" charset="0"/>
              </a:rPr>
              <a:t>.</a:t>
            </a:r>
          </a:p>
          <a:p>
            <a:pPr marL="457200" indent="-457200">
              <a:lnSpc>
                <a:spcPct val="130000"/>
              </a:lnSpc>
              <a:spcAft>
                <a:spcPts val="1200"/>
              </a:spcAft>
              <a:buFontTx/>
              <a:buAutoNum type="arabicParenR"/>
              <a:defRPr/>
            </a:pPr>
            <a:r>
              <a:rPr kumimoji="0" lang="ru-RU" sz="2400" dirty="0">
                <a:latin typeface="Arial" pitchFamily="34" charset="0"/>
              </a:rPr>
              <a:t>Время доступа к памяти есть</a:t>
            </a:r>
            <a:r>
              <a:rPr kumimoji="0" lang="ru-RU" sz="2400" noProof="1"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(1)</a:t>
            </a:r>
            <a:r>
              <a:rPr kumimoji="0" lang="ru-RU" sz="2400" noProof="1"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</a:rPr>
              <a:t>независимо от того, чтение это или запись</a:t>
            </a:r>
            <a:r>
              <a:rPr kumimoji="0" lang="ru-RU" sz="2400" noProof="1">
                <a:latin typeface="Arial" pitchFamily="34" charset="0"/>
              </a:rPr>
              <a:t>.</a:t>
            </a:r>
          </a:p>
          <a:p>
            <a:pPr marL="457200" indent="-457200">
              <a:lnSpc>
                <a:spcPct val="130000"/>
              </a:lnSpc>
              <a:spcAft>
                <a:spcPct val="20000"/>
              </a:spcAft>
              <a:buFontTx/>
              <a:buAutoNum type="arabicParenR"/>
              <a:defRPr/>
            </a:pPr>
            <a:r>
              <a:rPr kumimoji="0" lang="ru-RU" sz="2400" dirty="0">
                <a:latin typeface="Arial" pitchFamily="34" charset="0"/>
              </a:rPr>
              <a:t>Время выполнения любых базовых операций на процессоре не зависит от значения аргументов</a:t>
            </a:r>
            <a:r>
              <a:rPr kumimoji="0" lang="ru-RU" sz="2400" noProof="1"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</a:rPr>
              <a:t>и есть</a:t>
            </a:r>
            <a:r>
              <a:rPr kumimoji="0" lang="ru-RU" sz="2400" noProof="1"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(1)</a:t>
            </a:r>
            <a:r>
              <a:rPr kumimoji="0" lang="ru-RU" sz="2400" noProof="1">
                <a:latin typeface="Arial" pitchFamily="34" charset="0"/>
              </a:rPr>
              <a:t>. 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06" y="1008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en-US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RAM (Random Access Machine)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allAtOnce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06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5306" y="1982789"/>
            <a:ext cx="8496300" cy="39655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algn="ctr">
              <a:lnSpc>
                <a:spcPct val="150000"/>
              </a:lnSpc>
              <a:spcAft>
                <a:spcPts val="1200"/>
              </a:spcAft>
              <a:defRPr/>
            </a:pPr>
            <a:r>
              <a:rPr kumimoji="0" lang="ru-RU" sz="2400" dirty="0">
                <a:latin typeface="Arial" pitchFamily="34" charset="0"/>
              </a:rPr>
              <a:t>Рассмотрим</a:t>
            </a:r>
            <a:r>
              <a:rPr kumimoji="0" lang="ru-RU" sz="2400" i="1" dirty="0"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</a:rPr>
              <a:t>множество данных </a:t>
            </a:r>
            <a:r>
              <a:rPr kumimoji="0" lang="en-US" sz="2400" i="1" dirty="0">
                <a:latin typeface="Arial" pitchFamily="34" charset="0"/>
              </a:rPr>
              <a:t>S</a:t>
            </a:r>
            <a:r>
              <a:rPr kumimoji="0" lang="ru-RU" sz="2400" i="1" dirty="0">
                <a:latin typeface="Arial" pitchFamily="34" charset="0"/>
              </a:rPr>
              <a:t>. </a:t>
            </a:r>
          </a:p>
          <a:p>
            <a:pPr marL="457200" indent="-457200" algn="ctr">
              <a:spcAft>
                <a:spcPts val="1200"/>
              </a:spcAft>
              <a:defRPr/>
            </a:pPr>
            <a:r>
              <a:rPr lang="ru-RU" sz="2400" dirty="0">
                <a:latin typeface="Arial" panose="020B0604020202020204" pitchFamily="34" charset="0"/>
              </a:rPr>
              <a:t>Каждый элемент массива хранит информацию, снабженную ключом. Все ключи в массиве различны</a:t>
            </a:r>
            <a:r>
              <a:rPr lang="en-US" sz="2400" dirty="0">
                <a:latin typeface="Arial" panose="020B0604020202020204" pitchFamily="34" charset="0"/>
              </a:rPr>
              <a:t>.</a:t>
            </a:r>
          </a:p>
          <a:p>
            <a:pPr marL="457200" indent="-457200" algn="ctr">
              <a:spcAft>
                <a:spcPts val="1200"/>
              </a:spcAft>
              <a:defRPr/>
            </a:pPr>
            <a:r>
              <a:rPr lang="ru-RU" sz="2400" dirty="0">
                <a:latin typeface="Arial" panose="020B0604020202020204" pitchFamily="34" charset="0"/>
              </a:rPr>
              <a:t>Требуется извлечь из массива данные, соответствующие некоторому ключу.</a:t>
            </a:r>
          </a:p>
          <a:p>
            <a:pPr marL="457200" indent="-457200" algn="ctr">
              <a:lnSpc>
                <a:spcPct val="150000"/>
              </a:lnSpc>
              <a:defRPr/>
            </a:pPr>
            <a:r>
              <a:rPr kumimoji="0" lang="en-US" sz="2400" i="1" dirty="0">
                <a:latin typeface="Arial" pitchFamily="34" charset="0"/>
              </a:rPr>
              <a:t>|S| = n</a:t>
            </a:r>
            <a:r>
              <a:rPr kumimoji="0" lang="en-US" sz="2400" dirty="0">
                <a:latin typeface="Arial" pitchFamily="34" charset="0"/>
              </a:rPr>
              <a:t>  – </a:t>
            </a:r>
            <a:r>
              <a:rPr kumimoji="0" lang="ru-RU" sz="2400" dirty="0">
                <a:latin typeface="Arial" pitchFamily="34" charset="0"/>
              </a:rPr>
              <a:t>мощность множества.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06" y="1008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поиска по ключу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0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5304" y="1982789"/>
            <a:ext cx="8496300" cy="39655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algn="ctr">
              <a:defRPr/>
            </a:pPr>
            <a:r>
              <a:rPr kumimoji="0" lang="ru-RU" sz="2800" dirty="0">
                <a:latin typeface="Arial" pitchFamily="34" charset="0"/>
              </a:rPr>
              <a:t>Время на проверку одного элемента -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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(1)</a:t>
            </a:r>
            <a:r>
              <a:rPr kumimoji="0" lang="ru-RU" sz="2800" i="1" dirty="0">
                <a:latin typeface="Arial" pitchFamily="34" charset="0"/>
              </a:rPr>
              <a:t>. </a:t>
            </a:r>
          </a:p>
          <a:p>
            <a:pPr marL="457200" indent="-457200" algn="ctr">
              <a:defRPr/>
            </a:pPr>
            <a:endParaRPr kumimoji="0" lang="ru-RU" sz="2800" dirty="0">
              <a:latin typeface="Arial" pitchFamily="34" charset="0"/>
            </a:endParaRPr>
          </a:p>
          <a:p>
            <a:pPr marL="457200" indent="-457200" algn="ctr">
              <a:defRPr/>
            </a:pPr>
            <a:r>
              <a:rPr kumimoji="0" lang="ru-RU" sz="2800" dirty="0">
                <a:latin typeface="Arial" pitchFamily="34" charset="0"/>
              </a:rPr>
              <a:t>Время на решение задачи при наихудших начальных данных </a:t>
            </a:r>
            <a:r>
              <a:rPr kumimoji="0" lang="en-US" sz="2800" i="1" dirty="0">
                <a:latin typeface="Arial" pitchFamily="34" charset="0"/>
              </a:rPr>
              <a:t>T(n)</a:t>
            </a:r>
            <a:r>
              <a:rPr kumimoji="0" lang="en-US" sz="2800" dirty="0">
                <a:latin typeface="Arial" pitchFamily="34" charset="0"/>
              </a:rPr>
              <a:t> = </a:t>
            </a:r>
            <a:r>
              <a:rPr kumimoji="0" lang="en-US" sz="2800" i="1" dirty="0">
                <a:latin typeface="Arial" pitchFamily="34" charset="0"/>
              </a:rPr>
              <a:t>n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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(1)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 = 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(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)</a:t>
            </a:r>
            <a:r>
              <a:rPr kumimoji="0" lang="ru-RU" sz="2800" dirty="0">
                <a:latin typeface="Arial" pitchFamily="34" charset="0"/>
              </a:rPr>
              <a:t>.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04" y="1008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поиска по ключу. Алгоритм перебора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2247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allAtOnce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10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5310" y="1982789"/>
            <a:ext cx="8496300" cy="39655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algn="ctr">
              <a:lnSpc>
                <a:spcPct val="150000"/>
              </a:lnSpc>
              <a:defRPr/>
            </a:pPr>
            <a:r>
              <a:rPr lang="ru-RU" sz="2800" dirty="0">
                <a:latin typeface="Arial" panose="020B0604020202020204" pitchFamily="34" charset="0"/>
              </a:rPr>
              <a:t>Задано множество чисел </a:t>
            </a:r>
            <a:r>
              <a:rPr lang="en-US" sz="2800" i="1" dirty="0">
                <a:latin typeface="Arial" panose="020B0604020202020204" pitchFamily="34" charset="0"/>
              </a:rPr>
              <a:t>S</a:t>
            </a:r>
            <a:r>
              <a:rPr lang="ru-RU" sz="2800" dirty="0">
                <a:latin typeface="Arial" panose="020B0604020202020204" pitchFamily="34" charset="0"/>
              </a:rPr>
              <a:t>, которые необходимо расположить в порядке возрастания. Мощность множества |</a:t>
            </a:r>
            <a:r>
              <a:rPr lang="en-US" sz="2800" i="1" dirty="0">
                <a:latin typeface="Arial" panose="020B0604020202020204" pitchFamily="34" charset="0"/>
              </a:rPr>
              <a:t>S</a:t>
            </a:r>
            <a:r>
              <a:rPr lang="ru-RU" sz="2800" dirty="0">
                <a:latin typeface="Arial" panose="020B0604020202020204" pitchFamily="34" charset="0"/>
              </a:rPr>
              <a:t>| = </a:t>
            </a:r>
            <a:r>
              <a:rPr lang="en-US" sz="2800" i="1" dirty="0">
                <a:latin typeface="Arial" panose="020B0604020202020204" pitchFamily="34" charset="0"/>
              </a:rPr>
              <a:t>n</a:t>
            </a:r>
            <a:r>
              <a:rPr lang="ru-RU" sz="2800" dirty="0">
                <a:latin typeface="Arial" panose="020B0604020202020204" pitchFamily="34" charset="0"/>
              </a:rPr>
              <a:t>.</a:t>
            </a:r>
            <a:endParaRPr kumimoji="0" lang="ru-RU" sz="2800" dirty="0">
              <a:latin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10" y="1008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сортировки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68640133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10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8760" y="1980000"/>
            <a:ext cx="8748000" cy="3960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1116000" indent="-1116000">
              <a:defRPr/>
            </a:pPr>
            <a:r>
              <a:rPr lang="ru-RU" sz="2800" dirty="0">
                <a:latin typeface="Arial" panose="020B0604020202020204" pitchFamily="34" charset="0"/>
              </a:rPr>
              <a:t>Шаг 1. Если |</a:t>
            </a:r>
            <a:r>
              <a:rPr lang="en-US" sz="2800" i="1" dirty="0">
                <a:latin typeface="Arial" panose="020B0604020202020204" pitchFamily="34" charset="0"/>
              </a:rPr>
              <a:t>S</a:t>
            </a:r>
            <a:r>
              <a:rPr lang="ru-RU" sz="2800" dirty="0">
                <a:latin typeface="Arial" panose="020B0604020202020204" pitchFamily="34" charset="0"/>
              </a:rPr>
              <a:t>|=1, то множество отсортировано. </a:t>
            </a:r>
            <a:r>
              <a:rPr kumimoji="0" lang="ru-RU" sz="2800" dirty="0">
                <a:latin typeface="Arial" panose="020B0604020202020204" pitchFamily="34" charset="0"/>
              </a:rPr>
              <a:t>Иначе </a:t>
            </a:r>
            <a:r>
              <a:rPr lang="ru-RU" sz="2800" dirty="0">
                <a:latin typeface="Arial" panose="020B0604020202020204" pitchFamily="34" charset="0"/>
              </a:rPr>
              <a:t>разобьем его на два подмножества </a:t>
            </a:r>
            <a:r>
              <a:rPr lang="en-US" sz="2800" i="1" dirty="0">
                <a:latin typeface="Arial" panose="020B0604020202020204" pitchFamily="34" charset="0"/>
              </a:rPr>
              <a:t>S</a:t>
            </a:r>
            <a:r>
              <a:rPr lang="en-US" sz="2800" baseline="-25000" dirty="0">
                <a:latin typeface="Arial" panose="020B0604020202020204" pitchFamily="34" charset="0"/>
              </a:rPr>
              <a:t>1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ru-RU" sz="2800" dirty="0">
                <a:latin typeface="Arial" panose="020B0604020202020204" pitchFamily="34" charset="0"/>
              </a:rPr>
              <a:t>и </a:t>
            </a:r>
            <a:r>
              <a:rPr lang="en-US" sz="2800" i="1" dirty="0">
                <a:latin typeface="Arial" panose="020B0604020202020204" pitchFamily="34" charset="0"/>
              </a:rPr>
              <a:t>S</a:t>
            </a:r>
            <a:r>
              <a:rPr lang="en-US" sz="2800" baseline="-25000" dirty="0">
                <a:latin typeface="Arial" panose="020B0604020202020204" pitchFamily="34" charset="0"/>
              </a:rPr>
              <a:t>2</a:t>
            </a:r>
            <a:r>
              <a:rPr lang="ru-RU" sz="2800" dirty="0">
                <a:latin typeface="Arial" panose="020B0604020202020204" pitchFamily="34" charset="0"/>
              </a:rPr>
              <a:t> примерно одинаковой длины |</a:t>
            </a:r>
            <a:r>
              <a:rPr lang="en-US" sz="2800" i="1" dirty="0">
                <a:latin typeface="Arial" panose="020B0604020202020204" pitchFamily="34" charset="0"/>
              </a:rPr>
              <a:t>S</a:t>
            </a:r>
            <a:r>
              <a:rPr lang="ru-RU" sz="2800" dirty="0">
                <a:latin typeface="Arial" panose="020B0604020202020204" pitchFamily="34" charset="0"/>
              </a:rPr>
              <a:t>|/2.</a:t>
            </a:r>
            <a:endParaRPr kumimoji="0" lang="ru-RU" sz="2800" dirty="0">
              <a:latin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10" y="1008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сортировки. Алгоритм слияния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42724447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1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8764" y="1980000"/>
            <a:ext cx="8748000" cy="3960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1116000" indent="-1116000">
              <a:defRPr/>
            </a:pPr>
            <a:r>
              <a:rPr lang="ru-RU" sz="2800" dirty="0">
                <a:latin typeface="Arial" panose="020B0604020202020204" pitchFamily="34" charset="0"/>
              </a:rPr>
              <a:t>Шаг 2.</a:t>
            </a:r>
            <a:r>
              <a:rPr lang="ru-RU" sz="2800" dirty="0"/>
              <a:t> </a:t>
            </a:r>
            <a:r>
              <a:rPr lang="ru-RU" sz="2800" dirty="0">
                <a:latin typeface="Arial" panose="020B0604020202020204" pitchFamily="34" charset="0"/>
              </a:rPr>
              <a:t>Каждое из </a:t>
            </a:r>
            <a:r>
              <a:rPr lang="en-US" sz="2800" i="1" dirty="0">
                <a:latin typeface="Arial" panose="020B0604020202020204" pitchFamily="34" charset="0"/>
              </a:rPr>
              <a:t>S</a:t>
            </a:r>
            <a:r>
              <a:rPr lang="en-US" sz="2800" baseline="-25000" dirty="0">
                <a:latin typeface="Arial" panose="020B0604020202020204" pitchFamily="34" charset="0"/>
              </a:rPr>
              <a:t>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ru-RU" sz="2800" dirty="0">
                <a:latin typeface="Arial" panose="020B0604020202020204" pitchFamily="34" charset="0"/>
              </a:rPr>
              <a:t>сортируем, рекурсивно запустив наш алгоритм.</a:t>
            </a:r>
            <a:endParaRPr kumimoji="0" lang="ru-RU" sz="2800" dirty="0">
              <a:latin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14" y="1008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сортировки. Алгоритм слияния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08342786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10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8760" y="1980000"/>
            <a:ext cx="8748000" cy="3960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1116000" indent="-1116000">
              <a:defRPr/>
            </a:pPr>
            <a:r>
              <a:rPr lang="ru-RU" sz="2800" dirty="0">
                <a:latin typeface="Arial" panose="020B0604020202020204" pitchFamily="34" charset="0"/>
              </a:rPr>
              <a:t>Шаг 3.</a:t>
            </a:r>
            <a:r>
              <a:rPr lang="ru-RU" sz="2800" dirty="0"/>
              <a:t> </a:t>
            </a:r>
            <a:r>
              <a:rPr lang="ru-RU" sz="2800" dirty="0">
                <a:latin typeface="Arial" panose="020B0604020202020204" pitchFamily="34" charset="0"/>
              </a:rPr>
              <a:t>Отсортированные подмножества </a:t>
            </a:r>
            <a:r>
              <a:rPr lang="en-US" sz="2800" i="1" dirty="0">
                <a:latin typeface="Arial" panose="020B0604020202020204" pitchFamily="34" charset="0"/>
              </a:rPr>
              <a:t>S</a:t>
            </a:r>
            <a:r>
              <a:rPr lang="en-US" sz="2800" baseline="-25000" dirty="0">
                <a:latin typeface="Arial" panose="020B0604020202020204" pitchFamily="34" charset="0"/>
              </a:rPr>
              <a:t>i</a:t>
            </a:r>
            <a:r>
              <a:rPr lang="ru-RU" sz="2800" dirty="0">
                <a:latin typeface="Arial" panose="020B0604020202020204" pitchFamily="34" charset="0"/>
              </a:rPr>
              <a:t> сливаем в одно множество с сохранением порядка</a:t>
            </a:r>
            <a:r>
              <a:rPr lang="ru-RU" sz="2400" dirty="0">
                <a:latin typeface="Arial" panose="020B0604020202020204" pitchFamily="34" charset="0"/>
              </a:rPr>
              <a:t>.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10" y="1008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сортировки. Алгоритм слияния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42037460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06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8756" y="1980000"/>
            <a:ext cx="8748000" cy="3960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1116000" indent="-1116000">
              <a:defRPr/>
            </a:pPr>
            <a:r>
              <a:rPr lang="ru-RU" sz="2800" dirty="0">
                <a:latin typeface="Arial" panose="020B0604020202020204" pitchFamily="34" charset="0"/>
              </a:rPr>
              <a:t>Шаг 1. Если |</a:t>
            </a:r>
            <a:r>
              <a:rPr lang="en-US" sz="2800" i="1" dirty="0">
                <a:latin typeface="Arial" panose="020B0604020202020204" pitchFamily="34" charset="0"/>
              </a:rPr>
              <a:t>S</a:t>
            </a:r>
            <a:r>
              <a:rPr lang="ru-RU" sz="2800" dirty="0">
                <a:latin typeface="Arial" panose="020B0604020202020204" pitchFamily="34" charset="0"/>
              </a:rPr>
              <a:t>|=1, то множество отсортировано. </a:t>
            </a:r>
          </a:p>
          <a:p>
            <a:pPr marL="1440000">
              <a:defRPr/>
            </a:pPr>
            <a:endParaRPr lang="ru-RU" sz="2800" dirty="0">
              <a:latin typeface="Arial" panose="020B0604020202020204" pitchFamily="34" charset="0"/>
            </a:endParaRPr>
          </a:p>
          <a:p>
            <a:pPr marL="1800000">
              <a:defRPr/>
            </a:pPr>
            <a:r>
              <a:rPr lang="en-US" sz="2800" i="1" dirty="0">
                <a:latin typeface="Arial" panose="020B0604020202020204" pitchFamily="34" charset="0"/>
              </a:rPr>
              <a:t>T</a:t>
            </a:r>
            <a:r>
              <a:rPr lang="en-US" sz="2800" baseline="-25000" dirty="0">
                <a:latin typeface="Arial" panose="020B0604020202020204" pitchFamily="34" charset="0"/>
              </a:rPr>
              <a:t>1</a:t>
            </a:r>
            <a:r>
              <a:rPr lang="en-US" sz="2800" dirty="0">
                <a:latin typeface="Arial" panose="020B0604020202020204" pitchFamily="34" charset="0"/>
              </a:rPr>
              <a:t>(</a:t>
            </a:r>
            <a:r>
              <a:rPr lang="en-US" sz="2800" i="1" dirty="0">
                <a:latin typeface="Arial" panose="020B0604020202020204" pitchFamily="34" charset="0"/>
              </a:rPr>
              <a:t>n</a:t>
            </a:r>
            <a:r>
              <a:rPr lang="en-US" sz="2800" dirty="0">
                <a:latin typeface="Arial" panose="020B0604020202020204" pitchFamily="34" charset="0"/>
              </a:rPr>
              <a:t>) =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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(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1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)</a:t>
            </a:r>
            <a:endParaRPr lang="ru-RU" sz="2800" dirty="0">
              <a:latin typeface="Arial" panose="020B0604020202020204" pitchFamily="34" charset="0"/>
            </a:endParaRPr>
          </a:p>
          <a:p>
            <a:pPr marL="1440000">
              <a:defRPr/>
            </a:pPr>
            <a:endParaRPr lang="ru-RU" sz="2800" dirty="0">
              <a:latin typeface="Arial" panose="020B0604020202020204" pitchFamily="34" charset="0"/>
            </a:endParaRPr>
          </a:p>
          <a:p>
            <a:pPr marL="1116000">
              <a:defRPr/>
            </a:pPr>
            <a:r>
              <a:rPr kumimoji="0" lang="ru-RU" sz="2800" dirty="0">
                <a:latin typeface="Arial" panose="020B0604020202020204" pitchFamily="34" charset="0"/>
              </a:rPr>
              <a:t>Иначе </a:t>
            </a:r>
            <a:r>
              <a:rPr lang="ru-RU" sz="2800" dirty="0">
                <a:latin typeface="Arial" panose="020B0604020202020204" pitchFamily="34" charset="0"/>
              </a:rPr>
              <a:t>разобьем его на два подмножества </a:t>
            </a:r>
            <a:r>
              <a:rPr lang="en-US" sz="2800" i="1" dirty="0">
                <a:latin typeface="Arial" panose="020B0604020202020204" pitchFamily="34" charset="0"/>
              </a:rPr>
              <a:t>S</a:t>
            </a:r>
            <a:r>
              <a:rPr lang="en-US" sz="2800" baseline="-25000" dirty="0">
                <a:latin typeface="Arial" panose="020B0604020202020204" pitchFamily="34" charset="0"/>
              </a:rPr>
              <a:t>1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ru-RU" sz="2800" dirty="0">
                <a:latin typeface="Arial" panose="020B0604020202020204" pitchFamily="34" charset="0"/>
              </a:rPr>
              <a:t>и </a:t>
            </a:r>
            <a:r>
              <a:rPr lang="en-US" sz="2800" i="1" dirty="0">
                <a:latin typeface="Arial" panose="020B0604020202020204" pitchFamily="34" charset="0"/>
              </a:rPr>
              <a:t>S</a:t>
            </a:r>
            <a:r>
              <a:rPr lang="en-US" sz="2800" baseline="-25000" dirty="0">
                <a:latin typeface="Arial" panose="020B0604020202020204" pitchFamily="34" charset="0"/>
              </a:rPr>
              <a:t>2</a:t>
            </a:r>
            <a:r>
              <a:rPr lang="ru-RU" sz="2800" dirty="0">
                <a:latin typeface="Arial" panose="020B0604020202020204" pitchFamily="34" charset="0"/>
              </a:rPr>
              <a:t> примерно одинаковой длины |</a:t>
            </a:r>
            <a:r>
              <a:rPr lang="en-US" sz="2800" i="1" dirty="0">
                <a:latin typeface="Arial" panose="020B0604020202020204" pitchFamily="34" charset="0"/>
              </a:rPr>
              <a:t>S</a:t>
            </a:r>
            <a:r>
              <a:rPr lang="ru-RU" sz="2800" dirty="0">
                <a:latin typeface="Arial" panose="020B0604020202020204" pitchFamily="34" charset="0"/>
              </a:rPr>
              <a:t>|/2.</a:t>
            </a:r>
            <a:endParaRPr lang="en-US" sz="2800" dirty="0">
              <a:latin typeface="Arial" panose="020B0604020202020204" pitchFamily="34" charset="0"/>
            </a:endParaRPr>
          </a:p>
          <a:p>
            <a:pPr marL="972000">
              <a:defRPr/>
            </a:pPr>
            <a:endParaRPr lang="en-US" sz="2800" dirty="0">
              <a:latin typeface="Arial" panose="020B0604020202020204" pitchFamily="34" charset="0"/>
            </a:endParaRPr>
          </a:p>
          <a:p>
            <a:pPr marL="1800000">
              <a:defRPr/>
            </a:pPr>
            <a:r>
              <a:rPr lang="en-US" sz="2800" i="1" dirty="0">
                <a:latin typeface="Arial" panose="020B0604020202020204" pitchFamily="34" charset="0"/>
              </a:rPr>
              <a:t>T</a:t>
            </a:r>
            <a:r>
              <a:rPr lang="en-US" sz="2800" baseline="-25000" dirty="0">
                <a:latin typeface="Arial" panose="020B0604020202020204" pitchFamily="34" charset="0"/>
              </a:rPr>
              <a:t>1</a:t>
            </a:r>
            <a:r>
              <a:rPr lang="en-US" sz="2800" dirty="0">
                <a:latin typeface="Arial" panose="020B0604020202020204" pitchFamily="34" charset="0"/>
              </a:rPr>
              <a:t>(</a:t>
            </a:r>
            <a:r>
              <a:rPr lang="en-US" sz="2800" i="1" dirty="0">
                <a:latin typeface="Arial" panose="020B0604020202020204" pitchFamily="34" charset="0"/>
              </a:rPr>
              <a:t>n</a:t>
            </a:r>
            <a:r>
              <a:rPr lang="en-US" sz="2800" dirty="0">
                <a:latin typeface="Arial" panose="020B0604020202020204" pitchFamily="34" charset="0"/>
              </a:rPr>
              <a:t>) =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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(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1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)</a:t>
            </a:r>
            <a:endParaRPr kumimoji="0" lang="ru-RU" sz="2800" dirty="0">
              <a:latin typeface="Arial" panose="020B0604020202020204" pitchFamily="34" charset="0"/>
            </a:endParaRPr>
          </a:p>
          <a:p>
            <a:pPr marL="972000">
              <a:defRPr/>
            </a:pPr>
            <a:endParaRPr kumimoji="0" lang="ru-RU" sz="2400" dirty="0">
              <a:latin typeface="Arial" panose="020B0604020202020204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06" y="1008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сортировки. Алгоритм слияния</a:t>
            </a: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6102567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06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8756" y="1980001"/>
            <a:ext cx="8748000" cy="46398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1116000" indent="-1116000">
              <a:defRPr/>
            </a:pPr>
            <a:r>
              <a:rPr lang="ru-RU" sz="2800" dirty="0">
                <a:latin typeface="Arial" panose="020B0604020202020204" pitchFamily="34" charset="0"/>
              </a:rPr>
              <a:t>Шаг 2.</a:t>
            </a:r>
            <a:r>
              <a:rPr lang="ru-RU" sz="2800" dirty="0"/>
              <a:t> </a:t>
            </a:r>
            <a:r>
              <a:rPr lang="ru-RU" sz="2800" dirty="0">
                <a:latin typeface="Arial" panose="020B0604020202020204" pitchFamily="34" charset="0"/>
              </a:rPr>
              <a:t>Каждое из </a:t>
            </a:r>
            <a:r>
              <a:rPr lang="en-US" sz="2800" i="1" dirty="0">
                <a:latin typeface="Arial" panose="020B0604020202020204" pitchFamily="34" charset="0"/>
              </a:rPr>
              <a:t>S</a:t>
            </a:r>
            <a:r>
              <a:rPr lang="en-US" sz="2800" baseline="-25000" dirty="0">
                <a:latin typeface="Arial" panose="020B0604020202020204" pitchFamily="34" charset="0"/>
              </a:rPr>
              <a:t>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ru-RU" sz="2800" dirty="0">
                <a:latin typeface="Arial" panose="020B0604020202020204" pitchFamily="34" charset="0"/>
              </a:rPr>
              <a:t>сортируем, рекурсивно запустив наш алгоритм.</a:t>
            </a:r>
            <a:endParaRPr lang="en-US" sz="2800" dirty="0">
              <a:latin typeface="Arial" panose="020B0604020202020204" pitchFamily="34" charset="0"/>
            </a:endParaRPr>
          </a:p>
          <a:p>
            <a:pPr marL="972000" indent="-972000">
              <a:defRPr/>
            </a:pPr>
            <a:endParaRPr lang="en-US" sz="2800" dirty="0">
              <a:latin typeface="Arial" panose="020B0604020202020204" pitchFamily="34" charset="0"/>
            </a:endParaRPr>
          </a:p>
          <a:p>
            <a:pPr marL="1116000" indent="-1116000">
              <a:defRPr/>
            </a:pPr>
            <a:r>
              <a:rPr lang="ru-RU" sz="2800" dirty="0">
                <a:latin typeface="Arial" panose="020B0604020202020204" pitchFamily="34" charset="0"/>
              </a:rPr>
              <a:t>Время сортировки каждого </a:t>
            </a:r>
            <a:r>
              <a:rPr lang="en-US" sz="2800" i="1" dirty="0">
                <a:latin typeface="Arial" panose="020B0604020202020204" pitchFamily="34" charset="0"/>
              </a:rPr>
              <a:t>S</a:t>
            </a:r>
            <a:r>
              <a:rPr lang="en-US" sz="2800" baseline="-25000" dirty="0">
                <a:latin typeface="Arial" panose="020B0604020202020204" pitchFamily="34" charset="0"/>
              </a:rPr>
              <a:t>i</a:t>
            </a:r>
            <a:r>
              <a:rPr lang="ru-RU" sz="2800" dirty="0">
                <a:latin typeface="Arial" panose="020B0604020202020204" pitchFamily="34" charset="0"/>
              </a:rPr>
              <a:t> :</a:t>
            </a:r>
          </a:p>
          <a:p>
            <a:pPr marL="1116000" indent="-1116000">
              <a:defRPr/>
            </a:pPr>
            <a:endParaRPr lang="ru-RU" sz="2800" dirty="0">
              <a:latin typeface="Arial" panose="020B0604020202020204" pitchFamily="34" charset="0"/>
            </a:endParaRPr>
          </a:p>
          <a:p>
            <a:pPr marL="1116000" indent="-1116000">
              <a:defRPr/>
            </a:pPr>
            <a:endParaRPr lang="ru-RU" sz="2800" dirty="0">
              <a:latin typeface="Arial" panose="020B0604020202020204" pitchFamily="34" charset="0"/>
            </a:endParaRPr>
          </a:p>
          <a:p>
            <a:pPr marL="1116000" indent="-1116000">
              <a:defRPr/>
            </a:pPr>
            <a:endParaRPr lang="ru-RU" sz="2800" dirty="0">
              <a:latin typeface="Arial" panose="020B0604020202020204" pitchFamily="34" charset="0"/>
            </a:endParaRPr>
          </a:p>
          <a:p>
            <a:pPr marL="1116000" indent="-1116000">
              <a:defRPr/>
            </a:pPr>
            <a:r>
              <a:rPr lang="ru-RU" sz="2800" dirty="0">
                <a:latin typeface="Arial" panose="020B0604020202020204" pitchFamily="34" charset="0"/>
              </a:rPr>
              <a:t>Окончательно:</a:t>
            </a:r>
          </a:p>
          <a:p>
            <a:pPr marL="1116000" indent="-1116000">
              <a:defRPr/>
            </a:pPr>
            <a:endParaRPr lang="ru-RU" sz="2800" dirty="0">
              <a:latin typeface="Arial" panose="020B0604020202020204" pitchFamily="34" charset="0"/>
            </a:endParaRPr>
          </a:p>
          <a:p>
            <a:pPr marL="1116000" indent="-1116000">
              <a:defRPr/>
            </a:pPr>
            <a:r>
              <a:rPr lang="ru-RU" sz="2800" dirty="0">
                <a:latin typeface="Arial" panose="020B0604020202020204" pitchFamily="34" charset="0"/>
              </a:rPr>
              <a:t> </a:t>
            </a:r>
            <a:br>
              <a:rPr lang="ru-RU" sz="2800" dirty="0">
                <a:latin typeface="Arial" panose="020B0604020202020204" pitchFamily="34" charset="0"/>
              </a:rPr>
            </a:br>
            <a:endParaRPr kumimoji="0" lang="en-US" sz="2800" dirty="0">
              <a:latin typeface="Arial" panose="020B0604020202020204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06" y="1008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сортировки. Алгоритм слияния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4249BCB-86ED-431D-B0E1-41A1B7BD74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2711667"/>
              </p:ext>
            </p:extLst>
          </p:nvPr>
        </p:nvGraphicFramePr>
        <p:xfrm>
          <a:off x="5381907" y="3760981"/>
          <a:ext cx="3452813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49080" imgH="482400" progId="Equation.DSMT4">
                  <p:embed/>
                </p:oleObj>
              </mc:Choice>
              <mc:Fallback>
                <p:oleObj name="Equation" r:id="rId3" imgW="1549080" imgH="48240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A054E55A-26AE-4669-BDCE-1B6D6A31C0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907" y="3760981"/>
                        <a:ext cx="3452813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D32B5576-10CB-4D08-91D4-DDFCC6A83C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797595"/>
              </p:ext>
            </p:extLst>
          </p:nvPr>
        </p:nvGraphicFramePr>
        <p:xfrm>
          <a:off x="6069114" y="5277417"/>
          <a:ext cx="2206625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90360" imgH="431640" progId="Equation.DSMT4">
                  <p:embed/>
                </p:oleObj>
              </mc:Choice>
              <mc:Fallback>
                <p:oleObj name="Equation" r:id="rId5" imgW="990360" imgH="4316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C4249BCB-86ED-431D-B0E1-41A1B7BD74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9114" y="5277417"/>
                        <a:ext cx="2206625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530378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08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8758" y="1980000"/>
            <a:ext cx="8748000" cy="3960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1116000" indent="-1116000">
              <a:defRPr/>
            </a:pPr>
            <a:r>
              <a:rPr lang="ru-RU" sz="2800" dirty="0">
                <a:latin typeface="Arial" panose="020B0604020202020204" pitchFamily="34" charset="0"/>
              </a:rPr>
              <a:t>Шаг 3.</a:t>
            </a:r>
            <a:r>
              <a:rPr lang="ru-RU" sz="2800" dirty="0"/>
              <a:t> </a:t>
            </a:r>
            <a:r>
              <a:rPr lang="ru-RU" sz="2800" dirty="0">
                <a:latin typeface="Arial" panose="020B0604020202020204" pitchFamily="34" charset="0"/>
              </a:rPr>
              <a:t>Отсортированные подмножества </a:t>
            </a:r>
            <a:r>
              <a:rPr lang="en-US" sz="2800" i="1" dirty="0">
                <a:latin typeface="Arial" panose="020B0604020202020204" pitchFamily="34" charset="0"/>
              </a:rPr>
              <a:t>S</a:t>
            </a:r>
            <a:r>
              <a:rPr lang="en-US" sz="2800" baseline="-25000" dirty="0">
                <a:latin typeface="Arial" panose="020B0604020202020204" pitchFamily="34" charset="0"/>
              </a:rPr>
              <a:t>i</a:t>
            </a:r>
            <a:r>
              <a:rPr lang="ru-RU" sz="2800" dirty="0">
                <a:latin typeface="Arial" panose="020B0604020202020204" pitchFamily="34" charset="0"/>
              </a:rPr>
              <a:t> сливаем в одно множество с сохранением порядка.</a:t>
            </a:r>
            <a:endParaRPr lang="en-US" sz="2800" dirty="0">
              <a:latin typeface="Arial" panose="020B0604020202020204" pitchFamily="34" charset="0"/>
            </a:endParaRPr>
          </a:p>
          <a:p>
            <a:pPr marL="972000" indent="-972000">
              <a:defRPr/>
            </a:pPr>
            <a:endParaRPr kumimoji="0" lang="en-US" sz="2800" dirty="0">
              <a:latin typeface="Arial" panose="020B0604020202020204" pitchFamily="34" charset="0"/>
            </a:endParaRPr>
          </a:p>
          <a:p>
            <a:pPr marL="1800000">
              <a:defRPr/>
            </a:pPr>
            <a:r>
              <a:rPr kumimoji="0" lang="en-US" sz="2800" i="1" dirty="0">
                <a:latin typeface="Arial" panose="020B0604020202020204" pitchFamily="34" charset="0"/>
              </a:rPr>
              <a:t>T</a:t>
            </a:r>
            <a:r>
              <a:rPr kumimoji="0" lang="en-US" sz="2800" baseline="-25000" dirty="0">
                <a:latin typeface="Arial" panose="020B0604020202020204" pitchFamily="34" charset="0"/>
              </a:rPr>
              <a:t>3</a:t>
            </a:r>
            <a:r>
              <a:rPr kumimoji="0" lang="en-US" sz="2800" dirty="0">
                <a:latin typeface="Arial" panose="020B0604020202020204" pitchFamily="34" charset="0"/>
              </a:rPr>
              <a:t>(</a:t>
            </a:r>
            <a:r>
              <a:rPr kumimoji="0" lang="en-US" sz="2800" i="1" dirty="0">
                <a:latin typeface="Arial" panose="020B0604020202020204" pitchFamily="34" charset="0"/>
              </a:rPr>
              <a:t>n</a:t>
            </a:r>
            <a:r>
              <a:rPr kumimoji="0" lang="en-US" sz="2800" dirty="0">
                <a:latin typeface="Arial" panose="020B0604020202020204" pitchFamily="34" charset="0"/>
              </a:rPr>
              <a:t>) = c</a:t>
            </a:r>
            <a:r>
              <a:rPr kumimoji="0" lang="en-US" sz="2800" baseline="-25000" dirty="0">
                <a:latin typeface="Arial" panose="020B0604020202020204" pitchFamily="34" charset="0"/>
              </a:rPr>
              <a:t>0</a:t>
            </a:r>
            <a:r>
              <a:rPr kumimoji="0" lang="en-US" sz="2800" i="1" dirty="0">
                <a:latin typeface="Arial" panose="020B0604020202020204" pitchFamily="34" charset="0"/>
              </a:rPr>
              <a:t>n</a:t>
            </a:r>
          </a:p>
          <a:p>
            <a:pPr marL="972000" indent="-972000">
              <a:defRPr/>
            </a:pP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08" y="1008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сортировки. Алгоритм слияния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4915020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07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8757" y="1767840"/>
            <a:ext cx="8748000" cy="4484914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1116000" indent="-1116000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defRPr/>
            </a:pPr>
            <a:r>
              <a:rPr kumimoji="0" lang="ru-RU" sz="2600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600" dirty="0">
                <a:latin typeface="Arial" panose="020B0604020202020204" pitchFamily="34" charset="0"/>
              </a:rPr>
              <a:t> </a:t>
            </a:r>
            <a:endParaRPr kumimoji="0" lang="ru-RU" sz="2600" dirty="0">
              <a:latin typeface="Arial" panose="020B0604020202020204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07" y="1008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сортировки. Алгоритм слияния</a:t>
            </a: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A054E55A-26AE-4669-BDCE-1B6D6A31C0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7810501"/>
              </p:ext>
            </p:extLst>
          </p:nvPr>
        </p:nvGraphicFramePr>
        <p:xfrm>
          <a:off x="4830456" y="2688548"/>
          <a:ext cx="22066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90360" imgH="431640" progId="Equation.DSMT4">
                  <p:embed/>
                </p:oleObj>
              </mc:Choice>
              <mc:Fallback>
                <p:oleObj name="Equation" r:id="rId3" imgW="990360" imgH="431640" progId="Equation.DSMT4">
                  <p:embed/>
                  <p:pic>
                    <p:nvPicPr>
                      <p:cNvPr id="460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0456" y="2688548"/>
                        <a:ext cx="220662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F39830D-806E-49C7-B595-15A19EE0E021}"/>
              </a:ext>
            </a:extLst>
          </p:cNvPr>
          <p:cNvSpPr txBox="1"/>
          <p:nvPr/>
        </p:nvSpPr>
        <p:spPr>
          <a:xfrm>
            <a:off x="3552564" y="2168435"/>
            <a:ext cx="121049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>
                <a:latin typeface="Arial" panose="020B0604020202020204" pitchFamily="34" charset="0"/>
              </a:rPr>
              <a:t>Шаг 1.</a:t>
            </a: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445FCD1E-D644-4E20-8F86-41D4B160BF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291976"/>
              </p:ext>
            </p:extLst>
          </p:nvPr>
        </p:nvGraphicFramePr>
        <p:xfrm>
          <a:off x="4830456" y="2142580"/>
          <a:ext cx="1838325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480" imgH="253800" progId="Equation.DSMT4">
                  <p:embed/>
                </p:oleObj>
              </mc:Choice>
              <mc:Fallback>
                <p:oleObj name="Equation" r:id="rId5" imgW="825480" imgH="25380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A054E55A-26AE-4669-BDCE-1B6D6A31C0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0456" y="2142580"/>
                        <a:ext cx="1838325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9F10F99-179E-42E2-91C2-CD8942A15919}"/>
              </a:ext>
            </a:extLst>
          </p:cNvPr>
          <p:cNvSpPr txBox="1"/>
          <p:nvPr/>
        </p:nvSpPr>
        <p:spPr>
          <a:xfrm>
            <a:off x="3556917" y="2895611"/>
            <a:ext cx="121049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>
                <a:latin typeface="Arial" panose="020B0604020202020204" pitchFamily="34" charset="0"/>
              </a:rPr>
              <a:t>Шаг 2.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54A6BE-FA1B-4E68-B942-4E0AECC85490}"/>
              </a:ext>
            </a:extLst>
          </p:cNvPr>
          <p:cNvSpPr txBox="1"/>
          <p:nvPr/>
        </p:nvSpPr>
        <p:spPr>
          <a:xfrm>
            <a:off x="3548207" y="3766450"/>
            <a:ext cx="121049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>
                <a:latin typeface="Arial" panose="020B0604020202020204" pitchFamily="34" charset="0"/>
              </a:rPr>
              <a:t>Шаг 3.</a:t>
            </a:r>
          </a:p>
        </p:txBody>
      </p:sp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C38E3ABA-ADEF-4D3D-91AC-733C0B8FDA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7267522"/>
              </p:ext>
            </p:extLst>
          </p:nvPr>
        </p:nvGraphicFramePr>
        <p:xfrm>
          <a:off x="4924707" y="3740150"/>
          <a:ext cx="1639888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36560" imgH="253800" progId="Equation.DSMT4">
                  <p:embed/>
                </p:oleObj>
              </mc:Choice>
              <mc:Fallback>
                <p:oleObj name="Equation" r:id="rId7" imgW="736560" imgH="253800" progId="Equation.DSMT4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445FCD1E-D644-4E20-8F86-41D4B160BF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4707" y="3740150"/>
                        <a:ext cx="1639888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E4F61D91-3C84-4C6C-9444-5B3D36E4C2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934865"/>
              </p:ext>
            </p:extLst>
          </p:nvPr>
        </p:nvGraphicFramePr>
        <p:xfrm>
          <a:off x="6707945" y="4627404"/>
          <a:ext cx="28559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82680" imgH="431640" progId="Equation.DSMT4">
                  <p:embed/>
                </p:oleObj>
              </mc:Choice>
              <mc:Fallback>
                <p:oleObj name="Equation" r:id="rId9" imgW="1282680" imgH="43164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A054E55A-26AE-4669-BDCE-1B6D6A31C0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7945" y="4627404"/>
                        <a:ext cx="285591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7382D67-A9F3-4451-8831-F96BAFF2E2F5}"/>
              </a:ext>
            </a:extLst>
          </p:cNvPr>
          <p:cNvSpPr txBox="1"/>
          <p:nvPr/>
        </p:nvSpPr>
        <p:spPr>
          <a:xfrm>
            <a:off x="5451035" y="4807123"/>
            <a:ext cx="121049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>
                <a:latin typeface="Arial" panose="020B0604020202020204" pitchFamily="34" charset="0"/>
              </a:rPr>
              <a:t>Итого:</a:t>
            </a:r>
          </a:p>
        </p:txBody>
      </p:sp>
    </p:spTree>
    <p:extLst>
      <p:ext uri="{BB962C8B-B14F-4D97-AF65-F5344CB8AC3E}">
        <p14:creationId xmlns:p14="http://schemas.microsoft.com/office/powerpoint/2010/main" val="170293788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10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8760" y="1706438"/>
            <a:ext cx="8748000" cy="49134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1800000">
              <a:spcAft>
                <a:spcPts val="600"/>
              </a:spcAft>
              <a:defRPr/>
            </a:pPr>
            <a:endParaRPr lang="ru-RU" sz="2600" i="1" dirty="0">
              <a:latin typeface="Arial" panose="020B0604020202020204" pitchFamily="34" charset="0"/>
            </a:endParaRPr>
          </a:p>
          <a:p>
            <a:pPr marL="1800000">
              <a:spcAft>
                <a:spcPts val="600"/>
              </a:spcAft>
              <a:defRPr/>
            </a:pPr>
            <a:endParaRPr lang="ru-RU" sz="2600" i="1" dirty="0">
              <a:latin typeface="Arial" panose="020B0604020202020204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10" y="1008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сортировки. Алгоритм слияния</a:t>
            </a: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AA148C3-E1AF-460B-B82B-65B9D3D3D6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7239585"/>
              </p:ext>
            </p:extLst>
          </p:nvPr>
        </p:nvGraphicFramePr>
        <p:xfrm>
          <a:off x="6182804" y="1814090"/>
          <a:ext cx="28559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82680" imgH="431640" progId="Equation.DSMT4">
                  <p:embed/>
                </p:oleObj>
              </mc:Choice>
              <mc:Fallback>
                <p:oleObj name="Equation" r:id="rId3" imgW="1282680" imgH="431640" progId="Equation.DSMT4">
                  <p:embed/>
                  <p:pic>
                    <p:nvPicPr>
                      <p:cNvPr id="13" name="Object 5">
                        <a:extLst>
                          <a:ext uri="{FF2B5EF4-FFF2-40B4-BE49-F238E27FC236}">
                            <a16:creationId xmlns:a16="http://schemas.microsoft.com/office/drawing/2014/main" id="{E4F61D91-3C84-4C6C-9444-5B3D36E4C2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2804" y="1814090"/>
                        <a:ext cx="285591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71BA7FF2-8088-441F-94CD-5B5882C68E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778329"/>
              </p:ext>
            </p:extLst>
          </p:nvPr>
        </p:nvGraphicFramePr>
        <p:xfrm>
          <a:off x="6776529" y="2775973"/>
          <a:ext cx="166846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49160" imgH="253800" progId="Equation.DSMT4">
                  <p:embed/>
                </p:oleObj>
              </mc:Choice>
              <mc:Fallback>
                <p:oleObj name="Equation" r:id="rId5" imgW="749160" imgH="2538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AAA148C3-E1AF-460B-B82B-65B9D3D3D6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6529" y="2775973"/>
                        <a:ext cx="1668462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BC5365F3-21CF-4EA9-BB2B-82CA769C8B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47693"/>
              </p:ext>
            </p:extLst>
          </p:nvPr>
        </p:nvGraphicFramePr>
        <p:xfrm>
          <a:off x="3294882" y="3407680"/>
          <a:ext cx="28559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82680" imgH="431640" progId="Equation.DSMT4">
                  <p:embed/>
                </p:oleObj>
              </mc:Choice>
              <mc:Fallback>
                <p:oleObj name="Equation" r:id="rId7" imgW="1282680" imgH="4316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AAA148C3-E1AF-460B-B82B-65B9D3D3D6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4882" y="3407680"/>
                        <a:ext cx="285591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49C99B2D-982E-4107-98A8-4CD6ACC6B1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3576246"/>
              </p:ext>
            </p:extLst>
          </p:nvPr>
        </p:nvGraphicFramePr>
        <p:xfrm>
          <a:off x="4753260" y="4469216"/>
          <a:ext cx="5881688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41320" imgH="431640" progId="Equation.DSMT4">
                  <p:embed/>
                </p:oleObj>
              </mc:Choice>
              <mc:Fallback>
                <p:oleObj name="Equation" r:id="rId9" imgW="2641320" imgH="431640" progId="Equation.DSMT4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BC5365F3-21CF-4EA9-BB2B-82CA769C8B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3260" y="4469216"/>
                        <a:ext cx="5881688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5B6E4A72-C4B3-4EB2-A584-3D24DBD879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8698221"/>
              </p:ext>
            </p:extLst>
          </p:nvPr>
        </p:nvGraphicFramePr>
        <p:xfrm>
          <a:off x="5076386" y="5516386"/>
          <a:ext cx="3308350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85720" imgH="253800" progId="Equation.DSMT4">
                  <p:embed/>
                </p:oleObj>
              </mc:Choice>
              <mc:Fallback>
                <p:oleObj name="Equation" r:id="rId11" imgW="1485720" imgH="253800" progId="Equation.DSMT4">
                  <p:embed/>
                  <p:pic>
                    <p:nvPicPr>
                      <p:cNvPr id="11" name="Object 5">
                        <a:extLst>
                          <a:ext uri="{FF2B5EF4-FFF2-40B4-BE49-F238E27FC236}">
                            <a16:creationId xmlns:a16="http://schemas.microsoft.com/office/drawing/2014/main" id="{49C99B2D-982E-4107-98A8-4CD6ACC6B1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386" y="5516386"/>
                        <a:ext cx="3308350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C3DD0CF9-1B63-46C7-95DE-AFE38D9EE0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005939"/>
              </p:ext>
            </p:extLst>
          </p:nvPr>
        </p:nvGraphicFramePr>
        <p:xfrm>
          <a:off x="8444992" y="5516385"/>
          <a:ext cx="1781175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99920" imgH="253800" progId="Equation.DSMT4">
                  <p:embed/>
                </p:oleObj>
              </mc:Choice>
              <mc:Fallback>
                <p:oleObj name="Equation" r:id="rId13" imgW="799920" imgH="253800" progId="Equation.DSMT4">
                  <p:embed/>
                  <p:pic>
                    <p:nvPicPr>
                      <p:cNvPr id="12" name="Object 5">
                        <a:extLst>
                          <a:ext uri="{FF2B5EF4-FFF2-40B4-BE49-F238E27FC236}">
                            <a16:creationId xmlns:a16="http://schemas.microsoft.com/office/drawing/2014/main" id="{5B6E4A72-C4B3-4EB2-A584-3D24DBD879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4992" y="5516385"/>
                        <a:ext cx="1781175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>
            <a:extLst>
              <a:ext uri="{FF2B5EF4-FFF2-40B4-BE49-F238E27FC236}">
                <a16:creationId xmlns:a16="http://schemas.microsoft.com/office/drawing/2014/main" id="{897C556C-7A26-4E95-AE19-0CE9D2ABE0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8129939"/>
              </p:ext>
            </p:extLst>
          </p:nvPr>
        </p:nvGraphicFramePr>
        <p:xfrm>
          <a:off x="9629747" y="3411632"/>
          <a:ext cx="2290762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28520" imgH="431640" progId="Equation.DSMT4">
                  <p:embed/>
                </p:oleObj>
              </mc:Choice>
              <mc:Fallback>
                <p:oleObj name="Equation" r:id="rId15" imgW="1028520" imgH="431640" progId="Equation.DSMT4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BC5365F3-21CF-4EA9-BB2B-82CA769C8B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9747" y="3411632"/>
                        <a:ext cx="2290762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90CB5398-F33C-480F-A5DC-D130267B97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324280"/>
              </p:ext>
            </p:extLst>
          </p:nvPr>
        </p:nvGraphicFramePr>
        <p:xfrm>
          <a:off x="6130550" y="3372755"/>
          <a:ext cx="35052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74640" imgH="457200" progId="Equation.DSMT4">
                  <p:embed/>
                </p:oleObj>
              </mc:Choice>
              <mc:Fallback>
                <p:oleObj name="Equation" r:id="rId17" imgW="1574640" imgH="457200" progId="Equation.DSMT4">
                  <p:embed/>
                  <p:pic>
                    <p:nvPicPr>
                      <p:cNvPr id="14" name="Object 5">
                        <a:extLst>
                          <a:ext uri="{FF2B5EF4-FFF2-40B4-BE49-F238E27FC236}">
                            <a16:creationId xmlns:a16="http://schemas.microsoft.com/office/drawing/2014/main" id="{897C556C-7A26-4E95-AE19-0CE9D2ABE0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0550" y="3372755"/>
                        <a:ext cx="3505200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94023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08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36758" y="1706438"/>
            <a:ext cx="8748000" cy="49134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1800000">
              <a:spcAft>
                <a:spcPts val="600"/>
              </a:spcAft>
              <a:defRPr/>
            </a:pPr>
            <a:endParaRPr lang="ru-RU" sz="2600" i="1" dirty="0">
              <a:latin typeface="Arial" panose="020B0604020202020204" pitchFamily="34" charset="0"/>
            </a:endParaRPr>
          </a:p>
          <a:p>
            <a:pPr marL="1800000">
              <a:spcAft>
                <a:spcPts val="600"/>
              </a:spcAft>
              <a:defRPr/>
            </a:pPr>
            <a:endParaRPr lang="ru-RU" sz="2600" i="1" dirty="0">
              <a:latin typeface="Arial" panose="020B0604020202020204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08" y="1008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сортировки. Алгоритм слияния</a:t>
            </a: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AA148C3-E1AF-460B-B82B-65B9D3D3D6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396571"/>
              </p:ext>
            </p:extLst>
          </p:nvPr>
        </p:nvGraphicFramePr>
        <p:xfrm>
          <a:off x="6182802" y="1814090"/>
          <a:ext cx="28559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82680" imgH="431640" progId="Equation.DSMT4">
                  <p:embed/>
                </p:oleObj>
              </mc:Choice>
              <mc:Fallback>
                <p:oleObj name="Equation" r:id="rId3" imgW="1282680" imgH="4316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AAA148C3-E1AF-460B-B82B-65B9D3D3D6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2802" y="1814090"/>
                        <a:ext cx="285591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BC5365F3-21CF-4EA9-BB2B-82CA769C8B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6310439"/>
              </p:ext>
            </p:extLst>
          </p:nvPr>
        </p:nvGraphicFramePr>
        <p:xfrm>
          <a:off x="5526504" y="3056523"/>
          <a:ext cx="223361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02960" imgH="253800" progId="Equation.DSMT4">
                  <p:embed/>
                </p:oleObj>
              </mc:Choice>
              <mc:Fallback>
                <p:oleObj name="Equation" r:id="rId5" imgW="1002960" imgH="253800" progId="Equation.DSMT4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BC5365F3-21CF-4EA9-BB2B-82CA769C8B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6504" y="3056523"/>
                        <a:ext cx="2233613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49C99B2D-982E-4107-98A8-4CD6ACC6B1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395041"/>
              </p:ext>
            </p:extLst>
          </p:nvPr>
        </p:nvGraphicFramePr>
        <p:xfrm>
          <a:off x="4715293" y="4163193"/>
          <a:ext cx="3252787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60160" imgH="393480" progId="Equation.DSMT4">
                  <p:embed/>
                </p:oleObj>
              </mc:Choice>
              <mc:Fallback>
                <p:oleObj name="Equation" r:id="rId7" imgW="1460160" imgH="393480" progId="Equation.DSMT4">
                  <p:embed/>
                  <p:pic>
                    <p:nvPicPr>
                      <p:cNvPr id="11" name="Object 5">
                        <a:extLst>
                          <a:ext uri="{FF2B5EF4-FFF2-40B4-BE49-F238E27FC236}">
                            <a16:creationId xmlns:a16="http://schemas.microsoft.com/office/drawing/2014/main" id="{49C99B2D-982E-4107-98A8-4CD6ACC6B1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5293" y="4163193"/>
                        <a:ext cx="3252787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5B6E4A72-C4B3-4EB2-A584-3D24DBD879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3429552"/>
              </p:ext>
            </p:extLst>
          </p:nvPr>
        </p:nvGraphicFramePr>
        <p:xfrm>
          <a:off x="7968079" y="4157572"/>
          <a:ext cx="2262188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15920" imgH="393480" progId="Equation.DSMT4">
                  <p:embed/>
                </p:oleObj>
              </mc:Choice>
              <mc:Fallback>
                <p:oleObj name="Equation" r:id="rId9" imgW="1015920" imgH="393480" progId="Equation.DSMT4">
                  <p:embed/>
                  <p:pic>
                    <p:nvPicPr>
                      <p:cNvPr id="12" name="Object 5">
                        <a:extLst>
                          <a:ext uri="{FF2B5EF4-FFF2-40B4-BE49-F238E27FC236}">
                            <a16:creationId xmlns:a16="http://schemas.microsoft.com/office/drawing/2014/main" id="{5B6E4A72-C4B3-4EB2-A584-3D24DBD879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8079" y="4157572"/>
                        <a:ext cx="2262188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>
            <a:extLst>
              <a:ext uri="{FF2B5EF4-FFF2-40B4-BE49-F238E27FC236}">
                <a16:creationId xmlns:a16="http://schemas.microsoft.com/office/drawing/2014/main" id="{897C556C-7A26-4E95-AE19-0CE9D2ABE0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024618"/>
              </p:ext>
            </p:extLst>
          </p:nvPr>
        </p:nvGraphicFramePr>
        <p:xfrm>
          <a:off x="4716085" y="5255279"/>
          <a:ext cx="4383088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68480" imgH="253800" progId="Equation.DSMT4">
                  <p:embed/>
                </p:oleObj>
              </mc:Choice>
              <mc:Fallback>
                <p:oleObj name="Equation" r:id="rId11" imgW="1968480" imgH="253800" progId="Equation.DSMT4">
                  <p:embed/>
                  <p:pic>
                    <p:nvPicPr>
                      <p:cNvPr id="14" name="Object 5">
                        <a:extLst>
                          <a:ext uri="{FF2B5EF4-FFF2-40B4-BE49-F238E27FC236}">
                            <a16:creationId xmlns:a16="http://schemas.microsoft.com/office/drawing/2014/main" id="{897C556C-7A26-4E95-AE19-0CE9D2ABE0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85" y="5255279"/>
                        <a:ext cx="4383088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90CB5398-F33C-480F-A5DC-D130267B97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8785891"/>
              </p:ext>
            </p:extLst>
          </p:nvPr>
        </p:nvGraphicFramePr>
        <p:xfrm>
          <a:off x="8365548" y="2873189"/>
          <a:ext cx="14986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72840" imgH="419040" progId="Equation.DSMT4">
                  <p:embed/>
                </p:oleObj>
              </mc:Choice>
              <mc:Fallback>
                <p:oleObj name="Equation" r:id="rId13" imgW="672840" imgH="419040" progId="Equation.DSMT4">
                  <p:embed/>
                  <p:pic>
                    <p:nvPicPr>
                      <p:cNvPr id="15" name="Object 5">
                        <a:extLst>
                          <a:ext uri="{FF2B5EF4-FFF2-40B4-BE49-F238E27FC236}">
                            <a16:creationId xmlns:a16="http://schemas.microsoft.com/office/drawing/2014/main" id="{90CB5398-F33C-480F-A5DC-D130267B97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5548" y="2873189"/>
                        <a:ext cx="14986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1C99269-A8A7-43D9-A3E2-CA6A6F44D787}"/>
              </a:ext>
            </a:extLst>
          </p:cNvPr>
          <p:cNvSpPr txBox="1"/>
          <p:nvPr/>
        </p:nvSpPr>
        <p:spPr>
          <a:xfrm>
            <a:off x="3362608" y="3058912"/>
            <a:ext cx="2271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</a:rPr>
              <a:t>Допустим, что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B69E78-0695-4C2B-8109-6420543DB0DB}"/>
              </a:ext>
            </a:extLst>
          </p:cNvPr>
          <p:cNvSpPr txBox="1"/>
          <p:nvPr/>
        </p:nvSpPr>
        <p:spPr>
          <a:xfrm>
            <a:off x="7599337" y="3080679"/>
            <a:ext cx="8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</a:rPr>
              <a:t>, где</a:t>
            </a:r>
          </a:p>
        </p:txBody>
      </p:sp>
      <p:graphicFrame>
        <p:nvGraphicFramePr>
          <p:cNvPr id="17" name="Object 5">
            <a:extLst>
              <a:ext uri="{FF2B5EF4-FFF2-40B4-BE49-F238E27FC236}">
                <a16:creationId xmlns:a16="http://schemas.microsoft.com/office/drawing/2014/main" id="{86E3EBAD-026E-4E62-BB7F-FF58D55DF4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075265"/>
              </p:ext>
            </p:extLst>
          </p:nvPr>
        </p:nvGraphicFramePr>
        <p:xfrm>
          <a:off x="9097611" y="5295572"/>
          <a:ext cx="147002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60240" imgH="228600" progId="Equation.DSMT4">
                  <p:embed/>
                </p:oleObj>
              </mc:Choice>
              <mc:Fallback>
                <p:oleObj name="Equation" r:id="rId15" imgW="660240" imgH="228600" progId="Equation.DSMT4">
                  <p:embed/>
                  <p:pic>
                    <p:nvPicPr>
                      <p:cNvPr id="14" name="Object 5">
                        <a:extLst>
                          <a:ext uri="{FF2B5EF4-FFF2-40B4-BE49-F238E27FC236}">
                            <a16:creationId xmlns:a16="http://schemas.microsoft.com/office/drawing/2014/main" id="{897C556C-7A26-4E95-AE19-0CE9D2ABE0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7611" y="5295572"/>
                        <a:ext cx="1470025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866808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10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10" y="1008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Основная теорема</a:t>
            </a:r>
            <a:endParaRPr kumimoji="0" 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1749" name="Rectangle 7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itchFamily="34" charset="0"/>
            </a:endParaRPr>
          </a:p>
        </p:txBody>
      </p:sp>
      <p:sp>
        <p:nvSpPr>
          <p:cNvPr id="31750" name="Rectangle 8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itchFamily="34" charset="0"/>
            </a:endParaRPr>
          </a:p>
        </p:txBody>
      </p:sp>
      <p:sp>
        <p:nvSpPr>
          <p:cNvPr id="31751" name="Rectangle 9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itchFamily="34" charset="0"/>
            </a:endParaRPr>
          </a:p>
        </p:txBody>
      </p:sp>
      <p:sp>
        <p:nvSpPr>
          <p:cNvPr id="31752" name="Rectangle 10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Rechteck 39">
            <a:extLst>
              <a:ext uri="{FF2B5EF4-FFF2-40B4-BE49-F238E27FC236}">
                <a16:creationId xmlns:a16="http://schemas.microsoft.com/office/drawing/2014/main" id="{7C9BF2FF-53C3-40BD-A929-4598D0F292D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60340" y="1772817"/>
            <a:ext cx="8496300" cy="4467225"/>
          </a:xfrm>
          <a:prstGeom prst="rect">
            <a:avLst/>
          </a:prstGeom>
          <a:solidFill>
            <a:srgbClr val="FAFAFA"/>
          </a:soli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6" name="Text Box 5">
            <a:extLst>
              <a:ext uri="{FF2B5EF4-FFF2-40B4-BE49-F238E27FC236}">
                <a16:creationId xmlns:a16="http://schemas.microsoft.com/office/drawing/2014/main" id="{13D7763C-B534-46ED-81BA-553D791B5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4918" y="2420889"/>
            <a:ext cx="4825329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Р. Миллер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Л. Боксер</a:t>
            </a:r>
            <a:b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Последовательные и параллельные алгоритмы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Бином, Лаборатория знаний, 2015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8DEBBF8-072E-4DF8-A6A7-3FB98FFB58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000" y="1977894"/>
            <a:ext cx="2767154" cy="41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56850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10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56474" y="1820091"/>
            <a:ext cx="8734697" cy="4799784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/>
          <a:lstStyle/>
          <a:p>
            <a:pPr>
              <a:lnSpc>
                <a:spcPct val="120000"/>
              </a:lnSpc>
              <a:spcBef>
                <a:spcPts val="1200"/>
              </a:spcBef>
              <a:defRPr/>
            </a:pPr>
            <a:r>
              <a:rPr lang="pt-BR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Если </a:t>
            </a:r>
            <a:r>
              <a:rPr lang="pt-BR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T(n)</a:t>
            </a:r>
            <a:r>
              <a:rPr lang="pt-BR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 = </a:t>
            </a:r>
            <a:r>
              <a:rPr lang="pt-BR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aT(n/b)</a:t>
            </a:r>
            <a:r>
              <a:rPr lang="pt-BR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 + </a:t>
            </a:r>
            <a:r>
              <a:rPr lang="pt-BR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f(n)</a:t>
            </a:r>
            <a:r>
              <a:rPr lang="pt-BR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, где </a:t>
            </a:r>
            <a:r>
              <a:rPr lang="pt-BR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a </a:t>
            </a:r>
            <a:r>
              <a:rPr lang="pt-BR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</a:t>
            </a:r>
            <a:r>
              <a:rPr lang="pt-BR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 1, b &gt; 1, f(n) &gt; 0</a:t>
            </a:r>
            <a:r>
              <a:rPr lang="ru-RU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ru-RU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и </a:t>
            </a:r>
            <a:r>
              <a:rPr lang="en-US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n </a:t>
            </a:r>
            <a:r>
              <a:rPr lang="ru-RU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принимает целые неотрицательные значения</a:t>
            </a:r>
            <a:r>
              <a:rPr lang="pt-BR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, то</a:t>
            </a:r>
            <a:endParaRPr lang="ru-RU" sz="2600" dirty="0">
              <a:solidFill>
                <a:schemeClr val="accent4">
                  <a:lumMod val="1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  <a:defRPr/>
            </a:pPr>
            <a:endParaRPr lang="ru-RU" sz="2400" dirty="0">
              <a:solidFill>
                <a:schemeClr val="accent4">
                  <a:lumMod val="10000"/>
                </a:schemeClr>
              </a:solidFill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  <a:spcAft>
                <a:spcPts val="1200"/>
              </a:spcAft>
              <a:defRPr/>
            </a:pPr>
            <a:r>
              <a:rPr lang="ru-RU" sz="24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1. </a:t>
            </a:r>
            <a:r>
              <a:rPr lang="ru-RU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Если                             , </a:t>
            </a:r>
            <a:r>
              <a:rPr lang="el-GR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ε</a:t>
            </a:r>
            <a:r>
              <a:rPr lang="en-US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 &gt; 0</a:t>
            </a:r>
            <a:r>
              <a:rPr lang="ru-RU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, то</a:t>
            </a:r>
          </a:p>
          <a:p>
            <a:pPr>
              <a:spcBef>
                <a:spcPts val="1200"/>
              </a:spcBef>
              <a:defRPr/>
            </a:pPr>
            <a:r>
              <a:rPr lang="ru-RU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2. Если                            , то</a:t>
            </a:r>
          </a:p>
          <a:p>
            <a:pPr>
              <a:spcBef>
                <a:spcPts val="2400"/>
              </a:spcBef>
              <a:defRPr/>
            </a:pPr>
            <a:r>
              <a:rPr lang="ru-RU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en-US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.</a:t>
            </a:r>
            <a:r>
              <a:rPr lang="ru-RU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 Если                              , </a:t>
            </a:r>
            <a:r>
              <a:rPr lang="el-GR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ε</a:t>
            </a:r>
            <a:r>
              <a:rPr lang="en-US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 &gt; 0</a:t>
            </a:r>
            <a:r>
              <a:rPr lang="ru-RU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 и </a:t>
            </a:r>
            <a:r>
              <a:rPr lang="ru-RU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 0</a:t>
            </a:r>
            <a:r>
              <a:rPr lang="en-US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 &lt; c &lt; 1, N &gt; 0:</a:t>
            </a:r>
          </a:p>
          <a:p>
            <a:pPr>
              <a:spcBef>
                <a:spcPts val="600"/>
              </a:spcBef>
              <a:defRPr/>
            </a:pPr>
            <a:r>
              <a:rPr lang="ru-RU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	и из </a:t>
            </a:r>
            <a:r>
              <a:rPr lang="en-US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(</a:t>
            </a:r>
            <a:r>
              <a:rPr lang="en-US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n</a:t>
            </a:r>
            <a:r>
              <a:rPr lang="en-US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/</a:t>
            </a:r>
            <a:r>
              <a:rPr lang="en-US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b</a:t>
            </a:r>
            <a:r>
              <a:rPr lang="en-US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) &gt; N  </a:t>
            </a:r>
            <a:r>
              <a:rPr lang="en-US" sz="2600" i="1" dirty="0" err="1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af</a:t>
            </a:r>
            <a:r>
              <a:rPr lang="en-US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(n/b)</a:t>
            </a:r>
            <a:r>
              <a:rPr lang="en-US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  </a:t>
            </a:r>
            <a:r>
              <a:rPr lang="en-US" sz="2600" dirty="0" err="1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cf</a:t>
            </a:r>
            <a:r>
              <a:rPr lang="en-US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(n)</a:t>
            </a:r>
            <a:r>
              <a:rPr lang="en-US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, </a:t>
            </a:r>
            <a:r>
              <a:rPr lang="ru-RU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то</a:t>
            </a:r>
          </a:p>
          <a:p>
            <a:pPr>
              <a:defRPr/>
            </a:pPr>
            <a:r>
              <a:rPr lang="ru-RU" sz="2600" dirty="0">
                <a:solidFill>
                  <a:schemeClr val="accent4">
                    <a:lumMod val="10000"/>
                  </a:schemeClr>
                </a:solidFill>
              </a:rPr>
              <a:t>	</a:t>
            </a:r>
            <a:endParaRPr lang="pt-BR" sz="2600" dirty="0">
              <a:solidFill>
                <a:schemeClr val="accent4">
                  <a:lumMod val="10000"/>
                </a:schemeClr>
              </a:solidFill>
            </a:endParaRPr>
          </a:p>
          <a:p>
            <a:pPr>
              <a:defRPr/>
            </a:pPr>
            <a:r>
              <a:rPr lang="pt-BR" sz="2400" dirty="0">
                <a:solidFill>
                  <a:schemeClr val="accent4">
                    <a:lumMod val="10000"/>
                  </a:schemeClr>
                </a:solidFill>
              </a:rPr>
              <a:t>	</a:t>
            </a:r>
            <a:endParaRPr lang="ru-RU" sz="2400" dirty="0">
              <a:solidFill>
                <a:schemeClr val="accent4">
                  <a:lumMod val="10000"/>
                </a:schemeClr>
              </a:solidFill>
            </a:endParaRPr>
          </a:p>
          <a:p>
            <a:pPr>
              <a:lnSpc>
                <a:spcPct val="120000"/>
              </a:lnSpc>
              <a:defRPr/>
            </a:pPr>
            <a:endParaRPr lang="pt-BR" sz="2400" dirty="0">
              <a:solidFill>
                <a:schemeClr val="accent4">
                  <a:lumMod val="10000"/>
                </a:schemeClr>
              </a:solidFill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10" y="1008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Основная теорема</a:t>
            </a:r>
            <a:endParaRPr kumimoji="0" lang="en-US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31749" name="Rectangle 7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750" name="Rectangle 8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751" name="Rectangle 9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752" name="Rectangle 10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609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8437742"/>
              </p:ext>
            </p:extLst>
          </p:nvPr>
        </p:nvGraphicFramePr>
        <p:xfrm>
          <a:off x="9032826" y="5209259"/>
          <a:ext cx="2500630" cy="501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90170" imgH="203112" progId="">
                  <p:embed/>
                </p:oleObj>
              </mc:Choice>
              <mc:Fallback>
                <p:oleObj name="Equation" r:id="rId3" imgW="990170" imgH="203112" progId="">
                  <p:embed/>
                  <p:pic>
                    <p:nvPicPr>
                      <p:cNvPr id="0" name="Picture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32826" y="5209259"/>
                        <a:ext cx="2500630" cy="5011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671758"/>
              </p:ext>
            </p:extLst>
          </p:nvPr>
        </p:nvGraphicFramePr>
        <p:xfrm>
          <a:off x="4582573" y="4643396"/>
          <a:ext cx="2771299" cy="562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30040" imgH="228600" progId="Equation.DSMT4">
                  <p:embed/>
                </p:oleObj>
              </mc:Choice>
              <mc:Fallback>
                <p:oleObj name="Equation" r:id="rId5" imgW="1130040" imgH="228600" progId="Equation.DSMT4">
                  <p:embed/>
                  <p:pic>
                    <p:nvPicPr>
                      <p:cNvPr id="0" name="Picture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2573" y="4643396"/>
                        <a:ext cx="2771299" cy="5622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430964"/>
              </p:ext>
            </p:extLst>
          </p:nvPr>
        </p:nvGraphicFramePr>
        <p:xfrm>
          <a:off x="4582573" y="3940001"/>
          <a:ext cx="2610643" cy="562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28700" imgH="228600" progId="">
                  <p:embed/>
                </p:oleObj>
              </mc:Choice>
              <mc:Fallback>
                <p:oleObj name="Equation" r:id="rId7" imgW="1028700" imgH="228600" progId="">
                  <p:embed/>
                  <p:pic>
                    <p:nvPicPr>
                      <p:cNvPr id="0" name="Picture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2573" y="3940001"/>
                        <a:ext cx="2610643" cy="5622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9719195"/>
              </p:ext>
            </p:extLst>
          </p:nvPr>
        </p:nvGraphicFramePr>
        <p:xfrm>
          <a:off x="7815011" y="3949574"/>
          <a:ext cx="3333592" cy="562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20800" imgH="228600" progId="">
                  <p:embed/>
                </p:oleObj>
              </mc:Choice>
              <mc:Fallback>
                <p:oleObj name="Equation" r:id="rId9" imgW="1320800" imgH="228600" progId="">
                  <p:embed/>
                  <p:pic>
                    <p:nvPicPr>
                      <p:cNvPr id="0" name="Picture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5011" y="3949574"/>
                        <a:ext cx="3333592" cy="5622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8692350"/>
              </p:ext>
            </p:extLst>
          </p:nvPr>
        </p:nvGraphicFramePr>
        <p:xfrm>
          <a:off x="4562761" y="3232151"/>
          <a:ext cx="27717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30040" imgH="228600" progId="Equation.DSMT4">
                  <p:embed/>
                </p:oleObj>
              </mc:Choice>
              <mc:Fallback>
                <p:oleObj name="Equation" r:id="rId11" imgW="1130040" imgH="228600" progId="Equation.DSMT4">
                  <p:embed/>
                  <p:pic>
                    <p:nvPicPr>
                      <p:cNvPr id="0" name="Picture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2761" y="3232151"/>
                        <a:ext cx="277177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1709848"/>
              </p:ext>
            </p:extLst>
          </p:nvPr>
        </p:nvGraphicFramePr>
        <p:xfrm>
          <a:off x="8762739" y="3226323"/>
          <a:ext cx="236696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16000" imgH="228600" progId="Equation.DSMT4">
                  <p:embed/>
                </p:oleObj>
              </mc:Choice>
              <mc:Fallback>
                <p:oleObj name="Equation" r:id="rId13" imgW="1016000" imgH="228600" progId="Equation.DSMT4">
                  <p:embed/>
                  <p:pic>
                    <p:nvPicPr>
                      <p:cNvPr id="0" name="Picture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2739" y="3226323"/>
                        <a:ext cx="236696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1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5314" y="1982788"/>
            <a:ext cx="8496300" cy="439188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1440000">
              <a:defRPr/>
            </a:pPr>
            <a:r>
              <a:rPr lang="en-US" sz="2600" i="1" dirty="0">
                <a:latin typeface="Arial" panose="020B0604020202020204" pitchFamily="34" charset="0"/>
              </a:rPr>
              <a:t>T</a:t>
            </a:r>
            <a:r>
              <a:rPr lang="en-US" sz="2600" baseline="-25000" dirty="0">
                <a:latin typeface="Arial" panose="020B0604020202020204" pitchFamily="34" charset="0"/>
              </a:rPr>
              <a:t> </a:t>
            </a:r>
            <a:r>
              <a:rPr lang="en-US" sz="2600" dirty="0">
                <a:latin typeface="Arial" panose="020B0604020202020204" pitchFamily="34" charset="0"/>
              </a:rPr>
              <a:t>(</a:t>
            </a:r>
            <a:r>
              <a:rPr lang="en-US" sz="2600" i="1" dirty="0">
                <a:latin typeface="Arial" panose="020B0604020202020204" pitchFamily="34" charset="0"/>
              </a:rPr>
              <a:t>n</a:t>
            </a:r>
            <a:r>
              <a:rPr lang="en-US" sz="2600" dirty="0">
                <a:latin typeface="Arial" panose="020B0604020202020204" pitchFamily="34" charset="0"/>
              </a:rPr>
              <a:t>) = </a:t>
            </a:r>
            <a:r>
              <a:rPr kumimoji="0" lang="en-US" sz="2600" dirty="0">
                <a:latin typeface="Arial" panose="020B0604020202020204" pitchFamily="34" charset="0"/>
              </a:rPr>
              <a:t>2</a:t>
            </a:r>
            <a:r>
              <a:rPr kumimoji="0" lang="en-US" sz="2600" i="1" dirty="0">
                <a:latin typeface="Arial" panose="020B0604020202020204" pitchFamily="34" charset="0"/>
              </a:rPr>
              <a:t>T</a:t>
            </a:r>
            <a:r>
              <a:rPr kumimoji="0" lang="en-US" sz="2600" dirty="0">
                <a:latin typeface="Arial" panose="020B0604020202020204" pitchFamily="34" charset="0"/>
              </a:rPr>
              <a:t>(</a:t>
            </a:r>
            <a:r>
              <a:rPr kumimoji="0" lang="en-US" sz="2600" i="1" dirty="0">
                <a:latin typeface="Arial" panose="020B0604020202020204" pitchFamily="34" charset="0"/>
              </a:rPr>
              <a:t>n</a:t>
            </a:r>
            <a:r>
              <a:rPr kumimoji="0" lang="en-US" sz="2600" dirty="0">
                <a:latin typeface="Arial" panose="020B0604020202020204" pitchFamily="34" charset="0"/>
              </a:rPr>
              <a:t>/2)</a:t>
            </a:r>
            <a:r>
              <a:rPr kumimoji="0" lang="ru-RU" sz="2600" dirty="0">
                <a:latin typeface="Arial" panose="020B0604020202020204" pitchFamily="34" charset="0"/>
              </a:rPr>
              <a:t> + </a:t>
            </a:r>
            <a:r>
              <a:rPr kumimoji="0" lang="en-US" sz="2600" dirty="0">
                <a:latin typeface="Arial" panose="020B0604020202020204" pitchFamily="34" charset="0"/>
              </a:rPr>
              <a:t>c</a:t>
            </a:r>
            <a:r>
              <a:rPr kumimoji="0" lang="en-US" sz="2600" baseline="-25000" dirty="0">
                <a:latin typeface="Arial" panose="020B0604020202020204" pitchFamily="34" charset="0"/>
              </a:rPr>
              <a:t>0</a:t>
            </a:r>
            <a:r>
              <a:rPr kumimoji="0" lang="en-US" sz="2600" i="1" dirty="0">
                <a:latin typeface="Arial" panose="020B0604020202020204" pitchFamily="34" charset="0"/>
              </a:rPr>
              <a:t>n</a:t>
            </a:r>
            <a:endParaRPr kumimoji="0" lang="ru-RU" sz="2600" i="1" dirty="0">
              <a:latin typeface="Arial" panose="020B0604020202020204" pitchFamily="34" charset="0"/>
            </a:endParaRPr>
          </a:p>
          <a:p>
            <a:pPr marL="1440000">
              <a:defRPr/>
            </a:pPr>
            <a:endParaRPr kumimoji="0" lang="ru-RU" sz="2600" i="1" dirty="0">
              <a:latin typeface="Arial" panose="020B0604020202020204" pitchFamily="34" charset="0"/>
            </a:endParaRPr>
          </a:p>
          <a:p>
            <a:pPr marL="1440000">
              <a:defRPr/>
            </a:pPr>
            <a:r>
              <a:rPr kumimoji="0" lang="en-US" sz="2600" i="1" dirty="0">
                <a:latin typeface="Arial" panose="020B0604020202020204" pitchFamily="34" charset="0"/>
              </a:rPr>
              <a:t>a = 2</a:t>
            </a:r>
            <a:endParaRPr kumimoji="0" lang="ru-RU" sz="2600" i="1" dirty="0">
              <a:latin typeface="Arial" panose="020B0604020202020204" pitchFamily="34" charset="0"/>
            </a:endParaRPr>
          </a:p>
          <a:p>
            <a:pPr marL="1440000">
              <a:spcBef>
                <a:spcPts val="1800"/>
              </a:spcBef>
              <a:defRPr/>
            </a:pPr>
            <a:r>
              <a:rPr kumimoji="0" lang="en-US" sz="2600" i="1" dirty="0">
                <a:latin typeface="Arial" panose="020B0604020202020204" pitchFamily="34" charset="0"/>
              </a:rPr>
              <a:t>b = 2</a:t>
            </a:r>
          </a:p>
          <a:p>
            <a:pPr marL="1440000">
              <a:spcBef>
                <a:spcPts val="1800"/>
              </a:spcBef>
              <a:defRPr/>
            </a:pPr>
            <a:r>
              <a:rPr kumimoji="0" lang="en-US" sz="2600" i="1" dirty="0">
                <a:latin typeface="Arial" panose="020B0604020202020204" pitchFamily="34" charset="0"/>
              </a:rPr>
              <a:t>f(n) = </a:t>
            </a:r>
            <a:r>
              <a:rPr kumimoji="0" lang="en-US" sz="2600" dirty="0">
                <a:latin typeface="Arial" panose="020B0604020202020204" pitchFamily="34" charset="0"/>
              </a:rPr>
              <a:t>c</a:t>
            </a:r>
            <a:r>
              <a:rPr kumimoji="0" lang="en-US" sz="2600" baseline="-25000" dirty="0">
                <a:latin typeface="Arial" panose="020B0604020202020204" pitchFamily="34" charset="0"/>
              </a:rPr>
              <a:t>0</a:t>
            </a:r>
            <a:r>
              <a:rPr kumimoji="0" lang="en-US" sz="2600" i="1" dirty="0">
                <a:latin typeface="Arial" panose="020B0604020202020204" pitchFamily="34" charset="0"/>
              </a:rPr>
              <a:t>n </a:t>
            </a:r>
            <a:endParaRPr kumimoji="0" lang="ru-RU" sz="2600" i="1" dirty="0">
              <a:latin typeface="Arial" panose="020B0604020202020204" pitchFamily="34" charset="0"/>
            </a:endParaRPr>
          </a:p>
          <a:p>
            <a:pPr marL="1440000">
              <a:defRPr/>
            </a:pPr>
            <a:endParaRPr kumimoji="0" lang="ru-RU" sz="2600" i="1" dirty="0">
              <a:latin typeface="Arial" panose="020B0604020202020204" pitchFamily="34" charset="0"/>
            </a:endParaRPr>
          </a:p>
          <a:p>
            <a:pPr>
              <a:defRPr/>
            </a:pPr>
            <a:endParaRPr kumimoji="0" lang="ru-RU" sz="2400" dirty="0">
              <a:latin typeface="Arial" panose="020B0604020202020204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14" y="1008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сортировки. Алгоритм слияния</a:t>
            </a: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1313814"/>
              </p:ext>
            </p:extLst>
          </p:nvPr>
        </p:nvGraphicFramePr>
        <p:xfrm>
          <a:off x="6459713" y="4616424"/>
          <a:ext cx="1192689" cy="499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69800" imgH="203040" progId="Equation.DSMT4">
                  <p:embed/>
                </p:oleObj>
              </mc:Choice>
              <mc:Fallback>
                <p:oleObj name="Equation" r:id="rId3" imgW="469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9713" y="4616424"/>
                        <a:ext cx="1192689" cy="4994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9602100"/>
              </p:ext>
            </p:extLst>
          </p:nvPr>
        </p:nvGraphicFramePr>
        <p:xfrm>
          <a:off x="7567920" y="4541448"/>
          <a:ext cx="1772443" cy="562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98400" imgH="228600" progId="Equation.DSMT4">
                  <p:embed/>
                </p:oleObj>
              </mc:Choice>
              <mc:Fallback>
                <p:oleObj name="Equation" r:id="rId5" imgW="698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7920" y="4541448"/>
                        <a:ext cx="1772443" cy="5622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0127996"/>
              </p:ext>
            </p:extLst>
          </p:nvPr>
        </p:nvGraphicFramePr>
        <p:xfrm>
          <a:off x="9237482" y="4541448"/>
          <a:ext cx="1772444" cy="562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98400" imgH="228600" progId="Equation.DSMT4">
                  <p:embed/>
                </p:oleObj>
              </mc:Choice>
              <mc:Fallback>
                <p:oleObj name="Equation" r:id="rId7" imgW="698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7482" y="4541448"/>
                        <a:ext cx="1772444" cy="5622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617031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10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56474" y="1820091"/>
            <a:ext cx="8734697" cy="4799784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/>
          <a:lstStyle/>
          <a:p>
            <a:pPr>
              <a:lnSpc>
                <a:spcPct val="120000"/>
              </a:lnSpc>
              <a:spcBef>
                <a:spcPts val="1200"/>
              </a:spcBef>
              <a:defRPr/>
            </a:pPr>
            <a:r>
              <a:rPr lang="pt-BR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Если </a:t>
            </a:r>
            <a:r>
              <a:rPr lang="pt-BR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T(n)</a:t>
            </a:r>
            <a:r>
              <a:rPr lang="pt-BR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 = </a:t>
            </a:r>
            <a:r>
              <a:rPr lang="pt-BR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aT(n/b)</a:t>
            </a:r>
            <a:r>
              <a:rPr lang="pt-BR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 + </a:t>
            </a:r>
            <a:r>
              <a:rPr lang="pt-BR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f(n)</a:t>
            </a:r>
            <a:r>
              <a:rPr lang="pt-BR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, где </a:t>
            </a:r>
            <a:r>
              <a:rPr lang="pt-BR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a </a:t>
            </a:r>
            <a:r>
              <a:rPr lang="pt-BR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</a:t>
            </a:r>
            <a:r>
              <a:rPr lang="pt-BR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 1, b &gt; 1, f(n) &gt; 0</a:t>
            </a:r>
            <a:r>
              <a:rPr lang="ru-RU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ru-RU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и </a:t>
            </a:r>
            <a:r>
              <a:rPr lang="en-US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n </a:t>
            </a:r>
            <a:r>
              <a:rPr lang="ru-RU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принимает целые неотрицательные значения</a:t>
            </a:r>
            <a:r>
              <a:rPr lang="pt-BR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, то</a:t>
            </a:r>
            <a:endParaRPr lang="ru-RU" sz="2600" dirty="0">
              <a:solidFill>
                <a:schemeClr val="accent4">
                  <a:lumMod val="1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  <a:defRPr/>
            </a:pPr>
            <a:endParaRPr lang="ru-RU" sz="2400" dirty="0">
              <a:solidFill>
                <a:schemeClr val="accent4">
                  <a:lumMod val="10000"/>
                </a:schemeClr>
              </a:solidFill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  <a:spcAft>
                <a:spcPts val="1200"/>
              </a:spcAft>
              <a:defRPr/>
            </a:pPr>
            <a:r>
              <a:rPr lang="ru-RU" sz="24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1. </a:t>
            </a:r>
            <a:r>
              <a:rPr lang="ru-RU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Если                             , </a:t>
            </a:r>
            <a:r>
              <a:rPr lang="el-GR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ε</a:t>
            </a:r>
            <a:r>
              <a:rPr lang="en-US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 &gt; 0</a:t>
            </a:r>
            <a:r>
              <a:rPr lang="ru-RU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, то</a:t>
            </a:r>
          </a:p>
          <a:p>
            <a:pPr>
              <a:spcBef>
                <a:spcPts val="1200"/>
              </a:spcBef>
              <a:defRPr/>
            </a:pPr>
            <a:r>
              <a:rPr lang="ru-RU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2. Если                            , то</a:t>
            </a:r>
          </a:p>
          <a:p>
            <a:pPr>
              <a:spcBef>
                <a:spcPts val="2400"/>
              </a:spcBef>
              <a:defRPr/>
            </a:pPr>
            <a:r>
              <a:rPr lang="ru-RU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en-US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.</a:t>
            </a:r>
            <a:r>
              <a:rPr lang="ru-RU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 Если                              , </a:t>
            </a:r>
            <a:r>
              <a:rPr lang="el-GR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ε</a:t>
            </a:r>
            <a:r>
              <a:rPr lang="en-US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&gt; 0</a:t>
            </a:r>
            <a:r>
              <a:rPr lang="ru-RU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 и </a:t>
            </a:r>
            <a:r>
              <a:rPr lang="ru-RU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 0</a:t>
            </a:r>
            <a:r>
              <a:rPr lang="en-US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 &lt; c &lt; 1, N &gt; 0:</a:t>
            </a:r>
          </a:p>
          <a:p>
            <a:pPr>
              <a:spcBef>
                <a:spcPts val="600"/>
              </a:spcBef>
              <a:defRPr/>
            </a:pPr>
            <a:r>
              <a:rPr lang="ru-RU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	и из </a:t>
            </a:r>
            <a:r>
              <a:rPr lang="en-US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(</a:t>
            </a:r>
            <a:r>
              <a:rPr lang="en-US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n/b</a:t>
            </a:r>
            <a:r>
              <a:rPr lang="en-US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) &gt; N  </a:t>
            </a:r>
            <a:r>
              <a:rPr lang="en-US" sz="2600" i="1" dirty="0" err="1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af</a:t>
            </a:r>
            <a:r>
              <a:rPr lang="en-US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(n/b)</a:t>
            </a:r>
            <a:r>
              <a:rPr lang="en-US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  </a:t>
            </a:r>
            <a:r>
              <a:rPr lang="en-US" sz="2600" dirty="0" err="1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c</a:t>
            </a:r>
            <a:r>
              <a:rPr lang="en-US" sz="2600" i="1" dirty="0" err="1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f</a:t>
            </a:r>
            <a:r>
              <a:rPr lang="en-US" sz="26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(n)</a:t>
            </a:r>
            <a:r>
              <a:rPr lang="en-US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sym typeface="Symbol" pitchFamily="18" charset="2"/>
              </a:rPr>
              <a:t>, </a:t>
            </a:r>
            <a:r>
              <a:rPr lang="ru-RU" sz="2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то</a:t>
            </a:r>
          </a:p>
          <a:p>
            <a:pPr>
              <a:defRPr/>
            </a:pPr>
            <a:r>
              <a:rPr lang="ru-RU" sz="2600" dirty="0">
                <a:solidFill>
                  <a:schemeClr val="accent4">
                    <a:lumMod val="10000"/>
                  </a:schemeClr>
                </a:solidFill>
              </a:rPr>
              <a:t>	</a:t>
            </a:r>
            <a:endParaRPr lang="pt-BR" sz="2600" dirty="0">
              <a:solidFill>
                <a:schemeClr val="accent4">
                  <a:lumMod val="10000"/>
                </a:schemeClr>
              </a:solidFill>
            </a:endParaRPr>
          </a:p>
          <a:p>
            <a:pPr>
              <a:defRPr/>
            </a:pPr>
            <a:r>
              <a:rPr lang="pt-BR" sz="2400" dirty="0">
                <a:solidFill>
                  <a:schemeClr val="accent4">
                    <a:lumMod val="10000"/>
                  </a:schemeClr>
                </a:solidFill>
              </a:rPr>
              <a:t>	</a:t>
            </a:r>
            <a:endParaRPr lang="ru-RU" sz="2400" dirty="0">
              <a:solidFill>
                <a:schemeClr val="accent4">
                  <a:lumMod val="10000"/>
                </a:schemeClr>
              </a:solidFill>
            </a:endParaRPr>
          </a:p>
          <a:p>
            <a:pPr>
              <a:lnSpc>
                <a:spcPct val="120000"/>
              </a:lnSpc>
              <a:defRPr/>
            </a:pPr>
            <a:endParaRPr lang="pt-BR" sz="2400" dirty="0">
              <a:solidFill>
                <a:schemeClr val="accent4">
                  <a:lumMod val="10000"/>
                </a:schemeClr>
              </a:solidFill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10" y="1008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Основная теорема</a:t>
            </a:r>
            <a:endParaRPr kumimoji="0" lang="en-US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31749" name="Rectangle 7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750" name="Rectangle 8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751" name="Rectangle 9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752" name="Rectangle 10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609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362643"/>
              </p:ext>
            </p:extLst>
          </p:nvPr>
        </p:nvGraphicFramePr>
        <p:xfrm>
          <a:off x="9032826" y="5209259"/>
          <a:ext cx="2500630" cy="501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90170" imgH="203112" progId="">
                  <p:embed/>
                </p:oleObj>
              </mc:Choice>
              <mc:Fallback>
                <p:oleObj name="Equation" r:id="rId3" imgW="990170" imgH="203112" progId="">
                  <p:embed/>
                  <p:pic>
                    <p:nvPicPr>
                      <p:cNvPr id="4609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32826" y="5209259"/>
                        <a:ext cx="2500630" cy="5011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1910653"/>
              </p:ext>
            </p:extLst>
          </p:nvPr>
        </p:nvGraphicFramePr>
        <p:xfrm>
          <a:off x="4582573" y="4643396"/>
          <a:ext cx="2771299" cy="562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30040" imgH="228600" progId="Equation.DSMT4">
                  <p:embed/>
                </p:oleObj>
              </mc:Choice>
              <mc:Fallback>
                <p:oleObj name="Equation" r:id="rId5" imgW="1130040" imgH="228600" progId="Equation.DSMT4">
                  <p:embed/>
                  <p:pic>
                    <p:nvPicPr>
                      <p:cNvPr id="4609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2573" y="4643396"/>
                        <a:ext cx="2771299" cy="5622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657816"/>
              </p:ext>
            </p:extLst>
          </p:nvPr>
        </p:nvGraphicFramePr>
        <p:xfrm>
          <a:off x="4582573" y="3940001"/>
          <a:ext cx="2610643" cy="562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28700" imgH="228600" progId="">
                  <p:embed/>
                </p:oleObj>
              </mc:Choice>
              <mc:Fallback>
                <p:oleObj name="Equation" r:id="rId7" imgW="1028700" imgH="228600" progId="">
                  <p:embed/>
                  <p:pic>
                    <p:nvPicPr>
                      <p:cNvPr id="460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2573" y="3940001"/>
                        <a:ext cx="2610643" cy="5622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792822"/>
              </p:ext>
            </p:extLst>
          </p:nvPr>
        </p:nvGraphicFramePr>
        <p:xfrm>
          <a:off x="7815011" y="3949574"/>
          <a:ext cx="3333592" cy="562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20800" imgH="228600" progId="">
                  <p:embed/>
                </p:oleObj>
              </mc:Choice>
              <mc:Fallback>
                <p:oleObj name="Equation" r:id="rId9" imgW="1320800" imgH="228600" progId="">
                  <p:embed/>
                  <p:pic>
                    <p:nvPicPr>
                      <p:cNvPr id="4609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5011" y="3949574"/>
                        <a:ext cx="3333592" cy="5622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9317244"/>
              </p:ext>
            </p:extLst>
          </p:nvPr>
        </p:nvGraphicFramePr>
        <p:xfrm>
          <a:off x="4563243" y="3231744"/>
          <a:ext cx="2771299" cy="562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30040" imgH="228600" progId="Equation.DSMT4">
                  <p:embed/>
                </p:oleObj>
              </mc:Choice>
              <mc:Fallback>
                <p:oleObj name="Equation" r:id="rId11" imgW="1130040" imgH="228600" progId="Equation.DSMT4">
                  <p:embed/>
                  <p:pic>
                    <p:nvPicPr>
                      <p:cNvPr id="460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3243" y="3231744"/>
                        <a:ext cx="2771299" cy="5622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745361"/>
              </p:ext>
            </p:extLst>
          </p:nvPr>
        </p:nvGraphicFramePr>
        <p:xfrm>
          <a:off x="8762739" y="3226323"/>
          <a:ext cx="236696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16000" imgH="228600" progId="Equation.DSMT4">
                  <p:embed/>
                </p:oleObj>
              </mc:Choice>
              <mc:Fallback>
                <p:oleObj name="Equation" r:id="rId13" imgW="1016000" imgH="228600" progId="Equation.DSMT4">
                  <p:embed/>
                  <p:pic>
                    <p:nvPicPr>
                      <p:cNvPr id="4608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2739" y="3226323"/>
                        <a:ext cx="236696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415681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06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5306" y="1913116"/>
            <a:ext cx="8496300" cy="426996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1440000">
              <a:defRPr/>
            </a:pPr>
            <a:r>
              <a:rPr lang="en-US" sz="2600" i="1" dirty="0">
                <a:latin typeface="Arial" panose="020B0604020202020204" pitchFamily="34" charset="0"/>
              </a:rPr>
              <a:t>T</a:t>
            </a:r>
            <a:r>
              <a:rPr lang="en-US" sz="2600" baseline="-25000" dirty="0">
                <a:latin typeface="Arial" panose="020B0604020202020204" pitchFamily="34" charset="0"/>
              </a:rPr>
              <a:t> </a:t>
            </a:r>
            <a:r>
              <a:rPr lang="en-US" sz="2600" dirty="0">
                <a:latin typeface="Arial" panose="020B0604020202020204" pitchFamily="34" charset="0"/>
              </a:rPr>
              <a:t>(</a:t>
            </a:r>
            <a:r>
              <a:rPr lang="en-US" sz="2600" i="1" dirty="0">
                <a:latin typeface="Arial" panose="020B0604020202020204" pitchFamily="34" charset="0"/>
              </a:rPr>
              <a:t>n</a:t>
            </a:r>
            <a:r>
              <a:rPr lang="en-US" sz="2600" dirty="0">
                <a:latin typeface="Arial" panose="020B0604020202020204" pitchFamily="34" charset="0"/>
              </a:rPr>
              <a:t>) = </a:t>
            </a:r>
            <a:r>
              <a:rPr kumimoji="0" lang="en-US" sz="2600" dirty="0">
                <a:latin typeface="Arial" panose="020B0604020202020204" pitchFamily="34" charset="0"/>
              </a:rPr>
              <a:t>2</a:t>
            </a:r>
            <a:r>
              <a:rPr kumimoji="0" lang="en-US" sz="2600" i="1" dirty="0">
                <a:latin typeface="Arial" panose="020B0604020202020204" pitchFamily="34" charset="0"/>
              </a:rPr>
              <a:t>T</a:t>
            </a:r>
            <a:r>
              <a:rPr kumimoji="0" lang="en-US" sz="2600" dirty="0">
                <a:latin typeface="Arial" panose="020B0604020202020204" pitchFamily="34" charset="0"/>
              </a:rPr>
              <a:t>(</a:t>
            </a:r>
            <a:r>
              <a:rPr kumimoji="0" lang="en-US" sz="2600" i="1" dirty="0">
                <a:latin typeface="Arial" panose="020B0604020202020204" pitchFamily="34" charset="0"/>
              </a:rPr>
              <a:t>n</a:t>
            </a:r>
            <a:r>
              <a:rPr kumimoji="0" lang="en-US" sz="2600" dirty="0">
                <a:latin typeface="Arial" panose="020B0604020202020204" pitchFamily="34" charset="0"/>
              </a:rPr>
              <a:t>/2)</a:t>
            </a:r>
            <a:r>
              <a:rPr kumimoji="0" lang="ru-RU" sz="2600" dirty="0">
                <a:latin typeface="Arial" panose="020B0604020202020204" pitchFamily="34" charset="0"/>
              </a:rPr>
              <a:t> + </a:t>
            </a:r>
            <a:r>
              <a:rPr kumimoji="0" lang="en-US" sz="2600" dirty="0">
                <a:latin typeface="Arial" panose="020B0604020202020204" pitchFamily="34" charset="0"/>
              </a:rPr>
              <a:t>c</a:t>
            </a:r>
            <a:r>
              <a:rPr kumimoji="0" lang="en-US" sz="2600" baseline="-25000" dirty="0">
                <a:latin typeface="Arial" panose="020B0604020202020204" pitchFamily="34" charset="0"/>
              </a:rPr>
              <a:t>0</a:t>
            </a:r>
            <a:r>
              <a:rPr kumimoji="0" lang="en-US" sz="2600" i="1" dirty="0">
                <a:latin typeface="Arial" panose="020B0604020202020204" pitchFamily="34" charset="0"/>
              </a:rPr>
              <a:t>n</a:t>
            </a:r>
            <a:endParaRPr kumimoji="0" lang="ru-RU" sz="2600" i="1" dirty="0">
              <a:latin typeface="Arial" panose="020B0604020202020204" pitchFamily="34" charset="0"/>
            </a:endParaRPr>
          </a:p>
          <a:p>
            <a:pPr marL="1440000">
              <a:defRPr/>
            </a:pPr>
            <a:endParaRPr kumimoji="0" lang="ru-RU" sz="2600" i="1" dirty="0">
              <a:latin typeface="Arial" panose="020B0604020202020204" pitchFamily="34" charset="0"/>
            </a:endParaRPr>
          </a:p>
          <a:p>
            <a:pPr marL="1440000">
              <a:defRPr/>
            </a:pPr>
            <a:r>
              <a:rPr kumimoji="0" lang="en-US" sz="2600" i="1" dirty="0">
                <a:latin typeface="Arial" panose="020B0604020202020204" pitchFamily="34" charset="0"/>
              </a:rPr>
              <a:t>a = 2</a:t>
            </a:r>
            <a:endParaRPr kumimoji="0" lang="ru-RU" sz="2600" i="1" dirty="0">
              <a:latin typeface="Arial" panose="020B0604020202020204" pitchFamily="34" charset="0"/>
            </a:endParaRPr>
          </a:p>
          <a:p>
            <a:pPr marL="1440000">
              <a:spcBef>
                <a:spcPts val="1800"/>
              </a:spcBef>
              <a:defRPr/>
            </a:pPr>
            <a:r>
              <a:rPr kumimoji="0" lang="en-US" sz="2600" i="1" dirty="0">
                <a:latin typeface="Arial" panose="020B0604020202020204" pitchFamily="34" charset="0"/>
              </a:rPr>
              <a:t>b = 2</a:t>
            </a:r>
          </a:p>
          <a:p>
            <a:pPr marL="1440000">
              <a:spcBef>
                <a:spcPts val="1800"/>
              </a:spcBef>
              <a:defRPr/>
            </a:pPr>
            <a:r>
              <a:rPr kumimoji="0" lang="en-US" sz="2600" i="1" dirty="0">
                <a:latin typeface="Arial" panose="020B0604020202020204" pitchFamily="34" charset="0"/>
              </a:rPr>
              <a:t>f(n) = </a:t>
            </a:r>
            <a:r>
              <a:rPr kumimoji="0" lang="en-US" sz="2600" dirty="0">
                <a:latin typeface="Arial" panose="020B0604020202020204" pitchFamily="34" charset="0"/>
              </a:rPr>
              <a:t>c</a:t>
            </a:r>
            <a:r>
              <a:rPr kumimoji="0" lang="en-US" sz="2600" baseline="-25000" dirty="0">
                <a:latin typeface="Arial" panose="020B0604020202020204" pitchFamily="34" charset="0"/>
              </a:rPr>
              <a:t>0</a:t>
            </a:r>
            <a:r>
              <a:rPr kumimoji="0" lang="en-US" sz="2600" i="1" dirty="0">
                <a:latin typeface="Arial" panose="020B0604020202020204" pitchFamily="34" charset="0"/>
              </a:rPr>
              <a:t>n </a:t>
            </a:r>
            <a:endParaRPr kumimoji="0" lang="ru-RU" sz="2600" i="1" dirty="0">
              <a:latin typeface="Arial" panose="020B0604020202020204" pitchFamily="34" charset="0"/>
            </a:endParaRPr>
          </a:p>
          <a:p>
            <a:pPr marL="1440000">
              <a:defRPr/>
            </a:pPr>
            <a:endParaRPr kumimoji="0" lang="ru-RU" sz="2600" i="1" dirty="0">
              <a:latin typeface="Arial" panose="020B0604020202020204" pitchFamily="34" charset="0"/>
            </a:endParaRPr>
          </a:p>
          <a:p>
            <a:pPr>
              <a:defRPr/>
            </a:pPr>
            <a:endParaRPr kumimoji="0" lang="ru-RU" sz="2400" dirty="0">
              <a:latin typeface="Arial" panose="020B0604020202020204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06" y="1008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сортировки. Алгоритм слияния</a:t>
            </a: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530571"/>
              </p:ext>
            </p:extLst>
          </p:nvPr>
        </p:nvGraphicFramePr>
        <p:xfrm>
          <a:off x="6459705" y="4546752"/>
          <a:ext cx="1192689" cy="499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69800" imgH="203040" progId="Equation.DSMT4">
                  <p:embed/>
                </p:oleObj>
              </mc:Choice>
              <mc:Fallback>
                <p:oleObj name="Equation" r:id="rId3" imgW="469800" imgH="203040" progId="Equation.DSMT4">
                  <p:embed/>
                  <p:pic>
                    <p:nvPicPr>
                      <p:cNvPr id="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9705" y="4546752"/>
                        <a:ext cx="1192689" cy="4994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0606403"/>
              </p:ext>
            </p:extLst>
          </p:nvPr>
        </p:nvGraphicFramePr>
        <p:xfrm>
          <a:off x="7567912" y="4471776"/>
          <a:ext cx="1772443" cy="562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98400" imgH="228600" progId="Equation.DSMT4">
                  <p:embed/>
                </p:oleObj>
              </mc:Choice>
              <mc:Fallback>
                <p:oleObj name="Equation" r:id="rId5" imgW="698400" imgH="228600" progId="Equation.DSMT4">
                  <p:embed/>
                  <p:pic>
                    <p:nvPicPr>
                      <p:cNvPr id="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7912" y="4471776"/>
                        <a:ext cx="1772443" cy="5622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764702"/>
              </p:ext>
            </p:extLst>
          </p:nvPr>
        </p:nvGraphicFramePr>
        <p:xfrm>
          <a:off x="9237474" y="4471776"/>
          <a:ext cx="1772444" cy="562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98400" imgH="228600" progId="Equation.DSMT4">
                  <p:embed/>
                </p:oleObj>
              </mc:Choice>
              <mc:Fallback>
                <p:oleObj name="Equation" r:id="rId7" imgW="698400" imgH="22860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7474" y="4471776"/>
                        <a:ext cx="1772444" cy="5622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4265BF92-BD6D-4961-BC0C-0A48FD4165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675605"/>
              </p:ext>
            </p:extLst>
          </p:nvPr>
        </p:nvGraphicFramePr>
        <p:xfrm>
          <a:off x="3874185" y="5164218"/>
          <a:ext cx="3333592" cy="562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20800" imgH="228600" progId="Equation.DSMT4">
                  <p:embed/>
                </p:oleObj>
              </mc:Choice>
              <mc:Fallback>
                <p:oleObj name="Equation" r:id="rId9" imgW="1320800" imgH="228600" progId="Equation.DSMT4">
                  <p:embed/>
                  <p:pic>
                    <p:nvPicPr>
                      <p:cNvPr id="1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4185" y="5164218"/>
                        <a:ext cx="3333592" cy="5622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024D8AFF-6476-4800-9C16-53D8E630E4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2638406"/>
              </p:ext>
            </p:extLst>
          </p:nvPr>
        </p:nvGraphicFramePr>
        <p:xfrm>
          <a:off x="7156045" y="5169324"/>
          <a:ext cx="2533809" cy="562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02960" imgH="228600" progId="Equation.DSMT4">
                  <p:embed/>
                </p:oleObj>
              </mc:Choice>
              <mc:Fallback>
                <p:oleObj name="Equation" r:id="rId11" imgW="1002960" imgH="228600" progId="Equation.DSMT4">
                  <p:embed/>
                  <p:pic>
                    <p:nvPicPr>
                      <p:cNvPr id="1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6045" y="5169324"/>
                        <a:ext cx="2533809" cy="5622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>
            <a:extLst>
              <a:ext uri="{FF2B5EF4-FFF2-40B4-BE49-F238E27FC236}">
                <a16:creationId xmlns:a16="http://schemas.microsoft.com/office/drawing/2014/main" id="{2D8ACB2D-4AE2-4F93-BA1A-596D2578DB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3894182"/>
              </p:ext>
            </p:extLst>
          </p:nvPr>
        </p:nvGraphicFramePr>
        <p:xfrm>
          <a:off x="9660053" y="5229241"/>
          <a:ext cx="1955800" cy="499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74360" imgH="203040" progId="Equation.DSMT4">
                  <p:embed/>
                </p:oleObj>
              </mc:Choice>
              <mc:Fallback>
                <p:oleObj name="Equation" r:id="rId13" imgW="774360" imgH="203040" progId="Equation.DSMT4">
                  <p:embed/>
                  <p:pic>
                    <p:nvPicPr>
                      <p:cNvPr id="1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0053" y="5229241"/>
                        <a:ext cx="1955800" cy="4994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581979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1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5314" y="1982788"/>
            <a:ext cx="8496300" cy="4322218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algn="ctr">
              <a:defRPr/>
            </a:pPr>
            <a:r>
              <a:rPr kumimoji="0" lang="ru-RU" sz="2600" dirty="0">
                <a:latin typeface="Arial" pitchFamily="34" charset="0"/>
              </a:rPr>
              <a:t>Рассмотрим</a:t>
            </a:r>
            <a:r>
              <a:rPr kumimoji="0" lang="ru-RU" sz="2600" i="1" dirty="0">
                <a:latin typeface="Arial" pitchFamily="34" charset="0"/>
              </a:rPr>
              <a:t> </a:t>
            </a:r>
            <a:r>
              <a:rPr kumimoji="0" lang="en-US" sz="2600" i="1" dirty="0">
                <a:latin typeface="Arial" pitchFamily="34" charset="0"/>
              </a:rPr>
              <a:t>S = { s</a:t>
            </a:r>
            <a:r>
              <a:rPr kumimoji="0" lang="en-US" sz="2600" i="1" baseline="-25000" dirty="0">
                <a:latin typeface="Arial" pitchFamily="34" charset="0"/>
              </a:rPr>
              <a:t>1</a:t>
            </a:r>
            <a:r>
              <a:rPr kumimoji="0" lang="en-US" sz="2600" i="1" dirty="0">
                <a:latin typeface="Arial" pitchFamily="34" charset="0"/>
              </a:rPr>
              <a:t>, s</a:t>
            </a:r>
            <a:r>
              <a:rPr kumimoji="0" lang="en-US" sz="2600" i="1" baseline="-25000" dirty="0">
                <a:latin typeface="Arial" pitchFamily="34" charset="0"/>
              </a:rPr>
              <a:t>2</a:t>
            </a:r>
            <a:r>
              <a:rPr kumimoji="0" lang="en-US" sz="2600" i="1" dirty="0">
                <a:latin typeface="Arial" pitchFamily="34" charset="0"/>
              </a:rPr>
              <a:t>, …, </a:t>
            </a:r>
            <a:r>
              <a:rPr kumimoji="0" lang="en-US" sz="2600" i="1" dirty="0" err="1">
                <a:latin typeface="Arial" pitchFamily="34" charset="0"/>
              </a:rPr>
              <a:t>s</a:t>
            </a:r>
            <a:r>
              <a:rPr kumimoji="0" lang="en-US" sz="2600" i="1" baseline="-25000" dirty="0" err="1">
                <a:latin typeface="Arial" pitchFamily="34" charset="0"/>
              </a:rPr>
              <a:t>n</a:t>
            </a:r>
            <a:r>
              <a:rPr kumimoji="0" lang="en-US" sz="2600" i="1" dirty="0">
                <a:latin typeface="Arial" pitchFamily="34" charset="0"/>
              </a:rPr>
              <a:t> } </a:t>
            </a:r>
            <a:r>
              <a:rPr kumimoji="0" lang="en-US" sz="2600" dirty="0">
                <a:latin typeface="Arial" pitchFamily="34" charset="0"/>
              </a:rPr>
              <a:t>– </a:t>
            </a:r>
            <a:r>
              <a:rPr kumimoji="0" lang="ru-RU" sz="2600" dirty="0">
                <a:latin typeface="Arial" pitchFamily="34" charset="0"/>
              </a:rPr>
              <a:t>множество, на котором</a:t>
            </a:r>
            <a:r>
              <a:rPr kumimoji="0" lang="en-US" sz="2600" dirty="0">
                <a:latin typeface="Arial" pitchFamily="34" charset="0"/>
              </a:rPr>
              <a:t> </a:t>
            </a:r>
            <a:r>
              <a:rPr kumimoji="0" lang="ru-RU" sz="2600" dirty="0">
                <a:latin typeface="Arial" pitchFamily="34" charset="0"/>
              </a:rPr>
              <a:t>задан линейный порядок</a:t>
            </a:r>
            <a:r>
              <a:rPr kumimoji="0" lang="ru-RU" sz="2600" i="1" dirty="0">
                <a:latin typeface="Arial" pitchFamily="34" charset="0"/>
              </a:rPr>
              <a:t>. </a:t>
            </a:r>
            <a:br>
              <a:rPr kumimoji="0" lang="ru-RU" sz="2600" i="1" dirty="0">
                <a:latin typeface="Arial" pitchFamily="34" charset="0"/>
              </a:rPr>
            </a:br>
            <a:r>
              <a:rPr kumimoji="0" lang="en-US" sz="2600" i="1" dirty="0">
                <a:latin typeface="Arial" pitchFamily="34" charset="0"/>
              </a:rPr>
              <a:t>|S| = </a:t>
            </a:r>
            <a:r>
              <a:rPr kumimoji="0" lang="en-US" sz="2600" dirty="0">
                <a:latin typeface="Arial" pitchFamily="34" charset="0"/>
              </a:rPr>
              <a:t>n  – </a:t>
            </a:r>
            <a:r>
              <a:rPr kumimoji="0" lang="ru-RU" sz="2600" dirty="0">
                <a:latin typeface="Arial" pitchFamily="34" charset="0"/>
              </a:rPr>
              <a:t>мощность множества.</a:t>
            </a:r>
          </a:p>
          <a:p>
            <a:pPr marL="457200" indent="-457200" algn="ctr">
              <a:spcBef>
                <a:spcPts val="1800"/>
              </a:spcBef>
              <a:defRPr/>
            </a:pPr>
            <a:r>
              <a:rPr kumimoji="0" lang="ru-RU" sz="2600" dirty="0">
                <a:latin typeface="Arial" pitchFamily="34" charset="0"/>
              </a:rPr>
              <a:t>Элемент </a:t>
            </a:r>
            <a:r>
              <a:rPr kumimoji="0" lang="en-US" sz="2600" i="1" dirty="0" err="1">
                <a:latin typeface="Arial" pitchFamily="34" charset="0"/>
              </a:rPr>
              <a:t>s</a:t>
            </a:r>
            <a:r>
              <a:rPr kumimoji="0" lang="en-US" sz="2600" i="1" baseline="-25000" dirty="0" err="1">
                <a:latin typeface="Arial" pitchFamily="34" charset="0"/>
              </a:rPr>
              <a:t>i</a:t>
            </a:r>
            <a:r>
              <a:rPr kumimoji="0" lang="en-US" sz="2600" i="1" dirty="0">
                <a:latin typeface="Arial" pitchFamily="34" charset="0"/>
              </a:rPr>
              <a:t> </a:t>
            </a:r>
            <a:r>
              <a:rPr kumimoji="0" lang="ru-RU" sz="2600" dirty="0">
                <a:latin typeface="Arial" pitchFamily="34" charset="0"/>
              </a:rPr>
              <a:t>называется элементом ранга</a:t>
            </a:r>
            <a:r>
              <a:rPr kumimoji="0" lang="ru-RU" sz="2600" i="1" dirty="0">
                <a:latin typeface="Arial" pitchFamily="34" charset="0"/>
              </a:rPr>
              <a:t> </a:t>
            </a:r>
            <a:r>
              <a:rPr kumimoji="0" lang="en-US" sz="2600" i="1" dirty="0">
                <a:latin typeface="Arial" pitchFamily="34" charset="0"/>
              </a:rPr>
              <a:t>k (1 </a:t>
            </a:r>
            <a:r>
              <a:rPr kumimoji="0" lang="en-US" sz="2600" i="1" dirty="0">
                <a:latin typeface="Arial" pitchFamily="34" charset="0"/>
                <a:sym typeface="Symbol" pitchFamily="18" charset="2"/>
              </a:rPr>
              <a:t> k  n), </a:t>
            </a:r>
            <a:r>
              <a:rPr kumimoji="0" lang="ru-RU" sz="2600" dirty="0">
                <a:latin typeface="Arial" pitchFamily="34" charset="0"/>
                <a:sym typeface="Symbol" pitchFamily="18" charset="2"/>
              </a:rPr>
              <a:t>если он является </a:t>
            </a:r>
            <a:r>
              <a:rPr kumimoji="0" lang="en-US" sz="2600" i="1" dirty="0">
                <a:latin typeface="Arial" pitchFamily="34" charset="0"/>
                <a:sym typeface="Symbol" pitchFamily="18" charset="2"/>
              </a:rPr>
              <a:t>k-</a:t>
            </a:r>
            <a:r>
              <a:rPr kumimoji="0" lang="ru-RU" sz="2600" i="1" dirty="0">
                <a:latin typeface="Arial" pitchFamily="34" charset="0"/>
                <a:sym typeface="Symbol" pitchFamily="18" charset="2"/>
              </a:rPr>
              <a:t>м </a:t>
            </a:r>
            <a:r>
              <a:rPr kumimoji="0" lang="ru-RU" sz="2600" dirty="0">
                <a:latin typeface="Arial" pitchFamily="34" charset="0"/>
                <a:sym typeface="Symbol" pitchFamily="18" charset="2"/>
              </a:rPr>
              <a:t>наименьшим элементом множества</a:t>
            </a:r>
            <a:r>
              <a:rPr kumimoji="0" lang="ru-RU" sz="26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600" i="1" dirty="0">
                <a:latin typeface="Arial" pitchFamily="34" charset="0"/>
                <a:sym typeface="Symbol" pitchFamily="18" charset="2"/>
              </a:rPr>
              <a:t>S.</a:t>
            </a:r>
            <a:endParaRPr kumimoji="0" lang="ru-RU" sz="2600" i="1" dirty="0">
              <a:latin typeface="Arial" pitchFamily="34" charset="0"/>
              <a:sym typeface="Symbol" pitchFamily="18" charset="2"/>
            </a:endParaRPr>
          </a:p>
          <a:p>
            <a:pPr marL="457200" indent="-457200" algn="ctr">
              <a:spcBef>
                <a:spcPts val="1800"/>
              </a:spcBef>
              <a:defRPr/>
            </a:pPr>
            <a:r>
              <a:rPr kumimoji="0" lang="ru-RU" sz="2600" dirty="0">
                <a:latin typeface="Arial" pitchFamily="34" charset="0"/>
                <a:sym typeface="Symbol" pitchFamily="18" charset="2"/>
              </a:rPr>
              <a:t>Если</a:t>
            </a:r>
            <a:r>
              <a:rPr kumimoji="0" lang="ru-RU" sz="26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600" i="1" dirty="0" err="1">
                <a:latin typeface="Arial" pitchFamily="34" charset="0"/>
                <a:sym typeface="Symbol" pitchFamily="18" charset="2"/>
              </a:rPr>
              <a:t>s</a:t>
            </a:r>
            <a:r>
              <a:rPr kumimoji="0" lang="en-US" sz="2600" i="1" baseline="-25000" dirty="0" err="1">
                <a:latin typeface="Arial" pitchFamily="34" charset="0"/>
                <a:sym typeface="Symbol" pitchFamily="18" charset="2"/>
              </a:rPr>
              <a:t>i</a:t>
            </a:r>
            <a:r>
              <a:rPr kumimoji="0" lang="en-US" sz="2600" i="1" dirty="0">
                <a:latin typeface="Arial" pitchFamily="34" charset="0"/>
                <a:sym typeface="Symbol" pitchFamily="18" charset="2"/>
              </a:rPr>
              <a:t> = </a:t>
            </a:r>
            <a:r>
              <a:rPr kumimoji="0" lang="en-US" sz="2600" i="1" dirty="0" err="1">
                <a:latin typeface="Arial" pitchFamily="34" charset="0"/>
                <a:sym typeface="Symbol" pitchFamily="18" charset="2"/>
              </a:rPr>
              <a:t>s</a:t>
            </a:r>
            <a:r>
              <a:rPr kumimoji="0" lang="en-US" sz="2600" i="1" baseline="-25000" dirty="0" err="1">
                <a:latin typeface="Arial" pitchFamily="34" charset="0"/>
                <a:sym typeface="Symbol" pitchFamily="18" charset="2"/>
              </a:rPr>
              <a:t>j</a:t>
            </a:r>
            <a:r>
              <a:rPr kumimoji="0" lang="en-US" sz="26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ru-RU" sz="2600" dirty="0">
                <a:latin typeface="Arial" pitchFamily="34" charset="0"/>
                <a:sym typeface="Symbol" pitchFamily="18" charset="2"/>
              </a:rPr>
              <a:t>и</a:t>
            </a:r>
            <a:r>
              <a:rPr kumimoji="0" lang="ru-RU" sz="26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600" i="1" dirty="0" err="1">
                <a:latin typeface="Arial" pitchFamily="34" charset="0"/>
                <a:sym typeface="Symbol" pitchFamily="18" charset="2"/>
              </a:rPr>
              <a:t>i</a:t>
            </a:r>
            <a:r>
              <a:rPr kumimoji="0" lang="en-US" sz="2600" i="1" dirty="0">
                <a:latin typeface="Arial" pitchFamily="34" charset="0"/>
                <a:sym typeface="Symbol" pitchFamily="18" charset="2"/>
              </a:rPr>
              <a:t> &lt; j, </a:t>
            </a:r>
            <a:r>
              <a:rPr kumimoji="0" lang="ru-RU" sz="2600" dirty="0">
                <a:latin typeface="Arial" pitchFamily="34" charset="0"/>
                <a:sym typeface="Symbol" pitchFamily="18" charset="2"/>
              </a:rPr>
              <a:t>то ранг </a:t>
            </a:r>
            <a:r>
              <a:rPr kumimoji="0" lang="en-US" sz="2600" i="1" dirty="0" err="1">
                <a:latin typeface="Arial" pitchFamily="34" charset="0"/>
                <a:sym typeface="Symbol" pitchFamily="18" charset="2"/>
              </a:rPr>
              <a:t>s</a:t>
            </a:r>
            <a:r>
              <a:rPr kumimoji="0" lang="en-US" sz="2600" i="1" baseline="-25000" dirty="0" err="1">
                <a:latin typeface="Arial" pitchFamily="34" charset="0"/>
                <a:sym typeface="Symbol" pitchFamily="18" charset="2"/>
              </a:rPr>
              <a:t>i</a:t>
            </a:r>
            <a:r>
              <a:rPr kumimoji="0" lang="en-US" sz="26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ru-RU" sz="2600" dirty="0">
                <a:latin typeface="Arial" pitchFamily="34" charset="0"/>
                <a:sym typeface="Symbol" pitchFamily="18" charset="2"/>
              </a:rPr>
              <a:t>меньше ранга </a:t>
            </a:r>
            <a:r>
              <a:rPr kumimoji="0" lang="en-US" sz="2600" i="1" dirty="0" err="1">
                <a:latin typeface="Arial" pitchFamily="34" charset="0"/>
                <a:sym typeface="Symbol" pitchFamily="18" charset="2"/>
              </a:rPr>
              <a:t>s</a:t>
            </a:r>
            <a:r>
              <a:rPr kumimoji="0" lang="en-US" sz="2600" i="1" baseline="-25000" dirty="0" err="1">
                <a:latin typeface="Arial" pitchFamily="34" charset="0"/>
                <a:sym typeface="Symbol" pitchFamily="18" charset="2"/>
              </a:rPr>
              <a:t>j</a:t>
            </a:r>
            <a:r>
              <a:rPr kumimoji="0" lang="en-US" sz="2600" i="1" dirty="0">
                <a:latin typeface="Arial" pitchFamily="34" charset="0"/>
                <a:sym typeface="Symbol" pitchFamily="18" charset="2"/>
              </a:rPr>
              <a:t>.</a:t>
            </a:r>
            <a:endParaRPr kumimoji="0" lang="en-US" sz="2600" i="1" noProof="1">
              <a:latin typeface="Arial" pitchFamily="34" charset="0"/>
              <a:sym typeface="Symbol" pitchFamily="18" charset="2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14" y="1008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выбора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9467417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06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2606" y="1852613"/>
            <a:ext cx="8496300" cy="445239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>
              <a:buFont typeface="Wingdings" pitchFamily="2" charset="2"/>
              <a:buChar char="§"/>
              <a:defRPr/>
            </a:pPr>
            <a:r>
              <a:rPr kumimoji="0" lang="ru-RU" sz="2400" dirty="0">
                <a:latin typeface="Arial" pitchFamily="34" charset="0"/>
                <a:sym typeface="Symbol" pitchFamily="18" charset="2"/>
              </a:rPr>
              <a:t>Поиск максимума – нахождение значения элемента с рангом </a:t>
            </a:r>
            <a:r>
              <a:rPr kumimoji="0" lang="en-US" sz="2400" i="1" dirty="0">
                <a:latin typeface="Arial" pitchFamily="34" charset="0"/>
                <a:sym typeface="Symbol" pitchFamily="18" charset="2"/>
              </a:rPr>
              <a:t>n.</a:t>
            </a: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kumimoji="0" lang="ru-RU" sz="2400" dirty="0">
                <a:latin typeface="Arial" pitchFamily="34" charset="0"/>
                <a:sym typeface="Symbol" pitchFamily="18" charset="2"/>
              </a:rPr>
              <a:t>Поиск минимума – нахождение значения элемента с рангом 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1.</a:t>
            </a: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kumimoji="0" lang="ru-RU" sz="2400" dirty="0">
                <a:latin typeface="Arial" pitchFamily="34" charset="0"/>
                <a:sym typeface="Symbol" pitchFamily="18" charset="2"/>
              </a:rPr>
              <a:t>Поиск медианы – нахождение значения элемента с рангом</a:t>
            </a:r>
            <a:r>
              <a:rPr kumimoji="0" lang="en-US" sz="2400" i="1" dirty="0">
                <a:latin typeface="Arial" pitchFamily="34" charset="0"/>
                <a:sym typeface="Symbol" pitchFamily="18" charset="2"/>
              </a:rPr>
              <a:t>     </a:t>
            </a:r>
            <a:r>
              <a:rPr kumimoji="0" lang="ru-RU" sz="24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400" i="1" dirty="0">
                <a:latin typeface="Arial" pitchFamily="34" charset="0"/>
                <a:sym typeface="Symbol" pitchFamily="18" charset="2"/>
              </a:rPr>
              <a:t>	</a:t>
            </a:r>
            <a:r>
              <a:rPr kumimoji="0" lang="ru-RU" sz="24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400" i="1" dirty="0">
                <a:latin typeface="Arial" pitchFamily="34" charset="0"/>
                <a:sym typeface="Symbol" pitchFamily="18" charset="2"/>
              </a:rPr>
              <a:t>.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В</a:t>
            </a:r>
            <a:r>
              <a:rPr kumimoji="0" lang="ru-RU" altLang="ko-KR" sz="2400" dirty="0">
                <a:latin typeface="Arial" pitchFamily="34" charset="0"/>
                <a:sym typeface="Symbol" pitchFamily="18" charset="2"/>
              </a:rPr>
              <a:t> множестве содержится не менее</a:t>
            </a:r>
            <a:br>
              <a:rPr kumimoji="0" lang="en-US" altLang="ko-KR" sz="2400" dirty="0">
                <a:latin typeface="Arial" pitchFamily="34" charset="0"/>
                <a:sym typeface="Symbol" pitchFamily="18" charset="2"/>
              </a:rPr>
            </a:br>
            <a:r>
              <a:rPr kumimoji="0" lang="en-US" altLang="ko-KR" sz="2400" i="1" dirty="0">
                <a:latin typeface="Arial" pitchFamily="34" charset="0"/>
                <a:sym typeface="Symbol" pitchFamily="18" charset="2"/>
              </a:rPr>
              <a:t>           </a:t>
            </a:r>
            <a:r>
              <a:rPr kumimoji="0" lang="ru-RU" altLang="ko-KR" sz="2400" dirty="0">
                <a:latin typeface="Arial" pitchFamily="34" charset="0"/>
                <a:sym typeface="Symbol" pitchFamily="18" charset="2"/>
              </a:rPr>
              <a:t>элементов, превышающих по значению медиану или равных ей, и не менее</a:t>
            </a:r>
            <a:r>
              <a:rPr kumimoji="0" lang="en-US" altLang="ko-KR" sz="2400" i="1" dirty="0">
                <a:latin typeface="Arial" pitchFamily="34" charset="0"/>
                <a:sym typeface="Symbol" pitchFamily="18" charset="2"/>
              </a:rPr>
              <a:t>            </a:t>
            </a:r>
            <a:r>
              <a:rPr kumimoji="0" lang="ru-RU" altLang="ko-KR" sz="2400" dirty="0">
                <a:latin typeface="Arial" pitchFamily="34" charset="0"/>
                <a:sym typeface="Symbol" pitchFamily="18" charset="2"/>
              </a:rPr>
              <a:t>элементов, не превышающих этого значения</a:t>
            </a:r>
            <a:r>
              <a:rPr kumimoji="0" lang="ru-RU" altLang="ko-KR" sz="2400" i="1" dirty="0">
                <a:latin typeface="Arial" pitchFamily="34" charset="0"/>
                <a:sym typeface="Symbol" pitchFamily="18" charset="2"/>
              </a:rPr>
              <a:t>. </a:t>
            </a:r>
            <a:endParaRPr kumimoji="0" lang="ru-RU" sz="2400" i="1" noProof="1">
              <a:latin typeface="Arial" pitchFamily="34" charset="0"/>
              <a:sym typeface="Symbol" pitchFamily="18" charset="2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06" y="1008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выбора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3038756" y="311098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dirty="0"/>
          </a:p>
        </p:txBody>
      </p:sp>
      <p:graphicFrame>
        <p:nvGraphicFramePr>
          <p:cNvPr id="645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89737"/>
              </p:ext>
            </p:extLst>
          </p:nvPr>
        </p:nvGraphicFramePr>
        <p:xfrm>
          <a:off x="5084956" y="4226113"/>
          <a:ext cx="866775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82181" imgH="266469" progId="">
                  <p:embed/>
                </p:oleObj>
              </mc:Choice>
              <mc:Fallback>
                <p:oleObj name="Equation" r:id="rId3" imgW="482181" imgH="266469" progId="">
                  <p:embed/>
                  <p:pic>
                    <p:nvPicPr>
                      <p:cNvPr id="0" name="Picture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4956" y="4226113"/>
                        <a:ext cx="866775" cy="474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8364781"/>
              </p:ext>
            </p:extLst>
          </p:nvPr>
        </p:nvGraphicFramePr>
        <p:xfrm>
          <a:off x="4024595" y="4602261"/>
          <a:ext cx="8667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2181" imgH="266469" progId="">
                  <p:embed/>
                </p:oleObj>
              </mc:Choice>
              <mc:Fallback>
                <p:oleObj name="Equation" r:id="rId5" imgW="482181" imgH="266469" progId="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4595" y="4602261"/>
                        <a:ext cx="866775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524803"/>
              </p:ext>
            </p:extLst>
          </p:nvPr>
        </p:nvGraphicFramePr>
        <p:xfrm>
          <a:off x="9156141" y="4939497"/>
          <a:ext cx="953453" cy="52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2181" imgH="266469" progId="">
                  <p:embed/>
                </p:oleObj>
              </mc:Choice>
              <mc:Fallback>
                <p:oleObj name="Equation" r:id="rId6" imgW="482181" imgH="266469" progId="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6141" y="4939497"/>
                        <a:ext cx="953453" cy="5221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06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2606" y="1852614"/>
            <a:ext cx="8496300" cy="39655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>
              <a:buFont typeface="Wingdings" pitchFamily="2" charset="2"/>
              <a:buChar char="§"/>
              <a:defRPr/>
            </a:pPr>
            <a:r>
              <a:rPr kumimoji="0" lang="ru-RU" sz="24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ru-RU" sz="3200" dirty="0">
                <a:latin typeface="Arial" pitchFamily="34" charset="0"/>
                <a:sym typeface="Symbol" pitchFamily="18" charset="2"/>
              </a:rPr>
              <a:t>Общая задача – нахождение значения элемента с рангом</a:t>
            </a:r>
            <a:r>
              <a:rPr kumimoji="0" lang="ru-RU" sz="32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3200" i="1" dirty="0">
                <a:latin typeface="Arial" pitchFamily="34" charset="0"/>
                <a:sym typeface="Symbol" pitchFamily="18" charset="2"/>
              </a:rPr>
              <a:t>k, 1 ≤ k ≤ n.</a:t>
            </a:r>
          </a:p>
          <a:p>
            <a:pPr marL="457200" indent="-457200">
              <a:defRPr/>
            </a:pPr>
            <a:endParaRPr kumimoji="0" lang="en-US" sz="3200" i="1" noProof="1">
              <a:latin typeface="Arial" pitchFamily="34" charset="0"/>
              <a:sym typeface="Symbol" pitchFamily="18" charset="2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06" y="1008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выбора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1509" name="Rectangle 9"/>
          <p:cNvSpPr>
            <a:spLocks noChangeArrowheads="1"/>
          </p:cNvSpPr>
          <p:nvPr/>
        </p:nvSpPr>
        <p:spPr bwMode="auto">
          <a:xfrm>
            <a:off x="3038756" y="311098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dirty="0"/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587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2587" y="1769486"/>
            <a:ext cx="8496300" cy="16347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>
              <a:defRPr/>
            </a:pPr>
            <a:r>
              <a:rPr kumimoji="0" lang="ru-RU" sz="2400" dirty="0">
                <a:latin typeface="Arial" pitchFamily="34" charset="0"/>
                <a:sym typeface="Symbol" pitchFamily="18" charset="2"/>
              </a:rPr>
              <a:t>Шаг 1: если </a:t>
            </a:r>
            <a:r>
              <a:rPr kumimoji="0" lang="en-US" sz="2400" i="1" dirty="0">
                <a:latin typeface="Arial" pitchFamily="34" charset="0"/>
                <a:sym typeface="Symbol" pitchFamily="18" charset="2"/>
              </a:rPr>
              <a:t>|S| ≤ 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q</a:t>
            </a:r>
            <a:r>
              <a:rPr kumimoji="0" lang="en-US" sz="24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ru-RU" sz="2400" i="1" dirty="0">
                <a:latin typeface="Arial" pitchFamily="34" charset="0"/>
                <a:sym typeface="Symbol" pitchFamily="18" charset="2"/>
              </a:rPr>
              <a:t>,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элемент</a:t>
            </a:r>
            <a:r>
              <a:rPr kumimoji="0" lang="ru-RU" sz="24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400" i="1" dirty="0">
                <a:latin typeface="Arial" pitchFamily="34" charset="0"/>
                <a:sym typeface="Symbol" pitchFamily="18" charset="2"/>
              </a:rPr>
              <a:t>k-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го ранга ищем сортировкой,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иначе делим</a:t>
            </a:r>
            <a:r>
              <a:rPr kumimoji="0" lang="ru-RU" sz="24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400" i="1" dirty="0">
                <a:latin typeface="Arial" pitchFamily="34" charset="0"/>
                <a:sym typeface="Symbol" pitchFamily="18" charset="2"/>
              </a:rPr>
              <a:t>S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на</a:t>
            </a:r>
            <a:r>
              <a:rPr kumimoji="0" lang="ru-RU" sz="2400" i="1" dirty="0">
                <a:latin typeface="Arial" pitchFamily="34" charset="0"/>
                <a:sym typeface="Symbol" pitchFamily="18" charset="2"/>
              </a:rPr>
              <a:t>              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подмножеств</a:t>
            </a:r>
            <a:r>
              <a:rPr kumimoji="0" lang="ru-RU" sz="24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400" i="1" dirty="0">
                <a:latin typeface="Arial" pitchFamily="34" charset="0"/>
                <a:sym typeface="Symbol" pitchFamily="18" charset="2"/>
              </a:rPr>
              <a:t>S</a:t>
            </a:r>
            <a:r>
              <a:rPr kumimoji="0" lang="en-US" sz="2400" i="1" baseline="-25000" dirty="0">
                <a:latin typeface="Arial" pitchFamily="34" charset="0"/>
                <a:sym typeface="Symbol" pitchFamily="18" charset="2"/>
              </a:rPr>
              <a:t>i</a:t>
            </a:r>
            <a:r>
              <a:rPr kumimoji="0" lang="en-US" sz="24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из</a:t>
            </a:r>
            <a:r>
              <a:rPr kumimoji="0" lang="ru-RU" sz="24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400" i="1" dirty="0">
                <a:latin typeface="Arial" pitchFamily="34" charset="0"/>
                <a:sym typeface="Symbol" pitchFamily="18" charset="2"/>
              </a:rPr>
              <a:t>q</a:t>
            </a:r>
            <a:r>
              <a:rPr kumimoji="0" lang="ru-RU" sz="24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4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элементов каждое (кроме, быть может, последнего)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.</a:t>
            </a:r>
            <a:endParaRPr kumimoji="0" lang="en-US" sz="2400" noProof="1">
              <a:latin typeface="Arial" pitchFamily="34" charset="0"/>
              <a:sym typeface="Symbol" pitchFamily="18" charset="2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587" y="1001713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выбора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0" name="Прямоугольник 39"/>
          <p:cNvSpPr/>
          <p:nvPr/>
        </p:nvSpPr>
        <p:spPr bwMode="auto">
          <a:xfrm>
            <a:off x="10166612" y="5044621"/>
            <a:ext cx="584200" cy="766762"/>
          </a:xfrm>
          <a:prstGeom prst="rect">
            <a:avLst/>
          </a:prstGeom>
          <a:solidFill>
            <a:schemeClr val="tx2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defTabSz="914400">
              <a:defRPr/>
            </a:pPr>
            <a:endParaRPr kumimoji="0" lang="ru-RU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5712087" y="3688896"/>
            <a:ext cx="584200" cy="766762"/>
          </a:xfrm>
          <a:prstGeom prst="rect">
            <a:avLst/>
          </a:prstGeom>
          <a:solidFill>
            <a:schemeClr val="tx2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defTabSz="914400">
              <a:defRPr/>
            </a:pPr>
            <a:endParaRPr kumimoji="0" lang="ru-RU" sz="2000" i="1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13" name="Прямоугольник 12"/>
          <p:cNvSpPr/>
          <p:nvPr/>
        </p:nvSpPr>
        <p:spPr bwMode="auto">
          <a:xfrm>
            <a:off x="6296287" y="3688896"/>
            <a:ext cx="584200" cy="766762"/>
          </a:xfrm>
          <a:prstGeom prst="rect">
            <a:avLst/>
          </a:prstGeom>
          <a:solidFill>
            <a:schemeClr val="tx2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defTabSz="914400">
              <a:defRPr/>
            </a:pPr>
            <a:endParaRPr kumimoji="0" lang="ru-RU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6880487" y="3688896"/>
            <a:ext cx="584200" cy="766762"/>
          </a:xfrm>
          <a:prstGeom prst="rect">
            <a:avLst/>
          </a:prstGeom>
          <a:solidFill>
            <a:schemeClr val="tx2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defTabSz="914400">
              <a:defRPr/>
            </a:pPr>
            <a:endParaRPr kumimoji="0" lang="ru-RU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15" name="Прямоугольник 14"/>
          <p:cNvSpPr/>
          <p:nvPr/>
        </p:nvSpPr>
        <p:spPr bwMode="auto">
          <a:xfrm>
            <a:off x="7464687" y="3688896"/>
            <a:ext cx="584200" cy="766762"/>
          </a:xfrm>
          <a:prstGeom prst="rect">
            <a:avLst/>
          </a:prstGeom>
          <a:solidFill>
            <a:schemeClr val="tx2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defTabSz="914400">
              <a:defRPr/>
            </a:pPr>
            <a:endParaRPr kumimoji="0" lang="ru-RU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16" name="Прямоугольник 15"/>
          <p:cNvSpPr/>
          <p:nvPr/>
        </p:nvSpPr>
        <p:spPr bwMode="auto">
          <a:xfrm>
            <a:off x="8888675" y="3688896"/>
            <a:ext cx="584200" cy="766762"/>
          </a:xfrm>
          <a:prstGeom prst="rect">
            <a:avLst/>
          </a:prstGeom>
          <a:solidFill>
            <a:schemeClr val="tx2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defTabSz="914400">
              <a:defRPr/>
            </a:pPr>
            <a:endParaRPr kumimoji="0" lang="ru-RU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31451" y="4090533"/>
            <a:ext cx="511175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914400">
              <a:defRPr/>
            </a:pPr>
            <a:r>
              <a:rPr kumimoji="0" 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rPr>
              <a:t>…</a:t>
            </a:r>
            <a:endParaRPr kumimoji="0" lang="ru-RU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48601" y="3849278"/>
            <a:ext cx="511175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914400">
              <a:defRPr/>
            </a:pPr>
            <a:r>
              <a:rPr kumimoji="0" lang="en-US" sz="20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rPr>
              <a:t>s</a:t>
            </a:r>
            <a:r>
              <a:rPr kumimoji="0" lang="en-US" sz="2000" i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rPr>
              <a:t>1</a:t>
            </a:r>
            <a:endParaRPr kumimoji="0" lang="ru-RU" sz="2000" i="1" baseline="-25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32801" y="3849278"/>
            <a:ext cx="511175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914400">
              <a:defRPr/>
            </a:pPr>
            <a:r>
              <a:rPr kumimoji="0" lang="en-US" sz="20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rPr>
              <a:t>s</a:t>
            </a:r>
            <a:r>
              <a:rPr kumimoji="0" lang="en-US" sz="2000" i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rPr>
              <a:t>2</a:t>
            </a:r>
            <a:endParaRPr kumimoji="0" lang="ru-RU" sz="2000" i="1" baseline="-25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17001" y="3854040"/>
            <a:ext cx="511175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914400">
              <a:defRPr/>
            </a:pPr>
            <a:r>
              <a:rPr kumimoji="0" lang="en-US" sz="20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rPr>
              <a:t>s</a:t>
            </a:r>
            <a:r>
              <a:rPr kumimoji="0" lang="en-US" sz="2000" i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rPr>
              <a:t>3</a:t>
            </a:r>
            <a:endParaRPr kumimoji="0" lang="ru-RU" sz="2000" i="1" baseline="-25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01201" y="3854040"/>
            <a:ext cx="511175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914400">
              <a:defRPr/>
            </a:pPr>
            <a:r>
              <a:rPr kumimoji="0" lang="en-US" sz="20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rPr>
              <a:t>s</a:t>
            </a:r>
            <a:r>
              <a:rPr kumimoji="0" lang="en-US" sz="2000" i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rPr>
              <a:t>4</a:t>
            </a:r>
            <a:endParaRPr kumimoji="0" lang="ru-RU" sz="2000" i="1" baseline="-25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25188" y="3854040"/>
            <a:ext cx="511175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914400">
              <a:defRPr/>
            </a:pPr>
            <a:r>
              <a:rPr kumimoji="0" lang="en-US" sz="20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rPr>
              <a:t>s</a:t>
            </a:r>
            <a:r>
              <a:rPr kumimoji="0" lang="en-US" sz="2000" i="1" baseline="-25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rPr>
              <a:t>n</a:t>
            </a:r>
            <a:endParaRPr kumimoji="0" lang="ru-RU" sz="2000" i="1" baseline="-25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" name="Прямоугольник 23"/>
          <p:cNvSpPr/>
          <p:nvPr/>
        </p:nvSpPr>
        <p:spPr bwMode="auto">
          <a:xfrm>
            <a:off x="3302262" y="5044621"/>
            <a:ext cx="584200" cy="766762"/>
          </a:xfrm>
          <a:prstGeom prst="rect">
            <a:avLst/>
          </a:prstGeom>
          <a:solidFill>
            <a:schemeClr val="tx2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defTabSz="914400">
              <a:defRPr/>
            </a:pPr>
            <a:endParaRPr kumimoji="0" lang="ru-RU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38776" y="5201056"/>
            <a:ext cx="511175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914400">
              <a:defRPr/>
            </a:pPr>
            <a:r>
              <a:rPr kumimoji="0" lang="en-US" sz="2000" i="1" dirty="0">
                <a:solidFill>
                  <a:schemeClr val="bg1"/>
                </a:solidFill>
                <a:latin typeface="Arial" charset="0"/>
                <a:cs typeface="+mn-cs"/>
              </a:rPr>
              <a:t>s</a:t>
            </a:r>
            <a:r>
              <a:rPr kumimoji="0" lang="en-US" sz="2000" i="1" baseline="-25000" dirty="0">
                <a:solidFill>
                  <a:schemeClr val="bg1"/>
                </a:solidFill>
                <a:latin typeface="Arial" charset="0"/>
                <a:cs typeface="+mn-cs"/>
              </a:rPr>
              <a:t>1</a:t>
            </a:r>
            <a:endParaRPr kumimoji="0" lang="ru-RU" sz="2000" i="1" baseline="-25000" dirty="0">
              <a:solidFill>
                <a:schemeClr val="bg1"/>
              </a:solidFill>
              <a:latin typeface="Arial" charset="0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922976" y="5446258"/>
            <a:ext cx="511175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914400">
              <a:defRPr/>
            </a:pPr>
            <a:r>
              <a:rPr kumimoji="0"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rPr>
              <a:t>…</a:t>
            </a:r>
            <a:endParaRPr kumimoji="0"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4397637" y="5044621"/>
            <a:ext cx="584200" cy="766762"/>
          </a:xfrm>
          <a:prstGeom prst="rect">
            <a:avLst/>
          </a:prstGeom>
          <a:solidFill>
            <a:schemeClr val="tx2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defTabSz="914400">
              <a:defRPr/>
            </a:pPr>
            <a:endParaRPr kumimoji="0" lang="ru-RU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434151" y="5201056"/>
            <a:ext cx="511175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914400">
              <a:defRPr/>
            </a:pPr>
            <a:r>
              <a:rPr kumimoji="0" lang="en-US" sz="2000" i="1" dirty="0">
                <a:solidFill>
                  <a:schemeClr val="bg1"/>
                </a:solidFill>
                <a:latin typeface="Arial" charset="0"/>
                <a:cs typeface="+mn-cs"/>
              </a:rPr>
              <a:t>s</a:t>
            </a:r>
            <a:r>
              <a:rPr kumimoji="0" lang="en-US" sz="2000" i="1" baseline="-25000" dirty="0">
                <a:solidFill>
                  <a:schemeClr val="bg1"/>
                </a:solidFill>
                <a:latin typeface="Arial" charset="0"/>
                <a:cs typeface="+mn-cs"/>
              </a:rPr>
              <a:t>q</a:t>
            </a:r>
            <a:endParaRPr kumimoji="0" lang="ru-RU" sz="2000" i="1" baseline="-25000" dirty="0">
              <a:solidFill>
                <a:schemeClr val="bg1"/>
              </a:solidFill>
              <a:latin typeface="Arial" charset="0"/>
              <a:cs typeface="+mn-cs"/>
            </a:endParaRPr>
          </a:p>
        </p:txBody>
      </p:sp>
      <p:sp>
        <p:nvSpPr>
          <p:cNvPr id="29" name="Прямоугольник 28"/>
          <p:cNvSpPr/>
          <p:nvPr/>
        </p:nvSpPr>
        <p:spPr bwMode="auto">
          <a:xfrm>
            <a:off x="5785112" y="5039859"/>
            <a:ext cx="584200" cy="766763"/>
          </a:xfrm>
          <a:prstGeom prst="rect">
            <a:avLst/>
          </a:prstGeom>
          <a:solidFill>
            <a:schemeClr val="tx2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defTabSz="914400">
              <a:defRPr/>
            </a:pPr>
            <a:endParaRPr kumimoji="0" lang="ru-RU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710295" y="5196294"/>
            <a:ext cx="7667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kumimoji="0" lang="en-US" sz="2000" i="1" dirty="0">
                <a:solidFill>
                  <a:schemeClr val="bg1"/>
                </a:solidFill>
                <a:latin typeface="Arial" charset="0"/>
                <a:cs typeface="+mn-cs"/>
              </a:rPr>
              <a:t>s</a:t>
            </a:r>
            <a:r>
              <a:rPr kumimoji="0" lang="en-US" sz="2000" i="1" baseline="-25000" dirty="0">
                <a:solidFill>
                  <a:schemeClr val="bg1"/>
                </a:solidFill>
                <a:latin typeface="Arial" charset="0"/>
                <a:cs typeface="+mn-cs"/>
              </a:rPr>
              <a:t>q+1</a:t>
            </a:r>
            <a:endParaRPr kumimoji="0" lang="ru-RU" sz="2000" i="1" baseline="-25000" dirty="0">
              <a:solidFill>
                <a:schemeClr val="bg1"/>
              </a:solidFill>
              <a:latin typeface="Arial" charset="0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05826" y="5441496"/>
            <a:ext cx="511175" cy="3667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914400">
              <a:defRPr/>
            </a:pPr>
            <a:r>
              <a:rPr kumimoji="0"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rPr>
              <a:t>…</a:t>
            </a:r>
            <a:endParaRPr kumimoji="0"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32" name="Прямоугольник 31"/>
          <p:cNvSpPr/>
          <p:nvPr/>
        </p:nvSpPr>
        <p:spPr bwMode="auto">
          <a:xfrm>
            <a:off x="6880487" y="5039859"/>
            <a:ext cx="584200" cy="766763"/>
          </a:xfrm>
          <a:prstGeom prst="rect">
            <a:avLst/>
          </a:prstGeom>
          <a:solidFill>
            <a:schemeClr val="tx2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defTabSz="914400">
              <a:defRPr/>
            </a:pPr>
            <a:endParaRPr kumimoji="0" lang="ru-RU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17001" y="5196294"/>
            <a:ext cx="511175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914400">
              <a:defRPr/>
            </a:pPr>
            <a:r>
              <a:rPr kumimoji="0" lang="en-US" sz="2000" i="1" dirty="0">
                <a:solidFill>
                  <a:schemeClr val="bg1"/>
                </a:solidFill>
                <a:latin typeface="Arial" charset="0"/>
                <a:cs typeface="+mn-cs"/>
              </a:rPr>
              <a:t>s</a:t>
            </a:r>
            <a:r>
              <a:rPr kumimoji="0" lang="en-US" sz="2000" i="1" baseline="-25000" dirty="0">
                <a:solidFill>
                  <a:schemeClr val="bg1"/>
                </a:solidFill>
                <a:latin typeface="Arial" charset="0"/>
                <a:cs typeface="+mn-cs"/>
              </a:rPr>
              <a:t>2q</a:t>
            </a:r>
            <a:endParaRPr kumimoji="0" lang="ru-RU" sz="2000" i="1" baseline="-25000" dirty="0">
              <a:solidFill>
                <a:schemeClr val="bg1"/>
              </a:solidFill>
              <a:latin typeface="Arial" charset="0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787326" y="5446258"/>
            <a:ext cx="511175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914400">
              <a:defRPr/>
            </a:pPr>
            <a:r>
              <a:rPr kumimoji="0"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rPr>
              <a:t>…</a:t>
            </a:r>
            <a:endParaRPr kumimoji="0"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43" name="Прямоугольник 42"/>
          <p:cNvSpPr/>
          <p:nvPr/>
        </p:nvSpPr>
        <p:spPr bwMode="auto">
          <a:xfrm>
            <a:off x="11261987" y="5044621"/>
            <a:ext cx="584200" cy="766762"/>
          </a:xfrm>
          <a:prstGeom prst="rect">
            <a:avLst/>
          </a:prstGeom>
          <a:solidFill>
            <a:schemeClr val="tx2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defTabSz="914400">
              <a:defRPr/>
            </a:pPr>
            <a:endParaRPr kumimoji="0" lang="ru-RU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298501" y="5201056"/>
            <a:ext cx="511175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914400">
              <a:defRPr/>
            </a:pPr>
            <a:r>
              <a:rPr kumimoji="0" lang="en-US" sz="2000" i="1" dirty="0" err="1">
                <a:solidFill>
                  <a:schemeClr val="bg1"/>
                </a:solidFill>
                <a:latin typeface="Arial" charset="0"/>
                <a:cs typeface="+mn-cs"/>
              </a:rPr>
              <a:t>s</a:t>
            </a:r>
            <a:r>
              <a:rPr kumimoji="0" lang="en-US" sz="2000" i="1" baseline="-25000" dirty="0" err="1">
                <a:solidFill>
                  <a:schemeClr val="bg1"/>
                </a:solidFill>
                <a:latin typeface="Arial" charset="0"/>
                <a:cs typeface="+mn-cs"/>
              </a:rPr>
              <a:t>n</a:t>
            </a:r>
            <a:endParaRPr kumimoji="0" lang="ru-RU" sz="2000" i="1" baseline="-25000" dirty="0">
              <a:solidFill>
                <a:schemeClr val="bg1"/>
              </a:solidFill>
              <a:latin typeface="Arial" charset="0"/>
              <a:cs typeface="+mn-cs"/>
            </a:endParaRPr>
          </a:p>
        </p:txBody>
      </p:sp>
      <p:cxnSp>
        <p:nvCxnSpPr>
          <p:cNvPr id="2084" name="Прямая со стрелкой 51"/>
          <p:cNvCxnSpPr>
            <a:cxnSpLocks noChangeShapeType="1"/>
          </p:cNvCxnSpPr>
          <p:nvPr/>
        </p:nvCxnSpPr>
        <p:spPr bwMode="auto">
          <a:xfrm rot="10800000" flipV="1">
            <a:off x="4215075" y="4565197"/>
            <a:ext cx="3359150" cy="401637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085" name="Прямая со стрелкой 53"/>
          <p:cNvCxnSpPr>
            <a:cxnSpLocks noChangeShapeType="1"/>
          </p:cNvCxnSpPr>
          <p:nvPr/>
        </p:nvCxnSpPr>
        <p:spPr bwMode="auto">
          <a:xfrm rot="10800000" flipV="1">
            <a:off x="6624901" y="4565196"/>
            <a:ext cx="949325" cy="32861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086" name="Прямая со стрелкой 55"/>
          <p:cNvCxnSpPr>
            <a:cxnSpLocks noChangeShapeType="1"/>
          </p:cNvCxnSpPr>
          <p:nvPr/>
        </p:nvCxnSpPr>
        <p:spPr bwMode="auto">
          <a:xfrm>
            <a:off x="7537713" y="4565196"/>
            <a:ext cx="3432175" cy="32861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4" name="Левая фигурная скобка 33"/>
          <p:cNvSpPr>
            <a:spLocks/>
          </p:cNvSpPr>
          <p:nvPr/>
        </p:nvSpPr>
        <p:spPr bwMode="auto">
          <a:xfrm rot="16200000">
            <a:off x="3996000" y="5152571"/>
            <a:ext cx="292100" cy="1752600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vert="eaVert"/>
          <a:lstStyle/>
          <a:p>
            <a:pPr defTabSz="914400">
              <a:defRPr/>
            </a:pPr>
            <a:endParaRPr kumimoji="0"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35" name="Левая фигурная скобка 34"/>
          <p:cNvSpPr>
            <a:spLocks/>
          </p:cNvSpPr>
          <p:nvPr/>
        </p:nvSpPr>
        <p:spPr bwMode="auto">
          <a:xfrm rot="16200000">
            <a:off x="6478850" y="5152571"/>
            <a:ext cx="292100" cy="1752600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vert="eaVert"/>
          <a:lstStyle/>
          <a:p>
            <a:pPr defTabSz="914400">
              <a:defRPr/>
            </a:pPr>
            <a:endParaRPr kumimoji="0"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45" name="Левая фигурная скобка 44"/>
          <p:cNvSpPr>
            <a:spLocks/>
          </p:cNvSpPr>
          <p:nvPr/>
        </p:nvSpPr>
        <p:spPr bwMode="auto">
          <a:xfrm rot="16200000">
            <a:off x="10860350" y="5155746"/>
            <a:ext cx="292100" cy="1752600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vert="eaVert"/>
          <a:lstStyle/>
          <a:p>
            <a:pPr defTabSz="914400">
              <a:defRPr/>
            </a:pPr>
            <a:endParaRPr kumimoji="0"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graphicFrame>
        <p:nvGraphicFramePr>
          <p:cNvPr id="2050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4735543"/>
              </p:ext>
            </p:extLst>
          </p:nvPr>
        </p:nvGraphicFramePr>
        <p:xfrm>
          <a:off x="8652615" y="2150615"/>
          <a:ext cx="1037273" cy="582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1640" imgH="241200" progId="Equation.DSMT4">
                  <p:embed/>
                </p:oleObj>
              </mc:Choice>
              <mc:Fallback>
                <p:oleObj name="Equation" r:id="rId3" imgW="431640" imgH="241200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2615" y="2150615"/>
                        <a:ext cx="1037273" cy="5820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39"/>
          <p:cNvSpPr txBox="1">
            <a:spLocks noChangeArrowheads="1"/>
          </p:cNvSpPr>
          <p:nvPr/>
        </p:nvSpPr>
        <p:spPr bwMode="auto">
          <a:xfrm>
            <a:off x="3291993" y="6185638"/>
            <a:ext cx="183673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solidFill>
                  <a:prstClr val="black"/>
                </a:solidFill>
                <a:latin typeface="Arial" charset="0"/>
              </a:rPr>
              <a:t>S</a:t>
            </a:r>
            <a:r>
              <a:rPr lang="en-US" i="1" baseline="-25000" dirty="0">
                <a:solidFill>
                  <a:prstClr val="black"/>
                </a:solidFill>
                <a:latin typeface="Arial" charset="0"/>
              </a:rPr>
              <a:t>1</a:t>
            </a:r>
            <a:r>
              <a:rPr lang="en-US" i="1" dirty="0">
                <a:solidFill>
                  <a:prstClr val="black"/>
                </a:solidFill>
                <a:latin typeface="Arial" charset="0"/>
              </a:rPr>
              <a:t>, |S</a:t>
            </a:r>
            <a:r>
              <a:rPr lang="en-US" i="1" baseline="-25000" dirty="0">
                <a:solidFill>
                  <a:prstClr val="black"/>
                </a:solidFill>
                <a:latin typeface="Arial" charset="0"/>
              </a:rPr>
              <a:t>1</a:t>
            </a:r>
            <a:r>
              <a:rPr lang="en-US" i="1" dirty="0">
                <a:solidFill>
                  <a:prstClr val="black"/>
                </a:solidFill>
                <a:latin typeface="Arial" charset="0"/>
              </a:rPr>
              <a:t>| = q</a:t>
            </a:r>
            <a:endParaRPr lang="ru-RU" i="1" baseline="300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39" name="Text Box 40"/>
          <p:cNvSpPr txBox="1">
            <a:spLocks noChangeArrowheads="1"/>
          </p:cNvSpPr>
          <p:nvPr/>
        </p:nvSpPr>
        <p:spPr bwMode="auto">
          <a:xfrm>
            <a:off x="5849454" y="6197068"/>
            <a:ext cx="183673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solidFill>
                  <a:prstClr val="black"/>
                </a:solidFill>
                <a:latin typeface="Arial" charset="0"/>
              </a:rPr>
              <a:t>S</a:t>
            </a:r>
            <a:r>
              <a:rPr lang="en-US" i="1" baseline="-25000" dirty="0">
                <a:solidFill>
                  <a:prstClr val="black"/>
                </a:solidFill>
                <a:latin typeface="Arial" charset="0"/>
              </a:rPr>
              <a:t>2</a:t>
            </a:r>
            <a:r>
              <a:rPr lang="en-US" i="1" dirty="0">
                <a:solidFill>
                  <a:prstClr val="black"/>
                </a:solidFill>
                <a:latin typeface="Arial" charset="0"/>
              </a:rPr>
              <a:t>, |S</a:t>
            </a:r>
            <a:r>
              <a:rPr lang="en-US" i="1" baseline="-25000" dirty="0">
                <a:solidFill>
                  <a:prstClr val="black"/>
                </a:solidFill>
                <a:latin typeface="Arial" charset="0"/>
              </a:rPr>
              <a:t>2</a:t>
            </a:r>
            <a:r>
              <a:rPr lang="en-US" i="1" dirty="0">
                <a:solidFill>
                  <a:prstClr val="black"/>
                </a:solidFill>
                <a:latin typeface="Arial" charset="0"/>
              </a:rPr>
              <a:t>| = q</a:t>
            </a:r>
            <a:endParaRPr lang="ru-RU" i="1" baseline="300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41" name="Text Box 42"/>
          <p:cNvSpPr txBox="1">
            <a:spLocks noChangeArrowheads="1"/>
          </p:cNvSpPr>
          <p:nvPr/>
        </p:nvSpPr>
        <p:spPr bwMode="auto">
          <a:xfrm>
            <a:off x="9357441" y="6190748"/>
            <a:ext cx="2786743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i="1" dirty="0" err="1">
                <a:solidFill>
                  <a:prstClr val="black"/>
                </a:solidFill>
                <a:latin typeface="Arial" charset="0"/>
              </a:rPr>
              <a:t>S</a:t>
            </a:r>
            <a:r>
              <a:rPr lang="en-US" i="1" baseline="-25000" dirty="0" err="1">
                <a:solidFill>
                  <a:prstClr val="black"/>
                </a:solidFill>
                <a:latin typeface="Arial" charset="0"/>
              </a:rPr>
              <a:t>v</a:t>
            </a:r>
            <a:r>
              <a:rPr lang="en-US" i="1" dirty="0">
                <a:solidFill>
                  <a:prstClr val="black"/>
                </a:solidFill>
                <a:latin typeface="Arial" charset="0"/>
              </a:rPr>
              <a:t>, v =           </a:t>
            </a:r>
            <a:r>
              <a:rPr lang="ru-RU" i="1" dirty="0">
                <a:solidFill>
                  <a:prstClr val="black"/>
                </a:solidFill>
                <a:latin typeface="Arial" charset="0"/>
              </a:rPr>
              <a:t>   </a:t>
            </a:r>
            <a:r>
              <a:rPr lang="en-US" i="1" dirty="0">
                <a:solidFill>
                  <a:prstClr val="black"/>
                </a:solidFill>
                <a:latin typeface="Arial" charset="0"/>
                <a:sym typeface="Symbol" pitchFamily="18" charset="2"/>
              </a:rPr>
              <a:t>, </a:t>
            </a:r>
            <a:r>
              <a:rPr lang="en-US" i="1" dirty="0">
                <a:solidFill>
                  <a:prstClr val="black"/>
                </a:solidFill>
                <a:latin typeface="Arial" charset="0"/>
              </a:rPr>
              <a:t>|</a:t>
            </a:r>
            <a:r>
              <a:rPr lang="en-US" i="1" dirty="0" err="1">
                <a:solidFill>
                  <a:prstClr val="black"/>
                </a:solidFill>
                <a:latin typeface="Arial" charset="0"/>
              </a:rPr>
              <a:t>S</a:t>
            </a:r>
            <a:r>
              <a:rPr lang="en-US" i="1" baseline="-25000" dirty="0" err="1">
                <a:solidFill>
                  <a:prstClr val="black"/>
                </a:solidFill>
                <a:latin typeface="Arial" charset="0"/>
              </a:rPr>
              <a:t>v</a:t>
            </a:r>
            <a:r>
              <a:rPr lang="en-US" i="1" dirty="0">
                <a:solidFill>
                  <a:prstClr val="black"/>
                </a:solidFill>
                <a:latin typeface="Arial" charset="0"/>
              </a:rPr>
              <a:t>| ≤ q</a:t>
            </a:r>
            <a:endParaRPr lang="ru-RU" i="1" baseline="30000" dirty="0">
              <a:solidFill>
                <a:prstClr val="black"/>
              </a:solidFill>
              <a:latin typeface="Arial" charset="0"/>
            </a:endParaRPr>
          </a:p>
        </p:txBody>
      </p:sp>
      <p:graphicFrame>
        <p:nvGraphicFramePr>
          <p:cNvPr id="46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7228473"/>
              </p:ext>
            </p:extLst>
          </p:nvPr>
        </p:nvGraphicFramePr>
        <p:xfrm>
          <a:off x="10319569" y="6183687"/>
          <a:ext cx="777081" cy="445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5320" imgH="203040" progId="Equation.DSMT4">
                  <p:embed/>
                </p:oleObj>
              </mc:Choice>
              <mc:Fallback>
                <p:oleObj name="Equation" r:id="rId5" imgW="355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19569" y="6183687"/>
                        <a:ext cx="777081" cy="44529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20" grpId="0"/>
      <p:bldP spid="21" grpId="0"/>
      <p:bldP spid="22" grpId="0"/>
      <p:bldP spid="23" grpId="0"/>
      <p:bldP spid="24" grpId="0" animBg="1"/>
      <p:bldP spid="25" grpId="0"/>
      <p:bldP spid="26" grpId="0"/>
      <p:bldP spid="27" grpId="0" animBg="1"/>
      <p:bldP spid="28" grpId="0"/>
      <p:bldP spid="29" grpId="0" animBg="1"/>
      <p:bldP spid="30" grpId="0"/>
      <p:bldP spid="31" grpId="0"/>
      <p:bldP spid="32" grpId="0" animBg="1"/>
      <p:bldP spid="33" grpId="0"/>
      <p:bldP spid="42" grpId="0"/>
      <p:bldP spid="43" grpId="0" animBg="1"/>
      <p:bldP spid="44" grpId="0"/>
      <p:bldP spid="34" grpId="0" animBg="1"/>
      <p:bldP spid="35" grpId="0" animBg="1"/>
      <p:bldP spid="45" grpId="0" animBg="1"/>
      <p:bldP spid="38" grpId="0"/>
      <p:bldP spid="39" grpId="0"/>
      <p:bldP spid="4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10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2610" y="1852614"/>
            <a:ext cx="8496300" cy="11001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Шаг 2: Сортировкой ищем медиану в каждом подмножестве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.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10" y="1001713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выбора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" name="Rechteck 39"/>
          <p:cNvSpPr>
            <a:spLocks noChangeArrowheads="1"/>
          </p:cNvSpPr>
          <p:nvPr/>
        </p:nvSpPr>
        <p:spPr bwMode="gray">
          <a:xfrm>
            <a:off x="3362610" y="3225801"/>
            <a:ext cx="8496300" cy="3000433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>
              <a:defRPr/>
            </a:pPr>
            <a:r>
              <a:rPr kumimoji="0" 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S</a:t>
            </a:r>
            <a:r>
              <a:rPr kumimoji="0" lang="en-US" sz="24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1</a:t>
            </a:r>
            <a:r>
              <a:rPr kumimoji="0" 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			m</a:t>
            </a:r>
            <a:r>
              <a:rPr kumimoji="0" lang="en-US" sz="24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1</a:t>
            </a:r>
          </a:p>
          <a:p>
            <a:pPr marL="457200" indent="-457200">
              <a:defRPr/>
            </a:pPr>
            <a:endParaRPr kumimoji="0" lang="en-US" sz="2400" i="1" baseline="-250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r>
              <a:rPr kumimoji="0" 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S</a:t>
            </a:r>
            <a:r>
              <a:rPr kumimoji="0" lang="en-US" sz="24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2</a:t>
            </a:r>
            <a:r>
              <a:rPr kumimoji="0" 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			m</a:t>
            </a:r>
            <a:r>
              <a:rPr kumimoji="0" lang="en-US" sz="24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2</a:t>
            </a:r>
          </a:p>
          <a:p>
            <a:pPr marL="457200" indent="-457200">
              <a:defRPr/>
            </a:pPr>
            <a:endParaRPr kumimoji="0" lang="en-US" sz="2400" i="1" baseline="-250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r>
              <a:rPr kumimoji="0" lang="en-US" sz="24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	.</a:t>
            </a:r>
          </a:p>
          <a:p>
            <a:pPr marL="457200" indent="-457200">
              <a:defRPr/>
            </a:pPr>
            <a:r>
              <a:rPr kumimoji="0" 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S			m</a:t>
            </a:r>
          </a:p>
          <a:p>
            <a:pPr marL="457200" indent="-457200">
              <a:defRPr/>
            </a:pPr>
            <a:endParaRPr kumimoji="0" lang="en-US" sz="2400" i="1" baseline="-250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sym typeface="Symbol" pitchFamily="18" charset="2"/>
            </a:endParaRPr>
          </a:p>
        </p:txBody>
      </p:sp>
      <p:sp>
        <p:nvSpPr>
          <p:cNvPr id="3080" name="Line 40"/>
          <p:cNvSpPr>
            <a:spLocks noChangeShapeType="1"/>
          </p:cNvSpPr>
          <p:nvPr/>
        </p:nvSpPr>
        <p:spPr bwMode="auto">
          <a:xfrm>
            <a:off x="4237323" y="3902882"/>
            <a:ext cx="488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081" name="Line 41"/>
          <p:cNvSpPr>
            <a:spLocks noChangeShapeType="1"/>
          </p:cNvSpPr>
          <p:nvPr/>
        </p:nvSpPr>
        <p:spPr bwMode="auto">
          <a:xfrm>
            <a:off x="4237323" y="4897408"/>
            <a:ext cx="488950" cy="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082" name="Rectangle 43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074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9561058"/>
              </p:ext>
            </p:extLst>
          </p:nvPr>
        </p:nvGraphicFramePr>
        <p:xfrm>
          <a:off x="3770598" y="5399089"/>
          <a:ext cx="67945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07960" imgH="279360" progId="Equation.DSMT4">
                  <p:embed/>
                </p:oleObj>
              </mc:Choice>
              <mc:Fallback>
                <p:oleObj name="Equation" r:id="rId3" imgW="507960" imgH="279360" progId="Equation.DSMT4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0598" y="5399089"/>
                        <a:ext cx="679450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3" name="Rectangle 45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4" name="Line 46"/>
          <p:cNvSpPr>
            <a:spLocks noChangeShapeType="1"/>
          </p:cNvSpPr>
          <p:nvPr/>
        </p:nvSpPr>
        <p:spPr bwMode="auto">
          <a:xfrm>
            <a:off x="4235735" y="4516408"/>
            <a:ext cx="488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085" name="Line 47"/>
          <p:cNvSpPr>
            <a:spLocks noChangeShapeType="1"/>
          </p:cNvSpPr>
          <p:nvPr/>
        </p:nvSpPr>
        <p:spPr bwMode="auto">
          <a:xfrm>
            <a:off x="4237323" y="5351568"/>
            <a:ext cx="488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307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5879937"/>
              </p:ext>
            </p:extLst>
          </p:nvPr>
        </p:nvGraphicFramePr>
        <p:xfrm>
          <a:off x="5221573" y="5389564"/>
          <a:ext cx="67945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07960" imgH="279360" progId="Equation.DSMT4">
                  <p:embed/>
                </p:oleObj>
              </mc:Choice>
              <mc:Fallback>
                <p:oleObj name="Equation" r:id="rId5" imgW="507960" imgH="279360" progId="Equation.DSMT4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1573" y="5389564"/>
                        <a:ext cx="679450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1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2614" y="1852613"/>
            <a:ext cx="8496300" cy="429049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/>
          <a:lstStyle/>
          <a:p>
            <a:pPr marL="457200" indent="-457200"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Шаг 3: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Строим множество всех медиан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M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.</a:t>
            </a:r>
            <a:endParaRPr kumimoji="0" lang="en-US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endParaRPr kumimoji="0" lang="en-US" sz="24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endParaRPr kumimoji="0" lang="en-US" sz="24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endParaRPr kumimoji="0" lang="en-US" sz="24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r>
              <a:rPr kumimoji="0" lang="en-US" sz="2400" i="1" dirty="0">
                <a:latin typeface="Arial" pitchFamily="34" charset="0"/>
                <a:sym typeface="Symbol" pitchFamily="18" charset="2"/>
              </a:rPr>
              <a:t>			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Мощность множества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|M| =</a:t>
            </a:r>
            <a:endParaRPr kumimoji="0" lang="ru-RU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endParaRPr kumimoji="0" lang="en-US" sz="24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Рекурсивно находим медиану множества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M – m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0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endParaRPr kumimoji="0" lang="en-US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endParaRPr kumimoji="0" lang="en-US" sz="24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endParaRPr kumimoji="0" lang="en-US" sz="2400" i="1" dirty="0">
              <a:latin typeface="Arial" pitchFamily="34" charset="0"/>
              <a:sym typeface="Symbol" pitchFamily="18" charset="2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14" y="1001713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выбора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103" name="Rectangle 10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4" name="Rectangle 12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5" name="Rectangle 17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6" name="Rectangle 21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09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445399"/>
              </p:ext>
            </p:extLst>
          </p:nvPr>
        </p:nvGraphicFramePr>
        <p:xfrm>
          <a:off x="9548062" y="3322145"/>
          <a:ext cx="1138555" cy="66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20" imgH="291960" progId="Equation.DSMT4">
                  <p:embed/>
                </p:oleObj>
              </mc:Choice>
              <mc:Fallback>
                <p:oleObj name="Equation" r:id="rId3" imgW="583920" imgH="291960" progId="Equation.DSMT4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48062" y="3322145"/>
                        <a:ext cx="1138555" cy="668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0743398"/>
              </p:ext>
            </p:extLst>
          </p:nvPr>
        </p:nvGraphicFramePr>
        <p:xfrm>
          <a:off x="6272503" y="2376489"/>
          <a:ext cx="348297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38000" imgH="393480" progId="Equation.DSMT4">
                  <p:embed/>
                </p:oleObj>
              </mc:Choice>
              <mc:Fallback>
                <p:oleObj name="Equation" r:id="rId5" imgW="1638000" imgH="393480" progId="Equation.DSMT4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2503" y="2376489"/>
                        <a:ext cx="3482975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08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2608" y="2468880"/>
            <a:ext cx="8496300" cy="3150524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/>
          <a:lstStyle/>
          <a:p>
            <a:pPr marL="457200" indent="-457200"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Шаг 4: Строим множества</a:t>
            </a:r>
            <a:endParaRPr kumimoji="0" lang="en-US" sz="2800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endParaRPr kumimoji="0" lang="en-US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		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L: </a:t>
            </a:r>
            <a:r>
              <a:rPr kumimoji="0" lang="en-US" sz="2800" i="1" dirty="0" err="1">
                <a:latin typeface="Arial" pitchFamily="34" charset="0"/>
                <a:sym typeface="Symbol" pitchFamily="18" charset="2"/>
              </a:rPr>
              <a:t>s</a:t>
            </a:r>
            <a:r>
              <a:rPr kumimoji="0" lang="en-US" sz="2800" i="1" baseline="-25000" dirty="0" err="1">
                <a:latin typeface="Arial" pitchFamily="34" charset="0"/>
                <a:sym typeface="Symbol" pitchFamily="18" charset="2"/>
              </a:rPr>
              <a:t>i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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L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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 err="1">
                <a:latin typeface="Arial" pitchFamily="34" charset="0"/>
                <a:sym typeface="Symbol" pitchFamily="18" charset="2"/>
              </a:rPr>
              <a:t>s</a:t>
            </a:r>
            <a:r>
              <a:rPr kumimoji="0" lang="en-US" sz="2800" i="1" baseline="-25000" dirty="0" err="1">
                <a:latin typeface="Arial" pitchFamily="34" charset="0"/>
                <a:sym typeface="Symbol" pitchFamily="18" charset="2"/>
              </a:rPr>
              <a:t>i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&lt; m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0</a:t>
            </a:r>
          </a:p>
          <a:p>
            <a:pPr marL="457200" indent="-457200">
              <a:spcBef>
                <a:spcPct val="30000"/>
              </a:spcBef>
              <a:defRPr/>
            </a:pP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		 E: </a:t>
            </a:r>
            <a:r>
              <a:rPr kumimoji="0" lang="en-US" sz="2800" i="1" dirty="0" err="1">
                <a:latin typeface="Arial" pitchFamily="34" charset="0"/>
                <a:sym typeface="Symbol" pitchFamily="18" charset="2"/>
              </a:rPr>
              <a:t>s</a:t>
            </a:r>
            <a:r>
              <a:rPr kumimoji="0" lang="en-US" sz="2800" i="1" baseline="-25000" dirty="0" err="1">
                <a:latin typeface="Arial" pitchFamily="34" charset="0"/>
                <a:sym typeface="Symbol" pitchFamily="18" charset="2"/>
              </a:rPr>
              <a:t>i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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E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 </a:t>
            </a:r>
            <a:r>
              <a:rPr kumimoji="0" lang="en-US" sz="2800" i="1" dirty="0" err="1">
                <a:latin typeface="Arial" pitchFamily="34" charset="0"/>
                <a:sym typeface="Symbol" pitchFamily="18" charset="2"/>
              </a:rPr>
              <a:t>s</a:t>
            </a:r>
            <a:r>
              <a:rPr kumimoji="0" lang="en-US" sz="2800" i="1" baseline="-25000" dirty="0" err="1">
                <a:latin typeface="Arial" pitchFamily="34" charset="0"/>
                <a:sym typeface="Symbol" pitchFamily="18" charset="2"/>
              </a:rPr>
              <a:t>i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= m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0</a:t>
            </a:r>
          </a:p>
          <a:p>
            <a:pPr marL="457200" indent="-457200">
              <a:spcBef>
                <a:spcPct val="30000"/>
              </a:spcBef>
              <a:defRPr/>
            </a:pP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		 G: </a:t>
            </a:r>
            <a:r>
              <a:rPr kumimoji="0" lang="en-US" sz="2800" i="1" dirty="0" err="1">
                <a:latin typeface="Arial" pitchFamily="34" charset="0"/>
                <a:sym typeface="Symbol" pitchFamily="18" charset="2"/>
              </a:rPr>
              <a:t>s</a:t>
            </a:r>
            <a:r>
              <a:rPr kumimoji="0" lang="en-US" sz="2800" i="1" baseline="-25000" dirty="0" err="1">
                <a:latin typeface="Arial" pitchFamily="34" charset="0"/>
                <a:sym typeface="Symbol" pitchFamily="18" charset="2"/>
              </a:rPr>
              <a:t>i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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G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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 err="1">
                <a:latin typeface="Arial" pitchFamily="34" charset="0"/>
                <a:sym typeface="Symbol" pitchFamily="18" charset="2"/>
              </a:rPr>
              <a:t>s</a:t>
            </a:r>
            <a:r>
              <a:rPr kumimoji="0" lang="en-US" sz="2800" i="1" baseline="-25000" dirty="0" err="1">
                <a:latin typeface="Arial" pitchFamily="34" charset="0"/>
                <a:sym typeface="Symbol" pitchFamily="18" charset="2"/>
              </a:rPr>
              <a:t>i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&gt; m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0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08" y="1001713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выбора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2533" name="Rectangle 7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2534" name="Rectangle 8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2535" name="Rectangle 9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2536" name="Rectangle 10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1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2614" y="1852613"/>
            <a:ext cx="8496300" cy="343428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/>
          <a:lstStyle/>
          <a:p>
            <a:pPr marL="1800000" indent="-1800000"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Шаг 5: Если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|L|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≥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k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, то рекурсивно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ищем в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L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значение элемента ранга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k, </a:t>
            </a:r>
            <a:endParaRPr kumimoji="0" lang="ru-RU" sz="2800" i="1" dirty="0">
              <a:latin typeface="Arial" pitchFamily="34" charset="0"/>
              <a:sym typeface="Symbol" pitchFamily="18" charset="2"/>
            </a:endParaRPr>
          </a:p>
          <a:p>
            <a:pPr marL="1800000" indent="-648000"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иначе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,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 если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|L|+|E| ≥  k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, то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искомое значение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есть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m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0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,</a:t>
            </a:r>
          </a:p>
          <a:p>
            <a:pPr marL="1800000" indent="-648000"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иначе – рекурсивно ищем в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G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значение элемента ранга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k-|L|-|E|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14" y="1001713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выбора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57" name="Rectangle 7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58" name="Rectangle 8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59" name="Rectangle 9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60" name="Rectangle 10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18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2618" y="1852614"/>
            <a:ext cx="8496300" cy="466456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/>
          <a:lstStyle/>
          <a:p>
            <a:pPr marL="457200" indent="-457200"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Шаг 1: если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|S| ≤ q 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,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элемент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k-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го ранга ищем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		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сортировкой,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 </a:t>
            </a:r>
          </a:p>
          <a:p>
            <a:pPr marL="457200" indent="-457200">
              <a:defRPr/>
            </a:pPr>
            <a:endParaRPr kumimoji="0" lang="ru-RU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	</a:t>
            </a:r>
            <a:r>
              <a:rPr kumimoji="0"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	</a:t>
            </a:r>
            <a:r>
              <a:rPr kumimoji="0" lang="ru-RU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		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T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1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(n) =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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(1) =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C</a:t>
            </a:r>
            <a:r>
              <a:rPr kumimoji="0" lang="en-US" sz="2800" baseline="-25000" dirty="0">
                <a:latin typeface="Arial" pitchFamily="34" charset="0"/>
                <a:sym typeface="Symbol" pitchFamily="18" charset="2"/>
              </a:rPr>
              <a:t>0</a:t>
            </a:r>
          </a:p>
          <a:p>
            <a:pPr marL="457200" indent="-457200">
              <a:defRPr/>
            </a:pPr>
            <a:endParaRPr kumimoji="0" lang="en-US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	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иначе делим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S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на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|S|/q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подмножеств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S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i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из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q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	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элементов каждое (кроме, быть может,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	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последнего)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.</a:t>
            </a:r>
          </a:p>
          <a:p>
            <a:pPr marL="457200" indent="-457200">
              <a:defRPr/>
            </a:pPr>
            <a:endParaRPr kumimoji="0" lang="en-US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r>
              <a:rPr kumimoji="0"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			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	T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1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(n) = </a:t>
            </a:r>
            <a:r>
              <a:rPr kumimoji="0" lang="en-US" sz="2800" dirty="0" err="1">
                <a:latin typeface="Arial" pitchFamily="34" charset="0"/>
                <a:sym typeface="Symbol" pitchFamily="18" charset="2"/>
              </a:rPr>
              <a:t>C</a:t>
            </a:r>
            <a:r>
              <a:rPr kumimoji="0" lang="en-US" sz="2800" i="1" dirty="0" err="1">
                <a:latin typeface="Arial" pitchFamily="34" charset="0"/>
                <a:sym typeface="Symbol" pitchFamily="18" charset="2"/>
              </a:rPr>
              <a:t>n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/q =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C</a:t>
            </a:r>
            <a:r>
              <a:rPr kumimoji="0" lang="en-US" sz="2800" baseline="-25000" dirty="0">
                <a:latin typeface="Arial" pitchFamily="34" charset="0"/>
                <a:sym typeface="Symbol" pitchFamily="18" charset="2"/>
              </a:rPr>
              <a:t>1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</a:t>
            </a:r>
          </a:p>
          <a:p>
            <a:pPr marL="457200" indent="-457200">
              <a:defRPr/>
            </a:pPr>
            <a:endParaRPr kumimoji="0" lang="en-US" sz="2800" i="1" noProof="1">
              <a:latin typeface="Arial" pitchFamily="34" charset="0"/>
              <a:sym typeface="Symbol" pitchFamily="18" charset="2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18" y="1001713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выбора. Оценка </a:t>
            </a: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T(n)</a:t>
            </a:r>
            <a:endParaRPr kumimoji="0" lang="en-US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0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2604" y="1852614"/>
            <a:ext cx="8496300" cy="11001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Шаг 2: Сортировкой ищем медиану в каждом подмножестве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.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04" y="1001713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Задача выбора. Оценка </a:t>
            </a: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T(n)</a:t>
            </a:r>
            <a:endParaRPr kumimoji="0" lang="en-US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  <p:sp>
        <p:nvSpPr>
          <p:cNvPr id="2" name="Rechteck 39"/>
          <p:cNvSpPr>
            <a:spLocks noChangeArrowheads="1"/>
          </p:cNvSpPr>
          <p:nvPr/>
        </p:nvSpPr>
        <p:spPr bwMode="gray">
          <a:xfrm>
            <a:off x="3362604" y="3225801"/>
            <a:ext cx="8496300" cy="3299691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/>
          <a:lstStyle/>
          <a:p>
            <a:pPr marL="457200" indent="-457200">
              <a:defRPr/>
            </a:pPr>
            <a:r>
              <a:rPr kumimoji="0"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S</a:t>
            </a:r>
            <a:r>
              <a:rPr kumimoji="0" lang="en-US" sz="28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1</a:t>
            </a:r>
            <a:r>
              <a:rPr kumimoji="0"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			m</a:t>
            </a:r>
            <a:r>
              <a:rPr kumimoji="0" lang="en-US" sz="28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1</a:t>
            </a:r>
          </a:p>
          <a:p>
            <a:pPr marL="457200" indent="-457200">
              <a:defRPr/>
            </a:pPr>
            <a:endParaRPr kumimoji="0" lang="en-US" sz="2800" i="1" baseline="-250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r>
              <a:rPr kumimoji="0"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S</a:t>
            </a:r>
            <a:r>
              <a:rPr kumimoji="0" lang="en-US" sz="28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2</a:t>
            </a:r>
            <a:r>
              <a:rPr kumimoji="0"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			m</a:t>
            </a:r>
            <a:r>
              <a:rPr kumimoji="0" lang="en-US" sz="28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2</a:t>
            </a:r>
          </a:p>
          <a:p>
            <a:pPr marL="457200" indent="-457200">
              <a:defRPr/>
            </a:pPr>
            <a:endParaRPr kumimoji="0" lang="en-US" sz="2800" i="1" baseline="-250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r>
              <a:rPr kumimoji="0" lang="en-US" sz="28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	.</a:t>
            </a:r>
          </a:p>
          <a:p>
            <a:pPr marL="457200" indent="-457200">
              <a:defRPr/>
            </a:pPr>
            <a:r>
              <a:rPr kumimoji="0"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S			m</a:t>
            </a:r>
          </a:p>
          <a:p>
            <a:pPr marL="457200" indent="-457200">
              <a:defRPr/>
            </a:pPr>
            <a:endParaRPr kumimoji="0" lang="en-US" sz="2800" i="1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r>
              <a:rPr kumimoji="0"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					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	T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2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(n) =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C</a:t>
            </a:r>
            <a:r>
              <a:rPr kumimoji="0" lang="en-US" sz="2800" baseline="-25000" dirty="0">
                <a:latin typeface="Arial" pitchFamily="34" charset="0"/>
                <a:sym typeface="Symbol" pitchFamily="18" charset="2"/>
              </a:rPr>
              <a:t>2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</a:t>
            </a:r>
          </a:p>
          <a:p>
            <a:pPr marL="457200" indent="-457200">
              <a:defRPr/>
            </a:pPr>
            <a:endParaRPr kumimoji="0" lang="en-US" sz="2800" i="1" baseline="-250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sym typeface="Symbol" pitchFamily="18" charset="2"/>
            </a:endParaRPr>
          </a:p>
        </p:txBody>
      </p:sp>
      <p:sp>
        <p:nvSpPr>
          <p:cNvPr id="5128" name="Line 8"/>
          <p:cNvSpPr>
            <a:spLocks noChangeShapeType="1"/>
          </p:cNvSpPr>
          <p:nvPr/>
        </p:nvSpPr>
        <p:spPr bwMode="auto">
          <a:xfrm>
            <a:off x="4237317" y="3489325"/>
            <a:ext cx="488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5129" name="Line 9"/>
          <p:cNvSpPr>
            <a:spLocks noChangeShapeType="1"/>
          </p:cNvSpPr>
          <p:nvPr/>
        </p:nvSpPr>
        <p:spPr bwMode="auto">
          <a:xfrm>
            <a:off x="4237317" y="4581525"/>
            <a:ext cx="488950" cy="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12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3014176"/>
              </p:ext>
            </p:extLst>
          </p:nvPr>
        </p:nvGraphicFramePr>
        <p:xfrm>
          <a:off x="3834093" y="5280025"/>
          <a:ext cx="78263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20" imgH="291960" progId="Equation.DSMT4">
                  <p:embed/>
                </p:oleObj>
              </mc:Choice>
              <mc:Fallback>
                <p:oleObj name="Equation" r:id="rId3" imgW="583920" imgH="291960" progId="Equation.DSMT4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4093" y="5280025"/>
                        <a:ext cx="782637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1" name="Rectangle 12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12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51550"/>
              </p:ext>
            </p:extLst>
          </p:nvPr>
        </p:nvGraphicFramePr>
        <p:xfrm>
          <a:off x="5245379" y="5280025"/>
          <a:ext cx="7826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83920" imgH="291960" progId="Equation.DSMT4">
                  <p:embed/>
                </p:oleObj>
              </mc:Choice>
              <mc:Fallback>
                <p:oleObj name="Equation" r:id="rId5" imgW="583920" imgH="291960" progId="Equation.DSMT4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5379" y="5280025"/>
                        <a:ext cx="782638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2" name="Line 14"/>
          <p:cNvSpPr>
            <a:spLocks noChangeShapeType="1"/>
          </p:cNvSpPr>
          <p:nvPr/>
        </p:nvSpPr>
        <p:spPr bwMode="auto">
          <a:xfrm>
            <a:off x="4235729" y="4098925"/>
            <a:ext cx="488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5133" name="Line 15"/>
          <p:cNvSpPr>
            <a:spLocks noChangeShapeType="1"/>
          </p:cNvSpPr>
          <p:nvPr/>
        </p:nvSpPr>
        <p:spPr bwMode="auto">
          <a:xfrm>
            <a:off x="4237317" y="4973638"/>
            <a:ext cx="488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18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2618" y="1852613"/>
            <a:ext cx="8496300" cy="476726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/>
          <a:lstStyle/>
          <a:p>
            <a:pPr marL="457200" indent="-457200"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Шаг 3: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Строим множество всех медиан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M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.</a:t>
            </a:r>
            <a:endParaRPr kumimoji="0" lang="en-US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endParaRPr kumimoji="0" lang="en-US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endParaRPr kumimoji="0" lang="en-US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endParaRPr kumimoji="0" lang="en-US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			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Мощность множества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|M| = </a:t>
            </a:r>
          </a:p>
          <a:p>
            <a:pPr marL="457200" indent="-457200">
              <a:defRPr/>
            </a:pPr>
            <a:endParaRPr kumimoji="0" lang="en-US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Рекурсивно находим медиану множества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M – m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0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endParaRPr kumimoji="0" lang="en-US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endParaRPr kumimoji="0" lang="en-US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						T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3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(n)=T(n/q)</a:t>
            </a:r>
          </a:p>
          <a:p>
            <a:pPr marL="457200" indent="-457200">
              <a:defRPr/>
            </a:pPr>
            <a:endParaRPr kumimoji="0" lang="en-US" sz="24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endParaRPr kumimoji="0" lang="en-US" sz="2400" i="1" dirty="0">
              <a:latin typeface="Arial" pitchFamily="34" charset="0"/>
              <a:sym typeface="Symbol" pitchFamily="18" charset="2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18" y="1001713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Задача выбора. Оценка </a:t>
            </a: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T(n)</a:t>
            </a:r>
            <a:endParaRPr kumimoji="0" lang="en-US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3" name="Rectangle 9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4" name="Rectangle 10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614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525896"/>
              </p:ext>
            </p:extLst>
          </p:nvPr>
        </p:nvGraphicFramePr>
        <p:xfrm>
          <a:off x="9598358" y="3505200"/>
          <a:ext cx="12509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20" imgH="291960" progId="Equation.DSMT4">
                  <p:embed/>
                </p:oleObj>
              </mc:Choice>
              <mc:Fallback>
                <p:oleObj name="Equation" r:id="rId3" imgW="583920" imgH="291960" progId="Equation.DSMT4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98358" y="3505200"/>
                        <a:ext cx="1250950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359360"/>
              </p:ext>
            </p:extLst>
          </p:nvPr>
        </p:nvGraphicFramePr>
        <p:xfrm>
          <a:off x="6272507" y="2481264"/>
          <a:ext cx="348297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38000" imgH="393480" progId="Equation.DSMT4">
                  <p:embed/>
                </p:oleObj>
              </mc:Choice>
              <mc:Fallback>
                <p:oleObj name="Equation" r:id="rId5" imgW="1638000" imgH="393480" progId="Equation.DSMT4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2507" y="2481264"/>
                        <a:ext cx="3482975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1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2614" y="1852613"/>
            <a:ext cx="8496300" cy="429049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/>
          <a:lstStyle/>
          <a:p>
            <a:pPr marL="457200" indent="-457200"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Шаг 4: Строим множества</a:t>
            </a:r>
            <a:endParaRPr kumimoji="0" lang="en-US" sz="2800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endParaRPr kumimoji="0" lang="en-US" sz="2800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		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L: </a:t>
            </a:r>
            <a:r>
              <a:rPr kumimoji="0" lang="en-US" sz="2800" i="1" dirty="0" err="1">
                <a:latin typeface="Arial" pitchFamily="34" charset="0"/>
                <a:sym typeface="Symbol" pitchFamily="18" charset="2"/>
              </a:rPr>
              <a:t>s</a:t>
            </a:r>
            <a:r>
              <a:rPr kumimoji="0" lang="en-US" sz="2800" i="1" baseline="-25000" dirty="0" err="1">
                <a:latin typeface="Arial" pitchFamily="34" charset="0"/>
                <a:sym typeface="Symbol" pitchFamily="18" charset="2"/>
              </a:rPr>
              <a:t>i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 L  </a:t>
            </a:r>
            <a:r>
              <a:rPr kumimoji="0" lang="en-US" sz="2800" i="1" dirty="0" err="1">
                <a:latin typeface="Arial" pitchFamily="34" charset="0"/>
                <a:sym typeface="Symbol" pitchFamily="18" charset="2"/>
              </a:rPr>
              <a:t>s</a:t>
            </a:r>
            <a:r>
              <a:rPr kumimoji="0" lang="en-US" sz="2800" i="1" baseline="-25000" dirty="0" err="1">
                <a:latin typeface="Arial" pitchFamily="34" charset="0"/>
                <a:sym typeface="Symbol" pitchFamily="18" charset="2"/>
              </a:rPr>
              <a:t>i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&lt; m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0</a:t>
            </a:r>
          </a:p>
          <a:p>
            <a:pPr marL="457200" indent="-457200">
              <a:spcBef>
                <a:spcPct val="30000"/>
              </a:spcBef>
              <a:defRPr/>
            </a:pP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		 E: </a:t>
            </a:r>
            <a:r>
              <a:rPr kumimoji="0" lang="en-US" sz="2800" i="1" dirty="0" err="1">
                <a:latin typeface="Arial" pitchFamily="34" charset="0"/>
                <a:sym typeface="Symbol" pitchFamily="18" charset="2"/>
              </a:rPr>
              <a:t>s</a:t>
            </a:r>
            <a:r>
              <a:rPr kumimoji="0" lang="en-US" sz="2800" i="1" baseline="-25000" dirty="0" err="1">
                <a:latin typeface="Arial" pitchFamily="34" charset="0"/>
                <a:sym typeface="Symbol" pitchFamily="18" charset="2"/>
              </a:rPr>
              <a:t>i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 E  </a:t>
            </a:r>
            <a:r>
              <a:rPr kumimoji="0" lang="en-US" sz="2800" i="1" dirty="0" err="1">
                <a:latin typeface="Arial" pitchFamily="34" charset="0"/>
                <a:sym typeface="Symbol" pitchFamily="18" charset="2"/>
              </a:rPr>
              <a:t>s</a:t>
            </a:r>
            <a:r>
              <a:rPr kumimoji="0" lang="en-US" sz="2800" i="1" baseline="-25000" dirty="0" err="1">
                <a:latin typeface="Arial" pitchFamily="34" charset="0"/>
                <a:sym typeface="Symbol" pitchFamily="18" charset="2"/>
              </a:rPr>
              <a:t>i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= m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0</a:t>
            </a:r>
          </a:p>
          <a:p>
            <a:pPr marL="457200" indent="-457200">
              <a:spcBef>
                <a:spcPct val="30000"/>
              </a:spcBef>
              <a:defRPr/>
            </a:pP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		 G: </a:t>
            </a:r>
            <a:r>
              <a:rPr kumimoji="0" lang="en-US" sz="2800" i="1" dirty="0" err="1">
                <a:latin typeface="Arial" pitchFamily="34" charset="0"/>
                <a:sym typeface="Symbol" pitchFamily="18" charset="2"/>
              </a:rPr>
              <a:t>s</a:t>
            </a:r>
            <a:r>
              <a:rPr kumimoji="0" lang="en-US" sz="2800" i="1" baseline="-25000" dirty="0" err="1">
                <a:latin typeface="Arial" pitchFamily="34" charset="0"/>
                <a:sym typeface="Symbol" pitchFamily="18" charset="2"/>
              </a:rPr>
              <a:t>i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 G  </a:t>
            </a:r>
            <a:r>
              <a:rPr kumimoji="0" lang="en-US" sz="2800" i="1" dirty="0" err="1">
                <a:latin typeface="Arial" pitchFamily="34" charset="0"/>
                <a:sym typeface="Symbol" pitchFamily="18" charset="2"/>
              </a:rPr>
              <a:t>s</a:t>
            </a:r>
            <a:r>
              <a:rPr kumimoji="0" lang="en-US" sz="2800" i="1" baseline="-25000" dirty="0" err="1">
                <a:latin typeface="Arial" pitchFamily="34" charset="0"/>
                <a:sym typeface="Symbol" pitchFamily="18" charset="2"/>
              </a:rPr>
              <a:t>i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&gt; m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0</a:t>
            </a:r>
          </a:p>
          <a:p>
            <a:pPr marL="457200" indent="-457200">
              <a:spcBef>
                <a:spcPct val="30000"/>
              </a:spcBef>
              <a:defRPr/>
            </a:pPr>
            <a:endParaRPr kumimoji="0" lang="en-US" sz="2800" i="1" baseline="-25000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spcBef>
                <a:spcPct val="30000"/>
              </a:spcBef>
              <a:defRPr/>
            </a:pPr>
            <a:endParaRPr kumimoji="0" lang="en-US" sz="2800" i="1" baseline="-25000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spcBef>
                <a:spcPct val="30000"/>
              </a:spcBef>
              <a:defRPr/>
            </a:pP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			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T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4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(n) =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C</a:t>
            </a:r>
            <a:r>
              <a:rPr kumimoji="0" lang="en-US" sz="2800" baseline="-25000" dirty="0">
                <a:latin typeface="Arial" pitchFamily="34" charset="0"/>
                <a:sym typeface="Symbol" pitchFamily="18" charset="2"/>
              </a:rPr>
              <a:t>3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</a:t>
            </a:r>
          </a:p>
          <a:p>
            <a:pPr marL="457200" indent="-457200">
              <a:spcBef>
                <a:spcPct val="30000"/>
              </a:spcBef>
              <a:defRPr/>
            </a:pPr>
            <a:endParaRPr kumimoji="0" lang="en-US" sz="2800" i="1" baseline="-25000" dirty="0">
              <a:latin typeface="Arial" pitchFamily="34" charset="0"/>
              <a:sym typeface="Symbol" pitchFamily="18" charset="2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14" y="1001713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Задача выбора. Оценка </a:t>
            </a: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T(n)</a:t>
            </a:r>
            <a:endParaRPr kumimoji="0" lang="en-US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  <p:sp>
        <p:nvSpPr>
          <p:cNvPr id="25605" name="Rectangle 7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5606" name="Rectangle 8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5607" name="Rectangle 9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5608" name="Rectangle 10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07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2607" y="1852613"/>
            <a:ext cx="8496300" cy="343428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/>
          <a:lstStyle/>
          <a:p>
            <a:pPr marL="1800000" indent="-1800000"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Шаг 5: Если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|L|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≥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k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, то рекурсивно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ищем в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L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значение элемента ранга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k, </a:t>
            </a:r>
            <a:endParaRPr kumimoji="0" lang="ru-RU" sz="2800" i="1" dirty="0">
              <a:latin typeface="Arial" pitchFamily="34" charset="0"/>
              <a:sym typeface="Symbol" pitchFamily="18" charset="2"/>
            </a:endParaRPr>
          </a:p>
          <a:p>
            <a:pPr marL="1800000" indent="-648000"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иначе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,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 если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|L|+|E| ≥  k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, то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искомое значение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есть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m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0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,</a:t>
            </a:r>
          </a:p>
          <a:p>
            <a:pPr marL="1800000" indent="-648000"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иначе – рекурсивно ищем в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G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значение элемента ранга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k-|L|-|E|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07" y="1001713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выбора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57" name="Rectangle 7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58" name="Rectangle 8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59" name="Rectangle 9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60" name="Rectangle 10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285331"/>
      </p:ext>
    </p:extLst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10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2610" y="1852613"/>
            <a:ext cx="8496300" cy="4600438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/>
          <a:lstStyle/>
          <a:p>
            <a:pPr marL="457200" indent="-457200"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В множестве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M </a:t>
            </a:r>
            <a:r>
              <a:rPr kumimoji="0" lang="ru-RU" sz="2800" u="sng" dirty="0">
                <a:latin typeface="Arial" pitchFamily="34" charset="0"/>
                <a:sym typeface="Symbol" pitchFamily="18" charset="2"/>
              </a:rPr>
              <a:t>НЕ МЕНЕЕ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|M|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/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2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= n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/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(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2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q)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медиан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m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i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,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превышающих или равных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m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0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. 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endParaRPr kumimoji="0" lang="en-US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spcBef>
                <a:spcPts val="1200"/>
              </a:spcBef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В каждом из соответствующих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S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i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ru-RU" sz="2800" i="1" u="sng" dirty="0">
                <a:latin typeface="Arial" pitchFamily="34" charset="0"/>
                <a:sym typeface="Symbol" pitchFamily="18" charset="2"/>
              </a:rPr>
              <a:t>НЕ МЕНЕЕ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br>
              <a:rPr kumimoji="0" lang="ru-RU" sz="2800" i="1" dirty="0">
                <a:latin typeface="Arial" pitchFamily="34" charset="0"/>
                <a:sym typeface="Symbol" pitchFamily="18" charset="2"/>
              </a:rPr>
            </a:b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|S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i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|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/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2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=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q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/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2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	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элементов множества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S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не меньших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m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i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.</a:t>
            </a:r>
          </a:p>
          <a:p>
            <a:pPr marL="457200" indent="-457200">
              <a:spcBef>
                <a:spcPts val="1200"/>
              </a:spcBef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Стало быть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,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|E|+|G|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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(n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/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(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2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q))*(q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/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2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) = n/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4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и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br>
              <a:rPr kumimoji="0" lang="ru-RU" sz="2800" i="1" dirty="0">
                <a:latin typeface="Arial" pitchFamily="34" charset="0"/>
                <a:sym typeface="Symbol" pitchFamily="18" charset="2"/>
              </a:rPr>
            </a:b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|L|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 3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n/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4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.</a:t>
            </a:r>
          </a:p>
          <a:p>
            <a:pPr marL="457200" indent="-457200">
              <a:defRPr/>
            </a:pPr>
            <a:endParaRPr kumimoji="0" lang="en-US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			T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5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(n) = T(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3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n/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4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)</a:t>
            </a:r>
          </a:p>
          <a:p>
            <a:pPr marL="457200" indent="-457200">
              <a:defRPr/>
            </a:pPr>
            <a:endParaRPr kumimoji="0" lang="en-US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endParaRPr kumimoji="0" lang="en-US" sz="2800" i="1" dirty="0">
              <a:latin typeface="Arial" pitchFamily="34" charset="0"/>
              <a:sym typeface="Symbol" pitchFamily="18" charset="2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10" y="1001713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выбора</a:t>
            </a:r>
            <a:r>
              <a:rPr kumimoji="0" lang="ru-RU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. Оценка </a:t>
            </a:r>
            <a:r>
              <a:rPr kumimoji="0" lang="en-US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T(n)</a:t>
            </a:r>
            <a:endParaRPr kumimoji="0" lang="en-US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7653" name="Rectangle 7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7654" name="Rectangle 8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7655" name="Rectangle 9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7656" name="Rectangle 10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17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2617" y="1852613"/>
            <a:ext cx="8496300" cy="397986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/>
          <a:lstStyle/>
          <a:p>
            <a:pPr marL="457200" indent="-457200"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Шаг 1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: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T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1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(n) =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C</a:t>
            </a:r>
            <a:r>
              <a:rPr kumimoji="0" lang="en-US" sz="2800" baseline="-25000" dirty="0">
                <a:latin typeface="Arial" pitchFamily="34" charset="0"/>
                <a:sym typeface="Symbol" pitchFamily="18" charset="2"/>
              </a:rPr>
              <a:t>1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</a:t>
            </a:r>
            <a:endParaRPr kumimoji="0" lang="ru-RU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spcBef>
                <a:spcPct val="30000"/>
              </a:spcBef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Шаг 2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: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T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2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(n) =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C</a:t>
            </a:r>
            <a:r>
              <a:rPr kumimoji="0" lang="en-US" sz="2800" baseline="-25000" dirty="0">
                <a:latin typeface="Arial" pitchFamily="34" charset="0"/>
                <a:sym typeface="Symbol" pitchFamily="18" charset="2"/>
              </a:rPr>
              <a:t>2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</a:t>
            </a:r>
          </a:p>
          <a:p>
            <a:pPr marL="457200" indent="-457200">
              <a:spcBef>
                <a:spcPct val="30000"/>
              </a:spcBef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Шаг 3: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T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3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(n) = T(n/q)</a:t>
            </a:r>
          </a:p>
          <a:p>
            <a:pPr marL="457200" indent="-457200">
              <a:spcBef>
                <a:spcPct val="30000"/>
              </a:spcBef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Шаг 4: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T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4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(n) =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C</a:t>
            </a:r>
            <a:r>
              <a:rPr kumimoji="0" lang="en-US" sz="2800" baseline="-25000" dirty="0">
                <a:latin typeface="Arial" pitchFamily="34" charset="0"/>
                <a:sym typeface="Symbol" pitchFamily="18" charset="2"/>
              </a:rPr>
              <a:t>3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</a:t>
            </a:r>
          </a:p>
          <a:p>
            <a:pPr marL="457200" indent="-457200">
              <a:spcBef>
                <a:spcPct val="30000"/>
              </a:spcBef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Шаг 5: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T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5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(n) = T(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3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n/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4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)</a:t>
            </a:r>
          </a:p>
          <a:p>
            <a:pPr marL="457200" indent="-457200">
              <a:spcBef>
                <a:spcPts val="1800"/>
              </a:spcBef>
              <a:defRPr/>
            </a:pP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	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Окончательно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T(n) =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C</a:t>
            </a:r>
            <a:r>
              <a:rPr kumimoji="0" lang="en-US" sz="2800" baseline="-25000" dirty="0">
                <a:latin typeface="Arial" pitchFamily="34" charset="0"/>
                <a:sym typeface="Symbol" pitchFamily="18" charset="2"/>
              </a:rPr>
              <a:t>4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 + T(n/q) + T(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3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n/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4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)</a:t>
            </a:r>
          </a:p>
          <a:p>
            <a:pPr marL="457200" indent="-457200">
              <a:defRPr/>
            </a:pPr>
            <a:endParaRPr kumimoji="0" lang="en-US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endParaRPr kumimoji="0" lang="en-US" sz="2800" i="1" dirty="0">
              <a:latin typeface="Arial" pitchFamily="34" charset="0"/>
              <a:sym typeface="Symbol" pitchFamily="18" charset="2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17" y="1001713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выбора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. Оценка </a:t>
            </a: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T(n)</a:t>
            </a:r>
            <a:endParaRPr kumimoji="0" lang="en-US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8677" name="Rectangle 7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8678" name="Rectangle 8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8679" name="Rectangle 9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8680" name="Rectangle 10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18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2618" y="1852612"/>
            <a:ext cx="8496300" cy="4767263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/>
          <a:lstStyle/>
          <a:p>
            <a:pPr marL="457200" indent="-457200" algn="ctr">
              <a:spcBef>
                <a:spcPct val="30000"/>
              </a:spcBef>
              <a:defRPr/>
            </a:pP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T(n) =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C</a:t>
            </a:r>
            <a:r>
              <a:rPr kumimoji="0" lang="en-US" sz="2800" baseline="-25000" dirty="0">
                <a:latin typeface="Arial" pitchFamily="34" charset="0"/>
                <a:sym typeface="Symbol" pitchFamily="18" charset="2"/>
              </a:rPr>
              <a:t>4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 + T(n/q) + T(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3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n/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4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)</a:t>
            </a:r>
            <a:endParaRPr kumimoji="0" lang="ru-RU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 algn="ctr">
              <a:spcBef>
                <a:spcPct val="30000"/>
              </a:spcBef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Шаманские танцы</a:t>
            </a:r>
          </a:p>
          <a:p>
            <a:pPr marL="457200" indent="-457200">
              <a:spcBef>
                <a:spcPct val="30000"/>
              </a:spcBef>
              <a:defRPr/>
            </a:pPr>
            <a:endParaRPr kumimoji="0" lang="ru-RU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1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: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Пусть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n/q +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3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n/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4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&lt; n, </a:t>
            </a:r>
            <a:endParaRPr kumimoji="0" lang="ru-RU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	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тогда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q ≥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5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.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	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Положим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q=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5</a:t>
            </a:r>
          </a:p>
          <a:p>
            <a:pPr marL="457200" indent="-457200">
              <a:defRPr/>
            </a:pPr>
            <a:endParaRPr kumimoji="0" lang="en-US" sz="2800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endParaRPr kumimoji="0" lang="en-US" sz="2800" dirty="0">
              <a:latin typeface="Arial" pitchFamily="34" charset="0"/>
              <a:sym typeface="Symbol" pitchFamily="18" charset="2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18" y="1001713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выбора</a:t>
            </a:r>
            <a:r>
              <a:rPr kumimoji="0" lang="ru-RU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. Оценка </a:t>
            </a:r>
            <a:r>
              <a:rPr kumimoji="0" lang="en-US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T(n)</a:t>
            </a:r>
            <a:endParaRPr kumimoji="0" lang="en-US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9701" name="Rectangle 7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9702" name="Rectangle 8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9703" name="Rectangle 9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9704" name="Rectangle 10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13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2613" y="1852613"/>
            <a:ext cx="8496300" cy="476726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/>
          <a:lstStyle/>
          <a:p>
            <a:pPr marL="457200" indent="-457200" algn="ctr">
              <a:spcBef>
                <a:spcPct val="30000"/>
              </a:spcBef>
              <a:defRPr/>
            </a:pP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T(n) =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C</a:t>
            </a:r>
            <a:r>
              <a:rPr kumimoji="0" lang="en-US" sz="2800" baseline="-25000" dirty="0">
                <a:latin typeface="Arial" pitchFamily="34" charset="0"/>
                <a:sym typeface="Symbol" pitchFamily="18" charset="2"/>
              </a:rPr>
              <a:t>4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 + T(n/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5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) + T(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3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n/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4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)</a:t>
            </a:r>
            <a:endParaRPr kumimoji="0" lang="ru-RU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 algn="ctr">
              <a:spcBef>
                <a:spcPct val="30000"/>
              </a:spcBef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Шаманские танцы</a:t>
            </a:r>
          </a:p>
          <a:p>
            <a:pPr marL="457200" indent="-457200">
              <a:spcBef>
                <a:spcPct val="30000"/>
              </a:spcBef>
              <a:defRPr/>
            </a:pPr>
            <a:endParaRPr kumimoji="0" lang="ru-RU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1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: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Пусть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n/q +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3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n/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4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&lt; n, </a:t>
            </a:r>
            <a:endParaRPr kumimoji="0" lang="ru-RU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	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тогда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q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≥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5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.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	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Положим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q=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5</a:t>
            </a:r>
            <a:endParaRPr kumimoji="0" lang="ru-RU" sz="2800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spcBef>
                <a:spcPts val="1200"/>
              </a:spcBef>
              <a:defRPr/>
            </a:pP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2.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Предположим, что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T(n)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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С</a:t>
            </a:r>
            <a:r>
              <a:rPr kumimoji="0" lang="en-US" sz="2800" baseline="-25000" dirty="0">
                <a:latin typeface="Arial" pitchFamily="34" charset="0"/>
                <a:sym typeface="Symbol" pitchFamily="18" charset="2"/>
              </a:rPr>
              <a:t>5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.</a:t>
            </a:r>
          </a:p>
          <a:p>
            <a:pPr marL="457200" indent="-457200">
              <a:spcBef>
                <a:spcPts val="0"/>
              </a:spcBef>
              <a:defRPr/>
            </a:pP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	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Возьмем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С</a:t>
            </a:r>
            <a:r>
              <a:rPr kumimoji="0" lang="ru-RU" sz="2800" baseline="-25000" dirty="0">
                <a:latin typeface="Arial" pitchFamily="34" charset="0"/>
                <a:sym typeface="Symbol" pitchFamily="18" charset="2"/>
              </a:rPr>
              <a:t>5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=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20С</a:t>
            </a:r>
            <a:r>
              <a:rPr kumimoji="0" lang="ru-RU" sz="2800" baseline="-25000" dirty="0">
                <a:latin typeface="Arial" pitchFamily="34" charset="0"/>
                <a:sym typeface="Symbol" pitchFamily="18" charset="2"/>
              </a:rPr>
              <a:t>4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. </a:t>
            </a:r>
          </a:p>
          <a:p>
            <a:pPr marL="457200" indent="-457200">
              <a:defRPr/>
            </a:pP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	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Получаем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T(n)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 C</a:t>
            </a:r>
            <a:r>
              <a:rPr kumimoji="0" lang="en-US" sz="2800" baseline="-25000" dirty="0">
                <a:latin typeface="Arial" pitchFamily="34" charset="0"/>
                <a:sym typeface="Symbol" pitchFamily="18" charset="2"/>
              </a:rPr>
              <a:t>4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 +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20C</a:t>
            </a:r>
            <a:r>
              <a:rPr kumimoji="0" lang="en-US" sz="2800" baseline="-25000" dirty="0">
                <a:latin typeface="Arial" pitchFamily="34" charset="0"/>
                <a:sym typeface="Symbol" pitchFamily="18" charset="2"/>
              </a:rPr>
              <a:t>4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*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n/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5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+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60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C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4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*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n/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4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 =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С</a:t>
            </a:r>
            <a:r>
              <a:rPr kumimoji="0" lang="ru-RU" sz="2800" baseline="-25000" dirty="0">
                <a:latin typeface="Arial" pitchFamily="34" charset="0"/>
                <a:sym typeface="Symbol" pitchFamily="18" charset="2"/>
              </a:rPr>
              <a:t>5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</a:t>
            </a:r>
            <a:r>
              <a:rPr kumimoji="0"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.</a:t>
            </a:r>
            <a:endParaRPr kumimoji="0" lang="ru-RU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defRPr/>
            </a:pPr>
            <a:endParaRPr kumimoji="0" lang="en-US" sz="2800" i="1" dirty="0">
              <a:latin typeface="Arial" pitchFamily="34" charset="0"/>
              <a:sym typeface="Symbol" pitchFamily="18" charset="2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13" y="1001713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выбора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. Оценка </a:t>
            </a: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T(n)</a:t>
            </a:r>
            <a:endParaRPr kumimoji="0" lang="en-US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30725" name="Rectangle 7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726" name="Rectangle 8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727" name="Rectangle 9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728" name="Rectangle 10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2610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04223" y="1852613"/>
            <a:ext cx="8804366" cy="3773124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/>
          <a:lstStyle/>
          <a:p>
            <a:pPr marL="457200" indent="-457200">
              <a:lnSpc>
                <a:spcPct val="130000"/>
              </a:lnSpc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Мы получили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T(n) ≤ 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C</a:t>
            </a:r>
            <a:r>
              <a:rPr kumimoji="0" lang="ru-RU" sz="2800" baseline="-25000" dirty="0">
                <a:latin typeface="Arial" pitchFamily="34" charset="0"/>
                <a:sym typeface="Symbol" pitchFamily="18" charset="2"/>
              </a:rPr>
              <a:t>5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,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стало быть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T(n) = O(n)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.</a:t>
            </a:r>
          </a:p>
          <a:p>
            <a:pPr marL="457200" indent="-457200">
              <a:lnSpc>
                <a:spcPct val="130000"/>
              </a:lnSpc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Теоретическая оценка снизу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: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T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0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(n)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=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n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.</a:t>
            </a:r>
            <a:endParaRPr kumimoji="0" lang="en-US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lnSpc>
                <a:spcPct val="130000"/>
              </a:lnSpc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Так как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T</a:t>
            </a:r>
            <a:r>
              <a:rPr kumimoji="0" lang="en-US" sz="2800" i="1" baseline="-25000" dirty="0">
                <a:latin typeface="Arial" pitchFamily="34" charset="0"/>
                <a:sym typeface="Symbol" pitchFamily="18" charset="2"/>
              </a:rPr>
              <a:t>0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(n) ≤ T(n)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,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то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T(n) = Ω(n)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.</a:t>
            </a:r>
            <a:endParaRPr kumimoji="0" lang="en-US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lnSpc>
                <a:spcPct val="130000"/>
              </a:lnSpc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Окончательно,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T(n) = </a:t>
            </a:r>
            <a:r>
              <a:rPr kumimoji="0" lang="el-GR" sz="2800" i="1" dirty="0">
                <a:latin typeface="Arial" pitchFamily="34" charset="0"/>
                <a:sym typeface="Symbol" pitchFamily="18" charset="2"/>
              </a:rPr>
              <a:t>Θ</a:t>
            </a:r>
            <a:r>
              <a:rPr kumimoji="0" lang="en-US" sz="2800" i="1" dirty="0">
                <a:latin typeface="Arial" pitchFamily="34" charset="0"/>
                <a:sym typeface="Symbol" pitchFamily="18" charset="2"/>
              </a:rPr>
              <a:t>(n)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.</a:t>
            </a:r>
            <a:endParaRPr kumimoji="0" lang="en-US" sz="2800" i="1" dirty="0">
              <a:latin typeface="Arial" pitchFamily="34" charset="0"/>
              <a:sym typeface="Symbol" pitchFamily="18" charset="2"/>
            </a:endParaRPr>
          </a:p>
          <a:p>
            <a:pPr marL="457200" indent="-457200">
              <a:spcBef>
                <a:spcPts val="1200"/>
              </a:spcBef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Предложенный алгоритм является оптимальным по поведению</a:t>
            </a:r>
            <a:r>
              <a:rPr kumimoji="0" lang="ru-RU" sz="2800" i="1" dirty="0">
                <a:latin typeface="Arial" pitchFamily="34" charset="0"/>
                <a:sym typeface="Symbol" pitchFamily="18" charset="2"/>
              </a:rPr>
              <a:t>.</a:t>
            </a:r>
            <a:r>
              <a:rPr kumimoji="0"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 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2610" y="1001713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Задача выбора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. Оценка </a:t>
            </a: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T(n)</a:t>
            </a:r>
            <a:endParaRPr kumimoji="0" lang="en-US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31749" name="Rectangle 7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750" name="Rectangle 8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751" name="Rectangle 9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752" name="Rectangle 10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8157088" y="836712"/>
            <a:ext cx="2982912" cy="3433762"/>
            <a:chOff x="2775273" y="1162323"/>
            <a:chExt cx="2982912" cy="3433762"/>
          </a:xfrm>
        </p:grpSpPr>
        <p:sp>
          <p:nvSpPr>
            <p:cNvPr id="143361" name="WordArt 3"/>
            <p:cNvSpPr>
              <a:spLocks noChangeArrowheads="1" noChangeShapeType="1" noTextEdit="1"/>
            </p:cNvSpPr>
            <p:nvPr/>
          </p:nvSpPr>
          <p:spPr bwMode="gray">
            <a:xfrm>
              <a:off x="3592835" y="1162323"/>
              <a:ext cx="1322388" cy="21669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defTabSz="914400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C0C0C0"/>
                      </a:gs>
                      <a:gs pos="100000">
                        <a:srgbClr val="484848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  <p:sp>
          <p:nvSpPr>
            <p:cNvPr id="143362" name="WordArt 8"/>
            <p:cNvSpPr>
              <a:spLocks noChangeArrowheads="1" noChangeShapeType="1" noTextEdit="1"/>
            </p:cNvSpPr>
            <p:nvPr/>
          </p:nvSpPr>
          <p:spPr bwMode="gray">
            <a:xfrm>
              <a:off x="2775273" y="2113235"/>
              <a:ext cx="1004887" cy="16478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defTabSz="914400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B4B4B4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  <p:sp>
          <p:nvSpPr>
            <p:cNvPr id="143363" name="WordArt 9"/>
            <p:cNvSpPr>
              <a:spLocks noChangeArrowheads="1" noChangeShapeType="1" noTextEdit="1"/>
            </p:cNvSpPr>
            <p:nvPr/>
          </p:nvSpPr>
          <p:spPr bwMode="gray">
            <a:xfrm>
              <a:off x="4211960" y="2060848"/>
              <a:ext cx="1546225" cy="25352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defTabSz="914400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A1C4FF"/>
                      </a:gs>
                      <a:gs pos="100000">
                        <a:srgbClr val="2A79FF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03383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4.xml><?xml version="1.0" encoding="utf-8"?>
<a:theme xmlns:a="http://schemas.openxmlformats.org/drawingml/2006/main" name="2_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3261</TotalTime>
  <Words>2496</Words>
  <Application>Microsoft Office PowerPoint</Application>
  <PresentationFormat>Широкоэкранный</PresentationFormat>
  <Paragraphs>409</Paragraphs>
  <Slides>47</Slides>
  <Notes>47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4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47</vt:i4>
      </vt:variant>
    </vt:vector>
  </HeadingPairs>
  <TitlesOfParts>
    <vt:vector size="59" baseType="lpstr">
      <vt:lpstr>Arial</vt:lpstr>
      <vt:lpstr>Arial Black</vt:lpstr>
      <vt:lpstr>Arial Unicode MS</vt:lpstr>
      <vt:lpstr>Calibri</vt:lpstr>
      <vt:lpstr>Lucida Grande CY</vt:lpstr>
      <vt:lpstr>Symbol</vt:lpstr>
      <vt:lpstr>Wingdings</vt:lpstr>
      <vt:lpstr>Тема Office</vt:lpstr>
      <vt:lpstr>1_Тема Office</vt:lpstr>
      <vt:lpstr>Larissa-Design</vt:lpstr>
      <vt:lpstr>2_Larissa-Design</vt:lpstr>
      <vt:lpstr>Equation</vt:lpstr>
      <vt:lpstr>Презентация PowerPoint</vt:lpstr>
      <vt:lpstr>Парадигма параллельного программирования</vt:lpstr>
      <vt:lpstr>Тема 3</vt:lpstr>
      <vt:lpstr>Как сравнивать алгоритмы?</vt:lpstr>
      <vt:lpstr>Как сравнивать алгоритмы?</vt:lpstr>
      <vt:lpstr>Как сравнивать алгоритмы?</vt:lpstr>
      <vt:lpstr>Как сравнивать алгоритмы?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elena</dc:creator>
  <cp:lastModifiedBy>Владимир Карпов</cp:lastModifiedBy>
  <cp:revision>341</cp:revision>
  <dcterms:created xsi:type="dcterms:W3CDTF">2013-05-29T11:36:45Z</dcterms:created>
  <dcterms:modified xsi:type="dcterms:W3CDTF">2024-10-04T13:15:55Z</dcterms:modified>
</cp:coreProperties>
</file>