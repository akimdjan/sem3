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00" r:id="rId2"/>
    <p:sldMasterId id="2147483702" r:id="rId3"/>
    <p:sldMasterId id="2147483707" r:id="rId4"/>
  </p:sldMasterIdLst>
  <p:notesMasterIdLst>
    <p:notesMasterId r:id="rId28"/>
  </p:notesMasterIdLst>
  <p:sldIdLst>
    <p:sldId id="280" r:id="rId5"/>
    <p:sldId id="281" r:id="rId6"/>
    <p:sldId id="261" r:id="rId7"/>
    <p:sldId id="279" r:id="rId8"/>
    <p:sldId id="283" r:id="rId9"/>
    <p:sldId id="284" r:id="rId10"/>
    <p:sldId id="263" r:id="rId11"/>
    <p:sldId id="285" r:id="rId12"/>
    <p:sldId id="264" r:id="rId13"/>
    <p:sldId id="265" r:id="rId14"/>
    <p:sldId id="286" r:id="rId15"/>
    <p:sldId id="287" r:id="rId16"/>
    <p:sldId id="276" r:id="rId17"/>
    <p:sldId id="267" r:id="rId18"/>
    <p:sldId id="288" r:id="rId19"/>
    <p:sldId id="289" r:id="rId20"/>
    <p:sldId id="275" r:id="rId21"/>
    <p:sldId id="277" r:id="rId22"/>
    <p:sldId id="290" r:id="rId23"/>
    <p:sldId id="270" r:id="rId24"/>
    <p:sldId id="278" r:id="rId25"/>
    <p:sldId id="272" r:id="rId26"/>
    <p:sldId id="282" r:id="rId27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0C0C0"/>
    <a:srgbClr val="D9D9D9"/>
    <a:srgbClr val="C6D9F1"/>
    <a:srgbClr val="8EB4E3"/>
    <a:srgbClr val="5F8E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90" autoAdjust="0"/>
    <p:restoredTop sz="94411" autoAdjust="0"/>
  </p:normalViewPr>
  <p:slideViewPr>
    <p:cSldViewPr snapToGrid="0" snapToObjects="1">
      <p:cViewPr varScale="1">
        <p:scale>
          <a:sx n="63" d="100"/>
          <a:sy n="63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9000408B-D675-4E6B-AC2D-A4F3AC0CDBA8}" type="datetimeFigureOut">
              <a:rPr lang="ru-RU"/>
              <a:pPr/>
              <a:t>03.04.2021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8FB5DDFA-FB81-48C9-A3A1-905BAE1F920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5325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5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14400">
              <a:defRPr/>
            </a:pPr>
            <a:fld id="{FBE310F7-BA59-4BCC-B944-CD6B53D59584}" type="slidenum">
              <a:rPr lang="de-DE" altLang="ru-RU" smtClean="0">
                <a:solidFill>
                  <a:prstClr val="black"/>
                </a:solidFill>
                <a:cs typeface="Arial" charset="0"/>
              </a:rPr>
              <a:pPr defTabSz="914400">
                <a:defRPr/>
              </a:pPr>
              <a:t>2</a:t>
            </a:fld>
            <a:endParaRPr lang="de-DE" altLang="ru-RU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14400">
              <a:defRPr/>
            </a:pPr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 defTabSz="914400">
                <a:defRPr/>
              </a:pPr>
              <a:t>23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86265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78C19A-5F90-4F38-9412-1461B58DB094}" type="datetime1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215DF-1699-4345-A729-BFADE189A88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9B49A0-6739-4DFB-8119-BB13B19CF274}" type="datetime1">
              <a:rPr lang="ru-RU" smtClean="0"/>
              <a:t>03.04.2021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F2F85E-9C08-4EED-87AD-82953583EF0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64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pPr>
                <a:defRPr/>
              </a:pPr>
              <a:t>03.04.2021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3835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pPr>
                <a:defRPr/>
              </a:pPr>
              <a:t>03.04.2021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44788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pPr>
                <a:defRPr/>
              </a:pPr>
              <a:t>03.04.2021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89203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pPr>
                <a:defRPr/>
              </a:pPr>
              <a:t>03.04.2021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19868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69144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50841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54401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096042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21425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</a:defRPr>
            </a:lvl1pPr>
          </a:lstStyle>
          <a:p>
            <a:fld id="{76A9180C-425B-490F-BB6C-1F672FB9EC5E}" type="datetime1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1016" y="6356351"/>
            <a:ext cx="1953209" cy="365125"/>
          </a:xfrm>
          <a:prstGeom prst="rect">
            <a:avLst/>
          </a:prstGeom>
          <a:gradFill flip="none" rotWithShape="1"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76662" y="6356351"/>
            <a:ext cx="13311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/>
              <a:t>Стр. </a:t>
            </a:r>
            <a:fld id="{583BDABB-25CE-41CF-9BB5-01E22315D0AA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4" r:id="rId2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2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/>
              <a:pPr>
                <a:defRPr/>
              </a:pPr>
              <a:t>03.04.2021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14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58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3172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5769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5935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6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01495" y="1069975"/>
            <a:ext cx="8325200" cy="30469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defTabSz="914400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Lucida Grande CY" pitchFamily="2" charset="-52"/>
              </a:rPr>
              <a:t>		</a:t>
            </a:r>
          </a:p>
          <a:p>
            <a:pPr marL="2160000" defTabSz="914400">
              <a:lnSpc>
                <a:spcPct val="120000"/>
              </a:lnSpc>
              <a:defRPr/>
            </a:pPr>
            <a:r>
              <a:rPr kumimoji="0" lang="ru-RU" sz="4000" dirty="0">
                <a:solidFill>
                  <a:srgbClr val="404040"/>
                </a:solidFill>
                <a:latin typeface="Arial" pitchFamily="34" charset="0"/>
              </a:rPr>
              <a:t>Распараллеливание невложенных (простых) циклов</a:t>
            </a:r>
            <a:endParaRPr kumimoji="0" lang="ru-RU" sz="40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27763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5053764" y="1352326"/>
            <a:ext cx="3108960" cy="12003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=b, e, s</a:t>
            </a:r>
          </a:p>
          <a:p>
            <a:r>
              <a:rPr kumimoji="0" lang="en-US" sz="2400" dirty="0">
                <a:latin typeface="Arial" pitchFamily="34" charset="0"/>
              </a:rPr>
              <a:t>			…</a:t>
            </a:r>
          </a:p>
          <a:p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	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827228" y="4798115"/>
            <a:ext cx="4670993" cy="10672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Итерационное пространство – целые точки отрезка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[1, u]</a:t>
            </a:r>
            <a:endParaRPr kumimoji="0" lang="en-US" sz="2400" dirty="0">
              <a:latin typeface="Arial" pitchFamily="34" charset="0"/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8437045" y="1363594"/>
            <a:ext cx="3474720" cy="120032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		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u, 1</a:t>
            </a:r>
          </a:p>
          <a:p>
            <a:r>
              <a:rPr kumimoji="0" lang="en-US" sz="2400" dirty="0">
                <a:latin typeface="Arial" pitchFamily="34" charset="0"/>
              </a:rPr>
              <a:t>			…</a:t>
            </a:r>
          </a:p>
          <a:p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		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7412" name="Название 1"/>
          <p:cNvSpPr txBox="1">
            <a:spLocks/>
          </p:cNvSpPr>
          <p:nvPr/>
        </p:nvSpPr>
        <p:spPr bwMode="auto">
          <a:xfrm>
            <a:off x="3365935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8437045" y="3225530"/>
            <a:ext cx="3474720" cy="120032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		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r>
              <a:rPr kumimoji="0" lang="en-US" sz="2400" dirty="0">
                <a:latin typeface="Arial" pitchFamily="34" charset="0"/>
              </a:rPr>
              <a:t>			…</a:t>
            </a:r>
          </a:p>
          <a:p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		end do </a:t>
            </a:r>
            <a:endParaRPr kumimoji="0" lang="ru-RU" sz="24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allAtOnce" animBg="1"/>
      <p:bldP spid="46088" grpId="0" uiExpand="1" build="allAtOnce" animBg="1"/>
      <p:bldP spid="10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5143372" y="1003300"/>
            <a:ext cx="3108960" cy="155448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…a(f(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…a(g(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))…</a:t>
            </a:r>
          </a:p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328081" y="4023361"/>
            <a:ext cx="6583680" cy="216059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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ru-RU" sz="2400" dirty="0"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: </a:t>
            </a:r>
            <a:r>
              <a:rPr kumimoji="0" lang="en-US" sz="2400" dirty="0">
                <a:latin typeface="Arial" pitchFamily="34" charset="0"/>
              </a:rPr>
              <a:t>1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 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ru-RU" sz="2400" dirty="0"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 </a:t>
            </a:r>
            <a:r>
              <a:rPr kumimoji="0" lang="ru-RU" sz="2400" dirty="0">
                <a:latin typeface="Arial" pitchFamily="34" charset="0"/>
              </a:rPr>
              <a:t>≤</a:t>
            </a:r>
            <a:r>
              <a:rPr kumimoji="0" lang="en-US" sz="2400" dirty="0">
                <a:latin typeface="Arial" pitchFamily="34" charset="0"/>
              </a:rPr>
              <a:t> u</a:t>
            </a:r>
            <a:r>
              <a:rPr kumimoji="0" lang="ru-RU" sz="2400" dirty="0">
                <a:latin typeface="Arial" pitchFamily="34" charset="0"/>
              </a:rPr>
              <a:t>, </a:t>
            </a:r>
            <a:r>
              <a:rPr kumimoji="0" lang="ru-RU" sz="2400" dirty="0" err="1">
                <a:latin typeface="Arial" pitchFamily="34" charset="0"/>
              </a:rPr>
              <a:t>f</a:t>
            </a:r>
            <a:r>
              <a:rPr kumimoji="0" lang="ru-RU" sz="2400" dirty="0">
                <a:latin typeface="Arial" pitchFamily="34" charset="0"/>
              </a:rPr>
              <a:t>(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ru-RU" sz="2400" dirty="0">
                <a:latin typeface="Arial" pitchFamily="34" charset="0"/>
              </a:rPr>
              <a:t>)= </a:t>
            </a:r>
            <a:r>
              <a:rPr kumimoji="0" lang="ru-RU" sz="2400" dirty="0" err="1">
                <a:latin typeface="Arial" pitchFamily="34" charset="0"/>
              </a:rPr>
              <a:t>g</a:t>
            </a:r>
            <a:r>
              <a:rPr kumimoji="0" lang="ru-RU" sz="2400" dirty="0">
                <a:latin typeface="Arial" pitchFamily="34" charset="0"/>
              </a:rPr>
              <a:t>(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)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элементы массива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altLang="ru-RU" sz="2400" dirty="0">
                <a:solidFill>
                  <a:srgbClr val="404040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a</a:t>
            </a:r>
            <a:r>
              <a:rPr kumimoji="0" lang="en-US" altLang="ru-RU" sz="2400" dirty="0">
                <a:solidFill>
                  <a:srgbClr val="404040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являются выходными данными хотя бы для одного оператора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тогда существует зависимость по данным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  </a:t>
            </a:r>
            <a:endParaRPr kumimoji="0" lang="en-US" sz="2400" dirty="0">
              <a:latin typeface="Arial" pitchFamily="34" charset="0"/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8437041" y="1005840"/>
            <a:ext cx="3474720" cy="26035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…a(f(1))…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…a(g(1))…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…a(f(2))…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…a(g(2))…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…a(f(3))…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…a(g(3))…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7412" name="Название 1"/>
          <p:cNvSpPr txBox="1">
            <a:spLocks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</p:spTree>
    <p:extLst>
      <p:ext uri="{BB962C8B-B14F-4D97-AF65-F5344CB8AC3E}">
        <p14:creationId xmlns:p14="http://schemas.microsoft.com/office/powerpoint/2010/main" val="313993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/>
      <p:bldP spid="46088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5328081" y="4023361"/>
            <a:ext cx="6583680" cy="216059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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ru-RU" sz="2400" dirty="0"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: </a:t>
            </a:r>
            <a:r>
              <a:rPr kumimoji="0" lang="en-US" sz="2400" dirty="0">
                <a:latin typeface="Arial" pitchFamily="34" charset="0"/>
              </a:rPr>
              <a:t>1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 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ru-RU" sz="2400" dirty="0"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 </a:t>
            </a:r>
            <a:r>
              <a:rPr kumimoji="0" lang="ru-RU" sz="2400" dirty="0">
                <a:latin typeface="Arial" pitchFamily="34" charset="0"/>
              </a:rPr>
              <a:t>≤</a:t>
            </a:r>
            <a:r>
              <a:rPr kumimoji="0" lang="en-US" sz="2400" dirty="0">
                <a:latin typeface="Arial" pitchFamily="34" charset="0"/>
              </a:rPr>
              <a:t> u</a:t>
            </a:r>
            <a:r>
              <a:rPr kumimoji="0" lang="ru-RU" sz="2400" dirty="0">
                <a:latin typeface="Arial" pitchFamily="34" charset="0"/>
              </a:rPr>
              <a:t>, </a:t>
            </a:r>
            <a:r>
              <a:rPr kumimoji="0" lang="ru-RU" sz="2400" dirty="0" err="1">
                <a:latin typeface="Arial" pitchFamily="34" charset="0"/>
              </a:rPr>
              <a:t>f</a:t>
            </a:r>
            <a:r>
              <a:rPr kumimoji="0" lang="ru-RU" sz="2400" dirty="0">
                <a:latin typeface="Arial" pitchFamily="34" charset="0"/>
              </a:rPr>
              <a:t>(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ru-RU" sz="2400" dirty="0">
                <a:latin typeface="Arial" pitchFamily="34" charset="0"/>
              </a:rPr>
              <a:t>)= </a:t>
            </a:r>
            <a:r>
              <a:rPr kumimoji="0" lang="ru-RU" sz="2400" dirty="0" err="1">
                <a:latin typeface="Arial" pitchFamily="34" charset="0"/>
              </a:rPr>
              <a:t>g</a:t>
            </a:r>
            <a:r>
              <a:rPr kumimoji="0" lang="ru-RU" sz="2400" dirty="0">
                <a:latin typeface="Arial" pitchFamily="34" charset="0"/>
              </a:rPr>
              <a:t>(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)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элементы массива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altLang="ru-RU" sz="2400" dirty="0">
                <a:solidFill>
                  <a:srgbClr val="404040"/>
                </a:solidFill>
                <a:latin typeface="Arial" pitchFamily="34" charset="0"/>
              </a:rPr>
              <a:t>“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a</a:t>
            </a:r>
            <a:r>
              <a:rPr kumimoji="0" lang="en-US" altLang="ru-RU" sz="2400" dirty="0">
                <a:solidFill>
                  <a:srgbClr val="404040"/>
                </a:solidFill>
                <a:latin typeface="Arial" pitchFamily="34" charset="0"/>
              </a:rPr>
              <a:t>”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являются выходными данными хотя бы для одного оператора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тогда существует зависимость по данным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  </a:t>
            </a:r>
            <a:endParaRPr kumimoji="0" lang="en-US" sz="2400" dirty="0">
              <a:latin typeface="Arial" pitchFamily="34" charset="0"/>
            </a:endParaRPr>
          </a:p>
        </p:txBody>
      </p:sp>
      <p:sp>
        <p:nvSpPr>
          <p:cNvPr id="17412" name="Название 1"/>
          <p:cNvSpPr txBox="1">
            <a:spLocks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6" name="Прямоугольник 19"/>
          <p:cNvSpPr/>
          <p:nvPr/>
        </p:nvSpPr>
        <p:spPr>
          <a:xfrm>
            <a:off x="5145201" y="999809"/>
            <a:ext cx="3108960" cy="157003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a(f(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… = a(g(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</a:t>
            </a:r>
          </a:p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8437041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a(f(1))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= a(g(1))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a(f(2))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= a(g(2))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a(f(3))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= a(g(3))</a:t>
            </a:r>
            <a:endParaRPr kumimoji="0"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44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Название 1"/>
          <p:cNvSpPr txBox="1">
            <a:spLocks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6" name="Прямоугольник 19"/>
          <p:cNvSpPr/>
          <p:nvPr/>
        </p:nvSpPr>
        <p:spPr>
          <a:xfrm>
            <a:off x="5145207" y="999809"/>
            <a:ext cx="3108960" cy="157003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a(f(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… = a(g(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</a:t>
            </a:r>
          </a:p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8437047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a(f(1))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= a(g(1))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a(f(2))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= a(g(2))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a(f(3))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= a(g(3))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8" name="Прямоугольник 8"/>
          <p:cNvSpPr/>
          <p:nvPr/>
        </p:nvSpPr>
        <p:spPr>
          <a:xfrm>
            <a:off x="5328087" y="4023361"/>
            <a:ext cx="6583680" cy="10672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Для нахождения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 err="1">
                <a:latin typeface="Arial" pitchFamily="34" charset="0"/>
              </a:rPr>
              <a:t>k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решается </a:t>
            </a:r>
            <a:r>
              <a:rPr kumimoji="0" lang="ru-RU" sz="2400" dirty="0" err="1">
                <a:latin typeface="Arial" pitchFamily="34" charset="0"/>
                <a:sym typeface="Symbol" pitchFamily="18" charset="2"/>
              </a:rPr>
              <a:t>Диофантово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 уравнение.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endParaRPr kumimoji="0" lang="en-US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07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5328084" y="4023359"/>
            <a:ext cx="658368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Если решение существует, тогда</a:t>
            </a:r>
            <a:r>
              <a:rPr kumimoji="0" lang="en-US" sz="2400" dirty="0">
                <a:latin typeface="Arial" pitchFamily="34" charset="0"/>
              </a:rPr>
              <a:t> 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k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называется источником зависимости, а</a:t>
            </a:r>
            <a:r>
              <a:rPr kumimoji="0" lang="en-US" sz="2400" dirty="0">
                <a:latin typeface="Arial" pitchFamily="34" charset="0"/>
              </a:rPr>
              <a:t> 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l-GR" sz="2400" baseline="30000" dirty="0">
                <a:latin typeface="Arial" pitchFamily="34" charset="0"/>
              </a:rPr>
              <a:t>λ</a:t>
            </a:r>
            <a:r>
              <a:rPr kumimoji="0" lang="ru-RU" sz="2400" baseline="300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 называется стоком зависимости</a:t>
            </a:r>
            <a:r>
              <a:rPr kumimoji="0" lang="en-US" sz="2400" dirty="0">
                <a:latin typeface="Arial" pitchFamily="34" charset="0"/>
              </a:rPr>
              <a:t>.</a:t>
            </a:r>
            <a:r>
              <a:rPr kumimoji="0" lang="ru-RU" sz="2400" dirty="0">
                <a:latin typeface="Arial" pitchFamily="34" charset="0"/>
              </a:rPr>
              <a:t> </a:t>
            </a:r>
            <a:endParaRPr kumimoji="0" lang="en-US" sz="2400" dirty="0">
              <a:latin typeface="Arial" pitchFamily="34" charset="0"/>
            </a:endParaRPr>
          </a:p>
        </p:txBody>
      </p:sp>
      <p:sp>
        <p:nvSpPr>
          <p:cNvPr id="19467" name="Название 1"/>
          <p:cNvSpPr txBox="1">
            <a:spLocks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19"/>
          <p:cNvSpPr/>
          <p:nvPr/>
        </p:nvSpPr>
        <p:spPr>
          <a:xfrm>
            <a:off x="5145204" y="1005841"/>
            <a:ext cx="3108960" cy="157003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a(f(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… = a(g(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</a:t>
            </a:r>
          </a:p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8437044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a(f(1))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= a(g(1))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a(f(2))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= a(g(2))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a(f(3))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= a(g(3))</a:t>
            </a:r>
            <a:endParaRPr kumimoji="0" lang="ru-RU" sz="2400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5328083" y="4023360"/>
            <a:ext cx="6583680" cy="182434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Введем значение</a:t>
            </a:r>
            <a:r>
              <a:rPr kumimoji="0" lang="en-US" altLang="ja-JP" sz="2400" dirty="0">
                <a:latin typeface="Arial" pitchFamily="34" charset="0"/>
              </a:rPr>
              <a:t> D</a:t>
            </a:r>
            <a:r>
              <a:rPr kumimoji="0" lang="ru-RU" altLang="ja-JP" sz="2400" dirty="0">
                <a:latin typeface="Arial" pitchFamily="34" charset="0"/>
              </a:rPr>
              <a:t> =  </a:t>
            </a:r>
            <a:r>
              <a:rPr kumimoji="0" lang="ru-RU" altLang="ja-JP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altLang="ja-JP" sz="2400" dirty="0">
                <a:latin typeface="Arial" pitchFamily="34" charset="0"/>
              </a:rPr>
              <a:t> </a:t>
            </a:r>
            <a:r>
              <a:rPr kumimoji="0" lang="en-US" altLang="ja-JP" sz="2400" dirty="0">
                <a:latin typeface="Arial" pitchFamily="34" charset="0"/>
              </a:rPr>
              <a:t>- k (</a:t>
            </a:r>
            <a:r>
              <a:rPr kumimoji="0" lang="ru-RU" altLang="ja-JP" sz="2400" dirty="0">
                <a:latin typeface="Arial" pitchFamily="34" charset="0"/>
              </a:rPr>
              <a:t>разность между номерами итераций стока и источника зависимости)</a:t>
            </a:r>
            <a:r>
              <a:rPr kumimoji="0" lang="en-US" altLang="ja-JP" sz="2400" dirty="0">
                <a:latin typeface="Arial" pitchFamily="34" charset="0"/>
              </a:rPr>
              <a:t>. </a:t>
            </a:r>
            <a:r>
              <a:rPr kumimoji="0" lang="ru-RU" altLang="ja-JP" sz="2400" dirty="0">
                <a:latin typeface="Arial" pitchFamily="34" charset="0"/>
              </a:rPr>
              <a:t>Эту величину называют </a:t>
            </a:r>
            <a:r>
              <a:rPr kumimoji="0" lang="ru-RU" altLang="ja-JP" sz="2400" u="sng" dirty="0">
                <a:latin typeface="Arial" pitchFamily="34" charset="0"/>
              </a:rPr>
              <a:t>расстоянием зависимости</a:t>
            </a:r>
            <a:r>
              <a:rPr kumimoji="0" lang="en-US" altLang="ja-JP" sz="2400" dirty="0">
                <a:latin typeface="Arial" pitchFamily="34" charset="0"/>
              </a:rPr>
              <a:t>.</a:t>
            </a:r>
            <a:endParaRPr kumimoji="0" lang="ru-RU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9467" name="Название 1"/>
          <p:cNvSpPr txBox="1">
            <a:spLocks/>
          </p:cNvSpPr>
          <p:nvPr/>
        </p:nvSpPr>
        <p:spPr bwMode="auto">
          <a:xfrm>
            <a:off x="3365933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19"/>
          <p:cNvSpPr/>
          <p:nvPr/>
        </p:nvSpPr>
        <p:spPr>
          <a:xfrm>
            <a:off x="5145203" y="1005841"/>
            <a:ext cx="3108960" cy="157003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a(f(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… = a(g(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))</a:t>
            </a:r>
          </a:p>
          <a:p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end do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8437043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a(f(1))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= a(g(1))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a(f(2))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= a(g(2))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a(f(3))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= a(g(3))</a:t>
            </a:r>
            <a:endParaRPr kumimoji="0"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070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870889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ru-RU" sz="2400" dirty="0">
                <a:latin typeface="Arial" pitchFamily="34" charset="0"/>
              </a:rPr>
              <a:t>+</a:t>
            </a:r>
            <a:r>
              <a:rPr kumimoji="0" lang="en-US" sz="2400" dirty="0">
                <a:latin typeface="Arial" pitchFamily="34" charset="0"/>
              </a:rPr>
              <a:t>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8437049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a(2)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a(3)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a(4)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0490" name="Название 1"/>
          <p:cNvSpPr txBox="1">
            <a:spLocks/>
          </p:cNvSpPr>
          <p:nvPr/>
        </p:nvSpPr>
        <p:spPr bwMode="auto">
          <a:xfrm>
            <a:off x="3365939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328087" y="4023360"/>
            <a:ext cx="658368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Это </a:t>
            </a:r>
            <a:r>
              <a:rPr kumimoji="0" lang="ru-RU" sz="2400" dirty="0" err="1">
                <a:solidFill>
                  <a:srgbClr val="404040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latin typeface="Arial" pitchFamily="34" charset="0"/>
              </a:rPr>
              <a:t>. </a:t>
            </a:r>
            <a:endParaRPr kumimoji="0" lang="ru-RU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Получаем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= 1, k = 2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, </a:t>
            </a:r>
          </a:p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</a:rPr>
              <a:t>D </a:t>
            </a:r>
            <a:r>
              <a:rPr kumimoji="0" lang="ru-RU" sz="2400" dirty="0">
                <a:latin typeface="Arial" pitchFamily="34" charset="0"/>
              </a:rPr>
              <a:t>= 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latin typeface="Arial" pitchFamily="34" charset="0"/>
              </a:rPr>
              <a:t>- k  = -1.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1516" name="Название 1"/>
          <p:cNvSpPr txBox="1">
            <a:spLocks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7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ru-RU" sz="2400" dirty="0">
                <a:latin typeface="Arial" pitchFamily="34" charset="0"/>
              </a:rPr>
              <a:t>+</a:t>
            </a:r>
            <a:r>
              <a:rPr kumimoji="0" lang="en-US" sz="2400" dirty="0">
                <a:latin typeface="Arial" pitchFamily="34" charset="0"/>
              </a:rPr>
              <a:t>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437047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a(3)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a(4)</a:t>
            </a:r>
            <a:endParaRPr kumimoji="0" lang="ru-RU" sz="24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328084" y="4023360"/>
            <a:ext cx="6583680" cy="16804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u="sng" dirty="0">
                <a:solidFill>
                  <a:srgbClr val="404040"/>
                </a:solidFill>
                <a:latin typeface="Arial" pitchFamily="34" charset="0"/>
              </a:rPr>
              <a:t>Общее утверждение</a:t>
            </a:r>
            <a:r>
              <a:rPr kumimoji="0" lang="en-US" sz="2400" u="sng" dirty="0">
                <a:solidFill>
                  <a:srgbClr val="404040"/>
                </a:solidFill>
                <a:latin typeface="Arial" pitchFamily="34" charset="0"/>
              </a:rPr>
              <a:t>:</a:t>
            </a:r>
            <a:endParaRPr kumimoji="0" lang="en-US" sz="2400" u="sng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latin typeface="Arial" pitchFamily="34" charset="0"/>
              </a:rPr>
              <a:t>D &lt; 0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</a:rPr>
              <a:t>то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имеет место антизависимость между операторами цикла, исполняющимися на разных итерациях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21516" name="Название 1"/>
          <p:cNvSpPr txBox="1">
            <a:spLocks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4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ru-RU" sz="2400" dirty="0">
                <a:latin typeface="Arial" pitchFamily="34" charset="0"/>
              </a:rPr>
              <a:t>+</a:t>
            </a:r>
            <a:r>
              <a:rPr kumimoji="0" lang="en-US" sz="2400" dirty="0">
                <a:latin typeface="Arial" pitchFamily="34" charset="0"/>
              </a:rPr>
              <a:t>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437044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a(3)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a(4)</a:t>
            </a:r>
            <a:endParaRPr kumimoji="0"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2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328085" y="4023360"/>
            <a:ext cx="6583680" cy="16804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u="sng" dirty="0">
                <a:solidFill>
                  <a:srgbClr val="404040"/>
                </a:solidFill>
                <a:latin typeface="Arial" pitchFamily="34" charset="0"/>
              </a:rPr>
              <a:t>Общее утверждение</a:t>
            </a:r>
            <a:r>
              <a:rPr kumimoji="0" lang="en-US" sz="2400" u="sng" dirty="0">
                <a:solidFill>
                  <a:srgbClr val="404040"/>
                </a:solidFill>
                <a:latin typeface="Arial" pitchFamily="34" charset="0"/>
              </a:rPr>
              <a:t>:</a:t>
            </a:r>
            <a:endParaRPr kumimoji="0" lang="en-US" sz="2400" u="sng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Параллельное выполнение итераций цикла возможно при дублировании необходимых входных данных</a:t>
            </a:r>
            <a:r>
              <a:rPr kumimoji="0" lang="en-US" sz="2400" dirty="0">
                <a:latin typeface="Arial" pitchFamily="34" charset="0"/>
              </a:rPr>
              <a:t>.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1516" name="Название 1"/>
          <p:cNvSpPr txBox="1">
            <a:spLocks/>
          </p:cNvSpPr>
          <p:nvPr/>
        </p:nvSpPr>
        <p:spPr bwMode="auto">
          <a:xfrm>
            <a:off x="3365935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5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ru-RU" sz="2400" dirty="0">
                <a:latin typeface="Arial" pitchFamily="34" charset="0"/>
              </a:rPr>
              <a:t>+</a:t>
            </a:r>
            <a:r>
              <a:rPr kumimoji="0" lang="en-US" sz="2400" dirty="0">
                <a:latin typeface="Arial" pitchFamily="34" charset="0"/>
              </a:rPr>
              <a:t>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437045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a(2)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a(3)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a(4)</a:t>
            </a:r>
            <a:endParaRPr kumimoji="0"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98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870884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8437044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a(2)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0490" name="Название 1"/>
          <p:cNvSpPr txBox="1">
            <a:spLocks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uiExpan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3" name="Название 1"/>
          <p:cNvSpPr txBox="1">
            <a:spLocks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7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437047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a(2)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28087" y="4023360"/>
            <a:ext cx="658368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Это истинная зависимость</a:t>
            </a:r>
            <a:r>
              <a:rPr kumimoji="0" lang="en-US" sz="2400" dirty="0">
                <a:latin typeface="Arial" pitchFamily="34" charset="0"/>
              </a:rPr>
              <a:t>. </a:t>
            </a:r>
            <a:endParaRPr kumimoji="0" lang="ru-RU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У нас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=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2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, k =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1, </a:t>
            </a:r>
          </a:p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</a:rPr>
              <a:t>D </a:t>
            </a:r>
            <a:r>
              <a:rPr kumimoji="0" lang="ru-RU" sz="2400" dirty="0">
                <a:latin typeface="Arial" pitchFamily="34" charset="0"/>
              </a:rPr>
              <a:t>= 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latin typeface="Arial" pitchFamily="34" charset="0"/>
              </a:rPr>
              <a:t>- k  = 1.</a:t>
            </a:r>
            <a:endParaRPr kumimoji="0" lang="ru-RU" sz="24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328081" y="4023360"/>
            <a:ext cx="6583680" cy="16804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u="sng" dirty="0">
                <a:solidFill>
                  <a:srgbClr val="404040"/>
                </a:solidFill>
                <a:latin typeface="Arial" pitchFamily="34" charset="0"/>
              </a:rPr>
              <a:t>Общее утверждение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:</a:t>
            </a:r>
            <a:endParaRPr kumimoji="0"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D &gt; 0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</a:rPr>
              <a:t>то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имеет место истинная зависимость между операторами цикла, исполняющимися на разных итерациях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23563" name="Название 1"/>
          <p:cNvSpPr txBox="1">
            <a:spLocks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1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437041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a(2)</a:t>
            </a:r>
            <a:endParaRPr kumimoji="0"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68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328081" y="4023360"/>
            <a:ext cx="6583680" cy="13111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u="sng" dirty="0">
                <a:solidFill>
                  <a:srgbClr val="404040"/>
                </a:solidFill>
                <a:latin typeface="Arial" pitchFamily="34" charset="0"/>
              </a:rPr>
              <a:t>Общее утверждение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:</a:t>
            </a:r>
            <a:endParaRPr kumimoji="0"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Если</a:t>
            </a:r>
            <a:r>
              <a:rPr kumimoji="0" lang="en-US" sz="2400" dirty="0">
                <a:latin typeface="Arial" pitchFamily="34" charset="0"/>
              </a:rPr>
              <a:t> D </a:t>
            </a:r>
            <a:r>
              <a:rPr kumimoji="0" lang="ru-RU" sz="2400" dirty="0">
                <a:latin typeface="Arial" pitchFamily="34" charset="0"/>
              </a:rPr>
              <a:t>=</a:t>
            </a:r>
            <a:r>
              <a:rPr kumimoji="0" lang="en-US" sz="2400" dirty="0">
                <a:latin typeface="Arial" pitchFamily="34" charset="0"/>
              </a:rPr>
              <a:t> 1, </a:t>
            </a:r>
            <a:r>
              <a:rPr kumimoji="0" lang="ru-RU" sz="2400" dirty="0">
                <a:latin typeface="Arial" pitchFamily="34" charset="0"/>
              </a:rPr>
              <a:t>то параллельное выполнение итераций невозможно</a:t>
            </a:r>
            <a:r>
              <a:rPr kumimoji="0" lang="en-US" sz="2400" dirty="0">
                <a:latin typeface="Arial" pitchFamily="34" charset="0"/>
              </a:rPr>
              <a:t>.  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3563" name="Название 1"/>
          <p:cNvSpPr txBox="1">
            <a:spLocks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1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a(i-1)*2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437041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a(2)</a:t>
            </a:r>
            <a:endParaRPr kumimoji="0" lang="ru-RU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3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870881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a(i-2)*2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8437041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a(-1)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a(1)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0490" name="Название 1"/>
          <p:cNvSpPr txBox="1">
            <a:spLocks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uiExpand="1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3" name="Название 1"/>
          <p:cNvSpPr txBox="1">
            <a:spLocks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870887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a(i-2)*2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8437047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a(-1)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endParaRPr kumimoji="0" lang="ru-RU" sz="240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28087" y="4023360"/>
            <a:ext cx="6583680" cy="142192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Это истинная зависимость</a:t>
            </a:r>
            <a:r>
              <a:rPr kumimoji="0" lang="en-US" sz="2400" dirty="0">
                <a:latin typeface="Arial" pitchFamily="34" charset="0"/>
              </a:rPr>
              <a:t>. </a:t>
            </a:r>
            <a:endParaRPr kumimoji="0" lang="ru-RU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У нас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 =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3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, k =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1, </a:t>
            </a:r>
          </a:p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</a:rPr>
              <a:t>D </a:t>
            </a:r>
            <a:r>
              <a:rPr kumimoji="0" lang="ru-RU" sz="2400" dirty="0">
                <a:latin typeface="Arial" pitchFamily="34" charset="0"/>
              </a:rPr>
              <a:t>= 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latin typeface="Arial" pitchFamily="34" charset="0"/>
              </a:rPr>
              <a:t>- k  = </a:t>
            </a:r>
            <a:r>
              <a:rPr kumimoji="0" lang="ru-RU" sz="24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.</a:t>
            </a:r>
            <a:endParaRPr kumimoji="0" lang="ru-RU" sz="24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328087" y="4023360"/>
            <a:ext cx="6583680" cy="17912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</a:rPr>
              <a:t>1 -&gt; 3 -&gt; 5 -&gt; 7-&gt; …</a:t>
            </a:r>
            <a:endParaRPr kumimoji="0" lang="ru-RU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</a:rPr>
              <a:t>2 -&gt; 4 -&gt; 6 -&gt; 8 -&gt; …</a:t>
            </a:r>
            <a:endParaRPr kumimoji="0" lang="ru-RU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Возможно распараллеливание для 2-х исполнителей</a:t>
            </a:r>
          </a:p>
        </p:txBody>
      </p:sp>
      <p:sp>
        <p:nvSpPr>
          <p:cNvPr id="23563" name="Название 1"/>
          <p:cNvSpPr txBox="1">
            <a:spLocks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870887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a(i-2)*2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8437047" y="1005840"/>
            <a:ext cx="3474720" cy="260379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r>
              <a:rPr kumimoji="0" lang="en-US" sz="2400" dirty="0">
                <a:latin typeface="Arial" pitchFamily="34" charset="0"/>
              </a:rPr>
              <a:t>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a(-1)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a(0)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</a:t>
            </a:r>
            <a:r>
              <a:rPr kumimoji="0" lang="en-US" sz="2400" dirty="0">
                <a:solidFill>
                  <a:srgbClr val="FF0000"/>
                </a:solidFill>
                <a:latin typeface="Arial" pitchFamily="34" charset="0"/>
              </a:rPr>
              <a:t>a(1)</a:t>
            </a:r>
            <a:endParaRPr kumimoji="0" lang="ru-RU" sz="2400" dirty="0">
              <a:solidFill>
                <a:srgbClr val="FF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8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9" name="Text Box 9"/>
          <p:cNvSpPr txBox="1">
            <a:spLocks noChangeArrowheads="1"/>
          </p:cNvSpPr>
          <p:nvPr/>
        </p:nvSpPr>
        <p:spPr bwMode="auto">
          <a:xfrm>
            <a:off x="3510398" y="944563"/>
            <a:ext cx="8172450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  <a:sym typeface="Symbol" pitchFamily="18" charset="2"/>
              </a:rPr>
              <a:t>Что произойдет при</a:t>
            </a:r>
            <a:r>
              <a:rPr kumimoji="0" lang="en-US" sz="2800" dirty="0">
                <a:solidFill>
                  <a:srgbClr val="404040"/>
                </a:solidFill>
                <a:latin typeface="Arial" pitchFamily="34" charset="0"/>
                <a:sym typeface="Symbol" pitchFamily="18" charset="2"/>
              </a:rPr>
              <a:t> D = 0? </a:t>
            </a:r>
            <a:endParaRPr kumimoji="0" lang="ru-RU" sz="2800" dirty="0">
              <a:latin typeface="Arial" pitchFamily="34" charset="0"/>
            </a:endParaRPr>
          </a:p>
        </p:txBody>
      </p:sp>
      <p:sp>
        <p:nvSpPr>
          <p:cNvPr id="2" name="Прямоугольник 20"/>
          <p:cNvSpPr/>
          <p:nvPr/>
        </p:nvSpPr>
        <p:spPr>
          <a:xfrm>
            <a:off x="8437045" y="2011680"/>
            <a:ext cx="3474720" cy="94179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marL="342900" indent="-342900" algn="ctr">
              <a:spcBef>
                <a:spcPct val="30000"/>
              </a:spcBef>
              <a:buFont typeface="Symbol" pitchFamily="18" charset="2"/>
              <a:buChar char="l"/>
            </a:pPr>
            <a:r>
              <a:rPr kumimoji="0" lang="en-US" sz="2400" dirty="0">
                <a:latin typeface="Arial" pitchFamily="34" charset="0"/>
                <a:sym typeface="Symbol" pitchFamily="18" charset="2"/>
              </a:rPr>
              <a:t>=  k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en-US" sz="2400" dirty="0">
                <a:latin typeface="Arial" pitchFamily="34" charset="0"/>
              </a:rPr>
              <a:t>D</a:t>
            </a:r>
            <a:r>
              <a:rPr kumimoji="0" lang="ru-RU" sz="2400" dirty="0">
                <a:latin typeface="Arial" pitchFamily="34" charset="0"/>
              </a:rPr>
              <a:t> = 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latin typeface="Arial" pitchFamily="34" charset="0"/>
              </a:rPr>
              <a:t>- k  = 0</a:t>
            </a:r>
          </a:p>
          <a:p>
            <a:pPr marL="342900" indent="-342900"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Истинная зависимость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6635" name="Название 1"/>
          <p:cNvSpPr txBox="1">
            <a:spLocks/>
          </p:cNvSpPr>
          <p:nvPr/>
        </p:nvSpPr>
        <p:spPr bwMode="auto">
          <a:xfrm>
            <a:off x="3365935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5" y="164592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)*2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9" name="Text Box 9"/>
          <p:cNvSpPr txBox="1">
            <a:spLocks noChangeArrowheads="1"/>
          </p:cNvSpPr>
          <p:nvPr/>
        </p:nvSpPr>
        <p:spPr bwMode="auto">
          <a:xfrm>
            <a:off x="3510396" y="944563"/>
            <a:ext cx="8172450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  <a:sym typeface="Symbol" pitchFamily="18" charset="2"/>
              </a:rPr>
              <a:t>Что произойдет при</a:t>
            </a:r>
            <a:r>
              <a:rPr kumimoji="0" lang="en-US" sz="2800" dirty="0">
                <a:solidFill>
                  <a:srgbClr val="404040"/>
                </a:solidFill>
                <a:latin typeface="Arial" pitchFamily="34" charset="0"/>
                <a:sym typeface="Symbol" pitchFamily="18" charset="2"/>
              </a:rPr>
              <a:t> D = 0? </a:t>
            </a:r>
            <a:endParaRPr kumimoji="0" lang="ru-RU" sz="2800" dirty="0">
              <a:latin typeface="Arial" pitchFamily="34" charset="0"/>
            </a:endParaRPr>
          </a:p>
        </p:txBody>
      </p:sp>
      <p:sp>
        <p:nvSpPr>
          <p:cNvPr id="2" name="Прямоугольник 20"/>
          <p:cNvSpPr/>
          <p:nvPr/>
        </p:nvSpPr>
        <p:spPr>
          <a:xfrm>
            <a:off x="8437043" y="2011680"/>
            <a:ext cx="3474720" cy="94179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marL="342900" indent="-342900" algn="ctr">
              <a:spcBef>
                <a:spcPct val="30000"/>
              </a:spcBef>
              <a:buFont typeface="Symbol" pitchFamily="18" charset="2"/>
              <a:buChar char="l"/>
            </a:pPr>
            <a:r>
              <a:rPr kumimoji="0" lang="en-US" sz="2400" dirty="0">
                <a:latin typeface="Arial" pitchFamily="34" charset="0"/>
                <a:sym typeface="Symbol" pitchFamily="18" charset="2"/>
              </a:rPr>
              <a:t>=  k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, </a:t>
            </a:r>
            <a:r>
              <a:rPr kumimoji="0" lang="en-US" sz="2400" dirty="0">
                <a:latin typeface="Arial" pitchFamily="34" charset="0"/>
              </a:rPr>
              <a:t>D</a:t>
            </a:r>
            <a:r>
              <a:rPr kumimoji="0" lang="ru-RU" sz="2400" dirty="0">
                <a:latin typeface="Arial" pitchFamily="34" charset="0"/>
              </a:rPr>
              <a:t> =  </a:t>
            </a:r>
            <a:r>
              <a:rPr kumimoji="0" lang="ru-RU" sz="2400" dirty="0">
                <a:latin typeface="Arial" pitchFamily="34" charset="0"/>
                <a:sym typeface="Symbol" pitchFamily="18" charset="2"/>
              </a:rPr>
              <a:t>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latin typeface="Arial" pitchFamily="34" charset="0"/>
              </a:rPr>
              <a:t>- k  = 0</a:t>
            </a:r>
          </a:p>
          <a:p>
            <a:pPr marL="342900" indent="-342900" algn="ctr">
              <a:spcBef>
                <a:spcPct val="30000"/>
              </a:spcBef>
            </a:pPr>
            <a:r>
              <a:rPr kumimoji="0" lang="ru-RU" sz="2400" dirty="0" err="1">
                <a:solidFill>
                  <a:srgbClr val="404040"/>
                </a:solidFill>
                <a:latin typeface="Arial" pitchFamily="34" charset="0"/>
              </a:rPr>
              <a:t>Антизависимость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6635" name="Название 1"/>
          <p:cNvSpPr txBox="1">
            <a:spLocks/>
          </p:cNvSpPr>
          <p:nvPr/>
        </p:nvSpPr>
        <p:spPr bwMode="auto">
          <a:xfrm>
            <a:off x="3365933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70883" y="1645920"/>
            <a:ext cx="3291840" cy="17912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)*2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a(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328083" y="3840480"/>
            <a:ext cx="6583680" cy="241912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Зависимость не связана с наличием цикла – </a:t>
            </a:r>
            <a:r>
              <a:rPr kumimoji="0" lang="en-US" sz="2400" u="sng" dirty="0">
                <a:latin typeface="Arial" pitchFamily="34" charset="0"/>
              </a:rPr>
              <a:t>loop independent dependence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If </a:t>
            </a:r>
            <a:r>
              <a:rPr kumimoji="0" lang="en-US" sz="2400" dirty="0">
                <a:latin typeface="Arial" pitchFamily="34" charset="0"/>
              </a:rPr>
              <a:t>D ≠ 0, </a:t>
            </a:r>
            <a:r>
              <a:rPr kumimoji="0" lang="ru-RU" sz="2400" dirty="0">
                <a:latin typeface="Arial" pitchFamily="34" charset="0"/>
              </a:rPr>
              <a:t>это </a:t>
            </a:r>
            <a:r>
              <a:rPr kumimoji="0" lang="en-US" sz="2400" u="sng" dirty="0">
                <a:solidFill>
                  <a:srgbClr val="404040"/>
                </a:solidFill>
                <a:latin typeface="Arial" pitchFamily="34" charset="0"/>
              </a:rPr>
              <a:t>loop-carried dependence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</a:t>
            </a:r>
            <a:endParaRPr kumimoji="0" lang="en-US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Зависимость сконцентрирована в пределах одной итерации. Возможно параллельное исполнение различных итераций.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  <p:bldP spid="11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870884" y="1005840"/>
            <a:ext cx="3291840" cy="17907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do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 =1, u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   a</a:t>
            </a:r>
            <a:r>
              <a:rPr kumimoji="0" lang="ru-RU" sz="2400" dirty="0">
                <a:latin typeface="Arial" pitchFamily="34" charset="0"/>
              </a:rPr>
              <a:t>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d(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)+5*</a:t>
            </a:r>
            <a:r>
              <a:rPr kumimoji="0" lang="en-US" sz="2400" dirty="0" err="1">
                <a:latin typeface="Arial" pitchFamily="34" charset="0"/>
              </a:rPr>
              <a:t>i</a:t>
            </a:r>
            <a:endParaRPr kumimoji="0" lang="en-US" sz="2400" dirty="0">
              <a:latin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   c(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 = 2*a(2*</a:t>
            </a:r>
            <a:r>
              <a:rPr kumimoji="0" lang="en-US" sz="2400" dirty="0" err="1">
                <a:latin typeface="Arial" pitchFamily="34" charset="0"/>
              </a:rPr>
              <a:t>i</a:t>
            </a:r>
            <a:r>
              <a:rPr kumimoji="0" lang="en-US" sz="2400" dirty="0">
                <a:latin typeface="Arial" pitchFamily="34" charset="0"/>
              </a:rPr>
              <a:t>)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defRPr/>
            </a:pPr>
            <a:r>
              <a:rPr kumimoji="0" lang="en-US" sz="2400" dirty="0">
                <a:latin typeface="Arial" pitchFamily="34" charset="0"/>
              </a:rPr>
              <a:t>           </a:t>
            </a:r>
            <a:r>
              <a:rPr kumimoji="0"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</a:rPr>
              <a:t>end do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2" name="Прямоугольник 20"/>
          <p:cNvSpPr/>
          <p:nvPr/>
        </p:nvSpPr>
        <p:spPr>
          <a:xfrm>
            <a:off x="5328084" y="4663440"/>
            <a:ext cx="6583680" cy="17912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  <a:sym typeface="Symbol" pitchFamily="18" charset="2"/>
              </a:rPr>
              <a:t>f(2) = g(1), f(4) = g(2), f(6) = g(3), D = ?</a:t>
            </a:r>
            <a:endParaRPr kumimoji="0" lang="en-US" sz="2400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latin typeface="Arial" pitchFamily="34" charset="0"/>
              </a:rPr>
              <a:t>Расстояние зависимости неопределенное,</a:t>
            </a:r>
            <a:br>
              <a:rPr kumimoji="0" lang="ru-RU" sz="2400" dirty="0">
                <a:latin typeface="Arial" pitchFamily="34" charset="0"/>
              </a:rPr>
            </a:b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 = *,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но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 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D</a:t>
            </a:r>
            <a:r>
              <a:rPr kumimoji="0" lang="en-US" sz="2400" baseline="-25000" dirty="0">
                <a:solidFill>
                  <a:srgbClr val="404040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 &lt; 0.</a:t>
            </a:r>
          </a:p>
          <a:p>
            <a:pPr algn="ctr">
              <a:spcBef>
                <a:spcPct val="30000"/>
              </a:spcBef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Это </a:t>
            </a:r>
            <a:r>
              <a:rPr kumimoji="0" lang="ru-RU" sz="2400" dirty="0" err="1">
                <a:solidFill>
                  <a:srgbClr val="404040"/>
                </a:solidFill>
                <a:latin typeface="Arial" pitchFamily="34" charset="0"/>
              </a:rPr>
              <a:t>антизависимости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.  </a:t>
            </a:r>
            <a:endParaRPr kumimoji="0" lang="ru-RU" sz="2400" dirty="0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154634" name="Text Box 10"/>
          <p:cNvSpPr txBox="1">
            <a:spLocks noChangeArrowheads="1"/>
          </p:cNvSpPr>
          <p:nvPr/>
        </p:nvSpPr>
        <p:spPr bwMode="auto">
          <a:xfrm>
            <a:off x="8437044" y="1005840"/>
            <a:ext cx="3474720" cy="349018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a(1)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:       … &lt;- a(2)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 a(2)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:      … &lt;- a(4)</a:t>
            </a: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 a(3)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3</a:t>
            </a:r>
            <a:r>
              <a:rPr kumimoji="0" lang="en-US" sz="2400" dirty="0">
                <a:latin typeface="Arial" pitchFamily="34" charset="0"/>
              </a:rPr>
              <a:t>:      … &lt;- a(6)</a:t>
            </a:r>
            <a:endParaRPr kumimoji="0" lang="ru-RU" sz="2400" dirty="0">
              <a:latin typeface="Arial" pitchFamily="34" charset="0"/>
            </a:endParaRPr>
          </a:p>
          <a:p>
            <a:pPr>
              <a:spcBef>
                <a:spcPct val="40000"/>
              </a:spcBef>
            </a:pPr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1</a:t>
            </a:r>
            <a:r>
              <a:rPr kumimoji="0" lang="en-US" sz="2400" baseline="30000" dirty="0">
                <a:latin typeface="Arial" pitchFamily="34" charset="0"/>
              </a:rPr>
              <a:t>4</a:t>
            </a:r>
            <a:r>
              <a:rPr kumimoji="0" lang="en-US" sz="2400" dirty="0">
                <a:latin typeface="Arial" pitchFamily="34" charset="0"/>
              </a:rPr>
              <a:t>:       a(4) = …</a:t>
            </a:r>
          </a:p>
          <a:p>
            <a:r>
              <a:rPr kumimoji="0" lang="en-US" sz="2400" dirty="0">
                <a:latin typeface="Arial" pitchFamily="34" charset="0"/>
              </a:rPr>
              <a:t>S</a:t>
            </a:r>
            <a:r>
              <a:rPr kumimoji="0" lang="en-US" sz="2400" baseline="-25000" dirty="0">
                <a:latin typeface="Arial" pitchFamily="34" charset="0"/>
              </a:rPr>
              <a:t>2</a:t>
            </a:r>
            <a:r>
              <a:rPr kumimoji="0" lang="en-US" sz="2400" baseline="30000" dirty="0">
                <a:latin typeface="Arial" pitchFamily="34" charset="0"/>
              </a:rPr>
              <a:t>4</a:t>
            </a:r>
            <a:r>
              <a:rPr kumimoji="0" lang="en-US" sz="2400" dirty="0">
                <a:latin typeface="Arial" pitchFamily="34" charset="0"/>
              </a:rPr>
              <a:t>:      … &lt;- a(8)</a:t>
            </a:r>
            <a:endParaRPr kumimoji="0" lang="ru-RU" sz="2400" dirty="0">
              <a:latin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0884" y="3538538"/>
            <a:ext cx="2766060" cy="4572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en-US" sz="2400" dirty="0">
                <a:latin typeface="Arial" pitchFamily="34" charset="0"/>
                <a:sym typeface="Symbol" pitchFamily="18" charset="2"/>
              </a:rPr>
              <a:t>f(</a:t>
            </a:r>
            <a:r>
              <a:rPr kumimoji="0" lang="en-US" sz="24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) = </a:t>
            </a:r>
            <a:r>
              <a:rPr kumimoji="0" lang="en-US" sz="24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, g(</a:t>
            </a:r>
            <a:r>
              <a:rPr kumimoji="0" lang="en-US" sz="2400" dirty="0" err="1">
                <a:latin typeface="Arial" pitchFamily="34" charset="0"/>
                <a:sym typeface="Symbol" pitchFamily="18" charset="2"/>
              </a:rPr>
              <a:t>i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) = 2*</a:t>
            </a:r>
            <a:r>
              <a:rPr kumimoji="0" lang="en-US" sz="2400" dirty="0" err="1">
                <a:latin typeface="Arial" pitchFamily="34" charset="0"/>
                <a:sym typeface="Symbol" pitchFamily="18" charset="2"/>
              </a:rPr>
              <a:t>i</a:t>
            </a:r>
            <a:endParaRPr kumimoji="0" lang="en-US" sz="24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28684" name="Название 1"/>
          <p:cNvSpPr txBox="1">
            <a:spLocks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Простые циклы и параллелизм</a:t>
            </a: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985724"/>
              </p:ext>
            </p:extLst>
          </p:nvPr>
        </p:nvGraphicFramePr>
        <p:xfrm>
          <a:off x="8693174" y="5550449"/>
          <a:ext cx="319211" cy="34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DSMT4">
                  <p:embed/>
                </p:oleObj>
              </mc:Choice>
              <mc:Fallback>
                <p:oleObj name="Equation" r:id="rId2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93174" y="5550449"/>
                        <a:ext cx="319211" cy="34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  <p:bldP spid="154634" grpId="0" uiExpand="1" build="allAtOnce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8284963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911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2154</Words>
  <Application>Microsoft Office PowerPoint</Application>
  <PresentationFormat>Широкоэкранный</PresentationFormat>
  <Paragraphs>260</Paragraphs>
  <Slides>23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5" baseType="lpstr">
      <vt:lpstr>Arial</vt:lpstr>
      <vt:lpstr>Arial Black</vt:lpstr>
      <vt:lpstr>Arial Unicode MS</vt:lpstr>
      <vt:lpstr>Calibri</vt:lpstr>
      <vt:lpstr>Lucida Grande CY</vt:lpstr>
      <vt:lpstr>Symbol</vt:lpstr>
      <vt:lpstr>Wingdings</vt:lpstr>
      <vt:lpstr>Тема Office</vt:lpstr>
      <vt:lpstr>2_Тема Office</vt:lpstr>
      <vt:lpstr>Larissa-Design</vt:lpstr>
      <vt:lpstr>2_Larissa-Design</vt:lpstr>
      <vt:lpstr>Equation</vt:lpstr>
      <vt:lpstr>Презентация PowerPoint</vt:lpstr>
      <vt:lpstr>Тема 6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 Карпов</dc:creator>
  <cp:lastModifiedBy>Владимир Карпов</cp:lastModifiedBy>
  <cp:revision>98</cp:revision>
  <dcterms:created xsi:type="dcterms:W3CDTF">2013-06-03T19:45:45Z</dcterms:created>
  <dcterms:modified xsi:type="dcterms:W3CDTF">2021-04-03T10:11:55Z</dcterms:modified>
</cp:coreProperties>
</file>