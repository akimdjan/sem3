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0" r:id="rId1"/>
    <p:sldMasterId id="2147483704" r:id="rId2"/>
    <p:sldMasterId id="2147483706" r:id="rId3"/>
    <p:sldMasterId id="2147483711" r:id="rId4"/>
  </p:sldMasterIdLst>
  <p:notesMasterIdLst>
    <p:notesMasterId r:id="rId63"/>
  </p:notesMasterIdLst>
  <p:sldIdLst>
    <p:sldId id="327" r:id="rId5"/>
    <p:sldId id="328" r:id="rId6"/>
    <p:sldId id="330" r:id="rId7"/>
    <p:sldId id="282" r:id="rId8"/>
    <p:sldId id="283" r:id="rId9"/>
    <p:sldId id="331" r:id="rId10"/>
    <p:sldId id="332" r:id="rId11"/>
    <p:sldId id="285" r:id="rId12"/>
    <p:sldId id="333" r:id="rId13"/>
    <p:sldId id="287" r:id="rId14"/>
    <p:sldId id="288" r:id="rId15"/>
    <p:sldId id="334" r:id="rId16"/>
    <p:sldId id="290" r:id="rId17"/>
    <p:sldId id="291" r:id="rId18"/>
    <p:sldId id="292" r:id="rId19"/>
    <p:sldId id="335" r:id="rId20"/>
    <p:sldId id="336" r:id="rId21"/>
    <p:sldId id="337" r:id="rId22"/>
    <p:sldId id="295" r:id="rId23"/>
    <p:sldId id="338" r:id="rId24"/>
    <p:sldId id="339" r:id="rId25"/>
    <p:sldId id="341" r:id="rId26"/>
    <p:sldId id="298" r:id="rId27"/>
    <p:sldId id="342" r:id="rId28"/>
    <p:sldId id="343" r:id="rId29"/>
    <p:sldId id="344" r:id="rId30"/>
    <p:sldId id="345" r:id="rId31"/>
    <p:sldId id="302" r:id="rId32"/>
    <p:sldId id="303" r:id="rId33"/>
    <p:sldId id="304" r:id="rId34"/>
    <p:sldId id="346" r:id="rId35"/>
    <p:sldId id="347" r:id="rId36"/>
    <p:sldId id="348" r:id="rId37"/>
    <p:sldId id="307" r:id="rId38"/>
    <p:sldId id="349" r:id="rId39"/>
    <p:sldId id="350" r:id="rId40"/>
    <p:sldId id="351" r:id="rId41"/>
    <p:sldId id="310" r:id="rId42"/>
    <p:sldId id="352" r:id="rId43"/>
    <p:sldId id="353" r:id="rId44"/>
    <p:sldId id="354" r:id="rId45"/>
    <p:sldId id="355" r:id="rId46"/>
    <p:sldId id="314" r:id="rId47"/>
    <p:sldId id="356" r:id="rId48"/>
    <p:sldId id="316" r:id="rId49"/>
    <p:sldId id="357" r:id="rId50"/>
    <p:sldId id="358" r:id="rId51"/>
    <p:sldId id="359" r:id="rId52"/>
    <p:sldId id="360" r:id="rId53"/>
    <p:sldId id="320" r:id="rId54"/>
    <p:sldId id="361" r:id="rId55"/>
    <p:sldId id="362" r:id="rId56"/>
    <p:sldId id="363" r:id="rId57"/>
    <p:sldId id="364" r:id="rId58"/>
    <p:sldId id="324" r:id="rId59"/>
    <p:sldId id="325" r:id="rId60"/>
    <p:sldId id="326" r:id="rId61"/>
    <p:sldId id="329" r:id="rId62"/>
  </p:sldIdLst>
  <p:sldSz cx="12192000" cy="6858000"/>
  <p:notesSz cx="6858000" cy="9144000"/>
  <p:defaultTextStyle>
    <a:defPPr>
      <a:defRPr lang="ru-RU"/>
    </a:defPPr>
    <a:lvl1pPr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C0C0C0"/>
    <a:srgbClr val="D9D9D9"/>
    <a:srgbClr val="C6D9F1"/>
    <a:srgbClr val="8EB4E3"/>
    <a:srgbClr val="5F8E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20" autoAdjust="0"/>
    <p:restoredTop sz="94411" autoAdjust="0"/>
  </p:normalViewPr>
  <p:slideViewPr>
    <p:cSldViewPr snapToGrid="0" snapToObjects="1">
      <p:cViewPr varScale="1">
        <p:scale>
          <a:sx n="79" d="100"/>
          <a:sy n="79" d="100"/>
        </p:scale>
        <p:origin x="114" y="34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9000408B-D675-4E6B-AC2D-A4F3AC0CDBA8}" type="datetimeFigureOut">
              <a:rPr lang="ru-RU"/>
              <a:pPr/>
              <a:t>21.10.2025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8FB5DDFA-FB81-48C9-A3A1-905BAE1F9209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5325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charset="0"/>
      </a:defRPr>
    </a:lvl1pPr>
    <a:lvl2pPr marL="4572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2pPr>
    <a:lvl3pPr marL="9144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3pPr>
    <a:lvl4pPr marL="13716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4pPr>
    <a:lvl5pPr marL="18288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953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0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ru-RU" dirty="0"/>
          </a:p>
        </p:txBody>
      </p:sp>
      <p:sp>
        <p:nvSpPr>
          <p:cNvPr id="12291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E310F7-BA59-4BCC-B944-CD6B53D59584}" type="slidenum">
              <a:rPr kumimoji="0" lang="de-DE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alt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197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A90FD3-1104-4C0E-BD19-C04AAB04E560}" type="slidenum">
              <a:rPr kumimoji="0" lang="de-DE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de-DE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862650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D3235C-F3D4-4E5B-9A1A-0DD347E5FEE6}" type="datetime1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0E8CDE-6FF0-4A78-8E37-B3875071798D}" type="slidenum">
              <a:rPr lang="ru-RU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57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4C5D7-E043-4CD6-9DCC-D40D3C4495E6}" type="datetime1">
              <a:rPr lang="ru-RU" smtClean="0"/>
              <a:t>21.10.2025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ru-RU">
                <a:solidFill>
                  <a:prstClr val="black"/>
                </a:solidFill>
              </a:rPr>
              <a:t>Стр. </a:t>
            </a:r>
            <a:fld id="{504A7E2C-567E-4E33-8A72-5E102BDD9629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ru-RU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366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BE1D69B-8E71-4FF7-9DF1-67BFC0D934E1}" type="datetime1">
              <a:rPr lang="ru-RU" smtClean="0"/>
              <a:t>21.10.2025</a:t>
            </a:fld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ru-RU">
                <a:solidFill>
                  <a:prstClr val="black"/>
                </a:solidFill>
              </a:rPr>
              <a:t>Стр. </a:t>
            </a:r>
            <a:fld id="{504A7E2C-567E-4E33-8A72-5E102BDD9629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ru-RU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65828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66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E6757-8804-42E5-B1D5-8001F45B6EDF}" type="datetime1">
              <a:rPr lang="de-DE" altLang="ru-RU" smtClean="0"/>
              <a:pPr>
                <a:defRPr/>
              </a:pPr>
              <a:t>21.10.2025</a:t>
            </a:fld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715120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A13C1-0FCD-4F01-AC7E-70D3C55F45C7}" type="datetime1">
              <a:rPr lang="de-DE" altLang="ru-RU" smtClean="0"/>
              <a:pPr>
                <a:defRPr/>
              </a:pPr>
              <a:t>21.10.2025</a:t>
            </a:fld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267469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99CA09-1AF8-4748-A45E-AF91C8090DA7}" type="datetime1">
              <a:rPr lang="de-DE" altLang="ru-RU" smtClean="0"/>
              <a:pPr>
                <a:defRPr/>
              </a:pPr>
              <a:t>21.10.2025</a:t>
            </a:fld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140920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AC376-73FF-46E7-B915-F9E62041705A}" type="datetime1">
              <a:rPr lang="de-DE" altLang="ru-RU" smtClean="0"/>
              <a:pPr>
                <a:defRPr/>
              </a:pPr>
              <a:t>21.10.2025</a:t>
            </a:fld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505471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087764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06501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392441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927790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867148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41987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3F5B1DD3-CF5C-4286-B332-8FCC2D3884A0}" type="datetime1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4800" y="6356351"/>
            <a:ext cx="1926336" cy="365125"/>
          </a:xfrm>
          <a:prstGeom prst="rect">
            <a:avLst/>
          </a:prstGeom>
          <a:gradFill flip="none" rotWithShape="1">
            <a:gsLst>
              <a:gs pos="0">
                <a:srgbClr val="5F8FD9"/>
              </a:gs>
              <a:gs pos="50000">
                <a:srgbClr val="8EB4E3"/>
              </a:gs>
              <a:gs pos="100000">
                <a:srgbClr val="C6D9F1"/>
              </a:gs>
            </a:gsLst>
            <a:lin ang="16200000" scaled="1"/>
            <a:tileRect/>
          </a:gradFill>
          <a:ln w="12700">
            <a:noFill/>
          </a:ln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231136" y="6356351"/>
            <a:ext cx="145084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u-RU" dirty="0">
                <a:solidFill>
                  <a:prstClr val="black"/>
                </a:solidFill>
              </a:rPr>
              <a:t>Стр. </a:t>
            </a:r>
            <a:fld id="{504A7E2C-567E-4E33-8A72-5E102BDD9629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48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</p:sldLayoutIdLst>
  <p:hf sldNum="0" hdr="0" ftr="0" dt="0"/>
  <p:txStyles>
    <p:titleStyle>
      <a:lvl1pPr algn="ctr" defTabSz="457200" rtl="0" fontAlgn="base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Arial" pitchFamily="34" charset="0"/>
        </a:defRPr>
      </a:lvl1pPr>
      <a:lvl2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02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8833E3C-6C88-4444-8CA8-803D753C9E8A}" type="datetime1">
              <a:rPr lang="de-DE" altLang="ru-RU"/>
              <a:pPr>
                <a:defRPr/>
              </a:pPr>
              <a:t>21.10.2025</a:t>
            </a:fld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991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altLang="ru-RU">
              <a:latin typeface="Arial" charset="0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43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load.d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hlinkClick r:id="rId3"/>
          </p:cNvPr>
          <p:cNvSpPr/>
          <p:nvPr/>
        </p:nvSpPr>
        <p:spPr>
          <a:xfrm>
            <a:off x="8401050" y="6276976"/>
            <a:ext cx="2266950" cy="581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833170" y="548199"/>
            <a:ext cx="8026151" cy="5432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914400">
              <a:defRPr/>
            </a:pP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Введение в</a:t>
            </a:r>
            <a: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  <a:t/>
            </a:r>
            <a:b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распараллеливание</a:t>
            </a:r>
            <a: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  <a:t> </a:t>
            </a:r>
            <a:b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алгоритмов и </a:t>
            </a:r>
            <a:b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программ</a:t>
            </a:r>
          </a:p>
          <a:p>
            <a:pPr defTabSz="914400">
              <a:defRPr/>
            </a:pPr>
            <a:endParaRPr kumimoji="0" lang="ru-RU" sz="2800" dirty="0">
              <a:solidFill>
                <a:srgbClr val="800000"/>
              </a:solidFill>
              <a:latin typeface="Arial" pitchFamily="34" charset="0"/>
            </a:endParaRPr>
          </a:p>
          <a:p>
            <a:pPr algn="r" defTabSz="914400">
              <a:spcBef>
                <a:spcPts val="1800"/>
              </a:spcBef>
              <a:defRPr/>
            </a:pPr>
            <a:r>
              <a:rPr kumimoji="0" lang="ru-RU" sz="3600" dirty="0">
                <a:solidFill>
                  <a:srgbClr val="800000"/>
                </a:solidFill>
                <a:latin typeface="Arial" pitchFamily="34" charset="0"/>
              </a:rPr>
              <a:t>Карпов Владимир Ефимович,</a:t>
            </a:r>
          </a:p>
          <a:p>
            <a:pPr algn="r" defTabSz="914400">
              <a:defRPr/>
            </a:pPr>
            <a:r>
              <a:rPr kumimoji="0" lang="ru-RU" sz="2400" dirty="0">
                <a:solidFill>
                  <a:srgbClr val="800000"/>
                </a:solidFill>
                <a:latin typeface="Arial" pitchFamily="34" charset="0"/>
              </a:rPr>
              <a:t>кандидат физико-математических наук, доцент</a:t>
            </a:r>
          </a:p>
          <a:p>
            <a:pPr defTabSz="914400">
              <a:defRPr/>
            </a:pPr>
            <a:r>
              <a:rPr kumimoji="0" lang="ru-RU" sz="2800" dirty="0">
                <a:solidFill>
                  <a:srgbClr val="800000"/>
                </a:solidFill>
                <a:latin typeface="Arial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557696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Название 1"/>
          <p:cNvSpPr>
            <a:spLocks noGrp="1"/>
          </p:cNvSpPr>
          <p:nvPr>
            <p:ph type="title"/>
          </p:nvPr>
        </p:nvSpPr>
        <p:spPr>
          <a:xfrm>
            <a:off x="3365937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Тема</a:t>
            </a:r>
            <a:r>
              <a:rPr lang="en-US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ru-RU" altLang="ru-RU" sz="3600" smtClean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7</a:t>
            </a:r>
            <a:endParaRPr lang="ru-RU" altLang="ru-RU" sz="3600" dirty="0">
              <a:solidFill>
                <a:srgbClr val="003794"/>
              </a:solidFill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AE91BB8F-AA2D-4AF1-BCD2-BCB353E72EF9}"/>
              </a:ext>
            </a:extLst>
          </p:cNvPr>
          <p:cNvSpPr/>
          <p:nvPr/>
        </p:nvSpPr>
        <p:spPr>
          <a:xfrm>
            <a:off x="4009753" y="2364059"/>
            <a:ext cx="8092181" cy="1501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0000" algn="just">
              <a:lnSpc>
                <a:spcPct val="120000"/>
              </a:lnSpc>
            </a:pPr>
            <a:r>
              <a:rPr kumimoji="0" lang="ru-RU" sz="4000" dirty="0">
                <a:solidFill>
                  <a:prstClr val="black"/>
                </a:solidFill>
                <a:latin typeface="Arial" pitchFamily="34" charset="0"/>
              </a:rPr>
              <a:t>Распараллеливание</a:t>
            </a:r>
            <a:r>
              <a:rPr kumimoji="0" lang="en-US" sz="40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4000" dirty="0">
                <a:solidFill>
                  <a:prstClr val="black"/>
                </a:solidFill>
                <a:latin typeface="Arial" pitchFamily="34" charset="0"/>
              </a:rPr>
              <a:t>вложенных циклов</a:t>
            </a:r>
            <a:endParaRPr kumimoji="0" lang="ru-RU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277636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454081" y="5051544"/>
            <a:ext cx="6480000" cy="1440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71028" y="1800000"/>
            <a:ext cx="3672629" cy="2304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54082" y="1772137"/>
            <a:ext cx="2546931" cy="30469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4097" name="Название 1"/>
          <p:cNvSpPr>
            <a:spLocks noGrp="1"/>
          </p:cNvSpPr>
          <p:nvPr>
            <p:ph type="title"/>
          </p:nvPr>
        </p:nvSpPr>
        <p:spPr>
          <a:xfrm>
            <a:off x="3365931" y="238125"/>
            <a:ext cx="8496300" cy="617538"/>
          </a:xfrm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</a:p>
        </p:txBody>
      </p:sp>
      <p:sp>
        <p:nvSpPr>
          <p:cNvPr id="6" name="Rechteck 36"/>
          <p:cNvSpPr>
            <a:spLocks noChangeArrowheads="1"/>
          </p:cNvSpPr>
          <p:nvPr/>
        </p:nvSpPr>
        <p:spPr bwMode="gray">
          <a:xfrm>
            <a:off x="3365931" y="98583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spcAft>
                <a:spcPct val="20000"/>
              </a:spcAft>
            </a:pP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      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Общий нормализованный вид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8357943" y="1972198"/>
            <a:ext cx="3498796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400"/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Значение </a:t>
            </a:r>
            <a:r>
              <a:rPr kumimoji="0" lang="ru-RU" sz="2400" u="sng" dirty="0">
                <a:solidFill>
                  <a:prstClr val="black"/>
                </a:solidFill>
                <a:latin typeface="Arial" pitchFamily="34" charset="0"/>
              </a:rPr>
              <a:t>итерационного вектора</a:t>
            </a:r>
            <a:br>
              <a:rPr kumimoji="0" lang="ru-RU" sz="2400" u="sng" dirty="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(j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400" baseline="-25000" dirty="0" err="1">
                <a:solidFill>
                  <a:prstClr val="black"/>
                </a:solidFill>
                <a:latin typeface="Arial" pitchFamily="34" charset="0"/>
              </a:rPr>
              <a:t>n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 defTabSz="914400"/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соответствует конкретной итерации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9CBC6B25-AB8D-47C6-910A-C931DEA44CA5}"/>
              </a:ext>
            </a:extLst>
          </p:cNvPr>
          <p:cNvSpPr/>
          <p:nvPr/>
        </p:nvSpPr>
        <p:spPr>
          <a:xfrm>
            <a:off x="5577156" y="1911433"/>
            <a:ext cx="233876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do j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= 1,u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do j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= 1,u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  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     do </a:t>
            </a:r>
            <a:r>
              <a:rPr kumimoji="0" lang="en-US" sz="2200" dirty="0" err="1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200" baseline="-25000" dirty="0" err="1">
                <a:solidFill>
                  <a:prstClr val="black"/>
                </a:solidFill>
                <a:latin typeface="Arial" pitchFamily="34" charset="0"/>
              </a:rPr>
              <a:t>n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=1,u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n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         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     </a:t>
            </a:r>
            <a:r>
              <a:rPr kumimoji="0" lang="en-US" sz="2200" dirty="0" err="1">
                <a:solidFill>
                  <a:prstClr val="black"/>
                </a:solidFill>
                <a:latin typeface="Arial" pitchFamily="34" charset="0"/>
              </a:rPr>
              <a:t>enddo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en-US" sz="2200" dirty="0" err="1">
                <a:solidFill>
                  <a:prstClr val="black"/>
                </a:solidFill>
                <a:latin typeface="Arial" pitchFamily="34" charset="0"/>
              </a:rPr>
              <a:t>enddo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		               </a:t>
            </a:r>
            <a:endParaRPr kumimoji="0" lang="ru-RU" sz="22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200" dirty="0" err="1">
                <a:solidFill>
                  <a:prstClr val="black"/>
                </a:solidFill>
                <a:latin typeface="Arial" pitchFamily="34" charset="0"/>
              </a:rPr>
              <a:t>enddo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.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	</a:t>
            </a: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FCD4CA51-A53C-4954-88FD-22815958BF75}"/>
              </a:ext>
            </a:extLst>
          </p:cNvPr>
          <p:cNvSpPr/>
          <p:nvPr/>
        </p:nvSpPr>
        <p:spPr>
          <a:xfrm>
            <a:off x="5524871" y="5163298"/>
            <a:ext cx="64092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6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Множество всех допустимых значений итерационных векторов образует </a:t>
            </a:r>
            <a:r>
              <a:rPr kumimoji="0" lang="ru-RU" sz="2400" u="sng" dirty="0">
                <a:solidFill>
                  <a:prstClr val="black"/>
                </a:solidFill>
                <a:latin typeface="Arial" pitchFamily="34" charset="0"/>
              </a:rPr>
              <a:t>итерационное пространство цикла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824478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Прямоугольник 3"/>
          <p:cNvSpPr>
            <a:spLocks noChangeArrowheads="1"/>
          </p:cNvSpPr>
          <p:nvPr/>
        </p:nvSpPr>
        <p:spPr bwMode="auto">
          <a:xfrm>
            <a:off x="6036572" y="1023938"/>
            <a:ext cx="5904000" cy="4212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216000">
            <a:noAutofit/>
          </a:bodyPr>
          <a:lstStyle/>
          <a:p>
            <a:pPr algn="ctr"/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Итерационное пространство линейно упорядочено.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just"/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/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I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=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если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  <a:sym typeface="Symbol" pitchFamily="18" charset="2"/>
              </a:rPr>
              <a:t></a:t>
            </a:r>
            <a:r>
              <a:rPr kumimoji="0" lang="en-US" dirty="0">
                <a:solidFill>
                  <a:prstClr val="black"/>
                </a:solidFill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k, 1≤ k ≤ n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выполнено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baseline="-25000" dirty="0" err="1">
                <a:solidFill>
                  <a:prstClr val="black"/>
                </a:solidFill>
                <a:latin typeface="Arial" pitchFamily="34" charset="0"/>
              </a:rPr>
              <a:t>k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400" baseline="-25000" dirty="0" err="1">
                <a:solidFill>
                  <a:prstClr val="black"/>
                </a:solidFill>
                <a:latin typeface="Arial" pitchFamily="34" charset="0"/>
              </a:rPr>
              <a:t>k</a:t>
            </a:r>
            <a:endParaRPr kumimoji="0" lang="en-US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algn="ctr"/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/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I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если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  <a:sym typeface="Symbol" pitchFamily="18" charset="2"/>
              </a:rPr>
              <a:t>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s, 1 ≤ s ≤ n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такое, что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</a:p>
          <a:p>
            <a:pPr algn="ctr"/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	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baseline="-25000" dirty="0" err="1">
                <a:solidFill>
                  <a:prstClr val="black"/>
                </a:solidFill>
                <a:latin typeface="Arial" pitchFamily="34" charset="0"/>
              </a:rPr>
              <a:t>k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=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400" baseline="-25000" dirty="0" err="1">
                <a:solidFill>
                  <a:prstClr val="black"/>
                </a:solidFill>
                <a:latin typeface="Arial" pitchFamily="34" charset="0"/>
              </a:rPr>
              <a:t>k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1 ≤ k &lt; s, and i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&lt;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400" baseline="-25000" dirty="0" err="1">
                <a:solidFill>
                  <a:prstClr val="black"/>
                </a:solidFill>
                <a:latin typeface="Arial" pitchFamily="34" charset="0"/>
              </a:rPr>
              <a:t>s</a:t>
            </a:r>
            <a:endParaRPr kumimoji="0" lang="en-US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algn="just"/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just"/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/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Это лексикографический порядок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  <a:endParaRPr kumimoji="0" lang="ru-RU" sz="2200" dirty="0">
              <a:solidFill>
                <a:prstClr val="black"/>
              </a:solidFill>
              <a:latin typeface="Lucida Grande CY" pitchFamily="2" charset="-52"/>
            </a:endParaRPr>
          </a:p>
        </p:txBody>
      </p:sp>
      <p:sp>
        <p:nvSpPr>
          <p:cNvPr id="4" name="Название 1">
            <a:extLst>
              <a:ext uri="{FF2B5EF4-FFF2-40B4-BE49-F238E27FC236}">
                <a16:creationId xmlns:a16="http://schemas.microsoft.com/office/drawing/2014/main" xmlns="" id="{07B37D38-FC3B-488B-A60B-6553653B3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771" y="238125"/>
            <a:ext cx="8496300" cy="617538"/>
          </a:xfrm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</a:p>
        </p:txBody>
      </p:sp>
    </p:spTree>
    <p:extLst>
      <p:ext uri="{BB962C8B-B14F-4D97-AF65-F5344CB8AC3E}">
        <p14:creationId xmlns:p14="http://schemas.microsoft.com/office/powerpoint/2010/main" val="1705048186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6844442" y="1008000"/>
            <a:ext cx="5078028" cy="356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lIns="180000" tIns="72000" bIns="108000">
            <a:noAutofit/>
          </a:bodyPr>
          <a:lstStyle/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do j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= 1,u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do j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= 1, u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</a:p>
          <a:p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	…</a:t>
            </a: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   do </a:t>
            </a:r>
            <a:r>
              <a:rPr kumimoji="0" lang="en-US" sz="2200" dirty="0" err="1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200" baseline="-25000" dirty="0" err="1">
                <a:solidFill>
                  <a:prstClr val="black"/>
                </a:solidFill>
                <a:latin typeface="Arial" pitchFamily="34" charset="0"/>
              </a:rPr>
              <a:t>n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= 1,u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n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        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: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 … 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A(f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en-US" sz="2200" b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),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en-US" sz="2200" dirty="0" err="1">
                <a:solidFill>
                  <a:prstClr val="black"/>
                </a:solidFill>
                <a:latin typeface="Arial" pitchFamily="34" charset="0"/>
              </a:rPr>
              <a:t>f</a:t>
            </a:r>
            <a:r>
              <a:rPr kumimoji="0" lang="en-US" sz="2200" baseline="-25000" dirty="0" err="1">
                <a:solidFill>
                  <a:prstClr val="black"/>
                </a:solidFill>
                <a:latin typeface="Arial" pitchFamily="34" charset="0"/>
              </a:rPr>
              <a:t>n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en-US" sz="2200" b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))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        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2:</a:t>
            </a:r>
            <a:r>
              <a:rPr kumimoji="0" lang="ru-RU" sz="2200" baseline="-250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 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A(g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en-US" sz="2200" b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),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200" dirty="0" err="1">
                <a:solidFill>
                  <a:prstClr val="black"/>
                </a:solidFill>
                <a:latin typeface="Arial" pitchFamily="34" charset="0"/>
              </a:rPr>
              <a:t>g</a:t>
            </a:r>
            <a:r>
              <a:rPr kumimoji="0" lang="en-US" sz="2200" baseline="-25000" dirty="0" err="1">
                <a:solidFill>
                  <a:prstClr val="black"/>
                </a:solidFill>
                <a:latin typeface="Arial" pitchFamily="34" charset="0"/>
              </a:rPr>
              <a:t>n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en-US" sz="2200" b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))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   end do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end do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</p:txBody>
      </p:sp>
      <p:sp>
        <p:nvSpPr>
          <p:cNvPr id="4" name="Название 1">
            <a:extLst>
              <a:ext uri="{FF2B5EF4-FFF2-40B4-BE49-F238E27FC236}">
                <a16:creationId xmlns:a16="http://schemas.microsoft.com/office/drawing/2014/main" xmlns="" id="{7076D2AF-33FB-4290-8BCD-B388D9A45C0A}"/>
              </a:ext>
            </a:extLst>
          </p:cNvPr>
          <p:cNvSpPr txBox="1">
            <a:spLocks/>
          </p:cNvSpPr>
          <p:nvPr/>
        </p:nvSpPr>
        <p:spPr>
          <a:xfrm>
            <a:off x="3359772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553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6844441" y="1008000"/>
            <a:ext cx="5078028" cy="356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lIns="180000" tIns="72000" bIns="108000">
            <a:noAutofit/>
          </a:bodyPr>
          <a:lstStyle/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do j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= 1,u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do j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= 1, u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</a:p>
          <a:p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	…</a:t>
            </a: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   do </a:t>
            </a:r>
            <a:r>
              <a:rPr kumimoji="0" lang="en-US" sz="2200" dirty="0" err="1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200" baseline="-25000" dirty="0" err="1">
                <a:solidFill>
                  <a:prstClr val="black"/>
                </a:solidFill>
                <a:latin typeface="Arial" pitchFamily="34" charset="0"/>
              </a:rPr>
              <a:t>n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= 1,u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n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        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: A(f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en-US" sz="2200" b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),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en-US" sz="2200" dirty="0" err="1">
                <a:solidFill>
                  <a:prstClr val="black"/>
                </a:solidFill>
                <a:latin typeface="Arial" pitchFamily="34" charset="0"/>
              </a:rPr>
              <a:t>f</a:t>
            </a:r>
            <a:r>
              <a:rPr kumimoji="0" lang="en-US" sz="2200" baseline="-25000" dirty="0" err="1">
                <a:solidFill>
                  <a:prstClr val="black"/>
                </a:solidFill>
                <a:latin typeface="Arial" pitchFamily="34" charset="0"/>
              </a:rPr>
              <a:t>n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en-US" sz="2200" b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))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=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        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2: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A(g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en-US" sz="2200" b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),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200" dirty="0" err="1">
                <a:solidFill>
                  <a:prstClr val="black"/>
                </a:solidFill>
                <a:latin typeface="Arial" pitchFamily="34" charset="0"/>
              </a:rPr>
              <a:t>g</a:t>
            </a:r>
            <a:r>
              <a:rPr kumimoji="0" lang="en-US" sz="2200" baseline="-25000" dirty="0" err="1">
                <a:solidFill>
                  <a:prstClr val="black"/>
                </a:solidFill>
                <a:latin typeface="Arial" pitchFamily="34" charset="0"/>
              </a:rPr>
              <a:t>n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en-US" sz="2200" b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))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   end do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end do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4" name="Название 1">
            <a:extLst>
              <a:ext uri="{FF2B5EF4-FFF2-40B4-BE49-F238E27FC236}">
                <a16:creationId xmlns:a16="http://schemas.microsoft.com/office/drawing/2014/main" xmlns="" id="{7076D2AF-33FB-4290-8BCD-B388D9A45C0A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93E09871-CC6A-42E6-94ED-909355D7E25F}"/>
              </a:ext>
            </a:extLst>
          </p:cNvPr>
          <p:cNvSpPr/>
          <p:nvPr/>
        </p:nvSpPr>
        <p:spPr>
          <a:xfrm>
            <a:off x="5938919" y="4858613"/>
            <a:ext cx="5983550" cy="139880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108000" bIns="180000">
            <a:spAutoFit/>
          </a:bodyPr>
          <a:lstStyle/>
          <a:p>
            <a:pPr algn="ctr"/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Зависимость по данным возникает при наличии решения системы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F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Κ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 =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G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Λ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), (1,1,…,1) ≤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Κ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Λ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≤ (u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,…,u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n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783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6844441" y="1008000"/>
            <a:ext cx="5078028" cy="356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lIns="180000" tIns="72000" bIns="108000">
            <a:noAutofit/>
          </a:bodyPr>
          <a:lstStyle/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do j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= 1,u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do j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= 1, u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</a:p>
          <a:p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	…</a:t>
            </a: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   do </a:t>
            </a:r>
            <a:r>
              <a:rPr kumimoji="0" lang="en-US" sz="2200" dirty="0" err="1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200" baseline="-25000" dirty="0" err="1">
                <a:solidFill>
                  <a:prstClr val="black"/>
                </a:solidFill>
                <a:latin typeface="Arial" pitchFamily="34" charset="0"/>
              </a:rPr>
              <a:t>n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= 1,u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n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        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: A(f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en-US" sz="2200" b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),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en-US" sz="2200" dirty="0" err="1">
                <a:solidFill>
                  <a:prstClr val="black"/>
                </a:solidFill>
                <a:latin typeface="Arial" pitchFamily="34" charset="0"/>
              </a:rPr>
              <a:t>f</a:t>
            </a:r>
            <a:r>
              <a:rPr kumimoji="0" lang="en-US" sz="2200" baseline="-25000" dirty="0" err="1">
                <a:solidFill>
                  <a:prstClr val="black"/>
                </a:solidFill>
                <a:latin typeface="Arial" pitchFamily="34" charset="0"/>
              </a:rPr>
              <a:t>n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en-US" sz="2200" b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))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=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        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2: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A(g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en-US" sz="2200" b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),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200" dirty="0" err="1">
                <a:solidFill>
                  <a:prstClr val="black"/>
                </a:solidFill>
                <a:latin typeface="Arial" pitchFamily="34" charset="0"/>
              </a:rPr>
              <a:t>g</a:t>
            </a:r>
            <a:r>
              <a:rPr kumimoji="0" lang="en-US" sz="2200" baseline="-25000" dirty="0" err="1">
                <a:solidFill>
                  <a:prstClr val="black"/>
                </a:solidFill>
                <a:latin typeface="Arial" pitchFamily="34" charset="0"/>
              </a:rPr>
              <a:t>n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en-US" sz="2200" b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))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   end do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  end do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4" name="Название 1">
            <a:extLst>
              <a:ext uri="{FF2B5EF4-FFF2-40B4-BE49-F238E27FC236}">
                <a16:creationId xmlns:a16="http://schemas.microsoft.com/office/drawing/2014/main" xmlns="" id="{7076D2AF-33FB-4290-8BCD-B388D9A45C0A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93E09871-CC6A-42E6-94ED-909355D7E25F}"/>
              </a:ext>
            </a:extLst>
          </p:cNvPr>
          <p:cNvSpPr/>
          <p:nvPr/>
        </p:nvSpPr>
        <p:spPr>
          <a:xfrm>
            <a:off x="5938919" y="4858613"/>
            <a:ext cx="5983550" cy="102947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108000" bIns="180000">
            <a:spAutoFit/>
          </a:bodyPr>
          <a:lstStyle/>
          <a:p>
            <a:pPr algn="ctr"/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Введём</a:t>
            </a:r>
            <a:b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Λ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-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Κ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– вектор  расстояний.</a:t>
            </a:r>
            <a:endParaRPr kumimoji="0" lang="en-US" sz="2400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409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943921" y="1800000"/>
            <a:ext cx="3528000" cy="226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marL="360000"/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do </a:t>
            </a:r>
            <a:r>
              <a:rPr kumimoji="0" lang="en-US" sz="22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 = 1,u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ru-RU" sz="22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marL="720000"/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do 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,u</a:t>
            </a:r>
            <a:r>
              <a:rPr kumimoji="0" lang="pl-PL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</a:p>
          <a:p>
            <a:pPr>
              <a:spcBef>
                <a:spcPct val="20000"/>
              </a:spcBef>
            </a:pP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pl-PL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: 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i,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  =  b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i,  j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>
              <a:spcAft>
                <a:spcPct val="20000"/>
              </a:spcAft>
            </a:pP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pl-PL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: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		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c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i,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  =  a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i,  j-1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+1</a:t>
            </a:r>
            <a:endParaRPr kumimoji="0" lang="ru-RU" sz="2200" dirty="0">
              <a:solidFill>
                <a:prstClr val="black"/>
              </a:solidFill>
              <a:latin typeface="Arial" pitchFamily="34" charset="0"/>
            </a:endParaRPr>
          </a:p>
          <a:p>
            <a:pPr marL="720000"/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marL="360000"/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nd do</a:t>
            </a:r>
          </a:p>
        </p:txBody>
      </p:sp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1" y="1003300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 определения вектора расстояний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8687921" y="1800000"/>
            <a:ext cx="3168000" cy="2772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baseline="30000" dirty="0">
                <a:solidFill>
                  <a:prstClr val="black"/>
                </a:solidFill>
                <a:latin typeface="Arial" pitchFamily="34" charset="0"/>
              </a:rPr>
              <a:t>(1,1)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:       a(1,1) = …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200" baseline="30000" dirty="0">
                <a:solidFill>
                  <a:prstClr val="black"/>
                </a:solidFill>
                <a:latin typeface="Arial" pitchFamily="34" charset="0"/>
              </a:rPr>
              <a:t>(1,1)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:       … &lt;- a(1,0)</a:t>
            </a:r>
          </a:p>
          <a:p>
            <a:pPr>
              <a:spcBef>
                <a:spcPct val="40000"/>
              </a:spcBef>
            </a:pP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baseline="30000" dirty="0">
                <a:solidFill>
                  <a:prstClr val="black"/>
                </a:solidFill>
                <a:latin typeface="Arial" pitchFamily="34" charset="0"/>
              </a:rPr>
              <a:t>(1,2)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:       a(1,2) = …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200" baseline="30000" dirty="0">
                <a:solidFill>
                  <a:prstClr val="black"/>
                </a:solidFill>
                <a:latin typeface="Arial" pitchFamily="34" charset="0"/>
              </a:rPr>
              <a:t>(1,2)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:      … &lt;- a(1,1)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……</a:t>
            </a:r>
          </a:p>
          <a:p>
            <a:pPr>
              <a:spcBef>
                <a:spcPct val="40000"/>
              </a:spcBef>
            </a:pP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baseline="30000" dirty="0">
                <a:solidFill>
                  <a:prstClr val="black"/>
                </a:solidFill>
                <a:latin typeface="Arial" pitchFamily="34" charset="0"/>
              </a:rPr>
              <a:t>(2,1)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:       a(2,1) = …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200" baseline="30000" dirty="0">
                <a:solidFill>
                  <a:prstClr val="black"/>
                </a:solidFill>
                <a:latin typeface="Arial" pitchFamily="34" charset="0"/>
              </a:rPr>
              <a:t>(2</a:t>
            </a:r>
            <a:r>
              <a:rPr kumimoji="0" lang="ru-RU" sz="2200" baseline="300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en-US" sz="2200" baseline="30000" dirty="0">
                <a:solidFill>
                  <a:prstClr val="black"/>
                </a:solidFill>
                <a:latin typeface="Arial" pitchFamily="34" charset="0"/>
              </a:rPr>
              <a:t>2)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:      … &lt;- a(2,0)</a:t>
            </a: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7FEBC3B6-C36B-4E4D-B169-B23C5B19C652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14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943926" y="1800000"/>
            <a:ext cx="3528000" cy="226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marL="360000"/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do </a:t>
            </a:r>
            <a:r>
              <a:rPr kumimoji="0" lang="en-US" sz="22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 = 1,u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ru-RU" sz="22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marL="720000"/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do 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,u</a:t>
            </a:r>
            <a:r>
              <a:rPr kumimoji="0" lang="pl-PL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</a:p>
          <a:p>
            <a:pPr>
              <a:spcBef>
                <a:spcPct val="20000"/>
              </a:spcBef>
            </a:pP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pl-PL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: 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i,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  =  b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i,  j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>
              <a:spcAft>
                <a:spcPct val="20000"/>
              </a:spcAft>
            </a:pP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pl-PL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: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		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c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i,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  =  a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i,  j-1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+1</a:t>
            </a:r>
            <a:endParaRPr kumimoji="0" lang="ru-RU" sz="2200" dirty="0">
              <a:solidFill>
                <a:prstClr val="black"/>
              </a:solidFill>
              <a:latin typeface="Arial" pitchFamily="34" charset="0"/>
            </a:endParaRPr>
          </a:p>
          <a:p>
            <a:pPr marL="720000"/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marL="360000"/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nd do</a:t>
            </a:r>
          </a:p>
        </p:txBody>
      </p:sp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6" y="1003300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 определения вектора расстояний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8687926" y="1800000"/>
            <a:ext cx="3168000" cy="2772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baseline="30000" dirty="0">
                <a:solidFill>
                  <a:prstClr val="black"/>
                </a:solidFill>
                <a:latin typeface="Arial" pitchFamily="34" charset="0"/>
              </a:rPr>
              <a:t>(1,1)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:       </a:t>
            </a:r>
            <a:r>
              <a:rPr kumimoji="0" lang="en-US" sz="2200" dirty="0">
                <a:solidFill>
                  <a:srgbClr val="FF0000"/>
                </a:solidFill>
                <a:latin typeface="Arial" pitchFamily="34" charset="0"/>
              </a:rPr>
              <a:t>a(1,1)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= …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200" baseline="30000" dirty="0">
                <a:solidFill>
                  <a:prstClr val="black"/>
                </a:solidFill>
                <a:latin typeface="Arial" pitchFamily="34" charset="0"/>
              </a:rPr>
              <a:t>(1,1)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:       … &lt;- a(1,0)</a:t>
            </a:r>
          </a:p>
          <a:p>
            <a:pPr>
              <a:spcBef>
                <a:spcPct val="40000"/>
              </a:spcBef>
            </a:pP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baseline="30000" dirty="0">
                <a:solidFill>
                  <a:prstClr val="black"/>
                </a:solidFill>
                <a:latin typeface="Arial" pitchFamily="34" charset="0"/>
              </a:rPr>
              <a:t>(1,2)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:       a(1,2) = …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200" baseline="30000" dirty="0">
                <a:solidFill>
                  <a:prstClr val="black"/>
                </a:solidFill>
                <a:latin typeface="Arial" pitchFamily="34" charset="0"/>
              </a:rPr>
              <a:t>(1,2)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:      … &lt;- </a:t>
            </a:r>
            <a:r>
              <a:rPr kumimoji="0" lang="en-US" sz="2200" dirty="0">
                <a:solidFill>
                  <a:srgbClr val="FF0000"/>
                </a:solidFill>
                <a:latin typeface="Arial" pitchFamily="34" charset="0"/>
              </a:rPr>
              <a:t>a(1,1)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……</a:t>
            </a:r>
          </a:p>
          <a:p>
            <a:pPr>
              <a:spcBef>
                <a:spcPct val="40000"/>
              </a:spcBef>
            </a:pP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200" baseline="30000" dirty="0">
                <a:solidFill>
                  <a:prstClr val="black"/>
                </a:solidFill>
                <a:latin typeface="Arial" pitchFamily="34" charset="0"/>
              </a:rPr>
              <a:t>(2,1)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:       a(2,1) = …</a:t>
            </a:r>
          </a:p>
          <a:p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200" baseline="30000" dirty="0">
                <a:solidFill>
                  <a:prstClr val="black"/>
                </a:solidFill>
                <a:latin typeface="Arial" pitchFamily="34" charset="0"/>
              </a:rPr>
              <a:t>(2</a:t>
            </a:r>
            <a:r>
              <a:rPr kumimoji="0" lang="ru-RU" sz="2200" baseline="300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en-US" sz="2200" baseline="30000" dirty="0">
                <a:solidFill>
                  <a:prstClr val="black"/>
                </a:solidFill>
                <a:latin typeface="Arial" pitchFamily="34" charset="0"/>
              </a:rPr>
              <a:t>2)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:      … &lt;- a(2,0)</a:t>
            </a: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7FEBC3B6-C36B-4E4D-B169-B23C5B19C652}"/>
              </a:ext>
            </a:extLst>
          </p:cNvPr>
          <p:cNvSpPr txBox="1">
            <a:spLocks/>
          </p:cNvSpPr>
          <p:nvPr/>
        </p:nvSpPr>
        <p:spPr>
          <a:xfrm>
            <a:off x="335977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958667E-8992-4549-9EF7-7DA88E67AF39}"/>
              </a:ext>
            </a:extLst>
          </p:cNvPr>
          <p:cNvSpPr txBox="1"/>
          <p:nvPr/>
        </p:nvSpPr>
        <p:spPr>
          <a:xfrm>
            <a:off x="4943925" y="4795629"/>
            <a:ext cx="6912000" cy="1381147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источника зависимости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 K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= (1, 1).</a:t>
            </a:r>
          </a:p>
          <a:p>
            <a:pPr algn="ctr">
              <a:lnSpc>
                <a:spcPct val="120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стока зависимости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Λ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= (1, 2). </a:t>
            </a:r>
          </a:p>
          <a:p>
            <a:pPr algn="ctr">
              <a:lnSpc>
                <a:spcPct val="120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расстояний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Λ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b="1" dirty="0">
                <a:solidFill>
                  <a:prstClr val="black"/>
                </a:solidFill>
                <a:latin typeface="Arial" pitchFamily="34" charset="0"/>
              </a:rPr>
              <a:t>–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 K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(0, 1).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10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943921" y="1800000"/>
            <a:ext cx="6912150" cy="42807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108000" bIns="144000">
            <a:spAutoFit/>
          </a:bodyPr>
          <a:lstStyle/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Компоненты вектора направлений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определяются через </a:t>
            </a:r>
            <a:b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компоненты вектора расстояний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 </a:t>
            </a:r>
            <a:r>
              <a:rPr kumimoji="0" lang="ru-RU" sz="2400" b="1" dirty="0">
                <a:solidFill>
                  <a:prstClr val="black"/>
                </a:solidFill>
                <a:latin typeface="Arial" pitchFamily="34" charset="0"/>
              </a:rPr>
              <a:t/>
            </a:r>
            <a:br>
              <a:rPr kumimoji="0" lang="ru-RU" sz="2400" b="1" dirty="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следующим образом: </a:t>
            </a:r>
          </a:p>
          <a:p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baseline="-250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=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if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0</a:t>
            </a: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baseline="-250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if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&gt; 0</a:t>
            </a:r>
          </a:p>
          <a:p>
            <a:pPr>
              <a:spcAft>
                <a:spcPct val="100000"/>
              </a:spcAft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baseline="-250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&gt;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if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&lt; 0</a:t>
            </a: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Для вектора расстояний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(0,  1)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получаем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направлений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(“=“,  “&lt;“). 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Rechteck 36"/>
          <p:cNvSpPr>
            <a:spLocks noChangeArrowheads="1"/>
          </p:cNvSpPr>
          <p:nvPr/>
        </p:nvSpPr>
        <p:spPr bwMode="gray">
          <a:xfrm>
            <a:off x="3359771" y="1003300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Вектор направлений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5" name="Название 1">
            <a:extLst>
              <a:ext uri="{FF2B5EF4-FFF2-40B4-BE49-F238E27FC236}">
                <a16:creationId xmlns:a16="http://schemas.microsoft.com/office/drawing/2014/main" xmlns="" id="{97DBFB11-9AD4-4D16-B625-60A9237659B2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98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36"/>
          <p:cNvSpPr>
            <a:spLocks noChangeArrowheads="1"/>
          </p:cNvSpPr>
          <p:nvPr/>
        </p:nvSpPr>
        <p:spPr bwMode="gray">
          <a:xfrm>
            <a:off x="3359770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43920" y="4538548"/>
            <a:ext cx="6912000" cy="15696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расстояний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Λ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–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Κ</a:t>
            </a:r>
            <a:r>
              <a:rPr kumimoji="0" lang="ru-RU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= (0,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/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направлений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(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=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=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pPr algn="ctr"/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Loop independent dependence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b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истинная зависимость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7" name="Название 1">
            <a:extLst>
              <a:ext uri="{FF2B5EF4-FFF2-40B4-BE49-F238E27FC236}">
                <a16:creationId xmlns:a16="http://schemas.microsoft.com/office/drawing/2014/main" xmlns="" id="{C4BE408F-D8A2-486F-A369-B0309CD8E462}"/>
              </a:ext>
            </a:extLst>
          </p:cNvPr>
          <p:cNvSpPr txBox="1">
            <a:spLocks/>
          </p:cNvSpPr>
          <p:nvPr/>
        </p:nvSpPr>
        <p:spPr>
          <a:xfrm>
            <a:off x="3359770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EE2DFE43-275B-44BA-ABDB-B92688B7870D}"/>
              </a:ext>
            </a:extLst>
          </p:cNvPr>
          <p:cNvSpPr/>
          <p:nvPr/>
        </p:nvSpPr>
        <p:spPr>
          <a:xfrm>
            <a:off x="4943920" y="1800000"/>
            <a:ext cx="3528000" cy="226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marL="360000"/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do </a:t>
            </a:r>
            <a:r>
              <a:rPr kumimoji="0" lang="en-US" sz="22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 = 1,u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ru-RU" sz="22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marL="720000"/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do 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,u</a:t>
            </a:r>
            <a:r>
              <a:rPr kumimoji="0" lang="pl-PL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</a:p>
          <a:p>
            <a:pPr>
              <a:spcBef>
                <a:spcPct val="20000"/>
              </a:spcBef>
            </a:pP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pl-PL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: 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i,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  =  b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i,  j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>
              <a:spcAft>
                <a:spcPct val="20000"/>
              </a:spcAft>
            </a:pP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pl-PL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: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		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c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i,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  =  a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i,  j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+1</a:t>
            </a:r>
            <a:endParaRPr kumimoji="0" lang="ru-RU" sz="2200" dirty="0">
              <a:solidFill>
                <a:prstClr val="black"/>
              </a:solidFill>
              <a:latin typeface="Arial" pitchFamily="34" charset="0"/>
            </a:endParaRPr>
          </a:p>
          <a:p>
            <a:pPr marL="720000"/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marL="360000"/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nd do</a:t>
            </a:r>
          </a:p>
        </p:txBody>
      </p:sp>
    </p:spTree>
    <p:extLst>
      <p:ext uri="{BB962C8B-B14F-4D97-AF65-F5344CB8AC3E}">
        <p14:creationId xmlns:p14="http://schemas.microsoft.com/office/powerpoint/2010/main" val="423371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36"/>
          <p:cNvSpPr>
            <a:spLocks noChangeArrowheads="1"/>
          </p:cNvSpPr>
          <p:nvPr/>
        </p:nvSpPr>
        <p:spPr bwMode="gray">
          <a:xfrm>
            <a:off x="3359766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43916" y="4538548"/>
            <a:ext cx="6912000" cy="15696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расстояний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Λ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–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Κ</a:t>
            </a:r>
            <a:r>
              <a:rPr kumimoji="0" lang="ru-RU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= (0,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/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направлений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(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=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=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pPr algn="ctr"/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Loop independent dependence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антизависимость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7" name="Название 1">
            <a:extLst>
              <a:ext uri="{FF2B5EF4-FFF2-40B4-BE49-F238E27FC236}">
                <a16:creationId xmlns:a16="http://schemas.microsoft.com/office/drawing/2014/main" xmlns="" id="{C4BE408F-D8A2-486F-A369-B0309CD8E462}"/>
              </a:ext>
            </a:extLst>
          </p:cNvPr>
          <p:cNvSpPr txBox="1">
            <a:spLocks/>
          </p:cNvSpPr>
          <p:nvPr/>
        </p:nvSpPr>
        <p:spPr>
          <a:xfrm>
            <a:off x="335976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EE2DFE43-275B-44BA-ABDB-B92688B7870D}"/>
              </a:ext>
            </a:extLst>
          </p:cNvPr>
          <p:cNvSpPr/>
          <p:nvPr/>
        </p:nvSpPr>
        <p:spPr>
          <a:xfrm>
            <a:off x="4943916" y="1800000"/>
            <a:ext cx="3528000" cy="226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marL="360000"/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do </a:t>
            </a:r>
            <a:r>
              <a:rPr kumimoji="0" lang="en-US" sz="22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 = 1,u</a:t>
            </a:r>
            <a:r>
              <a:rPr kumimoji="0" lang="en-US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ru-RU" sz="22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marL="720000"/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do 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,u</a:t>
            </a:r>
            <a:r>
              <a:rPr kumimoji="0" lang="pl-PL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</a:p>
          <a:p>
            <a:pPr>
              <a:spcBef>
                <a:spcPct val="20000"/>
              </a:spcBef>
            </a:pP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pl-PL" sz="22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: 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c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i,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  =  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i,  j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+1</a:t>
            </a:r>
            <a:endParaRPr kumimoji="0" lang="pl-PL" sz="22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spcAft>
                <a:spcPct val="20000"/>
              </a:spcAft>
            </a:pP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pl-PL" sz="22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: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		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i,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  =  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b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i,  j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*2</a:t>
            </a:r>
            <a:endParaRPr kumimoji="0" lang="ru-RU" sz="2200" dirty="0">
              <a:solidFill>
                <a:prstClr val="black"/>
              </a:solidFill>
              <a:latin typeface="Arial" pitchFamily="34" charset="0"/>
            </a:endParaRPr>
          </a:p>
          <a:p>
            <a:pPr marL="720000"/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marL="360000"/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200" dirty="0">
                <a:solidFill>
                  <a:prstClr val="black"/>
                </a:solidFill>
                <a:latin typeface="Arial" pitchFamily="34" charset="0"/>
              </a:rPr>
              <a:t>nd do</a:t>
            </a:r>
          </a:p>
        </p:txBody>
      </p:sp>
    </p:spTree>
    <p:extLst>
      <p:ext uri="{BB962C8B-B14F-4D97-AF65-F5344CB8AC3E}">
        <p14:creationId xmlns:p14="http://schemas.microsoft.com/office/powerpoint/2010/main" val="67002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943926" y="2340000"/>
            <a:ext cx="6912000" cy="262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tIns="108000" bIns="180000"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Распараллеливание возможно как по любой компоненте итерационного вектора, так и по двум компонентам одновременно.</a:t>
            </a:r>
            <a:endParaRPr kumimoji="0" lang="ru-RU" sz="2400" dirty="0">
              <a:solidFill>
                <a:prstClr val="black"/>
              </a:solidFill>
            </a:endParaRPr>
          </a:p>
          <a:p>
            <a:pPr algn="ctr">
              <a:spcBef>
                <a:spcPts val="8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Внешний и внутренний цикл в последовательной программе можно менять местами</a:t>
            </a:r>
            <a:r>
              <a:rPr kumimoji="0" lang="en-US" sz="2400" dirty="0">
                <a:solidFill>
                  <a:srgbClr val="17375E"/>
                </a:solidFill>
                <a:latin typeface="Arial" pitchFamily="34" charset="0"/>
              </a:rPr>
              <a:t>.</a:t>
            </a:r>
            <a:r>
              <a:rPr kumimoji="0" lang="en-US" sz="2400" dirty="0">
                <a:solidFill>
                  <a:srgbClr val="17375E"/>
                </a:solidFill>
                <a:latin typeface="Lucida Grande CY" pitchFamily="2" charset="-52"/>
              </a:rPr>
              <a:t> </a:t>
            </a:r>
            <a:endParaRPr kumimoji="0" lang="el-GR" sz="2400" dirty="0">
              <a:solidFill>
                <a:srgbClr val="17375E"/>
              </a:solidFill>
              <a:latin typeface="Lucida Grande CY" pitchFamily="2" charset="-52"/>
            </a:endParaRPr>
          </a:p>
        </p:txBody>
      </p:sp>
      <p:sp>
        <p:nvSpPr>
          <p:cNvPr id="6" name="Rechteck 36"/>
          <p:cNvSpPr>
            <a:spLocks noChangeArrowheads="1"/>
          </p:cNvSpPr>
          <p:nvPr/>
        </p:nvSpPr>
        <p:spPr bwMode="gray">
          <a:xfrm>
            <a:off x="3359776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1</a:t>
            </a:r>
          </a:p>
        </p:txBody>
      </p:sp>
      <p:sp>
        <p:nvSpPr>
          <p:cNvPr id="5" name="Название 1">
            <a:extLst>
              <a:ext uri="{FF2B5EF4-FFF2-40B4-BE49-F238E27FC236}">
                <a16:creationId xmlns:a16="http://schemas.microsoft.com/office/drawing/2014/main" xmlns="" id="{1611A45A-5B77-4111-BE57-8612B8C441F7}"/>
              </a:ext>
            </a:extLst>
          </p:cNvPr>
          <p:cNvSpPr txBox="1">
            <a:spLocks/>
          </p:cNvSpPr>
          <p:nvPr/>
        </p:nvSpPr>
        <p:spPr>
          <a:xfrm>
            <a:off x="335977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684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943921" y="1967395"/>
            <a:ext cx="6912000" cy="194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tIns="144000">
            <a:noAutofit/>
          </a:bodyPr>
          <a:lstStyle/>
          <a:p>
            <a:pPr algn="ctr">
              <a:spcBef>
                <a:spcPct val="20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Если вектор направлений для вложенного цикла имеет вид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(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=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=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),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то цикл может быть распараллелен по произвольному количеству индексов безо всяких ограничений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 </a:t>
            </a:r>
            <a:r>
              <a:rPr kumimoji="0" lang="en-US" sz="2400" dirty="0">
                <a:solidFill>
                  <a:srgbClr val="17375E"/>
                </a:solidFill>
                <a:latin typeface="Arial" pitchFamily="34" charset="0"/>
              </a:rPr>
              <a:t> </a:t>
            </a:r>
          </a:p>
        </p:txBody>
      </p:sp>
      <p:sp>
        <p:nvSpPr>
          <p:cNvPr id="6" name="Rechteck 36"/>
          <p:cNvSpPr>
            <a:spLocks noChangeArrowheads="1"/>
          </p:cNvSpPr>
          <p:nvPr/>
        </p:nvSpPr>
        <p:spPr bwMode="gray">
          <a:xfrm>
            <a:off x="335977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Общее утверждение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3921" y="4226202"/>
            <a:ext cx="6912000" cy="1496172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144000" rtlCol="0">
            <a:noAutofit/>
          </a:bodyPr>
          <a:lstStyle/>
          <a:p>
            <a:pPr algn="ctr"/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 последовательной программе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циклы, соответствующие разным уровнем вложенности,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можно поменять местами</a:t>
            </a:r>
            <a:endParaRPr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7" name="Название 1">
            <a:extLst>
              <a:ext uri="{FF2B5EF4-FFF2-40B4-BE49-F238E27FC236}">
                <a16:creationId xmlns:a16="http://schemas.microsoft.com/office/drawing/2014/main" xmlns="" id="{2C7F4C32-674E-4E88-8291-1E5EE6AD1C28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25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943916" y="1799999"/>
            <a:ext cx="3528000" cy="230400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144000" bIns="14400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do  j   =  1,u</a:t>
            </a:r>
            <a:r>
              <a:rPr kumimoji="0" lang="pl-PL" sz="2400" baseline="-25000">
                <a:solidFill>
                  <a:prstClr val="black"/>
                </a:solidFill>
                <a:latin typeface="Arial" pitchFamily="34" charset="0"/>
              </a:rPr>
              <a:t>2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nd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2290" name="TextBox 5"/>
          <p:cNvSpPr txBox="1">
            <a:spLocks noChangeArrowheads="1"/>
          </p:cNvSpPr>
          <p:nvPr/>
        </p:nvSpPr>
        <p:spPr bwMode="auto">
          <a:xfrm>
            <a:off x="8686610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a(1,2)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a(1,3)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a(2,2)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a(2,3)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66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2</a:t>
            </a: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BDF81D0E-58E7-4B5F-B5FF-76EF05F93E84}"/>
              </a:ext>
            </a:extLst>
          </p:cNvPr>
          <p:cNvSpPr txBox="1">
            <a:spLocks/>
          </p:cNvSpPr>
          <p:nvPr/>
        </p:nvSpPr>
        <p:spPr>
          <a:xfrm>
            <a:off x="335976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23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build="allAtOnce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943926" y="1799999"/>
            <a:ext cx="3528000" cy="230400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144000" bIns="14400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do  j   =  1,u</a:t>
            </a:r>
            <a:r>
              <a:rPr kumimoji="0" lang="pl-PL" sz="2400" baseline="-25000">
                <a:solidFill>
                  <a:prstClr val="black"/>
                </a:solidFill>
                <a:latin typeface="Arial" pitchFamily="34" charset="0"/>
              </a:rPr>
              <a:t>2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nd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2290" name="TextBox 5"/>
          <p:cNvSpPr txBox="1">
            <a:spLocks noChangeArrowheads="1"/>
          </p:cNvSpPr>
          <p:nvPr/>
        </p:nvSpPr>
        <p:spPr bwMode="auto">
          <a:xfrm>
            <a:off x="8686620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a(1,2)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a(1,3)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a(2,2)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a(2,3)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6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2</a:t>
            </a: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BDF81D0E-58E7-4B5F-B5FF-76EF05F93E84}"/>
              </a:ext>
            </a:extLst>
          </p:cNvPr>
          <p:cNvSpPr txBox="1">
            <a:spLocks/>
          </p:cNvSpPr>
          <p:nvPr/>
        </p:nvSpPr>
        <p:spPr>
          <a:xfrm>
            <a:off x="335977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3B0D6D5-5829-4408-9B22-9DB017496BB3}"/>
              </a:ext>
            </a:extLst>
          </p:cNvPr>
          <p:cNvSpPr txBox="1"/>
          <p:nvPr/>
        </p:nvSpPr>
        <p:spPr>
          <a:xfrm>
            <a:off x="4943926" y="4522201"/>
            <a:ext cx="6912150" cy="142192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расстояний</a:t>
            </a: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Λ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–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Κ</a:t>
            </a:r>
            <a:r>
              <a:rPr kumimoji="0" lang="ru-RU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= (0,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>
              <a:lnSpc>
                <a:spcPct val="120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направлений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= (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=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&gt;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). </a:t>
            </a:r>
          </a:p>
          <a:p>
            <a:pPr algn="ctr">
              <a:lnSpc>
                <a:spcPct val="120000"/>
              </a:lnSpc>
            </a:pP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Антизависимость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2620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943931" y="1799999"/>
            <a:ext cx="3528000" cy="230400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144000" bIns="14400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do  j   =  1,u</a:t>
            </a:r>
            <a:r>
              <a:rPr kumimoji="0" lang="pl-PL" sz="2400" baseline="-25000">
                <a:solidFill>
                  <a:prstClr val="black"/>
                </a:solidFill>
                <a:latin typeface="Arial" pitchFamily="34" charset="0"/>
              </a:rPr>
              <a:t>2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nd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2290" name="TextBox 5"/>
          <p:cNvSpPr txBox="1">
            <a:spLocks noChangeArrowheads="1"/>
          </p:cNvSpPr>
          <p:nvPr/>
        </p:nvSpPr>
        <p:spPr bwMode="auto">
          <a:xfrm>
            <a:off x="8686625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a(1,2)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a(1,3)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a(2,2)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a(2,3)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8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2</a:t>
            </a: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BDF81D0E-58E7-4B5F-B5FF-76EF05F93E84}"/>
              </a:ext>
            </a:extLst>
          </p:cNvPr>
          <p:cNvSpPr txBox="1">
            <a:spLocks/>
          </p:cNvSpPr>
          <p:nvPr/>
        </p:nvSpPr>
        <p:spPr>
          <a:xfrm>
            <a:off x="335978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3B0D6D5-5829-4408-9B22-9DB017496BB3}"/>
              </a:ext>
            </a:extLst>
          </p:cNvPr>
          <p:cNvSpPr txBox="1"/>
          <p:nvPr/>
        </p:nvSpPr>
        <p:spPr>
          <a:xfrm>
            <a:off x="4943931" y="4394382"/>
            <a:ext cx="6912150" cy="1151012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Внешний цикл может быть распараллелен по итерациям без ограничений</a:t>
            </a:r>
            <a:r>
              <a:rPr kumimoji="0" lang="en-US" sz="2400" dirty="0">
                <a:solidFill>
                  <a:srgbClr val="17375E"/>
                </a:solidFill>
                <a:latin typeface="Arial" pitchFamily="34" charset="0"/>
              </a:rPr>
              <a:t>.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598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943921" y="1799999"/>
            <a:ext cx="3528000" cy="230400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144000" bIns="14400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do  j   =  1,u</a:t>
            </a:r>
            <a:r>
              <a:rPr kumimoji="0" lang="pl-PL" sz="2400" baseline="-25000">
                <a:solidFill>
                  <a:prstClr val="black"/>
                </a:solidFill>
                <a:latin typeface="Arial" pitchFamily="34" charset="0"/>
              </a:rPr>
              <a:t>2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ru-RU" sz="240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>
                <a:solidFill>
                  <a:prstClr val="black"/>
                </a:solidFill>
                <a:latin typeface="Arial" pitchFamily="34" charset="0"/>
              </a:rPr>
              <a:t>nd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2290" name="TextBox 5"/>
          <p:cNvSpPr txBox="1">
            <a:spLocks noChangeArrowheads="1"/>
          </p:cNvSpPr>
          <p:nvPr/>
        </p:nvSpPr>
        <p:spPr bwMode="auto">
          <a:xfrm>
            <a:off x="8686615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a(1,2)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a(1,3)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a(2,2)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a(2,3)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2</a:t>
            </a: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BDF81D0E-58E7-4B5F-B5FF-76EF05F93E84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3B0D6D5-5829-4408-9B22-9DB017496BB3}"/>
              </a:ext>
            </a:extLst>
          </p:cNvPr>
          <p:cNvSpPr txBox="1"/>
          <p:nvPr/>
        </p:nvSpPr>
        <p:spPr>
          <a:xfrm>
            <a:off x="4943921" y="4334901"/>
            <a:ext cx="6912000" cy="18102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1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Распараллеливание по внутреннему циклу и по двум циклам одновременно может быть осуществлено при условии размножения необходимых входных данных</a:t>
            </a:r>
            <a:r>
              <a:rPr kumimoji="0" lang="en-US" sz="2400" dirty="0">
                <a:solidFill>
                  <a:srgbClr val="17375E"/>
                </a:solidFill>
                <a:latin typeface="Arial" pitchFamily="34" charset="0"/>
              </a:rPr>
              <a:t>.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13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43921" y="1800000"/>
            <a:ext cx="3528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14400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2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a(1,2)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a(2,1) &lt;- a(2,2)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a(1,2) &lt;- a(1,3)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a(2,3)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206BBA4E-A30F-4128-836B-48D579A87B27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01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43921" y="1800000"/>
            <a:ext cx="3528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14400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2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a(2,1) &lt;- a(2,2)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a(1,2)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a(1,3)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a(2,3)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206BBA4E-A30F-4128-836B-48D579A87B27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366E12F-CEA8-4E58-BDB3-6EB185A25080}"/>
              </a:ext>
            </a:extLst>
          </p:cNvPr>
          <p:cNvSpPr txBox="1"/>
          <p:nvPr/>
        </p:nvSpPr>
        <p:spPr>
          <a:xfrm>
            <a:off x="4943922" y="4522202"/>
            <a:ext cx="6913457" cy="1532727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3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расстояний</a:t>
            </a: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Λ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–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Κ</a:t>
            </a:r>
            <a:r>
              <a:rPr kumimoji="0" lang="ru-RU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= (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,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>
              <a:lnSpc>
                <a:spcPct val="130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направлений</a:t>
            </a:r>
            <a:r>
              <a:rPr kumimoji="0" lang="en-US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(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&gt;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=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).</a:t>
            </a:r>
          </a:p>
          <a:p>
            <a:pPr algn="ctr">
              <a:lnSpc>
                <a:spcPct val="130000"/>
              </a:lnSpc>
            </a:pP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Антизависимость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3665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6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43926" y="1800000"/>
            <a:ext cx="3528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14400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27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a(2,1) &lt;- a(2,2)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a(1,2)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a(1,3)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a(2,3)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206BBA4E-A30F-4128-836B-48D579A87B27}"/>
              </a:ext>
            </a:extLst>
          </p:cNvPr>
          <p:cNvSpPr txBox="1">
            <a:spLocks/>
          </p:cNvSpPr>
          <p:nvPr/>
        </p:nvSpPr>
        <p:spPr>
          <a:xfrm>
            <a:off x="335977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366E12F-CEA8-4E58-BDB3-6EB185A25080}"/>
              </a:ext>
            </a:extLst>
          </p:cNvPr>
          <p:cNvSpPr txBox="1"/>
          <p:nvPr/>
        </p:nvSpPr>
        <p:spPr>
          <a:xfrm>
            <a:off x="4943927" y="4522202"/>
            <a:ext cx="6913457" cy="1131347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3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Внутренний цикл может быть распараллелен по итерациям без ограничений</a:t>
            </a:r>
            <a:r>
              <a:rPr kumimoji="0" lang="en-US" sz="2400" dirty="0">
                <a:solidFill>
                  <a:srgbClr val="17375E"/>
                </a:solidFill>
                <a:latin typeface="Arial" pitchFamily="34" charset="0"/>
              </a:rPr>
              <a:t>.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8717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8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43931" y="1800000"/>
            <a:ext cx="3528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14400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3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a(2,1) &lt;- a(2,2)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a(1,2)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a(1,3)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a(2,3)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206BBA4E-A30F-4128-836B-48D579A87B27}"/>
              </a:ext>
            </a:extLst>
          </p:cNvPr>
          <p:cNvSpPr txBox="1">
            <a:spLocks/>
          </p:cNvSpPr>
          <p:nvPr/>
        </p:nvSpPr>
        <p:spPr>
          <a:xfrm>
            <a:off x="335978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366E12F-CEA8-4E58-BDB3-6EB185A25080}"/>
              </a:ext>
            </a:extLst>
          </p:cNvPr>
          <p:cNvSpPr txBox="1"/>
          <p:nvPr/>
        </p:nvSpPr>
        <p:spPr>
          <a:xfrm>
            <a:off x="4943932" y="4522202"/>
            <a:ext cx="6913457" cy="181960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1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Распараллеливание по внешнему циклу и по двум циклам одновременно может быть осуществлено при условии размножения необходимых входных данных.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29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4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835921" y="1800000"/>
            <a:ext cx="3636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108000" bIns="14400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j   =  1,u</a:t>
            </a:r>
            <a:r>
              <a:rPr kumimoji="0" lang="pl-PL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22" y="1816331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a(2,2)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a(2,3)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a(3,2)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a(3,3)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07768EEE-0F2E-4456-8EB5-93E59DB970F4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5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4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835921" y="1800000"/>
            <a:ext cx="3636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108000" bIns="14400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j   =  1,u</a:t>
            </a:r>
            <a:r>
              <a:rPr kumimoji="0" lang="pl-PL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2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a(2,3)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a(3,2)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a(2,2)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&lt;- a(3,3)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07768EEE-0F2E-4456-8EB5-93E59DB970F4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D269054-77FF-4642-AA01-59DE0570D6A4}"/>
              </a:ext>
            </a:extLst>
          </p:cNvPr>
          <p:cNvSpPr txBox="1"/>
          <p:nvPr/>
        </p:nvSpPr>
        <p:spPr>
          <a:xfrm>
            <a:off x="4835921" y="4425609"/>
            <a:ext cx="7020000" cy="1532727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3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расстояний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Λ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–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Κ</a:t>
            </a:r>
            <a:r>
              <a:rPr kumimoji="0" lang="ru-RU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= (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,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>
              <a:lnSpc>
                <a:spcPct val="130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направлений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(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&gt;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&gt;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).</a:t>
            </a:r>
          </a:p>
          <a:p>
            <a:pPr algn="ctr">
              <a:lnSpc>
                <a:spcPct val="130000"/>
              </a:lnSpc>
            </a:pP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Антизависимость</a:t>
            </a:r>
            <a:r>
              <a:rPr kumimoji="0" lang="en-US" sz="2400" dirty="0">
                <a:solidFill>
                  <a:prstClr val="black"/>
                </a:solidFill>
                <a:latin typeface="Lucida Grande CY" pitchFamily="2" charset="-5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5626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4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835921" y="1800000"/>
            <a:ext cx="3636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108000" bIns="14400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j   =  1,u</a:t>
            </a:r>
            <a:r>
              <a:rPr kumimoji="0" lang="pl-PL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2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a(2,3)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a(3,2)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a(2,2)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&lt;- a(3,3)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07768EEE-0F2E-4456-8EB5-93E59DB970F4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D269054-77FF-4642-AA01-59DE0570D6A4}"/>
              </a:ext>
            </a:extLst>
          </p:cNvPr>
          <p:cNvSpPr txBox="1"/>
          <p:nvPr/>
        </p:nvSpPr>
        <p:spPr>
          <a:xfrm>
            <a:off x="4835921" y="4425609"/>
            <a:ext cx="7020000" cy="193586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1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Распараллеливание внутреннего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цикла возможно, если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мы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размножим необходимые входные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данные или вставим барьерную синхронизацию после внутреннего цикла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>
              <a:lnSpc>
                <a:spcPct val="130000"/>
              </a:lnSpc>
              <a:spcBef>
                <a:spcPct val="50000"/>
              </a:spcBef>
            </a:pPr>
            <a:endParaRPr kumimoji="0" lang="en-US" sz="2400" dirty="0">
              <a:solidFill>
                <a:prstClr val="black"/>
              </a:solidFill>
              <a:latin typeface="Lucida Grande CY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2470257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4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835921" y="1800000"/>
            <a:ext cx="3636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108000" bIns="14400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j   =  1,u</a:t>
            </a:r>
            <a:r>
              <a:rPr kumimoji="0" lang="pl-PL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2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a(2,3)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a(3,2)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a(2,2)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&lt;- a(3,3)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07768EEE-0F2E-4456-8EB5-93E59DB970F4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D269054-77FF-4642-AA01-59DE0570D6A4}"/>
              </a:ext>
            </a:extLst>
          </p:cNvPr>
          <p:cNvSpPr txBox="1"/>
          <p:nvPr/>
        </p:nvSpPr>
        <p:spPr>
          <a:xfrm>
            <a:off x="4835921" y="4425609"/>
            <a:ext cx="7020000" cy="1483579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1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Распараллеливание внешнего цикла или сразу двух циклов возможно при размножении необходимых входных данных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>
              <a:lnSpc>
                <a:spcPct val="130000"/>
              </a:lnSpc>
              <a:spcBef>
                <a:spcPct val="50000"/>
              </a:spcBef>
            </a:pPr>
            <a:endParaRPr kumimoji="0" lang="en-US" sz="2400" dirty="0">
              <a:solidFill>
                <a:prstClr val="black"/>
              </a:solidFill>
              <a:latin typeface="Lucida Grande CY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22849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8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4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835931" y="1800000"/>
            <a:ext cx="3636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108000" bIns="14400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j   =  1,u</a:t>
            </a:r>
            <a:r>
              <a:rPr kumimoji="0" lang="pl-PL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+1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3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a(2,3)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a(3,2)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a(2,2)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&lt;- a(3,3)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07768EEE-0F2E-4456-8EB5-93E59DB970F4}"/>
              </a:ext>
            </a:extLst>
          </p:cNvPr>
          <p:cNvSpPr txBox="1">
            <a:spLocks/>
          </p:cNvSpPr>
          <p:nvPr/>
        </p:nvSpPr>
        <p:spPr>
          <a:xfrm>
            <a:off x="335978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D269054-77FF-4642-AA01-59DE0570D6A4}"/>
              </a:ext>
            </a:extLst>
          </p:cNvPr>
          <p:cNvSpPr txBox="1"/>
          <p:nvPr/>
        </p:nvSpPr>
        <p:spPr>
          <a:xfrm>
            <a:off x="4835931" y="4425609"/>
            <a:ext cx="7020000" cy="185720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1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 последовательной программе можно переставить местами внешний и внутренний циклы.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Результат анализа останется тем же самым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>
              <a:lnSpc>
                <a:spcPct val="130000"/>
              </a:lnSpc>
              <a:spcBef>
                <a:spcPct val="50000"/>
              </a:spcBef>
            </a:pPr>
            <a:endParaRPr kumimoji="0" lang="en-US" sz="2400" dirty="0">
              <a:solidFill>
                <a:prstClr val="black"/>
              </a:solidFill>
              <a:latin typeface="Lucida Grande CY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732119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836067" y="1938919"/>
            <a:ext cx="7020000" cy="166893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30000"/>
              </a:lnSpc>
              <a:spcBef>
                <a:spcPct val="10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Пусть многомерный цикл имеет вектор направлений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, в состав которого входят только элементы “&gt;” и “=”.</a:t>
            </a:r>
            <a:r>
              <a:rPr kumimoji="0" lang="ru-RU" altLang="ja-JP" sz="2400" dirty="0">
                <a:solidFill>
                  <a:srgbClr val="10253F"/>
                </a:solidFill>
                <a:latin typeface="Arial" pitchFamily="34" charset="0"/>
              </a:rPr>
              <a:t> </a:t>
            </a:r>
            <a:endParaRPr kumimoji="0" lang="en-US" altLang="ja-JP" sz="2400" dirty="0">
              <a:solidFill>
                <a:srgbClr val="10253F"/>
              </a:solidFill>
              <a:latin typeface="Arial" pitchFamily="34" charset="0"/>
            </a:endParaRPr>
          </a:p>
        </p:txBody>
      </p:sp>
      <p:sp>
        <p:nvSpPr>
          <p:cNvPr id="6" name="Rechteck 36"/>
          <p:cNvSpPr>
            <a:spLocks noChangeArrowheads="1"/>
          </p:cNvSpPr>
          <p:nvPr/>
        </p:nvSpPr>
        <p:spPr bwMode="gray">
          <a:xfrm>
            <a:off x="3359767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Общее утверждение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2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836067" y="3894187"/>
            <a:ext cx="7020000" cy="16689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30000"/>
              </a:lnSpc>
              <a:spcBef>
                <a:spcPct val="10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 последовательной программе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циклы, соответствующие разным уровнем вложенности,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можно поменять местами</a:t>
            </a:r>
            <a:r>
              <a:rPr kumimoji="0" lang="en-US" sz="2400" dirty="0">
                <a:solidFill>
                  <a:srgbClr val="10253F"/>
                </a:solidFill>
                <a:latin typeface="Arial" pitchFamily="34" charset="0"/>
              </a:rPr>
              <a:t>.</a:t>
            </a:r>
            <a:endParaRPr kumimoji="0" lang="en-US" altLang="ja-JP" sz="2400" dirty="0">
              <a:solidFill>
                <a:srgbClr val="10253F"/>
              </a:solidFill>
              <a:latin typeface="Arial" pitchFamily="34" charset="0"/>
            </a:endParaRPr>
          </a:p>
        </p:txBody>
      </p:sp>
      <p:sp>
        <p:nvSpPr>
          <p:cNvPr id="7" name="Название 1">
            <a:extLst>
              <a:ext uri="{FF2B5EF4-FFF2-40B4-BE49-F238E27FC236}">
                <a16:creationId xmlns:a16="http://schemas.microsoft.com/office/drawing/2014/main" xmlns="" id="{F604515C-8AF7-4E29-A5AE-9C866B9B16C0}"/>
              </a:ext>
            </a:extLst>
          </p:cNvPr>
          <p:cNvSpPr txBox="1">
            <a:spLocks/>
          </p:cNvSpPr>
          <p:nvPr/>
        </p:nvSpPr>
        <p:spPr>
          <a:xfrm>
            <a:off x="3359767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67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4835921" y="4026616"/>
            <a:ext cx="7020000" cy="238401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spcBef>
                <a:spcPct val="10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Распараллеливание по индексам, соответствующим компонентам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&gt;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 векторе направлений,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возможно при размножении необходимых входных данных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иногда достаточно барьерных синхронизаций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).</a:t>
            </a:r>
            <a:endParaRPr kumimoji="0" lang="en-US" altLang="ja-JP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36071" y="1863303"/>
            <a:ext cx="7020000" cy="1980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spcBef>
                <a:spcPct val="10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Вложенный цикл может быть распараллелен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без ограничений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по произвольному количеству индексов,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соответствующих компонентам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=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 векторе направлений.</a:t>
            </a:r>
            <a:endParaRPr kumimoji="0" lang="en-US" altLang="ja-JP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Rechteck 36"/>
          <p:cNvSpPr>
            <a:spLocks noChangeArrowheads="1"/>
          </p:cNvSpPr>
          <p:nvPr/>
        </p:nvSpPr>
        <p:spPr bwMode="gray">
          <a:xfrm>
            <a:off x="335977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Общее утверждение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2</a:t>
            </a:r>
          </a:p>
        </p:txBody>
      </p:sp>
      <p:sp>
        <p:nvSpPr>
          <p:cNvPr id="7" name="Название 1">
            <a:extLst>
              <a:ext uri="{FF2B5EF4-FFF2-40B4-BE49-F238E27FC236}">
                <a16:creationId xmlns:a16="http://schemas.microsoft.com/office/drawing/2014/main" xmlns="" id="{A630A511-8F6F-4569-AFB0-0389053B23D1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0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8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5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43931" y="1800000"/>
            <a:ext cx="3168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3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a(1,0)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a(1,1)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a(2,0)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a(2,1)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A30A88A1-AE9A-4C45-A085-CA1D22B0658B}"/>
              </a:ext>
            </a:extLst>
          </p:cNvPr>
          <p:cNvSpPr txBox="1">
            <a:spLocks/>
          </p:cNvSpPr>
          <p:nvPr/>
        </p:nvSpPr>
        <p:spPr>
          <a:xfrm>
            <a:off x="335978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60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66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5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43916" y="1800000"/>
            <a:ext cx="3168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17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a(1,0)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a(2,0)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a(2,1)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A30A88A1-AE9A-4C45-A085-CA1D22B0658B}"/>
              </a:ext>
            </a:extLst>
          </p:cNvPr>
          <p:cNvSpPr txBox="1">
            <a:spLocks/>
          </p:cNvSpPr>
          <p:nvPr/>
        </p:nvSpPr>
        <p:spPr>
          <a:xfrm>
            <a:off x="335976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7AD61E5B-AFFC-4760-A16D-A783D0D0AAB1}"/>
              </a:ext>
            </a:extLst>
          </p:cNvPr>
          <p:cNvSpPr/>
          <p:nvPr/>
        </p:nvSpPr>
        <p:spPr>
          <a:xfrm>
            <a:off x="4943916" y="4264501"/>
            <a:ext cx="6912000" cy="142192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расстояний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Λ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–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Κ</a:t>
            </a:r>
            <a:r>
              <a:rPr kumimoji="0" lang="ru-RU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= (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>
              <a:lnSpc>
                <a:spcPct val="120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направлений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(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=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pPr algn="ctr">
              <a:lnSpc>
                <a:spcPct val="120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Истинная зависимость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521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82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5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43932" y="1800000"/>
            <a:ext cx="3168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33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a(1,0)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a(2,0)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a(2,1)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A30A88A1-AE9A-4C45-A085-CA1D22B0658B}"/>
              </a:ext>
            </a:extLst>
          </p:cNvPr>
          <p:cNvSpPr txBox="1">
            <a:spLocks/>
          </p:cNvSpPr>
          <p:nvPr/>
        </p:nvSpPr>
        <p:spPr>
          <a:xfrm>
            <a:off x="3359782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7AD61E5B-AFFC-4760-A16D-A783D0D0AAB1}"/>
              </a:ext>
            </a:extLst>
          </p:cNvPr>
          <p:cNvSpPr/>
          <p:nvPr/>
        </p:nvSpPr>
        <p:spPr>
          <a:xfrm>
            <a:off x="4943932" y="4264501"/>
            <a:ext cx="6912000" cy="109408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Внешний цикл может быть распараллелен безо всяких ограничений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56546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66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5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43916" y="1800000"/>
            <a:ext cx="3168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17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a(1,0)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a(2,0)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a(2,1)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A30A88A1-AE9A-4C45-A085-CA1D22B0658B}"/>
              </a:ext>
            </a:extLst>
          </p:cNvPr>
          <p:cNvSpPr txBox="1">
            <a:spLocks/>
          </p:cNvSpPr>
          <p:nvPr/>
        </p:nvSpPr>
        <p:spPr>
          <a:xfrm>
            <a:off x="335976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7AD61E5B-AFFC-4760-A16D-A783D0D0AAB1}"/>
              </a:ext>
            </a:extLst>
          </p:cNvPr>
          <p:cNvSpPr/>
          <p:nvPr/>
        </p:nvSpPr>
        <p:spPr>
          <a:xfrm>
            <a:off x="4943916" y="4264501"/>
            <a:ext cx="6912000" cy="109408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Распараллеливание внутреннего цикла или двух циклов одновременно </a:t>
            </a:r>
            <a:r>
              <a:rPr kumimoji="0" lang="ru-RU" sz="2400" b="1" dirty="0">
                <a:solidFill>
                  <a:prstClr val="black"/>
                </a:solidFill>
                <a:latin typeface="Arial" pitchFamily="34" charset="0"/>
              </a:rPr>
              <a:t>невозможно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89179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0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6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43920" y="1800000"/>
            <a:ext cx="3528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21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a(1,0)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a(2,1) &lt;- a(2,0)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a(1,2) &lt;- a(1,1)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a(2,1)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5D95BF65-9CB5-4221-996B-FD6CE655CBCE}"/>
              </a:ext>
            </a:extLst>
          </p:cNvPr>
          <p:cNvSpPr txBox="1">
            <a:spLocks/>
          </p:cNvSpPr>
          <p:nvPr/>
        </p:nvSpPr>
        <p:spPr>
          <a:xfrm>
            <a:off x="3359770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56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6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6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43926" y="1800000"/>
            <a:ext cx="3528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27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&lt;- a(1,0)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a(2,1) &lt;- a(2,0)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a(1,2)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a(2,1)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5D95BF65-9CB5-4221-996B-FD6CE655CBCE}"/>
              </a:ext>
            </a:extLst>
          </p:cNvPr>
          <p:cNvSpPr txBox="1">
            <a:spLocks/>
          </p:cNvSpPr>
          <p:nvPr/>
        </p:nvSpPr>
        <p:spPr>
          <a:xfrm>
            <a:off x="335977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EA846111-8A4D-4B63-ADC8-60CD28F03F6F}"/>
              </a:ext>
            </a:extLst>
          </p:cNvPr>
          <p:cNvSpPr/>
          <p:nvPr/>
        </p:nvSpPr>
        <p:spPr>
          <a:xfrm>
            <a:off x="4943926" y="4264501"/>
            <a:ext cx="6912000" cy="142192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расстояний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Λ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–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Κ</a:t>
            </a:r>
            <a:r>
              <a:rPr kumimoji="0" lang="ru-RU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= (1, 0)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>
              <a:lnSpc>
                <a:spcPct val="120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направлений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(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“&lt;”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“=”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pPr algn="ctr">
              <a:lnSpc>
                <a:spcPct val="120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Истинная зависимость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346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6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43921" y="1800000"/>
            <a:ext cx="3528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2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&lt;- a(1,0)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a(2,1) &lt;- a(2,0)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a(1,2)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a(2,1)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5D95BF65-9CB5-4221-996B-FD6CE655CBCE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EA846111-8A4D-4B63-ADC8-60CD28F03F6F}"/>
              </a:ext>
            </a:extLst>
          </p:cNvPr>
          <p:cNvSpPr/>
          <p:nvPr/>
        </p:nvSpPr>
        <p:spPr>
          <a:xfrm>
            <a:off x="4943921" y="4264501"/>
            <a:ext cx="6912000" cy="112357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Внутренний цикл может быть распараллелен без всяких ограничений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66132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66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6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43916" y="1800000"/>
            <a:ext cx="3528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17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&lt;- a(1,0)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a(2,1) &lt;- a(2,0)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a(1,2)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a(2,1)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5D95BF65-9CB5-4221-996B-FD6CE655CBCE}"/>
              </a:ext>
            </a:extLst>
          </p:cNvPr>
          <p:cNvSpPr txBox="1">
            <a:spLocks/>
          </p:cNvSpPr>
          <p:nvPr/>
        </p:nvSpPr>
        <p:spPr>
          <a:xfrm>
            <a:off x="335976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EA846111-8A4D-4B63-ADC8-60CD28F03F6F}"/>
              </a:ext>
            </a:extLst>
          </p:cNvPr>
          <p:cNvSpPr/>
          <p:nvPr/>
        </p:nvSpPr>
        <p:spPr>
          <a:xfrm>
            <a:off x="4943916" y="4264501"/>
            <a:ext cx="6912000" cy="112357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Распараллеливание внешнего цикла или двух циклов одновременно </a:t>
            </a:r>
            <a:r>
              <a:rPr kumimoji="0" lang="ru-RU" sz="2400" b="1" dirty="0">
                <a:solidFill>
                  <a:prstClr val="black"/>
                </a:solidFill>
                <a:latin typeface="Arial" pitchFamily="34" charset="0"/>
              </a:rPr>
              <a:t>невозможно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41386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66" y="1057545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7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43916" y="1800000"/>
            <a:ext cx="3528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17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a(0,0)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a(0,1)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a(1,0)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a(1,1)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2E51BA6F-F775-4E5D-BD57-4A4D5A9B4EA6}"/>
              </a:ext>
            </a:extLst>
          </p:cNvPr>
          <p:cNvSpPr txBox="1">
            <a:spLocks/>
          </p:cNvSpPr>
          <p:nvPr/>
        </p:nvSpPr>
        <p:spPr>
          <a:xfrm>
            <a:off x="335976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6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1" y="1057545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7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43921" y="1800000"/>
            <a:ext cx="3528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2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a(0,0)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a(0,1)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a(1,0)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</a:t>
            </a:r>
            <a:endParaRPr kumimoji="0" lang="ru-RU" sz="2400" dirty="0">
              <a:solidFill>
                <a:srgbClr val="FF0000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2E51BA6F-F775-4E5D-BD57-4A4D5A9B4EA6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3BAEADFF-D6CB-4E35-A93F-868F15CBE88C}"/>
              </a:ext>
            </a:extLst>
          </p:cNvPr>
          <p:cNvSpPr/>
          <p:nvPr/>
        </p:nvSpPr>
        <p:spPr>
          <a:xfrm>
            <a:off x="4943921" y="4264501"/>
            <a:ext cx="6912000" cy="142192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расстояний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Λ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–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Κ</a:t>
            </a:r>
            <a:r>
              <a:rPr kumimoji="0" lang="ru-RU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= (1,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>
              <a:lnSpc>
                <a:spcPct val="120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направлений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(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“&lt;”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“&lt;”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pPr algn="ctr">
              <a:lnSpc>
                <a:spcPct val="120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Истинная зависимость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965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81" y="1057545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7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43931" y="1800000"/>
            <a:ext cx="3528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3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a(0,0)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a(0,1)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a(1,0)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</a:t>
            </a:r>
            <a:endParaRPr kumimoji="0" lang="ru-RU" sz="2400" dirty="0">
              <a:solidFill>
                <a:srgbClr val="FF0000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2E51BA6F-F775-4E5D-BD57-4A4D5A9B4EA6}"/>
              </a:ext>
            </a:extLst>
          </p:cNvPr>
          <p:cNvSpPr txBox="1">
            <a:spLocks/>
          </p:cNvSpPr>
          <p:nvPr/>
        </p:nvSpPr>
        <p:spPr>
          <a:xfrm>
            <a:off x="335978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3BAEADFF-D6CB-4E35-A93F-868F15CBE88C}"/>
              </a:ext>
            </a:extLst>
          </p:cNvPr>
          <p:cNvSpPr/>
          <p:nvPr/>
        </p:nvSpPr>
        <p:spPr>
          <a:xfrm>
            <a:off x="4943931" y="4264501"/>
            <a:ext cx="6912000" cy="142192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Распараллеливание внутреннего цикла возможно, если мы вставим после него барьерную синхронизацию.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9956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81" y="1057545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7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43931" y="1800000"/>
            <a:ext cx="3528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3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a(0,0)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a(0,1)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a(1,0)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</a:t>
            </a:r>
            <a:endParaRPr kumimoji="0" lang="ru-RU" sz="2400" dirty="0">
              <a:solidFill>
                <a:srgbClr val="FF0000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2E51BA6F-F775-4E5D-BD57-4A4D5A9B4EA6}"/>
              </a:ext>
            </a:extLst>
          </p:cNvPr>
          <p:cNvSpPr txBox="1">
            <a:spLocks/>
          </p:cNvSpPr>
          <p:nvPr/>
        </p:nvSpPr>
        <p:spPr>
          <a:xfrm>
            <a:off x="335978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3BAEADFF-D6CB-4E35-A93F-868F15CBE88C}"/>
              </a:ext>
            </a:extLst>
          </p:cNvPr>
          <p:cNvSpPr/>
          <p:nvPr/>
        </p:nvSpPr>
        <p:spPr>
          <a:xfrm>
            <a:off x="4943931" y="4264501"/>
            <a:ext cx="6912000" cy="120223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Распараллеливание внешнего цикла или двух циклов одновременно </a:t>
            </a:r>
            <a:r>
              <a:rPr kumimoji="0" lang="ru-RU" sz="2400" b="1" dirty="0">
                <a:solidFill>
                  <a:prstClr val="black"/>
                </a:solidFill>
                <a:latin typeface="Arial" pitchFamily="34" charset="0"/>
              </a:rPr>
              <a:t>невозможно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.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7239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81" y="1057545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7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43931" y="1800000"/>
            <a:ext cx="3528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3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a(0,0)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a(0,1)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a(1,0)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a(1,1)</a:t>
            </a:r>
            <a:endParaRPr kumimoji="0" lang="ru-RU" sz="2400" dirty="0">
              <a:solidFill>
                <a:srgbClr val="FF0000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2E51BA6F-F775-4E5D-BD57-4A4D5A9B4EA6}"/>
              </a:ext>
            </a:extLst>
          </p:cNvPr>
          <p:cNvSpPr txBox="1">
            <a:spLocks/>
          </p:cNvSpPr>
          <p:nvPr/>
        </p:nvSpPr>
        <p:spPr>
          <a:xfrm>
            <a:off x="335978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3BAEADFF-D6CB-4E35-A93F-868F15CBE88C}"/>
              </a:ext>
            </a:extLst>
          </p:cNvPr>
          <p:cNvSpPr/>
          <p:nvPr/>
        </p:nvSpPr>
        <p:spPr>
          <a:xfrm>
            <a:off x="4943931" y="4264501"/>
            <a:ext cx="6912000" cy="194948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 последовательной программе можно переставить местами внешний и внутренний циклы.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Результат анализа останется тем же самым.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808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943926" y="2020784"/>
            <a:ext cx="6912000" cy="166631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algn="ctr">
              <a:lnSpc>
                <a:spcPct val="130000"/>
              </a:lnSpc>
              <a:spcBef>
                <a:spcPct val="10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Пусть многомерный цикл имеет вектор направлений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, в состав которого входят только элементы “&lt;” и “=”</a:t>
            </a:r>
            <a:r>
              <a:rPr kumimoji="0" lang="ru-RU" altLang="ja-JP" sz="2400" dirty="0">
                <a:solidFill>
                  <a:srgbClr val="10253F"/>
                </a:solidFill>
                <a:latin typeface="Arial" pitchFamily="34" charset="0"/>
              </a:rPr>
              <a:t>.</a:t>
            </a:r>
            <a:endParaRPr kumimoji="0" lang="en-US" sz="2400" dirty="0">
              <a:solidFill>
                <a:srgbClr val="10253F"/>
              </a:solidFill>
              <a:latin typeface="Arial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359776" y="1058400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Общее утверждение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3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943926" y="4124105"/>
            <a:ext cx="6912000" cy="1666312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 последовательной программе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циклы, соответствующие разным уровнем вложенности,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можно поменять местами</a:t>
            </a:r>
            <a:r>
              <a:rPr kumimoji="0" lang="en-US" sz="2400" dirty="0">
                <a:solidFill>
                  <a:srgbClr val="10253F"/>
                </a:solidFill>
                <a:latin typeface="Arial" pitchFamily="34" charset="0"/>
              </a:rPr>
              <a:t>.</a:t>
            </a:r>
            <a:endParaRPr kumimoji="0" lang="ru-RU" sz="2400" dirty="0">
              <a:solidFill>
                <a:srgbClr val="10253F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EF2336D6-307F-4410-AFAE-122DAAD939E0}"/>
              </a:ext>
            </a:extLst>
          </p:cNvPr>
          <p:cNvSpPr txBox="1">
            <a:spLocks/>
          </p:cNvSpPr>
          <p:nvPr/>
        </p:nvSpPr>
        <p:spPr>
          <a:xfrm>
            <a:off x="335977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39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943926" y="1766743"/>
            <a:ext cx="6912000" cy="1541812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spcBef>
                <a:spcPts val="2875"/>
              </a:spcBef>
            </a:pP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Вложенный цикл может быть распараллелен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без ограничений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по произвольному количеству индексов,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соответствующих компонентам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altLang="ru-RU" sz="22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=</a:t>
            </a:r>
            <a:r>
              <a:rPr kumimoji="0" lang="en-US" altLang="ru-RU" sz="22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в векторе направлений. </a:t>
            </a: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5" name="Название 1">
            <a:extLst>
              <a:ext uri="{FF2B5EF4-FFF2-40B4-BE49-F238E27FC236}">
                <a16:creationId xmlns:a16="http://schemas.microsoft.com/office/drawing/2014/main" xmlns="" id="{D7DBF233-788E-4D5A-9D40-1968CD995DE8}"/>
              </a:ext>
            </a:extLst>
          </p:cNvPr>
          <p:cNvSpPr txBox="1">
            <a:spLocks/>
          </p:cNvSpPr>
          <p:nvPr/>
        </p:nvSpPr>
        <p:spPr>
          <a:xfrm>
            <a:off x="335977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6" name="Rechteck 36">
            <a:extLst>
              <a:ext uri="{FF2B5EF4-FFF2-40B4-BE49-F238E27FC236}">
                <a16:creationId xmlns:a16="http://schemas.microsoft.com/office/drawing/2014/main" xmlns="" id="{E233D9B1-143C-4C12-9473-F3162019AB9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59776" y="1058400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Общее утверждение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3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E9B0EB9E-7E79-4C21-81EA-C0FC877784B7}"/>
              </a:ext>
            </a:extLst>
          </p:cNvPr>
          <p:cNvSpPr/>
          <p:nvPr/>
        </p:nvSpPr>
        <p:spPr>
          <a:xfrm>
            <a:off x="4944076" y="3549445"/>
            <a:ext cx="6912000" cy="307043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spcBef>
                <a:spcPts val="0"/>
              </a:spcBef>
            </a:pP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Возможность распараллеливания по индексам, соответствующим компонентам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altLang="ru-RU" sz="22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&lt;</a:t>
            </a:r>
            <a:r>
              <a:rPr kumimoji="0" lang="en-US" altLang="ru-RU" sz="22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вектора направлений, требует дополнительного анализа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.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Оно может быть: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kumimoji="0" lang="ru-RU" sz="2200" b="1" dirty="0">
                <a:solidFill>
                  <a:prstClr val="black"/>
                </a:solidFill>
                <a:latin typeface="Arial" pitchFamily="34" charset="0"/>
              </a:rPr>
              <a:t>невозможно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; </a:t>
            </a:r>
          </a:p>
          <a:p>
            <a:pPr marL="742950" lvl="1" indent="-285750">
              <a:lnSpc>
                <a:spcPct val="110000"/>
              </a:lnSpc>
              <a:spcBef>
                <a:spcPts val="100"/>
              </a:spcBef>
              <a:buFont typeface="Arial" pitchFamily="34" charset="0"/>
              <a:buChar char="•"/>
            </a:pP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возможно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но для ограниченного числа исполнителей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; </a:t>
            </a:r>
          </a:p>
          <a:p>
            <a:pPr marL="742950" lvl="1" indent="-285750">
              <a:lnSpc>
                <a:spcPct val="110000"/>
              </a:lnSpc>
              <a:spcBef>
                <a:spcPts val="100"/>
              </a:spcBef>
              <a:buFont typeface="Arial" pitchFamily="34" charset="0"/>
              <a:buChar char="•"/>
            </a:pP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возможно с барьерной синхронизацией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424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66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8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835916" y="1800000"/>
            <a:ext cx="3636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+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17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,1)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C483DF2A-A919-49A5-947D-61DFDDC2BE21}"/>
              </a:ext>
            </a:extLst>
          </p:cNvPr>
          <p:cNvSpPr txBox="1">
            <a:spLocks/>
          </p:cNvSpPr>
          <p:nvPr/>
        </p:nvSpPr>
        <p:spPr>
          <a:xfrm>
            <a:off x="335976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11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6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8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835926" y="1800000"/>
            <a:ext cx="3636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+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27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</a:t>
            </a:r>
            <a:r>
              <a:rPr kumimoji="0" lang="ru-RU" sz="2400" dirty="0">
                <a:solidFill>
                  <a:srgbClr val="FF0000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a(2,1)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,1)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C483DF2A-A919-49A5-947D-61DFDDC2BE21}"/>
              </a:ext>
            </a:extLst>
          </p:cNvPr>
          <p:cNvSpPr txBox="1">
            <a:spLocks/>
          </p:cNvSpPr>
          <p:nvPr/>
        </p:nvSpPr>
        <p:spPr>
          <a:xfrm>
            <a:off x="335977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A20FD3AB-D8C7-473F-AD51-2518F419BB98}"/>
              </a:ext>
            </a:extLst>
          </p:cNvPr>
          <p:cNvSpPr/>
          <p:nvPr/>
        </p:nvSpPr>
        <p:spPr>
          <a:xfrm>
            <a:off x="4835926" y="4264501"/>
            <a:ext cx="7020000" cy="142192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расстояний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Λ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–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Κ</a:t>
            </a:r>
            <a:r>
              <a:rPr kumimoji="0" lang="ru-RU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= (-1,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>
              <a:lnSpc>
                <a:spcPct val="120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направлений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(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“&gt;”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“&lt;”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pPr algn="ctr">
              <a:lnSpc>
                <a:spcPct val="120000"/>
              </a:lnSpc>
            </a:pP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Антизависимость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877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6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8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835926" y="1800000"/>
            <a:ext cx="3636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+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27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</a:t>
            </a:r>
            <a:r>
              <a:rPr kumimoji="0" lang="ru-RU" sz="2400" dirty="0">
                <a:solidFill>
                  <a:srgbClr val="FF0000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a(2,1)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,1)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C483DF2A-A919-49A5-947D-61DFDDC2BE21}"/>
              </a:ext>
            </a:extLst>
          </p:cNvPr>
          <p:cNvSpPr txBox="1">
            <a:spLocks/>
          </p:cNvSpPr>
          <p:nvPr/>
        </p:nvSpPr>
        <p:spPr>
          <a:xfrm>
            <a:off x="335977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A20FD3AB-D8C7-473F-AD51-2518F419BB98}"/>
              </a:ext>
            </a:extLst>
          </p:cNvPr>
          <p:cNvSpPr/>
          <p:nvPr/>
        </p:nvSpPr>
        <p:spPr>
          <a:xfrm>
            <a:off x="4835926" y="4264501"/>
            <a:ext cx="7020000" cy="206747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Распараллеливание внутреннего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цикла возможно, если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мы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размножим необходимые входные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данные или вставим барьерную синхронизацию после внутреннего цикла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703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7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8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835921" y="1800000"/>
            <a:ext cx="3636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+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2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</a:t>
            </a:r>
            <a:r>
              <a:rPr kumimoji="0" lang="ru-RU" sz="2400" dirty="0">
                <a:solidFill>
                  <a:srgbClr val="FF0000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a(2,1)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,1)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C483DF2A-A919-49A5-947D-61DFDDC2BE21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A20FD3AB-D8C7-473F-AD51-2518F419BB98}"/>
              </a:ext>
            </a:extLst>
          </p:cNvPr>
          <p:cNvSpPr/>
          <p:nvPr/>
        </p:nvSpPr>
        <p:spPr>
          <a:xfrm>
            <a:off x="4835921" y="4264501"/>
            <a:ext cx="7020000" cy="168401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Распараллеливание внешнего цикла или сразу двух циклов возможно при размножении необходимых входных данных</a:t>
            </a:r>
            <a:r>
              <a:rPr kumimoji="0" lang="en-US" sz="2800" dirty="0">
                <a:solidFill>
                  <a:prstClr val="black"/>
                </a:solidFill>
                <a:latin typeface="Lucida Grande CY" pitchFamily="2" charset="-52"/>
              </a:rPr>
              <a:t>.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8205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8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8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835931" y="1800000"/>
            <a:ext cx="3636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+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868793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</a:t>
            </a:r>
            <a:r>
              <a:rPr kumimoji="0" lang="ru-RU" sz="2400" dirty="0">
                <a:solidFill>
                  <a:srgbClr val="FF0000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,1)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a(2,1)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,0)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,1)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C483DF2A-A919-49A5-947D-61DFDDC2BE21}"/>
              </a:ext>
            </a:extLst>
          </p:cNvPr>
          <p:cNvSpPr txBox="1">
            <a:spLocks/>
          </p:cNvSpPr>
          <p:nvPr/>
        </p:nvSpPr>
        <p:spPr>
          <a:xfrm>
            <a:off x="335978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A20FD3AB-D8C7-473F-AD51-2518F419BB98}"/>
              </a:ext>
            </a:extLst>
          </p:cNvPr>
          <p:cNvSpPr/>
          <p:nvPr/>
        </p:nvSpPr>
        <p:spPr>
          <a:xfrm>
            <a:off x="4835931" y="4264502"/>
            <a:ext cx="7020000" cy="123173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srgbClr val="760B00"/>
                </a:solidFill>
                <a:latin typeface="Arial" pitchFamily="34" charset="0"/>
              </a:rPr>
              <a:t>В последовательной программе внутренний и внешний цикл </a:t>
            </a:r>
            <a:r>
              <a:rPr kumimoji="0" lang="ru-RU" sz="2400" b="1" dirty="0">
                <a:solidFill>
                  <a:srgbClr val="760B00"/>
                </a:solidFill>
                <a:latin typeface="Arial" pitchFamily="34" charset="0"/>
              </a:rPr>
              <a:t>нельзя </a:t>
            </a:r>
            <a:r>
              <a:rPr kumimoji="0" lang="ru-RU" sz="2400" dirty="0">
                <a:solidFill>
                  <a:srgbClr val="760B00"/>
                </a:solidFill>
                <a:latin typeface="Arial" pitchFamily="34" charset="0"/>
              </a:rPr>
              <a:t>менять местами</a:t>
            </a:r>
            <a:r>
              <a:rPr kumimoji="0" lang="en-US" sz="2400" dirty="0">
                <a:solidFill>
                  <a:srgbClr val="760B00"/>
                </a:solidFill>
                <a:latin typeface="Arial" pitchFamily="34" charset="0"/>
              </a:rPr>
              <a:t>!</a:t>
            </a:r>
            <a:endParaRPr kumimoji="0" lang="el-GR" sz="2400" dirty="0">
              <a:solidFill>
                <a:srgbClr val="760B00"/>
              </a:solidFill>
              <a:latin typeface="Arial" pitchFamily="34" charset="0"/>
            </a:endParaRPr>
          </a:p>
          <a:p>
            <a:pPr algn="ctr">
              <a:lnSpc>
                <a:spcPct val="120000"/>
              </a:lnSpc>
              <a:spcBef>
                <a:spcPct val="50000"/>
              </a:spcBef>
            </a:pP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2924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77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9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835921" y="1800000"/>
            <a:ext cx="3636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-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+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2" name="TextBox 5"/>
          <p:cNvSpPr txBox="1">
            <a:spLocks noChangeArrowheads="1"/>
          </p:cNvSpPr>
          <p:nvPr/>
        </p:nvSpPr>
        <p:spPr bwMode="auto">
          <a:xfrm>
            <a:off x="868792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a(1,2)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4430878E-9903-427C-9E9C-037CBAF96A39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65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77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9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835921" y="1800000"/>
            <a:ext cx="3636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-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+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2" name="TextBox 5"/>
          <p:cNvSpPr txBox="1">
            <a:spLocks noChangeArrowheads="1"/>
          </p:cNvSpPr>
          <p:nvPr/>
        </p:nvSpPr>
        <p:spPr bwMode="auto">
          <a:xfrm>
            <a:off x="868792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a(1,2)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</a:t>
            </a:r>
            <a:r>
              <a:rPr kumimoji="0" lang="ru-RU" sz="2400" dirty="0">
                <a:solidFill>
                  <a:srgbClr val="FF0000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srgbClr val="FF0000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4430878E-9903-427C-9E9C-037CBAF96A39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A7C3C20C-FDA2-47FD-AB76-D190FE44F0A5}"/>
              </a:ext>
            </a:extLst>
          </p:cNvPr>
          <p:cNvSpPr/>
          <p:nvPr/>
        </p:nvSpPr>
        <p:spPr>
          <a:xfrm>
            <a:off x="4835921" y="4264501"/>
            <a:ext cx="7020000" cy="142192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расстояний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Λ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–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l-GR" sz="2400" b="1" dirty="0">
                <a:solidFill>
                  <a:prstClr val="black"/>
                </a:solidFill>
                <a:latin typeface="Arial" pitchFamily="34" charset="0"/>
              </a:rPr>
              <a:t>Κ</a:t>
            </a:r>
            <a:r>
              <a:rPr kumimoji="0" lang="ru-RU" sz="2400" b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= (1,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-1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>
              <a:lnSpc>
                <a:spcPct val="120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Вектор направлений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b="1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= (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“&lt;”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en-US" altLang="ru-RU" sz="2400" dirty="0">
                <a:solidFill>
                  <a:prstClr val="black"/>
                </a:solidFill>
                <a:latin typeface="Arial" pitchFamily="34" charset="0"/>
              </a:rPr>
              <a:t>“&gt;”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pPr algn="ctr">
              <a:lnSpc>
                <a:spcPct val="120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Истинная зависимость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010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78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9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835931" y="1800000"/>
            <a:ext cx="3636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-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+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2" name="TextBox 5"/>
          <p:cNvSpPr txBox="1">
            <a:spLocks noChangeArrowheads="1"/>
          </p:cNvSpPr>
          <p:nvPr/>
        </p:nvSpPr>
        <p:spPr bwMode="auto">
          <a:xfrm>
            <a:off x="868793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a(1,2)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</a:t>
            </a:r>
            <a:r>
              <a:rPr kumimoji="0" lang="ru-RU" sz="2400" dirty="0">
                <a:solidFill>
                  <a:srgbClr val="FF0000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srgbClr val="FF0000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4430878E-9903-427C-9E9C-037CBAF96A39}"/>
              </a:ext>
            </a:extLst>
          </p:cNvPr>
          <p:cNvSpPr txBox="1">
            <a:spLocks/>
          </p:cNvSpPr>
          <p:nvPr/>
        </p:nvSpPr>
        <p:spPr>
          <a:xfrm>
            <a:off x="335978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A7C3C20C-FDA2-47FD-AB76-D190FE44F0A5}"/>
              </a:ext>
            </a:extLst>
          </p:cNvPr>
          <p:cNvSpPr/>
          <p:nvPr/>
        </p:nvSpPr>
        <p:spPr>
          <a:xfrm>
            <a:off x="4835931" y="4264501"/>
            <a:ext cx="7020000" cy="142192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Распараллеливание внутреннего цикла возможно, если мы вставим после него барьерную синхронизацию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52442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771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9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835921" y="1800000"/>
            <a:ext cx="3636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-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+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2" name="TextBox 5"/>
          <p:cNvSpPr txBox="1">
            <a:spLocks noChangeArrowheads="1"/>
          </p:cNvSpPr>
          <p:nvPr/>
        </p:nvSpPr>
        <p:spPr bwMode="auto">
          <a:xfrm>
            <a:off x="8687922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a(1,2)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</a:t>
            </a:r>
            <a:r>
              <a:rPr kumimoji="0" lang="ru-RU" sz="2400" dirty="0">
                <a:solidFill>
                  <a:srgbClr val="FF0000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srgbClr val="FF0000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4430878E-9903-427C-9E9C-037CBAF96A39}"/>
              </a:ext>
            </a:extLst>
          </p:cNvPr>
          <p:cNvSpPr txBox="1">
            <a:spLocks/>
          </p:cNvSpPr>
          <p:nvPr/>
        </p:nvSpPr>
        <p:spPr>
          <a:xfrm>
            <a:off x="335977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A7C3C20C-FDA2-47FD-AB76-D190FE44F0A5}"/>
              </a:ext>
            </a:extLst>
          </p:cNvPr>
          <p:cNvSpPr/>
          <p:nvPr/>
        </p:nvSpPr>
        <p:spPr>
          <a:xfrm>
            <a:off x="4835921" y="4264502"/>
            <a:ext cx="7020000" cy="105475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Распараллеливание внешнего цикла или двух циклов одновременно </a:t>
            </a:r>
            <a:r>
              <a:rPr kumimoji="0" lang="ru-RU" sz="2400" b="1" dirty="0">
                <a:solidFill>
                  <a:prstClr val="black"/>
                </a:solidFill>
                <a:latin typeface="Arial" pitchFamily="34" charset="0"/>
              </a:rPr>
              <a:t>невозможно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>
              <a:lnSpc>
                <a:spcPct val="120000"/>
              </a:lnSpc>
              <a:spcBef>
                <a:spcPct val="50000"/>
              </a:spcBef>
            </a:pP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9705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776" y="1055688"/>
            <a:ext cx="8496300" cy="5969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Пример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9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835926" y="1800000"/>
            <a:ext cx="3636000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do 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=  1,u</a:t>
            </a:r>
            <a:r>
              <a:rPr kumimoji="0" lang="en-US" sz="2400" baseline="-25000" dirty="0">
                <a:solidFill>
                  <a:prstClr val="black"/>
                </a:solidFill>
                <a:latin typeface="Arial" pitchFamily="34" charset="0"/>
              </a:rPr>
              <a:t>2</a:t>
            </a:r>
            <a:endParaRPr kumimoji="0" lang="pl-PL" sz="2400" baseline="-25000" dirty="0">
              <a:solidFill>
                <a:prstClr val="black"/>
              </a:solidFill>
              <a:latin typeface="Arial" pitchFamily="34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  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-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, j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+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*2</a:t>
            </a:r>
          </a:p>
          <a:p>
            <a:pPr fontAlgn="auto"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end do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 err="1">
                <a:solidFill>
                  <a:prstClr val="black"/>
                </a:solidFill>
                <a:latin typeface="Arial" pitchFamily="34" charset="0"/>
              </a:rPr>
              <a:t>e</a:t>
            </a:r>
            <a:r>
              <a:rPr kumimoji="0" lang="pl-PL" sz="2400" dirty="0" err="1">
                <a:solidFill>
                  <a:prstClr val="black"/>
                </a:solidFill>
                <a:latin typeface="Arial" pitchFamily="34" charset="0"/>
              </a:rPr>
              <a:t>nd</a:t>
            </a:r>
            <a:r>
              <a:rPr kumimoji="0" lang="pl-PL" sz="2400" dirty="0">
                <a:solidFill>
                  <a:prstClr val="black"/>
                </a:solidFill>
                <a:latin typeface="Arial" pitchFamily="34" charset="0"/>
              </a:rPr>
              <a:t> do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2" name="TextBox 5"/>
          <p:cNvSpPr txBox="1">
            <a:spLocks noChangeArrowheads="1"/>
          </p:cNvSpPr>
          <p:nvPr/>
        </p:nvSpPr>
        <p:spPr bwMode="auto">
          <a:xfrm>
            <a:off x="8687927" y="1800000"/>
            <a:ext cx="3169457" cy="2304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none"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(1,1)	a(1,1)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(1,2)	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a(1,2)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(2,1)	a(2,1)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</a:t>
            </a:r>
            <a:r>
              <a:rPr kumimoji="0" lang="ru-RU" sz="2400" dirty="0">
                <a:solidFill>
                  <a:srgbClr val="FF0000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srgbClr val="FF0000"/>
                </a:solidFill>
                <a:latin typeface="Arial" pitchFamily="34" charset="0"/>
              </a:rPr>
              <a:t>2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)</a:t>
            </a:r>
          </a:p>
          <a:p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(2,2)	a(2,2) &lt;- a(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…</a:t>
            </a: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6" name="Название 1">
            <a:extLst>
              <a:ext uri="{FF2B5EF4-FFF2-40B4-BE49-F238E27FC236}">
                <a16:creationId xmlns:a16="http://schemas.microsoft.com/office/drawing/2014/main" xmlns="" id="{4430878E-9903-427C-9E9C-037CBAF96A39}"/>
              </a:ext>
            </a:extLst>
          </p:cNvPr>
          <p:cNvSpPr txBox="1">
            <a:spLocks/>
          </p:cNvSpPr>
          <p:nvPr/>
        </p:nvSpPr>
        <p:spPr>
          <a:xfrm>
            <a:off x="335977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A7C3C20C-FDA2-47FD-AB76-D190FE44F0A5}"/>
              </a:ext>
            </a:extLst>
          </p:cNvPr>
          <p:cNvSpPr/>
          <p:nvPr/>
        </p:nvSpPr>
        <p:spPr>
          <a:xfrm>
            <a:off x="4835926" y="4264502"/>
            <a:ext cx="7020000" cy="105475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0" lang="ru-RU" sz="2400" dirty="0">
                <a:solidFill>
                  <a:srgbClr val="760B00"/>
                </a:solidFill>
                <a:latin typeface="Arial" pitchFamily="34" charset="0"/>
              </a:rPr>
              <a:t>В последовательной программе внутренний и внешний цикл </a:t>
            </a:r>
            <a:r>
              <a:rPr kumimoji="0" lang="ru-RU" sz="2400" b="1" dirty="0">
                <a:solidFill>
                  <a:srgbClr val="760B00"/>
                </a:solidFill>
                <a:latin typeface="Arial" pitchFamily="34" charset="0"/>
              </a:rPr>
              <a:t>нельзя </a:t>
            </a:r>
            <a:r>
              <a:rPr kumimoji="0" lang="ru-RU" sz="2400" dirty="0">
                <a:solidFill>
                  <a:srgbClr val="760B00"/>
                </a:solidFill>
                <a:latin typeface="Arial" pitchFamily="34" charset="0"/>
              </a:rPr>
              <a:t>менять местами</a:t>
            </a:r>
            <a:r>
              <a:rPr kumimoji="0" lang="en-US" sz="2400" dirty="0">
                <a:solidFill>
                  <a:srgbClr val="760B00"/>
                </a:solidFill>
                <a:latin typeface="Arial" pitchFamily="34" charset="0"/>
              </a:rPr>
              <a:t>!</a:t>
            </a:r>
            <a:endParaRPr kumimoji="0" lang="el-GR" sz="2400" dirty="0">
              <a:solidFill>
                <a:prstClr val="black"/>
              </a:solidFill>
              <a:latin typeface="Arial" pitchFamily="34" charset="0"/>
            </a:endParaRPr>
          </a:p>
          <a:p>
            <a:pPr algn="ctr">
              <a:lnSpc>
                <a:spcPct val="120000"/>
              </a:lnSpc>
              <a:spcBef>
                <a:spcPct val="50000"/>
              </a:spcBef>
            </a:pPr>
            <a:endParaRPr kumimoji="0" lang="en-US" sz="24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2999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835916" y="2059958"/>
            <a:ext cx="7020000" cy="288566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ct val="10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Пусть для некоторого многомерного цикла определен вектор направлений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d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.</a:t>
            </a:r>
            <a:r>
              <a:rPr kumimoji="0" lang="en-US" sz="2400" dirty="0">
                <a:solidFill>
                  <a:srgbClr val="17375E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</a:rPr>
              <a:t>Истинная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зависимость между итерациями в цикле существует тогда и только тогда, когда крайний левый элемент вектора направлений, отличный от “=”, есть “&lt;”</a:t>
            </a:r>
            <a:r>
              <a:rPr kumimoji="0" lang="en-US" sz="2400" dirty="0">
                <a:solidFill>
                  <a:srgbClr val="17375E"/>
                </a:solidFill>
                <a:latin typeface="Lucida Grande CY" pitchFamily="2" charset="-52"/>
              </a:rPr>
              <a:t>. </a:t>
            </a:r>
          </a:p>
        </p:txBody>
      </p:sp>
      <p:sp>
        <p:nvSpPr>
          <p:cNvPr id="6" name="Rechteck 36"/>
          <p:cNvSpPr>
            <a:spLocks noChangeArrowheads="1"/>
          </p:cNvSpPr>
          <p:nvPr/>
        </p:nvSpPr>
        <p:spPr bwMode="gray">
          <a:xfrm>
            <a:off x="3359766" y="909639"/>
            <a:ext cx="8496300" cy="59848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Главное утверждение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5" name="Название 1">
            <a:extLst>
              <a:ext uri="{FF2B5EF4-FFF2-40B4-BE49-F238E27FC236}">
                <a16:creationId xmlns:a16="http://schemas.microsoft.com/office/drawing/2014/main" xmlns="" id="{9DC7F2FA-959B-43E0-BFAE-E076C136BC4C}"/>
              </a:ext>
            </a:extLst>
          </p:cNvPr>
          <p:cNvSpPr txBox="1">
            <a:spLocks/>
          </p:cNvSpPr>
          <p:nvPr/>
        </p:nvSpPr>
        <p:spPr>
          <a:xfrm>
            <a:off x="335976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6627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Прямоугольник 20"/>
          <p:cNvSpPr>
            <a:spLocks noChangeArrowheads="1"/>
          </p:cNvSpPr>
          <p:nvPr/>
        </p:nvSpPr>
        <p:spPr bwMode="auto">
          <a:xfrm>
            <a:off x="4835931" y="1722073"/>
            <a:ext cx="7020000" cy="489780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ct val="25000"/>
              </a:spcBef>
            </a:pP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Вложенные циклы могут быть распараллелены по произвольному количеству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индексов, соответствующих компонентам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altLang="ru-RU" sz="2200" dirty="0">
                <a:solidFill>
                  <a:prstClr val="black"/>
                </a:solidFill>
                <a:latin typeface="Arial" pitchFamily="34" charset="0"/>
              </a:rPr>
              <a:t>“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=</a:t>
            </a:r>
            <a:r>
              <a:rPr kumimoji="0" lang="en-US" altLang="ru-RU" sz="2200" dirty="0">
                <a:solidFill>
                  <a:prstClr val="black"/>
                </a:solidFill>
                <a:latin typeface="Arial" pitchFamily="34" charset="0"/>
              </a:rPr>
              <a:t>”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вектора направлений,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без всяких ограничений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. 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В последовательной программе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уровень вложенности, соответствующий такому компоненту,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может быть переставлен с любым соседним уровнем вложенности. 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В последовательной программе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мы можем переставить два соседних уровня вложенности, соответствующих компонентам вектора направлений с одинаковыми значениями</a:t>
            </a:r>
            <a:r>
              <a:rPr kumimoji="0" lang="en-US" sz="22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81" y="909639"/>
            <a:ext cx="8496300" cy="59848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Главное утверждение. Следствия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5" name="Название 1">
            <a:extLst>
              <a:ext uri="{FF2B5EF4-FFF2-40B4-BE49-F238E27FC236}">
                <a16:creationId xmlns:a16="http://schemas.microsoft.com/office/drawing/2014/main" xmlns="" id="{4DDA68DF-4B3B-4E60-A021-CF47174D192D}"/>
              </a:ext>
            </a:extLst>
          </p:cNvPr>
          <p:cNvSpPr txBox="1">
            <a:spLocks/>
          </p:cNvSpPr>
          <p:nvPr/>
        </p:nvSpPr>
        <p:spPr>
          <a:xfrm>
            <a:off x="3359781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68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Прямоугольник 20"/>
          <p:cNvSpPr>
            <a:spLocks noChangeArrowheads="1"/>
          </p:cNvSpPr>
          <p:nvPr/>
        </p:nvSpPr>
        <p:spPr bwMode="auto">
          <a:xfrm>
            <a:off x="4835916" y="1945093"/>
            <a:ext cx="7020000" cy="357080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ct val="25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Если во вложенном цикле существуют только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антизависимости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он может быть распараллелен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по произвольному количеству индексов при условии предварительного размножения необходимых входных данных.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  <a:spcBef>
                <a:spcPts val="18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Распараллеливание циклов с истинными зависимостями может быть проблематичным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359766" y="909639"/>
            <a:ext cx="8496300" cy="59848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Главное утверждение. Следствия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5" name="Название 1">
            <a:extLst>
              <a:ext uri="{FF2B5EF4-FFF2-40B4-BE49-F238E27FC236}">
                <a16:creationId xmlns:a16="http://schemas.microsoft.com/office/drawing/2014/main" xmlns="" id="{CA32EB08-3CCC-468B-B6C6-5193BB2C3D2D}"/>
              </a:ext>
            </a:extLst>
          </p:cNvPr>
          <p:cNvSpPr txBox="1">
            <a:spLocks/>
          </p:cNvSpPr>
          <p:nvPr/>
        </p:nvSpPr>
        <p:spPr>
          <a:xfrm>
            <a:off x="3359766" y="238125"/>
            <a:ext cx="8496300" cy="617538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/>
            <a:r>
              <a:rPr kumimoji="0" lang="ru-RU" sz="3600" b="1">
                <a:solidFill>
                  <a:srgbClr val="003794"/>
                </a:solidFill>
                <a:latin typeface="Arial" pitchFamily="34" charset="0"/>
              </a:rPr>
              <a:t>Вложенные циклы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98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7842041" y="836712"/>
            <a:ext cx="2982912" cy="3433762"/>
            <a:chOff x="2775273" y="1162323"/>
            <a:chExt cx="2982912" cy="3433762"/>
          </a:xfrm>
        </p:grpSpPr>
        <p:sp>
          <p:nvSpPr>
            <p:cNvPr id="143361" name="WordArt 3"/>
            <p:cNvSpPr>
              <a:spLocks noChangeArrowheads="1" noChangeShapeType="1" noTextEdit="1"/>
            </p:cNvSpPr>
            <p:nvPr/>
          </p:nvSpPr>
          <p:spPr bwMode="gray">
            <a:xfrm>
              <a:off x="3592835" y="1162323"/>
              <a:ext cx="1322388" cy="2166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C0C0C0"/>
                      </a:gs>
                      <a:gs pos="100000">
                        <a:srgbClr val="484848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2" name="WordArt 8"/>
            <p:cNvSpPr>
              <a:spLocks noChangeArrowheads="1" noChangeShapeType="1" noTextEdit="1"/>
            </p:cNvSpPr>
            <p:nvPr/>
          </p:nvSpPr>
          <p:spPr bwMode="gray">
            <a:xfrm>
              <a:off x="2775273" y="2113235"/>
              <a:ext cx="1004887" cy="16478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B4B4B4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3" name="WordArt 9"/>
            <p:cNvSpPr>
              <a:spLocks noChangeArrowheads="1" noChangeShapeType="1" noTextEdit="1"/>
            </p:cNvSpPr>
            <p:nvPr/>
          </p:nvSpPr>
          <p:spPr bwMode="gray">
            <a:xfrm>
              <a:off x="4211960" y="2060848"/>
              <a:ext cx="1546225" cy="25352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1C4FF"/>
                      </a:gs>
                      <a:gs pos="100000">
                        <a:srgbClr val="2A79FF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6911992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2_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1880</Words>
  <Application>Microsoft Office PowerPoint</Application>
  <PresentationFormat>Широкоэкранный</PresentationFormat>
  <Paragraphs>695</Paragraphs>
  <Slides>58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58</vt:i4>
      </vt:variant>
    </vt:vector>
  </HeadingPairs>
  <TitlesOfParts>
    <vt:vector size="70" baseType="lpstr">
      <vt:lpstr>Arial Unicode MS</vt:lpstr>
      <vt:lpstr>ＭＳ Ｐゴシック</vt:lpstr>
      <vt:lpstr>Arial</vt:lpstr>
      <vt:lpstr>Arial Black</vt:lpstr>
      <vt:lpstr>Calibri</vt:lpstr>
      <vt:lpstr>Lucida Grande CY</vt:lpstr>
      <vt:lpstr>Symbol</vt:lpstr>
      <vt:lpstr>Wingdings</vt:lpstr>
      <vt:lpstr>1_Тема Office</vt:lpstr>
      <vt:lpstr>2_Тема Office</vt:lpstr>
      <vt:lpstr>Larissa-Design</vt:lpstr>
      <vt:lpstr>2_Larissa-Design</vt:lpstr>
      <vt:lpstr>Презентация PowerPoint</vt:lpstr>
      <vt:lpstr>Тема 7</vt:lpstr>
      <vt:lpstr>Вложенные циклы</vt:lpstr>
      <vt:lpstr>Вложенные циклы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elena</dc:creator>
  <cp:lastModifiedBy>carpson</cp:lastModifiedBy>
  <cp:revision>116</cp:revision>
  <dcterms:created xsi:type="dcterms:W3CDTF">2013-06-03T19:45:45Z</dcterms:created>
  <dcterms:modified xsi:type="dcterms:W3CDTF">2025-10-21T05:13:20Z</dcterms:modified>
</cp:coreProperties>
</file>