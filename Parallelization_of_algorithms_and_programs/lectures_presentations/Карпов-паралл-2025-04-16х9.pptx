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7" r:id="rId1"/>
    <p:sldMasterId id="2147483711" r:id="rId2"/>
    <p:sldMasterId id="2147483713" r:id="rId3"/>
    <p:sldMasterId id="2147483719" r:id="rId4"/>
  </p:sldMasterIdLst>
  <p:notesMasterIdLst>
    <p:notesMasterId r:id="rId32"/>
  </p:notesMasterIdLst>
  <p:sldIdLst>
    <p:sldId id="257" r:id="rId5"/>
    <p:sldId id="361" r:id="rId6"/>
    <p:sldId id="339" r:id="rId7"/>
    <p:sldId id="363" r:id="rId8"/>
    <p:sldId id="362" r:id="rId9"/>
    <p:sldId id="420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422" r:id="rId19"/>
    <p:sldId id="430" r:id="rId20"/>
    <p:sldId id="423" r:id="rId21"/>
    <p:sldId id="429" r:id="rId22"/>
    <p:sldId id="424" r:id="rId23"/>
    <p:sldId id="425" r:id="rId24"/>
    <p:sldId id="384" r:id="rId25"/>
    <p:sldId id="385" r:id="rId26"/>
    <p:sldId id="386" r:id="rId27"/>
    <p:sldId id="426" r:id="rId28"/>
    <p:sldId id="427" r:id="rId29"/>
    <p:sldId id="428" r:id="rId30"/>
    <p:sldId id="411" r:id="rId31"/>
  </p:sldIdLst>
  <p:sldSz cx="12192000" cy="6858000"/>
  <p:notesSz cx="6858000" cy="9144000"/>
  <p:defaultTextStyle>
    <a:defPPr>
      <a:defRPr lang="ru-RU"/>
    </a:defPPr>
    <a:lvl1pPr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D9D9D9"/>
    <a:srgbClr val="C0C0C0"/>
    <a:srgbClr val="C6D9F1"/>
    <a:srgbClr val="8EB4E3"/>
    <a:srgbClr val="5F8ED9"/>
    <a:srgbClr val="800000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36" y="84"/>
      </p:cViewPr>
      <p:guideLst>
        <p:guide orient="horz" pos="209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EC16218D-14EB-47F0-9199-866D62F1AE63}" type="datetimeFigureOut">
              <a:rPr lang="ru-RU"/>
              <a:pPr/>
              <a:t>12.10.2024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D5E56AC1-A59B-4139-965A-790FFCEA5114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7862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charset="0"/>
      </a:defRPr>
    </a:lvl1pPr>
    <a:lvl2pPr marL="4572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2pPr>
    <a:lvl3pPr marL="9144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3pPr>
    <a:lvl4pPr marL="13716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4pPr>
    <a:lvl5pPr marL="18288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Arial" charset="0"/>
        <a:cs typeface="Arial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706D64E-FD2F-4C20-A04E-E2F72B46FD4B}" type="slidenum">
              <a:rPr lang="ru-RU">
                <a:solidFill>
                  <a:prstClr val="black"/>
                </a:solidFill>
              </a:rPr>
              <a:pPr/>
              <a:t>2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DC50AA90-DD61-4702-BB38-27F749BB885A}" type="slidenum">
              <a:rPr kumimoji="0" lang="en-GB" sz="1300">
                <a:solidFill>
                  <a:prstClr val="black"/>
                </a:solidFill>
              </a:rPr>
              <a:pPr algn="r" defTabSz="947738"/>
              <a:t>2</a:t>
            </a:fld>
            <a:endParaRPr kumimoji="0" lang="en-GB" sz="130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169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dirty="0"/>
          </a:p>
        </p:txBody>
      </p:sp>
      <p:sp>
        <p:nvSpPr>
          <p:cNvPr id="12291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E310F7-BA59-4BCC-B944-CD6B53D59584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alt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225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A9525B6-36B0-4A79-B10A-4DCEAFB7EED2}" type="slidenum">
              <a:rPr lang="ru-RU">
                <a:solidFill>
                  <a:prstClr val="black"/>
                </a:solidFill>
              </a:rPr>
              <a:pPr/>
              <a:t>21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12848CDA-C3A2-4739-9863-9BE40B9CA976}" type="slidenum">
              <a:rPr kumimoji="0" lang="en-GB" sz="1300">
                <a:solidFill>
                  <a:prstClr val="black"/>
                </a:solidFill>
              </a:rPr>
              <a:pPr algn="r" defTabSz="947738"/>
              <a:t>21</a:t>
            </a:fld>
            <a:endParaRPr kumimoji="0" lang="en-GB" sz="1300">
              <a:solidFill>
                <a:prstClr val="black"/>
              </a:solidFill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180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8768AAE-1D2F-4826-AD41-6B10CEB14DD2}" type="slidenum">
              <a:rPr lang="ru-RU">
                <a:solidFill>
                  <a:prstClr val="black"/>
                </a:solidFill>
              </a:rPr>
              <a:pPr/>
              <a:t>22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0418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3C81D382-1A0F-43C5-AACE-53BCC3883A14}" type="slidenum">
              <a:rPr kumimoji="0" lang="en-GB" sz="1300">
                <a:solidFill>
                  <a:prstClr val="black"/>
                </a:solidFill>
              </a:rPr>
              <a:pPr algn="r" defTabSz="947738"/>
              <a:t>22</a:t>
            </a:fld>
            <a:endParaRPr kumimoji="0" lang="en-GB" sz="1300">
              <a:solidFill>
                <a:prstClr val="black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829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3DE3180-302B-4783-8427-4C9EC797EB5A}" type="slidenum">
              <a:rPr lang="ru-RU">
                <a:solidFill>
                  <a:prstClr val="black"/>
                </a:solidFill>
              </a:rPr>
              <a:pPr/>
              <a:t>23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62466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F6A1853B-200D-4050-BF56-E107E4E12D2B}" type="slidenum">
              <a:rPr kumimoji="0" lang="en-GB" sz="1300">
                <a:solidFill>
                  <a:prstClr val="black"/>
                </a:solidFill>
              </a:rPr>
              <a:pPr algn="r" defTabSz="947738"/>
              <a:t>23</a:t>
            </a:fld>
            <a:endParaRPr kumimoji="0" lang="en-GB" sz="1300">
              <a:solidFill>
                <a:prstClr val="black"/>
              </a:solidFill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634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A90FD3-1104-4C0E-BD19-C04AAB04E560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DE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311244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7214B-69E7-43E0-8365-9814FF5834EE}" type="datetime1">
              <a:rPr lang="ru-RU" smtClean="0"/>
              <a:t>12.10.2024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ru-RU">
                <a:solidFill>
                  <a:prstClr val="black"/>
                </a:solidFill>
              </a:rPr>
              <a:t>Стр. </a:t>
            </a:r>
            <a:fld id="{2E1C6386-8776-44E4-8AB4-DF56D7699BE6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ru-RU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72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E7DB8-8285-4B09-B932-6406BC09ED9A}" type="datetime1">
              <a:rPr lang="ru-RU" smtClean="0"/>
              <a:t>12.10.2024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ru-RU">
                <a:solidFill>
                  <a:prstClr val="black"/>
                </a:solidFill>
              </a:rPr>
              <a:t>Стр. </a:t>
            </a:r>
            <a:fld id="{2E1C6386-8776-44E4-8AB4-DF56D7699BE6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ru-RU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490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D3B1EAB-9A80-4DF9-87DA-BD275470136E}" type="datetime1">
              <a:rPr lang="ru-RU" smtClean="0"/>
              <a:t>12.10.2024</a:t>
            </a:fld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ru-RU">
                <a:solidFill>
                  <a:prstClr val="black"/>
                </a:solidFill>
              </a:rPr>
              <a:t>Стр. </a:t>
            </a:r>
            <a:fld id="{2E1C6386-8776-44E4-8AB4-DF56D7699BE6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ru-RU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528622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77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276627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086926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496813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090388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790505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E6757-8804-42E5-B1D5-8001F45B6EDF}" type="datetime1">
              <a:rPr lang="de-DE" altLang="ru-RU" smtClean="0"/>
              <a:t>12.10.2024</a:t>
            </a:fld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/>
              <a:t>Стр. </a:t>
            </a:r>
            <a:fld id="{2CF74CB0-F0B5-41E9-BA71-20606D10B8F1}" type="slidenum">
              <a:rPr lang="de-DE" altLang="ru-RU" smtClean="0"/>
              <a:pPr>
                <a:defRPr/>
              </a:pPr>
              <a:t>‹#›</a:t>
            </a:fld>
            <a:endParaRPr lang="de-DE" altLang="ru-RU" dirty="0"/>
          </a:p>
        </p:txBody>
      </p:sp>
    </p:spTree>
    <p:extLst>
      <p:ext uri="{BB962C8B-B14F-4D97-AF65-F5344CB8AC3E}">
        <p14:creationId xmlns:p14="http://schemas.microsoft.com/office/powerpoint/2010/main" val="3396599488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A13C1-0FCD-4F01-AC7E-70D3C55F45C7}" type="datetime1">
              <a:rPr lang="de-DE" altLang="ru-RU" smtClean="0"/>
              <a:t>12.10.2024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A4CED0C5-ED51-4CAE-B403-C2A41A79FC68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3055344499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99CA09-1AF8-4748-A45E-AF91C8090DA7}" type="datetime1">
              <a:rPr lang="de-DE" altLang="ru-RU" smtClean="0"/>
              <a:t>12.10.2024</a:t>
            </a:fld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/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56F2DCAE-80BF-45C3-B74A-3BA349CF89F6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1860068822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AC376-73FF-46E7-B915-F9E62041705A}" type="datetime1">
              <a:rPr lang="de-DE" altLang="ru-RU" smtClean="0"/>
              <a:t>12.10.2024</a:t>
            </a:fld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A128D019-E771-49AB-93BA-BEA67AACC870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67714299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</a:defRPr>
            </a:lvl1pPr>
          </a:lstStyle>
          <a:p>
            <a:fld id="{032DBD3E-1610-4287-8BA7-EABA4BA53C51}" type="datetime1">
              <a:rPr lang="ru-RU" smtClean="0"/>
              <a:t>12.10.2024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4800" y="6356351"/>
            <a:ext cx="1962912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/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267712" y="6356351"/>
            <a:ext cx="145084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u-RU" dirty="0">
                <a:solidFill>
                  <a:prstClr val="black"/>
                </a:solidFill>
              </a:rPr>
              <a:t>Стр. </a:t>
            </a:r>
            <a:fld id="{2E1C6386-8776-44E4-8AB4-DF56D7699BE6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76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</p:sldLayoutIdLst>
  <p:hf sldNum="0"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28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altLang="ru-RU">
              <a:latin typeface="Arial" charset="0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16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8833E3C-6C88-4444-8CA8-803D753C9E8A}" type="datetime1">
              <a:rPr lang="de-DE" altLang="ru-RU" smtClean="0"/>
              <a:t>12.10.2024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/>
              <a:t>МФТИ-2019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42D759B2-9E95-43EC-A219-6234572FE2A1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  <p:extLst>
      <p:ext uri="{BB962C8B-B14F-4D97-AF65-F5344CB8AC3E}">
        <p14:creationId xmlns:p14="http://schemas.microsoft.com/office/powerpoint/2010/main" val="3091926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load.d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hlinkClick r:id="rId3"/>
          </p:cNvPr>
          <p:cNvSpPr/>
          <p:nvPr/>
        </p:nvSpPr>
        <p:spPr>
          <a:xfrm>
            <a:off x="9954649" y="6276976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833176" y="548199"/>
            <a:ext cx="8026151" cy="543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914400">
              <a:defRPr/>
            </a:pP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Введение в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  <a:t/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распараллеливание</a:t>
            </a:r>
            <a: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  <a:t> </a:t>
            </a:r>
            <a:br>
              <a:rPr kumimoji="0" lang="en-US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алгоритмов и </a:t>
            </a:r>
            <a:b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5400" dirty="0">
                <a:solidFill>
                  <a:srgbClr val="800000"/>
                </a:solidFill>
                <a:latin typeface="Arial" pitchFamily="34" charset="0"/>
              </a:rPr>
              <a:t>программ</a:t>
            </a:r>
          </a:p>
          <a:p>
            <a:pPr defTabSz="914400">
              <a:defRPr/>
            </a:pPr>
            <a:endParaRPr kumimoji="0" lang="ru-RU" sz="2800" dirty="0">
              <a:solidFill>
                <a:srgbClr val="800000"/>
              </a:solidFill>
              <a:latin typeface="Arial" pitchFamily="34" charset="0"/>
            </a:endParaRPr>
          </a:p>
          <a:p>
            <a:pPr algn="r" defTabSz="914400">
              <a:spcBef>
                <a:spcPts val="1800"/>
              </a:spcBef>
              <a:defRPr/>
            </a:pPr>
            <a:r>
              <a:rPr kumimoji="0" lang="ru-RU" sz="3600" dirty="0">
                <a:solidFill>
                  <a:srgbClr val="800000"/>
                </a:solidFill>
                <a:latin typeface="Arial" pitchFamily="34" charset="0"/>
              </a:rPr>
              <a:t>Карпов Владимир Ефимович,</a:t>
            </a:r>
          </a:p>
          <a:p>
            <a:pPr algn="r" defTabSz="914400">
              <a:defRPr/>
            </a:pPr>
            <a:r>
              <a:rPr kumimoji="0" lang="ru-RU" sz="2400" dirty="0">
                <a:solidFill>
                  <a:srgbClr val="800000"/>
                </a:solidFill>
                <a:latin typeface="Arial" pitchFamily="34" charset="0"/>
              </a:rPr>
              <a:t>кандидат физико-математических наук, доцент</a:t>
            </a:r>
          </a:p>
          <a:p>
            <a:pPr defTabSz="914400">
              <a:defRPr/>
            </a:pPr>
            <a:r>
              <a:rPr kumimoji="0" lang="ru-RU" sz="2800" dirty="0">
                <a:solidFill>
                  <a:srgbClr val="800000"/>
                </a:solidFill>
                <a:latin typeface="Arial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821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_h1"/>
          <p:cNvSpPr>
            <a:spLocks noGrp="1" noChangeArrowheads="1"/>
          </p:cNvSpPr>
          <p:nvPr>
            <p:ph type="title"/>
          </p:nvPr>
        </p:nvSpPr>
        <p:spPr>
          <a:xfrm>
            <a:off x="3365931" y="238126"/>
            <a:ext cx="8496300" cy="1133475"/>
          </a:xfrm>
        </p:spPr>
        <p:txBody>
          <a:bodyPr/>
          <a:lstStyle/>
          <a:p>
            <a:pPr algn="r">
              <a:lnSpc>
                <a:spcPct val="80000"/>
              </a:lnSpc>
            </a:pPr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Ограниченность </a:t>
            </a:r>
            <a:b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</a:br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асимптотического анализа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931" y="1550989"/>
            <a:ext cx="8496300" cy="430117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just">
              <a:lnSpc>
                <a:spcPct val="110000"/>
              </a:lnSpc>
              <a:spcAft>
                <a:spcPts val="1800"/>
              </a:spcAft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Асимптотический анализ не позволяет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сравнивать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два алгоритма с одинаковым поведением с практической точки зрения.</a:t>
            </a:r>
            <a:endParaRPr kumimoji="0" lang="ru-RU" sz="2400" noProof="1">
              <a:solidFill>
                <a:srgbClr val="404040"/>
              </a:solidFill>
              <a:latin typeface="Arial" pitchFamily="34" charset="0"/>
              <a:ea typeface="Arial Unicode MS" pitchFamily="34" charset="-128"/>
            </a:endParaRPr>
          </a:p>
          <a:p>
            <a:pPr algn="just">
              <a:lnSpc>
                <a:spcPct val="110000"/>
              </a:lnSpc>
              <a:spcAft>
                <a:spcPts val="1800"/>
              </a:spcAft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Предположим, что алгоритмы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 A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и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 B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решают одну и ту же задачу и одинаковы по поведению.</a:t>
            </a:r>
            <a:endParaRPr kumimoji="0" lang="ru-RU" sz="2400" noProof="1">
              <a:solidFill>
                <a:srgbClr val="404040"/>
              </a:solidFill>
              <a:latin typeface="Arial" pitchFamily="34" charset="0"/>
              <a:ea typeface="Arial Unicode MS" pitchFamily="34" charset="-128"/>
            </a:endParaRPr>
          </a:p>
          <a:p>
            <a:pPr algn="just">
              <a:lnSpc>
                <a:spcPct val="110000"/>
              </a:lnSpc>
              <a:spcAft>
                <a:spcPts val="1800"/>
              </a:spcAft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Предположим, что нам известны точные времена исполнения алгоритмов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: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 </a:t>
            </a:r>
            <a:r>
              <a:rPr kumimoji="0" lang="en-US" sz="2400" i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T</a:t>
            </a:r>
            <a:r>
              <a:rPr kumimoji="0" lang="en-US" sz="2400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A</a:t>
            </a:r>
            <a:r>
              <a:rPr kumimoji="0" lang="en-US" sz="2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(</a:t>
            </a:r>
            <a:r>
              <a:rPr kumimoji="0" lang="en-US" sz="2400" i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n</a:t>
            </a:r>
            <a:r>
              <a:rPr kumimoji="0" lang="en-US" sz="2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) = 100*</a:t>
            </a:r>
            <a:r>
              <a:rPr kumimoji="0" lang="en-US" sz="2400" i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n</a:t>
            </a:r>
            <a:r>
              <a:rPr kumimoji="0" lang="en-US" sz="2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 and </a:t>
            </a:r>
            <a:r>
              <a:rPr kumimoji="0" lang="en-US" sz="2400" i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T</a:t>
            </a:r>
            <a:r>
              <a:rPr kumimoji="0" lang="en-US" sz="2400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B</a:t>
            </a:r>
            <a:r>
              <a:rPr kumimoji="0" lang="en-US" sz="2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(</a:t>
            </a:r>
            <a:r>
              <a:rPr kumimoji="0" lang="en-US" sz="2400" i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n</a:t>
            </a:r>
            <a:r>
              <a:rPr kumimoji="0" lang="en-US" sz="2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) = 10</a:t>
            </a:r>
            <a:r>
              <a:rPr kumimoji="0" lang="en-US" sz="2400" baseline="300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8</a:t>
            </a:r>
            <a:r>
              <a:rPr kumimoji="0" lang="en-US" sz="2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*</a:t>
            </a:r>
            <a:r>
              <a:rPr kumimoji="0" lang="en-US" sz="2400" i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Arial Unicode MS" pitchFamily="34" charset="-128"/>
              </a:rPr>
              <a:t>n</a:t>
            </a:r>
            <a:r>
              <a:rPr kumimoji="0" lang="en-US" sz="2400" noProof="1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1800"/>
              </a:spcAft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Какой алгоритм вы предпочтете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  <a:ea typeface="Arial Unicode MS" pitchFamily="34" charset="-128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0479749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Название 1"/>
          <p:cNvSpPr>
            <a:spLocks noGrp="1"/>
          </p:cNvSpPr>
          <p:nvPr>
            <p:ph type="title"/>
          </p:nvPr>
        </p:nvSpPr>
        <p:spPr>
          <a:xfrm>
            <a:off x="3365936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Тема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altLang="ru-RU" sz="3600" smtClean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4</a:t>
            </a:r>
            <a:endParaRPr lang="ru-RU" altLang="ru-RU" sz="3600" dirty="0">
              <a:solidFill>
                <a:srgbClr val="003794"/>
              </a:solidFill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701496" y="1069975"/>
            <a:ext cx="8325200" cy="22404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defTabSz="914400">
              <a:lnSpc>
                <a:spcPct val="120000"/>
              </a:lnSpc>
              <a:defRPr/>
            </a:pPr>
            <a:r>
              <a:rPr kumimoji="0" lang="ru-RU" altLang="ru-RU" sz="4000" dirty="0">
                <a:solidFill>
                  <a:srgbClr val="404040"/>
                </a:solidFill>
                <a:latin typeface="Lucida Grande CY" pitchFamily="2" charset="-52"/>
              </a:rPr>
              <a:t>		</a:t>
            </a:r>
          </a:p>
          <a:p>
            <a:pPr marL="2160000" defTabSz="914400">
              <a:lnSpc>
                <a:spcPct val="120000"/>
              </a:lnSpc>
              <a:defRPr/>
            </a:pPr>
            <a:r>
              <a:rPr kumimoji="0" lang="ru-RU" sz="4000" dirty="0">
                <a:solidFill>
                  <a:srgbClr val="404040"/>
                </a:solidFill>
                <a:latin typeface="Arial" pitchFamily="34" charset="0"/>
              </a:rPr>
              <a:t>Описание алгоритмов и параллельные формы</a:t>
            </a:r>
            <a:endParaRPr kumimoji="0" lang="ru-RU" sz="4000" dirty="0">
              <a:solidFill>
                <a:prstClr val="black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5935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935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4" name="Rechteck 39"/>
          <p:cNvSpPr>
            <a:spLocks noChangeArrowheads="1"/>
          </p:cNvSpPr>
          <p:nvPr/>
        </p:nvSpPr>
        <p:spPr bwMode="gray">
          <a:xfrm>
            <a:off x="3365935" y="1695451"/>
            <a:ext cx="8496300" cy="40036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ts val="936"/>
              </a:spcAft>
            </a:pP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Запись на естественном языке</a:t>
            </a:r>
            <a:r>
              <a:rPr kumimoji="0" lang="ru-RU" sz="2800" noProof="1">
                <a:solidFill>
                  <a:srgbClr val="404040"/>
                </a:solidFill>
                <a:latin typeface="Arial" pitchFamily="34" charset="0"/>
              </a:rPr>
              <a:t>:</a:t>
            </a:r>
          </a:p>
          <a:p>
            <a:pPr>
              <a:spcAft>
                <a:spcPct val="200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«Макароны положить в кипящую воду (не менее 1 литра воды на 100 г. продукта), помешивая, варить до готовности»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>
              <a:spcAft>
                <a:spcPct val="20000"/>
              </a:spcAft>
            </a:pP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 algn="ctr">
              <a:spcAft>
                <a:spcPct val="20000"/>
              </a:spcAft>
            </a:pP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Алгоритм это или нет?</a:t>
            </a:r>
          </a:p>
        </p:txBody>
      </p:sp>
    </p:spTree>
    <p:extLst>
      <p:ext uri="{BB962C8B-B14F-4D97-AF65-F5344CB8AC3E}">
        <p14:creationId xmlns:p14="http://schemas.microsoft.com/office/powerpoint/2010/main" val="165694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5937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937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5" name="Rechteck 39"/>
          <p:cNvSpPr>
            <a:spLocks noChangeArrowheads="1"/>
          </p:cNvSpPr>
          <p:nvPr/>
        </p:nvSpPr>
        <p:spPr bwMode="gray">
          <a:xfrm>
            <a:off x="3365937" y="1973263"/>
            <a:ext cx="8496300" cy="42211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spcAft>
                <a:spcPct val="200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«Алгоритм  — это конечный набор </a:t>
            </a:r>
            <a:b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правил, который определяет </a:t>
            </a:r>
            <a:b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последовательность операций для </a:t>
            </a:r>
            <a:b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решения конкретного множества </a:t>
            </a:r>
            <a:b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задач и обладает пятью важными </a:t>
            </a:r>
            <a:b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</a:b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чертами: </a:t>
            </a:r>
            <a:r>
              <a:rPr kumimoji="0" lang="ru-RU" sz="2400" dirty="0">
                <a:solidFill>
                  <a:srgbClr val="800000"/>
                </a:solidFill>
                <a:latin typeface="Arial" pitchFamily="34" charset="0"/>
              </a:rPr>
              <a:t>конечность, </a:t>
            </a:r>
            <a:br>
              <a:rPr kumimoji="0" lang="ru-RU" sz="2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2400" dirty="0">
                <a:solidFill>
                  <a:srgbClr val="800000"/>
                </a:solidFill>
                <a:latin typeface="Arial" pitchFamily="34" charset="0"/>
              </a:rPr>
              <a:t>определённость, ввод, вывод, </a:t>
            </a:r>
            <a:br>
              <a:rPr kumimoji="0" lang="ru-RU" sz="2400" dirty="0">
                <a:solidFill>
                  <a:srgbClr val="800000"/>
                </a:solidFill>
                <a:latin typeface="Arial" pitchFamily="34" charset="0"/>
              </a:rPr>
            </a:br>
            <a:r>
              <a:rPr kumimoji="0" lang="ru-RU" sz="2400" dirty="0">
                <a:solidFill>
                  <a:srgbClr val="800000"/>
                </a:solidFill>
                <a:latin typeface="Arial" pitchFamily="34" charset="0"/>
              </a:rPr>
              <a:t>эффективность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».</a:t>
            </a:r>
          </a:p>
          <a:p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10000"/>
              </a:lnSpc>
              <a:spcAft>
                <a:spcPct val="20000"/>
              </a:spcAft>
            </a:pP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Дональд Кнут</a:t>
            </a:r>
            <a:endParaRPr kumimoji="0" lang="ru-RU" sz="2300" b="1" noProof="1">
              <a:solidFill>
                <a:srgbClr val="00235C"/>
              </a:solidFill>
              <a:latin typeface="Arial" pitchFamily="34" charset="0"/>
            </a:endParaRPr>
          </a:p>
        </p:txBody>
      </p:sp>
      <p:pic>
        <p:nvPicPr>
          <p:cNvPr id="96" name="Рисунок 7" descr="Knuth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55513" y="2078038"/>
            <a:ext cx="2759075" cy="326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82496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5937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937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4" name="Rechteck 39"/>
          <p:cNvSpPr>
            <a:spLocks noChangeArrowheads="1"/>
          </p:cNvSpPr>
          <p:nvPr/>
        </p:nvSpPr>
        <p:spPr bwMode="gray">
          <a:xfrm>
            <a:off x="3365937" y="1695451"/>
            <a:ext cx="8496300" cy="40036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ts val="936"/>
              </a:spcAft>
            </a:pP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Запись на естественном языке</a:t>
            </a:r>
            <a:r>
              <a:rPr kumimoji="0" lang="ru-RU" sz="2600" noProof="1">
                <a:solidFill>
                  <a:srgbClr val="404040"/>
                </a:solidFill>
                <a:latin typeface="Arial" pitchFamily="34" charset="0"/>
              </a:rPr>
              <a:t>:</a:t>
            </a:r>
          </a:p>
          <a:p>
            <a:pPr>
              <a:spcAft>
                <a:spcPct val="200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«Макароны положить в кипящую воду (не менее 1 литра воды на 100 г. продукта), помешивая, варить до готовности»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>
              <a:lnSpc>
                <a:spcPct val="150000"/>
              </a:lnSpc>
              <a:spcAft>
                <a:spcPct val="20000"/>
              </a:spcAft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Что означает «готовность»?</a:t>
            </a: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spcAft>
                <a:spcPct val="200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Вербальная запись алгоритма часто содержит неоднозначности, которые разными исполнителями могут трактоваться по-разному.</a:t>
            </a:r>
            <a:endParaRPr kumimoji="0" lang="ru-RU" sz="2400" noProof="1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67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5931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931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3" name="Rechteck 39"/>
          <p:cNvSpPr>
            <a:spLocks noChangeArrowheads="1"/>
          </p:cNvSpPr>
          <p:nvPr/>
        </p:nvSpPr>
        <p:spPr bwMode="gray">
          <a:xfrm>
            <a:off x="3365931" y="1728001"/>
            <a:ext cx="8496300" cy="4167859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216000" rIns="216000" bIns="36000" anchor="t" anchorCtr="0"/>
          <a:lstStyle/>
          <a:p>
            <a:pPr algn="ctr">
              <a:spcAft>
                <a:spcPts val="936"/>
              </a:spcAft>
            </a:pP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</a:rPr>
              <a:t>Запись формулой или на алгоритмическом языке :</a:t>
            </a:r>
            <a:endParaRPr kumimoji="0" lang="ru-RU" sz="28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50000"/>
              </a:lnSpc>
              <a:spcAft>
                <a:spcPct val="20000"/>
              </a:spcAft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                         S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 a[1] + a[2] + a[3];</a:t>
            </a:r>
            <a:endParaRPr kumimoji="0" lang="en-US" sz="24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50000"/>
              </a:lnSpc>
              <a:spcAft>
                <a:spcPct val="200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Каков порядок выполнения операций?</a:t>
            </a: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50000"/>
              </a:lnSpc>
              <a:spcAft>
                <a:spcPct val="20000"/>
              </a:spcAft>
            </a:pP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    S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=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a[1] + a[2]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+ a[3]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или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S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:=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a[1] + (a[2] + a[3]) ?</a:t>
            </a:r>
            <a:endParaRPr kumimoji="0" lang="en-US" sz="24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spcAft>
                <a:spcPct val="200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Крокодила измеряем от головы к хвосту или от хвоста к голове?</a:t>
            </a:r>
            <a:endParaRPr kumimoji="0" lang="ru-RU" sz="2400" noProof="1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98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5933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933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2" name="Rechteck 39"/>
          <p:cNvSpPr>
            <a:spLocks noChangeArrowheads="1"/>
          </p:cNvSpPr>
          <p:nvPr/>
        </p:nvSpPr>
        <p:spPr bwMode="gray">
          <a:xfrm>
            <a:off x="3365933" y="1728001"/>
            <a:ext cx="8496300" cy="473844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ts val="600"/>
              </a:spcAft>
            </a:pP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</a:rPr>
              <a:t>Запись формулой или на алгоритмическом языке :</a:t>
            </a:r>
            <a:r>
              <a:rPr kumimoji="0" lang="ru-RU" sz="2800" noProof="1">
                <a:solidFill>
                  <a:prstClr val="black"/>
                </a:solidFill>
                <a:latin typeface="Arial" pitchFamily="34" charset="0"/>
              </a:rPr>
              <a:t> </a:t>
            </a:r>
          </a:p>
          <a:p>
            <a:pPr>
              <a:spcBef>
                <a:spcPts val="600"/>
              </a:spcBef>
              <a:spcAft>
                <a:spcPct val="25000"/>
              </a:spcAft>
            </a:pP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Пусть мантисса может хранить только 4 десятичных разряда.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</a:t>
            </a:r>
            <a:endParaRPr lang="ru-RU" sz="23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spcBef>
                <a:spcPct val="40000"/>
              </a:spcBef>
              <a:spcAft>
                <a:spcPct val="25000"/>
              </a:spcAft>
            </a:pP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	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a[1] = 0.1024*10</a:t>
            </a: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, a[2] = -0.1023*10</a:t>
            </a: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, a[3] = 0.6*10</a:t>
            </a: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lang="en-US" sz="23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.</a:t>
            </a:r>
            <a:endParaRPr kumimoji="0" lang="en-US" sz="23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30000"/>
              </a:lnSpc>
              <a:spcAft>
                <a:spcPct val="20000"/>
              </a:spcAft>
            </a:pPr>
            <a:r>
              <a:rPr kumimoji="0" lang="ru-RU" sz="2300" dirty="0">
                <a:solidFill>
                  <a:srgbClr val="404040"/>
                </a:solidFill>
                <a:latin typeface="Arial" pitchFamily="34" charset="0"/>
              </a:rPr>
              <a:t>Первый порядок сложений</a:t>
            </a:r>
            <a:r>
              <a:rPr kumimoji="0" lang="ru-RU" sz="2300" noProof="1">
                <a:solidFill>
                  <a:srgbClr val="404040"/>
                </a:solidFill>
                <a:latin typeface="Arial" pitchFamily="34" charset="0"/>
              </a:rPr>
              <a:t>:</a:t>
            </a:r>
          </a:p>
          <a:p>
            <a:pPr algn="ctr">
              <a:spcBef>
                <a:spcPct val="30000"/>
              </a:spcBef>
            </a:pP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a[1] + a[2] = </a:t>
            </a:r>
            <a:r>
              <a:rPr lang="en-US" sz="2300" dirty="0" smtClean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lang="ru-RU" sz="2300">
                <a:solidFill>
                  <a:prstClr val="black"/>
                </a:solidFill>
                <a:latin typeface="Arial" pitchFamily="34" charset="0"/>
              </a:rPr>
              <a:t>.</a:t>
            </a:r>
            <a:r>
              <a:rPr lang="en-US" sz="2300" smtClean="0">
                <a:solidFill>
                  <a:prstClr val="black"/>
                </a:solidFill>
                <a:latin typeface="Arial" pitchFamily="34" charset="0"/>
              </a:rPr>
              <a:t>1024*10</a:t>
            </a:r>
            <a:r>
              <a:rPr lang="en-US" sz="2300" baseline="30000" smtClean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lang="en-US" sz="2300" smtClean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- 0.1023*10</a:t>
            </a: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= 0.00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1*10</a:t>
            </a: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= 0.1*10</a:t>
            </a: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1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(a[1] + a[2]) + a[3] = 0.1*10</a:t>
            </a: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+ 0.6 * 10</a:t>
            </a: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= 1*10</a:t>
            </a: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+ 0.6*10</a:t>
            </a: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0 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= 1.6*10</a:t>
            </a: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= 0.16*10</a:t>
            </a: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1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                           </a:t>
            </a:r>
            <a:endParaRPr kumimoji="0" lang="en-US" sz="2300" b="1" noProof="1">
              <a:solidFill>
                <a:srgbClr val="00235C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15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5931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65931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1" name="Rechteck 39"/>
          <p:cNvSpPr>
            <a:spLocks noChangeArrowheads="1"/>
          </p:cNvSpPr>
          <p:nvPr/>
        </p:nvSpPr>
        <p:spPr bwMode="gray">
          <a:xfrm>
            <a:off x="3365931" y="1728001"/>
            <a:ext cx="8496300" cy="4782089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216000" rIns="216000" bIns="36000" anchor="t" anchorCtr="0"/>
          <a:lstStyle/>
          <a:p>
            <a:pPr algn="ctr">
              <a:spcAft>
                <a:spcPts val="936"/>
              </a:spcAft>
            </a:pP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</a:rPr>
              <a:t>Запись формулой или на алгоритмическом языке :</a:t>
            </a:r>
            <a:r>
              <a:rPr kumimoji="0" lang="ru-RU" sz="2800" noProof="1">
                <a:solidFill>
                  <a:prstClr val="black"/>
                </a:solidFill>
                <a:latin typeface="Arial" pitchFamily="34" charset="0"/>
              </a:rPr>
              <a:t> </a:t>
            </a:r>
            <a:endParaRPr kumimoji="0" lang="ru-RU" sz="28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ct val="20000"/>
              </a:spcAft>
            </a:pPr>
            <a:r>
              <a:rPr kumimoji="0" lang="ru-RU" sz="2300" dirty="0">
                <a:solidFill>
                  <a:srgbClr val="404040"/>
                </a:solidFill>
                <a:latin typeface="Arial" pitchFamily="34" charset="0"/>
              </a:rPr>
              <a:t>Второй порядок сложений</a:t>
            </a:r>
            <a:r>
              <a:rPr kumimoji="0" lang="ru-RU" sz="2300" noProof="1">
                <a:solidFill>
                  <a:srgbClr val="404040"/>
                </a:solidFill>
                <a:latin typeface="Arial" pitchFamily="34" charset="0"/>
              </a:rPr>
              <a:t>: </a:t>
            </a:r>
          </a:p>
          <a:p>
            <a:pPr algn="ctr">
              <a:lnSpc>
                <a:spcPct val="130000"/>
              </a:lnSpc>
              <a:spcBef>
                <a:spcPct val="30000"/>
              </a:spcBef>
            </a:pP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a[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] + a[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] = 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-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.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102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3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*10</a:t>
            </a: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+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0.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6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*10</a:t>
            </a:r>
            <a:r>
              <a:rPr lang="ru-RU" sz="2300" baseline="300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-1023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*10</a:t>
            </a:r>
            <a:r>
              <a:rPr lang="ru-RU" sz="2300" baseline="300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+0.6*10</a:t>
            </a:r>
            <a:r>
              <a:rPr lang="ru-RU" sz="2300" baseline="30000" dirty="0">
                <a:solidFill>
                  <a:prstClr val="black"/>
                </a:solidFill>
                <a:latin typeface="Arial" pitchFamily="34" charset="0"/>
              </a:rPr>
              <a:t>0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= 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       -1022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.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*10</a:t>
            </a:r>
            <a:r>
              <a:rPr lang="ru-RU" sz="2300" baseline="30000" dirty="0">
                <a:solidFill>
                  <a:prstClr val="black"/>
                </a:solidFill>
                <a:latin typeface="Arial" pitchFamily="34" charset="0"/>
              </a:rPr>
              <a:t>0 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=  -0.102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4*10</a:t>
            </a:r>
            <a:r>
              <a:rPr lang="ru-RU" sz="2300" baseline="30000" dirty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 = -0.1022*10</a:t>
            </a:r>
            <a:r>
              <a:rPr lang="ru-RU" sz="2300" baseline="30000" dirty="0">
                <a:solidFill>
                  <a:prstClr val="black"/>
                </a:solidFill>
                <a:latin typeface="Arial" pitchFamily="34" charset="0"/>
              </a:rPr>
              <a:t>4</a:t>
            </a:r>
            <a:endParaRPr lang="en-US" sz="2300" baseline="30000" dirty="0">
              <a:solidFill>
                <a:prstClr val="black"/>
              </a:solidFill>
              <a:latin typeface="Arial" pitchFamily="34" charset="0"/>
            </a:endParaRPr>
          </a:p>
          <a:p>
            <a:pPr algn="ctr">
              <a:spcBef>
                <a:spcPct val="40000"/>
              </a:spcBef>
            </a:pPr>
            <a:r>
              <a:rPr lang="en-US" sz="2300" baseline="300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a[1] + 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a[2] + a[3]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= 0.1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024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*10</a:t>
            </a:r>
            <a:r>
              <a:rPr lang="ru-RU" sz="2300" baseline="30000" dirty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-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0.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1022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* 10</a:t>
            </a:r>
            <a:r>
              <a:rPr lang="ru-RU" sz="2300" baseline="30000" dirty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= 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0.0002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*10</a:t>
            </a:r>
            <a:r>
              <a:rPr lang="ru-RU" sz="2300" baseline="30000" dirty="0">
                <a:solidFill>
                  <a:prstClr val="black"/>
                </a:solidFill>
                <a:latin typeface="Arial" pitchFamily="34" charset="0"/>
              </a:rPr>
              <a:t>4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= 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 0.</a:t>
            </a:r>
            <a:r>
              <a:rPr lang="ru-RU" sz="2300" dirty="0">
                <a:solidFill>
                  <a:prstClr val="black"/>
                </a:solidFill>
                <a:latin typeface="Arial" pitchFamily="34" charset="0"/>
              </a:rPr>
              <a:t>2</a:t>
            </a:r>
            <a:r>
              <a:rPr lang="en-US" sz="2300" dirty="0">
                <a:solidFill>
                  <a:prstClr val="black"/>
                </a:solidFill>
                <a:latin typeface="Arial" pitchFamily="34" charset="0"/>
              </a:rPr>
              <a:t>*10</a:t>
            </a:r>
            <a:r>
              <a:rPr lang="ru-RU" sz="2300" baseline="30000" dirty="0">
                <a:solidFill>
                  <a:prstClr val="black"/>
                </a:solidFill>
                <a:latin typeface="Arial" pitchFamily="34" charset="0"/>
              </a:rPr>
              <a:t>1</a:t>
            </a:r>
            <a:endParaRPr kumimoji="0" lang="ru-RU" sz="2000" noProof="1">
              <a:solidFill>
                <a:srgbClr val="404040"/>
              </a:solidFill>
              <a:latin typeface="Arial" pitchFamily="34" charset="0"/>
            </a:endParaRPr>
          </a:p>
          <a:p>
            <a:pPr algn="ctr">
              <a:spcBef>
                <a:spcPct val="5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Крокодил длиной 1.6 метра от головы к хвосту и длиной 2 метра от хвоста к голове!</a:t>
            </a:r>
            <a:endParaRPr kumimoji="0" lang="ru-RU" sz="2400" noProof="1">
              <a:solidFill>
                <a:prstClr val="black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69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57056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37" name="Rechteck 36"/>
          <p:cNvSpPr>
            <a:spLocks noChangeArrowheads="1"/>
          </p:cNvSpPr>
          <p:nvPr/>
        </p:nvSpPr>
        <p:spPr bwMode="gray">
          <a:xfrm>
            <a:off x="3357056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0" name="Rechteck 39"/>
          <p:cNvSpPr>
            <a:spLocks noChangeArrowheads="1"/>
          </p:cNvSpPr>
          <p:nvPr/>
        </p:nvSpPr>
        <p:spPr bwMode="gray">
          <a:xfrm>
            <a:off x="3357056" y="1993900"/>
            <a:ext cx="8496300" cy="413543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spcAft>
                <a:spcPct val="20000"/>
              </a:spcAft>
            </a:pPr>
            <a:endParaRPr kumimoji="0" lang="ru-RU" sz="2300" b="1" noProof="1">
              <a:solidFill>
                <a:srgbClr val="00235C"/>
              </a:solidFill>
              <a:latin typeface="Lucida Grande CY" pitchFamily="2" charset="-52"/>
            </a:endParaRPr>
          </a:p>
          <a:p>
            <a:pPr>
              <a:spcAft>
                <a:spcPct val="20000"/>
              </a:spcAft>
              <a:buFont typeface="Arial" pitchFamily="34" charset="0"/>
              <a:buNone/>
            </a:pPr>
            <a:r>
              <a:rPr kumimoji="0" lang="ru-RU" sz="2400" b="1" noProof="1">
                <a:solidFill>
                  <a:srgbClr val="404040"/>
                </a:solidFill>
                <a:latin typeface="Lucida Grande CY" pitchFamily="2" charset="-52"/>
              </a:rPr>
              <a:t>          </a:t>
            </a:r>
          </a:p>
          <a:p>
            <a:pPr algn="ctr">
              <a:lnSpc>
                <a:spcPct val="150000"/>
              </a:lnSpc>
              <a:spcAft>
                <a:spcPct val="20000"/>
              </a:spcAft>
            </a:pPr>
            <a:r>
              <a:rPr kumimoji="0" lang="ru-RU" altLang="ko-KR" sz="2800" b="1" dirty="0">
                <a:solidFill>
                  <a:prstClr val="black"/>
                </a:solidFill>
                <a:latin typeface="Arial" pitchFamily="34" charset="0"/>
              </a:rPr>
              <a:t>Нужна другая форма представления алгоритмов </a:t>
            </a:r>
            <a:r>
              <a:rPr kumimoji="0" lang="ru-RU" altLang="ko-KR" sz="2800" b="1" noProof="1">
                <a:solidFill>
                  <a:srgbClr val="404040"/>
                </a:solidFill>
                <a:latin typeface="Arial" pitchFamily="34" charset="0"/>
              </a:rPr>
              <a:t>!</a:t>
            </a:r>
            <a:r>
              <a:rPr kumimoji="0" lang="ru-RU" sz="2800" b="1" noProof="1">
                <a:solidFill>
                  <a:srgbClr val="404040"/>
                </a:solidFill>
                <a:latin typeface="Arial" pitchFamily="34" charset="0"/>
              </a:rPr>
              <a:t> </a:t>
            </a:r>
          </a:p>
          <a:p>
            <a:pPr>
              <a:lnSpc>
                <a:spcPct val="130000"/>
              </a:lnSpc>
              <a:spcAft>
                <a:spcPct val="20000"/>
              </a:spcAft>
            </a:pPr>
            <a:endParaRPr kumimoji="0" lang="ru-RU" sz="2300" noProof="1">
              <a:solidFill>
                <a:srgbClr val="404040"/>
              </a:solidFill>
              <a:latin typeface="Lucida Grande CY" pitchFamily="2" charset="-52"/>
            </a:endParaRPr>
          </a:p>
          <a:p>
            <a:pPr>
              <a:lnSpc>
                <a:spcPct val="150000"/>
              </a:lnSpc>
              <a:spcAft>
                <a:spcPct val="20000"/>
              </a:spcAft>
            </a:pPr>
            <a:endParaRPr kumimoji="0" lang="ru-RU" sz="2000" noProof="1">
              <a:solidFill>
                <a:srgbClr val="404040"/>
              </a:solidFill>
              <a:latin typeface="Lucida Grande CY" pitchFamily="2" charset="-52"/>
            </a:endParaRPr>
          </a:p>
          <a:p>
            <a:pPr>
              <a:lnSpc>
                <a:spcPct val="150000"/>
              </a:lnSpc>
              <a:spcAft>
                <a:spcPct val="20000"/>
              </a:spcAft>
            </a:pPr>
            <a:r>
              <a:rPr kumimoji="0" lang="en-US" sz="2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Lucida Grande CY" pitchFamily="2" charset="-52"/>
              </a:rPr>
              <a:t>                            </a:t>
            </a:r>
            <a:endParaRPr kumimoji="0" lang="en-US" sz="2400" noProof="1">
              <a:solidFill>
                <a:srgbClr val="404040"/>
              </a:solidFill>
              <a:latin typeface="Lucida Grande CY" pitchFamily="2" charset="-52"/>
            </a:endParaRPr>
          </a:p>
          <a:p>
            <a:pPr>
              <a:spcAft>
                <a:spcPct val="20000"/>
              </a:spcAft>
              <a:buFont typeface="Arial" pitchFamily="34" charset="0"/>
              <a:buChar char="•"/>
            </a:pPr>
            <a:endParaRPr kumimoji="0" lang="en-US" sz="2300" b="1" noProof="1">
              <a:solidFill>
                <a:srgbClr val="00235C"/>
              </a:solidFill>
              <a:latin typeface="Lucida Grande CY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467940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5934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89" name="Rechteck 39"/>
          <p:cNvSpPr>
            <a:spLocks noChangeArrowheads="1"/>
          </p:cNvSpPr>
          <p:nvPr/>
        </p:nvSpPr>
        <p:spPr bwMode="gray">
          <a:xfrm>
            <a:off x="3365934" y="1728000"/>
            <a:ext cx="8496300" cy="4572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216000" rIns="216000" bIns="36000" anchor="t" anchorCtr="0"/>
          <a:lstStyle/>
          <a:p>
            <a:pPr algn="ctr">
              <a:spcAft>
                <a:spcPct val="20000"/>
              </a:spcAft>
            </a:pP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</a:rPr>
              <a:t>Граф алгоритма</a:t>
            </a:r>
            <a:r>
              <a:rPr kumimoji="0" lang="en-US" sz="28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</a:rPr>
              <a:t>реализованного программой</a:t>
            </a:r>
            <a:endParaRPr kumimoji="0" lang="ru-RU" sz="2800" noProof="1">
              <a:solidFill>
                <a:srgbClr val="404040"/>
              </a:solidFill>
              <a:latin typeface="Arial" pitchFamily="34" charset="0"/>
            </a:endParaRPr>
          </a:p>
          <a:p>
            <a:pPr>
              <a:spcBef>
                <a:spcPts val="1200"/>
              </a:spcBef>
            </a:pP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Функционирование  любой  вычислительной системы сводится к выполнению двух видов работы: обработке информации и ее вводу-выводу.</a:t>
            </a:r>
            <a:endParaRPr kumimoji="0" lang="ru-RU" sz="2200" noProof="1">
              <a:solidFill>
                <a:prstClr val="black"/>
              </a:solidFill>
              <a:latin typeface="Arial" pitchFamily="34" charset="0"/>
            </a:endParaRPr>
          </a:p>
          <a:p>
            <a:pPr algn="just">
              <a:spcBef>
                <a:spcPts val="1200"/>
              </a:spcBef>
              <a:spcAft>
                <a:spcPct val="20000"/>
              </a:spcAft>
            </a:pP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Любой алгоритм, реализованный на компьютере, должен осуществлять некоторые действия над исходной информацией, задавая частичный порядок их выполнения.</a:t>
            </a:r>
            <a:endParaRPr kumimoji="0" lang="ru-RU" sz="2200" noProof="1">
              <a:solidFill>
                <a:prstClr val="black"/>
              </a:solidFill>
              <a:latin typeface="Arial" pitchFamily="34" charset="0"/>
            </a:endParaRPr>
          </a:p>
          <a:p>
            <a:pPr>
              <a:spcBef>
                <a:spcPts val="1200"/>
              </a:spcBef>
            </a:pP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</a:rPr>
              <a:t>Результаты, полученные при исполнении одних операций, могут служить исходными данными для исполнения других операций.</a:t>
            </a:r>
            <a:endParaRPr kumimoji="0" lang="ru-RU" sz="2200" noProof="1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5" name="Rechteck 36">
            <a:extLst>
              <a:ext uri="{FF2B5EF4-FFF2-40B4-BE49-F238E27FC236}">
                <a16:creationId xmlns:a16="http://schemas.microsoft.com/office/drawing/2014/main" xmlns="" id="{8A47AD9F-6B5C-402B-BD36-8FBE4F7D66A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934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65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3755763" y="4470925"/>
            <a:ext cx="7449015" cy="203132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5934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51" name="Text Box 3"/>
          <p:cNvSpPr txBox="1">
            <a:spLocks noChangeArrowheads="1"/>
          </p:cNvSpPr>
          <p:nvPr/>
        </p:nvSpPr>
        <p:spPr bwMode="auto">
          <a:xfrm>
            <a:off x="5416984" y="2476501"/>
            <a:ext cx="230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52" name="Text Box 5"/>
          <p:cNvSpPr txBox="1">
            <a:spLocks noChangeArrowheads="1"/>
          </p:cNvSpPr>
          <p:nvPr/>
        </p:nvSpPr>
        <p:spPr bwMode="auto">
          <a:xfrm>
            <a:off x="3365934" y="1728000"/>
            <a:ext cx="8496300" cy="2556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216000">
            <a:noAutofit/>
          </a:bodyPr>
          <a:lstStyle/>
          <a:p>
            <a:pPr algn="ctr" eaLnBrk="0" hangingPunct="0">
              <a:spcAft>
                <a:spcPct val="20000"/>
              </a:spcAft>
            </a:pP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</a:rPr>
              <a:t>Граф алгоритма</a:t>
            </a:r>
            <a:r>
              <a:rPr kumimoji="0" lang="en-US" sz="28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</a:rPr>
              <a:t>реализованного программой</a:t>
            </a:r>
            <a:endParaRPr kumimoji="0" lang="ru-RU" sz="2800" noProof="1">
              <a:solidFill>
                <a:srgbClr val="404040"/>
              </a:solidFill>
              <a:latin typeface="Arial" pitchFamily="34" charset="0"/>
            </a:endParaRPr>
          </a:p>
          <a:p>
            <a:pPr algn="just" eaLnBrk="0" hangingPunct="0">
              <a:spcAft>
                <a:spcPct val="20000"/>
              </a:spcAft>
            </a:pPr>
            <a:r>
              <a:rPr kumimoji="0" lang="ru-RU" sz="2200" dirty="0">
                <a:solidFill>
                  <a:prstClr val="black"/>
                </a:solidFill>
                <a:latin typeface="Arial" pitchFamily="34" charset="0"/>
                <a:ea typeface="Arial Unicode MS" pitchFamily="34" charset="-128"/>
              </a:rPr>
              <a:t>Каждой операции в алгоритме сопоставим вершину графа. Для наглядности отдельными вершинами отразим операции ввода и вывода. Если результат одной операции используется как данное при выполнении другой операции, то свяжем эти вершины направленным ребром.</a:t>
            </a:r>
            <a:endParaRPr kumimoji="0" lang="ru-RU" sz="2200" noProof="1">
              <a:solidFill>
                <a:prstClr val="black"/>
              </a:solidFill>
              <a:latin typeface="Arial" pitchFamily="34" charset="0"/>
              <a:ea typeface="Arial Unicode MS" pitchFamily="34" charset="-128"/>
            </a:endParaRPr>
          </a:p>
        </p:txBody>
      </p:sp>
      <p:sp>
        <p:nvSpPr>
          <p:cNvPr id="53" name="Oval 5"/>
          <p:cNvSpPr>
            <a:spLocks noChangeArrowheads="1"/>
          </p:cNvSpPr>
          <p:nvPr/>
        </p:nvSpPr>
        <p:spPr bwMode="auto">
          <a:xfrm>
            <a:off x="4666098" y="5039974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" name="Oval 6"/>
          <p:cNvSpPr>
            <a:spLocks noChangeArrowheads="1"/>
          </p:cNvSpPr>
          <p:nvPr/>
        </p:nvSpPr>
        <p:spPr bwMode="auto">
          <a:xfrm>
            <a:off x="5386823" y="5039974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" name="Oval 7"/>
          <p:cNvSpPr>
            <a:spLocks noChangeArrowheads="1"/>
          </p:cNvSpPr>
          <p:nvPr/>
        </p:nvSpPr>
        <p:spPr bwMode="auto">
          <a:xfrm>
            <a:off x="4666098" y="5653591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6" name="Oval 8"/>
          <p:cNvSpPr>
            <a:spLocks noChangeArrowheads="1"/>
          </p:cNvSpPr>
          <p:nvPr/>
        </p:nvSpPr>
        <p:spPr bwMode="auto">
          <a:xfrm>
            <a:off x="5386823" y="565517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7" name="Oval 9"/>
          <p:cNvSpPr>
            <a:spLocks noChangeArrowheads="1"/>
          </p:cNvSpPr>
          <p:nvPr/>
        </p:nvSpPr>
        <p:spPr bwMode="auto">
          <a:xfrm>
            <a:off x="6107548" y="5039974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8" name="Oval 10"/>
          <p:cNvSpPr>
            <a:spLocks noChangeArrowheads="1"/>
          </p:cNvSpPr>
          <p:nvPr/>
        </p:nvSpPr>
        <p:spPr bwMode="auto">
          <a:xfrm>
            <a:off x="6826684" y="5038387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9" name="Line 11"/>
          <p:cNvSpPr>
            <a:spLocks noChangeShapeType="1"/>
          </p:cNvSpPr>
          <p:nvPr/>
        </p:nvSpPr>
        <p:spPr bwMode="auto">
          <a:xfrm>
            <a:off x="4737534" y="5074898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0" name="Line 12"/>
          <p:cNvSpPr>
            <a:spLocks noChangeShapeType="1"/>
          </p:cNvSpPr>
          <p:nvPr/>
        </p:nvSpPr>
        <p:spPr bwMode="auto">
          <a:xfrm>
            <a:off x="5458259" y="5076486"/>
            <a:ext cx="649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1" name="Line 13"/>
          <p:cNvSpPr>
            <a:spLocks noChangeShapeType="1"/>
          </p:cNvSpPr>
          <p:nvPr/>
        </p:nvSpPr>
        <p:spPr bwMode="auto">
          <a:xfrm>
            <a:off x="6177398" y="5076486"/>
            <a:ext cx="649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2" name="Line 14"/>
          <p:cNvSpPr>
            <a:spLocks noChangeShapeType="1"/>
          </p:cNvSpPr>
          <p:nvPr/>
        </p:nvSpPr>
        <p:spPr bwMode="auto">
          <a:xfrm flipV="1">
            <a:off x="4739122" y="511141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Line 15"/>
          <p:cNvSpPr>
            <a:spLocks noChangeShapeType="1"/>
          </p:cNvSpPr>
          <p:nvPr/>
        </p:nvSpPr>
        <p:spPr bwMode="auto">
          <a:xfrm flipV="1">
            <a:off x="5459847" y="511141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4" name="Text Box 16"/>
          <p:cNvSpPr txBox="1">
            <a:spLocks noChangeArrowheads="1"/>
          </p:cNvSpPr>
          <p:nvPr/>
        </p:nvSpPr>
        <p:spPr bwMode="auto">
          <a:xfrm>
            <a:off x="4366060" y="4694319"/>
            <a:ext cx="62547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a[1]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 Box 17"/>
          <p:cNvSpPr txBox="1">
            <a:spLocks noChangeArrowheads="1"/>
          </p:cNvSpPr>
          <p:nvPr/>
        </p:nvSpPr>
        <p:spPr bwMode="auto">
          <a:xfrm>
            <a:off x="4366060" y="5272590"/>
            <a:ext cx="62388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prstClr val="black"/>
                </a:solidFill>
                <a:latin typeface="Arial" panose="020B0604020202020204" pitchFamily="34" charset="0"/>
              </a:rPr>
              <a:t>a[2]</a:t>
            </a:r>
            <a:endParaRPr lang="ru-RU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6" name="Text Box 18"/>
          <p:cNvSpPr txBox="1">
            <a:spLocks noChangeArrowheads="1"/>
          </p:cNvSpPr>
          <p:nvPr/>
        </p:nvSpPr>
        <p:spPr bwMode="auto">
          <a:xfrm>
            <a:off x="5110597" y="5272590"/>
            <a:ext cx="60007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a[3]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7" name="Text Box 19"/>
          <p:cNvSpPr txBox="1">
            <a:spLocks noChangeArrowheads="1"/>
          </p:cNvSpPr>
          <p:nvPr/>
        </p:nvSpPr>
        <p:spPr bwMode="auto">
          <a:xfrm>
            <a:off x="5170923" y="4694319"/>
            <a:ext cx="50482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+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8" name="Text Box 20"/>
          <p:cNvSpPr txBox="1">
            <a:spLocks noChangeArrowheads="1"/>
          </p:cNvSpPr>
          <p:nvPr/>
        </p:nvSpPr>
        <p:spPr bwMode="auto">
          <a:xfrm>
            <a:off x="5926573" y="4694319"/>
            <a:ext cx="50482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+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9" name="Text Box 21"/>
          <p:cNvSpPr txBox="1">
            <a:spLocks noChangeArrowheads="1"/>
          </p:cNvSpPr>
          <p:nvPr/>
        </p:nvSpPr>
        <p:spPr bwMode="auto">
          <a:xfrm>
            <a:off x="6610785" y="4694319"/>
            <a:ext cx="50482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S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70" name="Oval 22"/>
          <p:cNvSpPr>
            <a:spLocks noChangeArrowheads="1"/>
          </p:cNvSpPr>
          <p:nvPr/>
        </p:nvSpPr>
        <p:spPr bwMode="auto">
          <a:xfrm>
            <a:off x="8412598" y="506219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1" name="Oval 23"/>
          <p:cNvSpPr>
            <a:spLocks noChangeArrowheads="1"/>
          </p:cNvSpPr>
          <p:nvPr/>
        </p:nvSpPr>
        <p:spPr bwMode="auto">
          <a:xfrm>
            <a:off x="9133323" y="506219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2" name="Oval 24"/>
          <p:cNvSpPr>
            <a:spLocks noChangeArrowheads="1"/>
          </p:cNvSpPr>
          <p:nvPr/>
        </p:nvSpPr>
        <p:spPr bwMode="auto">
          <a:xfrm>
            <a:off x="8412598" y="5744824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3" name="Oval 25"/>
          <p:cNvSpPr>
            <a:spLocks noChangeArrowheads="1"/>
          </p:cNvSpPr>
          <p:nvPr/>
        </p:nvSpPr>
        <p:spPr bwMode="auto">
          <a:xfrm>
            <a:off x="9131734" y="575911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4" name="Oval 26"/>
          <p:cNvSpPr>
            <a:spLocks noChangeArrowheads="1"/>
          </p:cNvSpPr>
          <p:nvPr/>
        </p:nvSpPr>
        <p:spPr bwMode="auto">
          <a:xfrm>
            <a:off x="9854048" y="506219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5" name="Oval 27"/>
          <p:cNvSpPr>
            <a:spLocks noChangeArrowheads="1"/>
          </p:cNvSpPr>
          <p:nvPr/>
        </p:nvSpPr>
        <p:spPr bwMode="auto">
          <a:xfrm>
            <a:off x="10573184" y="506061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6" name="Line 29"/>
          <p:cNvSpPr>
            <a:spLocks noChangeShapeType="1"/>
          </p:cNvSpPr>
          <p:nvPr/>
        </p:nvSpPr>
        <p:spPr bwMode="auto">
          <a:xfrm>
            <a:off x="9204759" y="5098711"/>
            <a:ext cx="649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7" name="Line 30"/>
          <p:cNvSpPr>
            <a:spLocks noChangeShapeType="1"/>
          </p:cNvSpPr>
          <p:nvPr/>
        </p:nvSpPr>
        <p:spPr bwMode="auto">
          <a:xfrm>
            <a:off x="9923898" y="5098711"/>
            <a:ext cx="649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8" name="Line 31"/>
          <p:cNvSpPr>
            <a:spLocks noChangeShapeType="1"/>
          </p:cNvSpPr>
          <p:nvPr/>
        </p:nvSpPr>
        <p:spPr bwMode="auto">
          <a:xfrm flipV="1">
            <a:off x="8485622" y="5133637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9" name="Text Box 33"/>
          <p:cNvSpPr txBox="1">
            <a:spLocks noChangeArrowheads="1"/>
          </p:cNvSpPr>
          <p:nvPr/>
        </p:nvSpPr>
        <p:spPr bwMode="auto">
          <a:xfrm>
            <a:off x="7980798" y="4694319"/>
            <a:ext cx="578821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a[1]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80" name="Text Box 34"/>
          <p:cNvSpPr txBox="1">
            <a:spLocks noChangeArrowheads="1"/>
          </p:cNvSpPr>
          <p:nvPr/>
        </p:nvSpPr>
        <p:spPr bwMode="auto">
          <a:xfrm>
            <a:off x="8088749" y="5294815"/>
            <a:ext cx="64769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a[2]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81" name="Text Box 35"/>
          <p:cNvSpPr txBox="1">
            <a:spLocks noChangeArrowheads="1"/>
          </p:cNvSpPr>
          <p:nvPr/>
        </p:nvSpPr>
        <p:spPr bwMode="auto">
          <a:xfrm>
            <a:off x="9162580" y="5395174"/>
            <a:ext cx="64769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a[3]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82" name="Text Box 36"/>
          <p:cNvSpPr txBox="1">
            <a:spLocks noChangeArrowheads="1"/>
          </p:cNvSpPr>
          <p:nvPr/>
        </p:nvSpPr>
        <p:spPr bwMode="auto">
          <a:xfrm>
            <a:off x="8917423" y="4716544"/>
            <a:ext cx="50482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>
                <a:solidFill>
                  <a:prstClr val="black"/>
                </a:solidFill>
                <a:latin typeface="Arial" panose="020B0604020202020204" pitchFamily="34" charset="0"/>
              </a:rPr>
              <a:t>+</a:t>
            </a:r>
            <a:endParaRPr lang="ru-RU" sz="16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83" name="Text Box 37"/>
          <p:cNvSpPr txBox="1">
            <a:spLocks noChangeArrowheads="1"/>
          </p:cNvSpPr>
          <p:nvPr/>
        </p:nvSpPr>
        <p:spPr bwMode="auto">
          <a:xfrm>
            <a:off x="9673073" y="4716544"/>
            <a:ext cx="50482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>
                <a:solidFill>
                  <a:prstClr val="black"/>
                </a:solidFill>
                <a:latin typeface="Arial" panose="020B0604020202020204" pitchFamily="34" charset="0"/>
              </a:rPr>
              <a:t>+</a:t>
            </a:r>
            <a:endParaRPr lang="ru-RU" sz="16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84" name="Text Box 38"/>
          <p:cNvSpPr txBox="1">
            <a:spLocks noChangeArrowheads="1"/>
          </p:cNvSpPr>
          <p:nvPr/>
        </p:nvSpPr>
        <p:spPr bwMode="auto">
          <a:xfrm>
            <a:off x="10357285" y="4725170"/>
            <a:ext cx="50482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>
                <a:solidFill>
                  <a:prstClr val="black"/>
                </a:solidFill>
                <a:latin typeface="Arial" panose="020B0604020202020204" pitchFamily="34" charset="0"/>
              </a:rPr>
              <a:t>S</a:t>
            </a:r>
            <a:endParaRPr lang="ru-RU" sz="16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85" name="Text Box 39"/>
          <p:cNvSpPr txBox="1">
            <a:spLocks noChangeArrowheads="1"/>
          </p:cNvSpPr>
          <p:nvPr/>
        </p:nvSpPr>
        <p:spPr bwMode="auto">
          <a:xfrm>
            <a:off x="4023886" y="6065499"/>
            <a:ext cx="3346364" cy="4308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</a:rPr>
              <a:t>S = </a:t>
            </a: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</a:rPr>
              <a:t>(</a:t>
            </a: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</a:rPr>
              <a:t>a[1] + a[2]</a:t>
            </a: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</a:rPr>
              <a:t>)</a:t>
            </a: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</a:rPr>
              <a:t> + a[3]</a:t>
            </a:r>
            <a:endParaRPr lang="ru-RU" sz="22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86" name="Text Box 40"/>
          <p:cNvSpPr txBox="1">
            <a:spLocks noChangeArrowheads="1"/>
          </p:cNvSpPr>
          <p:nvPr/>
        </p:nvSpPr>
        <p:spPr bwMode="auto">
          <a:xfrm>
            <a:off x="8088749" y="6060947"/>
            <a:ext cx="3001781" cy="4308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</a:rPr>
              <a:t>S = a[1] + (a[2] + a[3])</a:t>
            </a:r>
            <a:endParaRPr lang="ru-RU" sz="22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87" name="Line 43"/>
          <p:cNvSpPr>
            <a:spLocks noChangeShapeType="1"/>
          </p:cNvSpPr>
          <p:nvPr/>
        </p:nvSpPr>
        <p:spPr bwMode="auto">
          <a:xfrm flipV="1">
            <a:off x="9168247" y="5147923"/>
            <a:ext cx="0" cy="6111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88" name="AutoShape 45"/>
          <p:cNvCxnSpPr>
            <a:cxnSpLocks noChangeShapeType="1"/>
          </p:cNvCxnSpPr>
          <p:nvPr/>
        </p:nvCxnSpPr>
        <p:spPr bwMode="auto">
          <a:xfrm rot="16200000" flipH="1">
            <a:off x="9166660" y="4357349"/>
            <a:ext cx="1587" cy="1439862"/>
          </a:xfrm>
          <a:prstGeom prst="curvedConnector3">
            <a:avLst>
              <a:gd name="adj1" fmla="val -28100009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3" name="Rechteck 36">
            <a:extLst>
              <a:ext uri="{FF2B5EF4-FFF2-40B4-BE49-F238E27FC236}">
                <a16:creationId xmlns:a16="http://schemas.microsoft.com/office/drawing/2014/main" xmlns="" id="{F99ECD43-EF53-47EA-8C46-F45D457FC06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934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720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4" grpId="0"/>
      <p:bldP spid="65" grpId="0"/>
      <p:bldP spid="66" grpId="0"/>
      <p:bldP spid="67" grpId="0"/>
      <p:bldP spid="68" grpId="0"/>
      <p:bldP spid="69" grpId="0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5934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483659" y="2476501"/>
            <a:ext cx="230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3156384" y="1728000"/>
            <a:ext cx="8915400" cy="4716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tIns="72000">
            <a:noAutofit/>
          </a:bodyPr>
          <a:lstStyle/>
          <a:p>
            <a:pPr marL="457200" indent="-457200" algn="ctr">
              <a:spcBef>
                <a:spcPct val="30000"/>
              </a:spcBef>
            </a:pPr>
            <a:r>
              <a:rPr kumimoji="0" lang="ru-RU" sz="2800" dirty="0">
                <a:solidFill>
                  <a:prstClr val="black"/>
                </a:solidFill>
                <a:latin typeface="Arial" pitchFamily="34" charset="0"/>
              </a:rPr>
              <a:t>Граф алгоритма. Свойства</a:t>
            </a:r>
            <a:endParaRPr kumimoji="0" lang="ru-RU" sz="2800" noProof="1">
              <a:solidFill>
                <a:prstClr val="black"/>
              </a:solidFill>
              <a:latin typeface="Arial" pitchFamily="34" charset="0"/>
            </a:endParaRPr>
          </a:p>
          <a:p>
            <a:pPr marL="457200" indent="-457200">
              <a:spcBef>
                <a:spcPct val="3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1.	Граф является ациклическим. В программах реализуются только явные вычисления.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  <a:endParaRPr kumimoji="0" lang="ru-RU" sz="2400" dirty="0">
              <a:solidFill>
                <a:srgbClr val="404040"/>
              </a:solidFill>
              <a:latin typeface="Arial" pitchFamily="34" charset="0"/>
            </a:endParaRPr>
          </a:p>
          <a:p>
            <a:pPr marL="457200" indent="-457200">
              <a:spcBef>
                <a:spcPct val="3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2.	Граф может быть </a:t>
            </a:r>
            <a:r>
              <a:rPr kumimoji="0" lang="ru-RU" sz="2400" dirty="0" err="1">
                <a:solidFill>
                  <a:prstClr val="black"/>
                </a:solidFill>
                <a:latin typeface="Arial" pitchFamily="34" charset="0"/>
              </a:rPr>
              <a:t>мультиграфом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 marL="457200" indent="-457200">
              <a:spcBef>
                <a:spcPct val="30000"/>
              </a:spcBef>
              <a:buFontTx/>
              <a:buChar char="•"/>
            </a:pP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 marL="457200" indent="-457200">
              <a:spcBef>
                <a:spcPct val="30000"/>
              </a:spcBef>
              <a:buFontTx/>
              <a:buChar char="•"/>
            </a:pPr>
            <a:endParaRPr kumimoji="0" lang="ru-RU" sz="2400" dirty="0">
              <a:solidFill>
                <a:srgbClr val="404040"/>
              </a:solidFill>
              <a:latin typeface="Arial" pitchFamily="34" charset="0"/>
            </a:endParaRPr>
          </a:p>
          <a:p>
            <a:pPr marL="457200" indent="-457200">
              <a:spcBef>
                <a:spcPct val="30000"/>
              </a:spcBef>
              <a:buFontTx/>
              <a:buChar char="•"/>
            </a:pP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 marL="457200" indent="-457200">
              <a:spcBef>
                <a:spcPct val="3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3.	Граф является параметрическим. Он всегда зависит от параметров масштаба задачи, определяющих общее количество вершин в графе.</a:t>
            </a:r>
            <a:endParaRPr kumimoji="0" lang="ru-RU" sz="2400" noProof="1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34" name="Oval 5"/>
          <p:cNvSpPr>
            <a:spLocks noChangeArrowheads="1"/>
          </p:cNvSpPr>
          <p:nvPr/>
        </p:nvSpPr>
        <p:spPr bwMode="auto">
          <a:xfrm>
            <a:off x="4408923" y="3895726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35" name="Oval 6"/>
          <p:cNvSpPr>
            <a:spLocks noChangeArrowheads="1"/>
          </p:cNvSpPr>
          <p:nvPr/>
        </p:nvSpPr>
        <p:spPr bwMode="auto">
          <a:xfrm>
            <a:off x="5129648" y="3895726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36" name="Oval 8"/>
          <p:cNvSpPr>
            <a:spLocks noChangeArrowheads="1"/>
          </p:cNvSpPr>
          <p:nvPr/>
        </p:nvSpPr>
        <p:spPr bwMode="auto">
          <a:xfrm>
            <a:off x="5129648" y="457993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38" name="Oval 9"/>
          <p:cNvSpPr>
            <a:spLocks noChangeArrowheads="1"/>
          </p:cNvSpPr>
          <p:nvPr/>
        </p:nvSpPr>
        <p:spPr bwMode="auto">
          <a:xfrm>
            <a:off x="5850373" y="3895726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39" name="Oval 10"/>
          <p:cNvSpPr>
            <a:spLocks noChangeArrowheads="1"/>
          </p:cNvSpPr>
          <p:nvPr/>
        </p:nvSpPr>
        <p:spPr bwMode="auto">
          <a:xfrm>
            <a:off x="6569509" y="3894139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0" name="Line 12"/>
          <p:cNvSpPr>
            <a:spLocks noChangeShapeType="1"/>
          </p:cNvSpPr>
          <p:nvPr/>
        </p:nvSpPr>
        <p:spPr bwMode="auto">
          <a:xfrm>
            <a:off x="5201084" y="3932239"/>
            <a:ext cx="649288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1" name="Line 13"/>
          <p:cNvSpPr>
            <a:spLocks noChangeShapeType="1"/>
          </p:cNvSpPr>
          <p:nvPr/>
        </p:nvSpPr>
        <p:spPr bwMode="auto">
          <a:xfrm>
            <a:off x="5920223" y="3932239"/>
            <a:ext cx="649287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2" name="Line 15"/>
          <p:cNvSpPr>
            <a:spLocks noChangeShapeType="1"/>
          </p:cNvSpPr>
          <p:nvPr/>
        </p:nvSpPr>
        <p:spPr bwMode="auto">
          <a:xfrm flipV="1">
            <a:off x="5202672" y="3967164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3" name="Text Box 16"/>
          <p:cNvSpPr txBox="1">
            <a:spLocks noChangeArrowheads="1"/>
          </p:cNvSpPr>
          <p:nvPr/>
        </p:nvSpPr>
        <p:spPr bwMode="auto">
          <a:xfrm>
            <a:off x="4229535" y="3540185"/>
            <a:ext cx="5048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</a:rPr>
              <a:t>a</a:t>
            </a:r>
            <a:endParaRPr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4" name="Text Box 18"/>
          <p:cNvSpPr txBox="1">
            <a:spLocks noChangeArrowheads="1"/>
          </p:cNvSpPr>
          <p:nvPr/>
        </p:nvSpPr>
        <p:spPr bwMode="auto">
          <a:xfrm>
            <a:off x="4789457" y="4287838"/>
            <a:ext cx="5048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</a:rPr>
              <a:t>b</a:t>
            </a:r>
            <a:endParaRPr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auto">
          <a:xfrm>
            <a:off x="4913748" y="3584575"/>
            <a:ext cx="5048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>
                <a:solidFill>
                  <a:prstClr val="black"/>
                </a:solidFill>
                <a:latin typeface="Arial" pitchFamily="34" charset="0"/>
              </a:rPr>
              <a:t>*</a:t>
            </a: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6" name="Text Box 20"/>
          <p:cNvSpPr txBox="1">
            <a:spLocks noChangeArrowheads="1"/>
          </p:cNvSpPr>
          <p:nvPr/>
        </p:nvSpPr>
        <p:spPr bwMode="auto">
          <a:xfrm>
            <a:off x="5669398" y="3540185"/>
            <a:ext cx="5048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</a:rPr>
              <a:t>+</a:t>
            </a:r>
            <a:endParaRPr lang="ru-RU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7" name="Text Box 21"/>
          <p:cNvSpPr txBox="1">
            <a:spLocks noChangeArrowheads="1"/>
          </p:cNvSpPr>
          <p:nvPr/>
        </p:nvSpPr>
        <p:spPr bwMode="auto">
          <a:xfrm>
            <a:off x="6353610" y="3557941"/>
            <a:ext cx="5048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>
                <a:solidFill>
                  <a:prstClr val="black"/>
                </a:solidFill>
                <a:latin typeface="Arial" pitchFamily="34" charset="0"/>
              </a:rPr>
              <a:t>S</a:t>
            </a: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8" name="Text Box 39"/>
          <p:cNvSpPr txBox="1">
            <a:spLocks noChangeArrowheads="1"/>
          </p:cNvSpPr>
          <p:nvPr/>
        </p:nvSpPr>
        <p:spPr bwMode="auto">
          <a:xfrm>
            <a:off x="7290234" y="3721101"/>
            <a:ext cx="2484438" cy="4308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200" dirty="0">
                <a:solidFill>
                  <a:prstClr val="black"/>
                </a:solidFill>
                <a:latin typeface="Arial" pitchFamily="34" charset="0"/>
              </a:rPr>
              <a:t>S = </a:t>
            </a:r>
            <a:r>
              <a:rPr lang="ru-RU" sz="2200" dirty="0">
                <a:solidFill>
                  <a:prstClr val="black"/>
                </a:solidFill>
                <a:latin typeface="Arial" pitchFamily="34" charset="0"/>
              </a:rPr>
              <a:t>(</a:t>
            </a:r>
            <a:r>
              <a:rPr lang="en-US" sz="2200" dirty="0">
                <a:solidFill>
                  <a:prstClr val="black"/>
                </a:solidFill>
                <a:latin typeface="Arial" pitchFamily="34" charset="0"/>
              </a:rPr>
              <a:t>a*a</a:t>
            </a:r>
            <a:r>
              <a:rPr lang="ru-RU" sz="2200" dirty="0">
                <a:solidFill>
                  <a:prstClr val="black"/>
                </a:solidFill>
                <a:latin typeface="Arial" pitchFamily="34" charset="0"/>
              </a:rPr>
              <a:t>)</a:t>
            </a:r>
            <a:r>
              <a:rPr lang="en-US" sz="2200" dirty="0">
                <a:solidFill>
                  <a:prstClr val="black"/>
                </a:solidFill>
                <a:latin typeface="Arial" pitchFamily="34" charset="0"/>
              </a:rPr>
              <a:t> + b</a:t>
            </a:r>
            <a:endParaRPr lang="ru-RU" sz="2200" dirty="0">
              <a:solidFill>
                <a:prstClr val="black"/>
              </a:solidFill>
              <a:latin typeface="Arial" pitchFamily="34" charset="0"/>
            </a:endParaRPr>
          </a:p>
        </p:txBody>
      </p:sp>
      <p:cxnSp>
        <p:nvCxnSpPr>
          <p:cNvPr id="49" name="AutoShape 42"/>
          <p:cNvCxnSpPr>
            <a:cxnSpLocks noChangeShapeType="1"/>
          </p:cNvCxnSpPr>
          <p:nvPr/>
        </p:nvCxnSpPr>
        <p:spPr bwMode="auto">
          <a:xfrm rot="16200000" flipH="1">
            <a:off x="4786747" y="3624263"/>
            <a:ext cx="1588" cy="684213"/>
          </a:xfrm>
          <a:prstGeom prst="curvedConnector3">
            <a:avLst>
              <a:gd name="adj1" fmla="val 14400005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0" name="Line 44"/>
          <p:cNvSpPr>
            <a:spLocks noChangeShapeType="1"/>
          </p:cNvSpPr>
          <p:nvPr/>
        </p:nvSpPr>
        <p:spPr bwMode="auto">
          <a:xfrm>
            <a:off x="4481947" y="3932239"/>
            <a:ext cx="64770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22" name="Rechteck 36">
            <a:extLst>
              <a:ext uri="{FF2B5EF4-FFF2-40B4-BE49-F238E27FC236}">
                <a16:creationId xmlns:a16="http://schemas.microsoft.com/office/drawing/2014/main" xmlns="" id="{2F8C62A4-CF3B-4B24-9083-18F3F1D9B745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934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123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8" grpId="0" animBg="1"/>
      <p:bldP spid="39" grpId="0" animBg="1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3222086" y="1728001"/>
            <a:ext cx="8748000" cy="452431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412225" y="2304160"/>
            <a:ext cx="2301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35842" name="Text Box 5"/>
          <p:cNvSpPr txBox="1">
            <a:spLocks noChangeArrowheads="1"/>
          </p:cNvSpPr>
          <p:nvPr/>
        </p:nvSpPr>
        <p:spPr bwMode="auto">
          <a:xfrm>
            <a:off x="3103999" y="1815209"/>
            <a:ext cx="9015412" cy="2702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Граф алгоритма</a:t>
            </a:r>
            <a:endParaRPr kumimoji="0" lang="ru-RU" sz="2800" noProof="1">
              <a:solidFill>
                <a:srgbClr val="404040"/>
              </a:solidFill>
              <a:latin typeface="Arial" pitchFamily="34" charset="0"/>
            </a:endParaRPr>
          </a:p>
          <a:p>
            <a:pPr marL="288000">
              <a:spcBef>
                <a:spcPct val="3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Граф является детерминированным, если он описывает алгоритм, лишенный условных переходов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marL="288000">
              <a:spcBef>
                <a:spcPct val="3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Если граф недетерминированный, то:</a:t>
            </a: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 marL="648000">
              <a:spcBef>
                <a:spcPts val="6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если под ветвлениями содержится небольшое количество операций, операции можно укрупнить;</a:t>
            </a:r>
            <a:endParaRPr kumimoji="0" lang="ru-RU" sz="2400" noProof="1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22" name="Oval 6"/>
          <p:cNvSpPr>
            <a:spLocks noChangeArrowheads="1"/>
          </p:cNvSpPr>
          <p:nvPr/>
        </p:nvSpPr>
        <p:spPr bwMode="auto">
          <a:xfrm>
            <a:off x="6353611" y="5136450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23" name="Oval 7"/>
          <p:cNvSpPr>
            <a:spLocks noChangeArrowheads="1"/>
          </p:cNvSpPr>
          <p:nvPr/>
        </p:nvSpPr>
        <p:spPr bwMode="auto">
          <a:xfrm>
            <a:off x="6352025" y="5820663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24" name="Oval 8"/>
          <p:cNvSpPr>
            <a:spLocks noChangeArrowheads="1"/>
          </p:cNvSpPr>
          <p:nvPr/>
        </p:nvSpPr>
        <p:spPr bwMode="auto">
          <a:xfrm>
            <a:off x="7072750" y="5136450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25" name="Oval 9"/>
          <p:cNvSpPr>
            <a:spLocks noChangeArrowheads="1"/>
          </p:cNvSpPr>
          <p:nvPr/>
        </p:nvSpPr>
        <p:spPr bwMode="auto">
          <a:xfrm>
            <a:off x="7791886" y="5134863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26" name="Line 10"/>
          <p:cNvSpPr>
            <a:spLocks noChangeShapeType="1"/>
          </p:cNvSpPr>
          <p:nvPr/>
        </p:nvSpPr>
        <p:spPr bwMode="auto">
          <a:xfrm>
            <a:off x="6423461" y="5172962"/>
            <a:ext cx="649288" cy="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27" name="Line 11"/>
          <p:cNvSpPr>
            <a:spLocks noChangeShapeType="1"/>
          </p:cNvSpPr>
          <p:nvPr/>
        </p:nvSpPr>
        <p:spPr bwMode="auto">
          <a:xfrm>
            <a:off x="7142600" y="5172962"/>
            <a:ext cx="649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28" name="Line 12"/>
          <p:cNvSpPr>
            <a:spLocks noChangeShapeType="1"/>
          </p:cNvSpPr>
          <p:nvPr/>
        </p:nvSpPr>
        <p:spPr bwMode="auto">
          <a:xfrm flipV="1">
            <a:off x="6425050" y="5209474"/>
            <a:ext cx="1366837" cy="6111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29" name="Text Box 13"/>
          <p:cNvSpPr txBox="1">
            <a:spLocks noChangeArrowheads="1"/>
          </p:cNvSpPr>
          <p:nvPr/>
        </p:nvSpPr>
        <p:spPr bwMode="auto">
          <a:xfrm>
            <a:off x="6137712" y="4727643"/>
            <a:ext cx="5048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>
                <a:solidFill>
                  <a:prstClr val="black"/>
                </a:solidFill>
                <a:latin typeface="Arial" pitchFamily="34" charset="0"/>
              </a:rPr>
              <a:t>a</a:t>
            </a: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30" name="Text Box 14"/>
          <p:cNvSpPr txBox="1">
            <a:spLocks noChangeArrowheads="1"/>
          </p:cNvSpPr>
          <p:nvPr/>
        </p:nvSpPr>
        <p:spPr bwMode="auto">
          <a:xfrm>
            <a:off x="6373201" y="5810670"/>
            <a:ext cx="5048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>
                <a:solidFill>
                  <a:prstClr val="black"/>
                </a:solidFill>
                <a:latin typeface="Arial" pitchFamily="34" charset="0"/>
              </a:rPr>
              <a:t>-1</a:t>
            </a: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32" name="Text Box 16"/>
          <p:cNvSpPr txBox="1">
            <a:spLocks noChangeArrowheads="1"/>
          </p:cNvSpPr>
          <p:nvPr/>
        </p:nvSpPr>
        <p:spPr bwMode="auto">
          <a:xfrm>
            <a:off x="6891775" y="4727643"/>
            <a:ext cx="5048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>
                <a:solidFill>
                  <a:prstClr val="black"/>
                </a:solidFill>
                <a:latin typeface="Arial" pitchFamily="34" charset="0"/>
              </a:rPr>
              <a:t>+5</a:t>
            </a: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33" name="Text Box 17"/>
          <p:cNvSpPr txBox="1">
            <a:spLocks noChangeArrowheads="1"/>
          </p:cNvSpPr>
          <p:nvPr/>
        </p:nvSpPr>
        <p:spPr bwMode="auto">
          <a:xfrm>
            <a:off x="7575987" y="4727643"/>
            <a:ext cx="5048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>
                <a:solidFill>
                  <a:prstClr val="black"/>
                </a:solidFill>
                <a:latin typeface="Arial" pitchFamily="34" charset="0"/>
              </a:rPr>
              <a:t>y</a:t>
            </a: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34" name="Text Box 18"/>
          <p:cNvSpPr txBox="1">
            <a:spLocks noChangeArrowheads="1"/>
          </p:cNvSpPr>
          <p:nvPr/>
        </p:nvSpPr>
        <p:spPr bwMode="auto">
          <a:xfrm>
            <a:off x="3689787" y="4873718"/>
            <a:ext cx="1904997" cy="70788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</a:rPr>
              <a:t>if (a&gt;0) y=a+5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</a:rPr>
              <a:t>;</a:t>
            </a:r>
            <a:endParaRPr lang="en-US" sz="2000" dirty="0">
              <a:solidFill>
                <a:prstClr val="black"/>
              </a:solidFill>
              <a:latin typeface="Arial" pitchFamily="34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Arial" pitchFamily="34" charset="0"/>
              </a:rPr>
              <a:t>else      y=a-1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</a:rPr>
              <a:t>;</a:t>
            </a:r>
          </a:p>
        </p:txBody>
      </p:sp>
      <p:sp>
        <p:nvSpPr>
          <p:cNvPr id="137237" name="Line 21"/>
          <p:cNvSpPr>
            <a:spLocks noChangeShapeType="1"/>
          </p:cNvSpPr>
          <p:nvPr/>
        </p:nvSpPr>
        <p:spPr bwMode="auto">
          <a:xfrm>
            <a:off x="6388536" y="5209475"/>
            <a:ext cx="0" cy="612775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38" name="Oval 22"/>
          <p:cNvSpPr>
            <a:spLocks noChangeArrowheads="1"/>
          </p:cNvSpPr>
          <p:nvPr/>
        </p:nvSpPr>
        <p:spPr bwMode="auto">
          <a:xfrm>
            <a:off x="9017436" y="5131688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42" name="Oval 26"/>
          <p:cNvSpPr>
            <a:spLocks noChangeArrowheads="1"/>
          </p:cNvSpPr>
          <p:nvPr/>
        </p:nvSpPr>
        <p:spPr bwMode="auto">
          <a:xfrm>
            <a:off x="11178025" y="5130100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44" name="Line 28"/>
          <p:cNvSpPr>
            <a:spLocks noChangeShapeType="1"/>
          </p:cNvSpPr>
          <p:nvPr/>
        </p:nvSpPr>
        <p:spPr bwMode="auto">
          <a:xfrm flipV="1">
            <a:off x="10673199" y="5168197"/>
            <a:ext cx="504825" cy="476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46" name="Text Box 30"/>
          <p:cNvSpPr txBox="1">
            <a:spLocks noChangeArrowheads="1"/>
          </p:cNvSpPr>
          <p:nvPr/>
        </p:nvSpPr>
        <p:spPr bwMode="auto">
          <a:xfrm>
            <a:off x="8838050" y="4722881"/>
            <a:ext cx="5048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>
                <a:solidFill>
                  <a:prstClr val="black"/>
                </a:solidFill>
                <a:latin typeface="Arial" pitchFamily="34" charset="0"/>
              </a:rPr>
              <a:t>a</a:t>
            </a: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50" name="Text Box 34"/>
          <p:cNvSpPr txBox="1">
            <a:spLocks noChangeArrowheads="1"/>
          </p:cNvSpPr>
          <p:nvPr/>
        </p:nvSpPr>
        <p:spPr bwMode="auto">
          <a:xfrm>
            <a:off x="10962125" y="4722881"/>
            <a:ext cx="5048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>
                <a:solidFill>
                  <a:prstClr val="black"/>
                </a:solidFill>
                <a:latin typeface="Arial" pitchFamily="34" charset="0"/>
              </a:rPr>
              <a:t>y</a:t>
            </a: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51" name="Line 35"/>
          <p:cNvSpPr>
            <a:spLocks noChangeShapeType="1"/>
          </p:cNvSpPr>
          <p:nvPr/>
        </p:nvSpPr>
        <p:spPr bwMode="auto">
          <a:xfrm>
            <a:off x="9090461" y="5168199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53" name="Oval 37"/>
          <p:cNvSpPr>
            <a:spLocks noChangeArrowheads="1"/>
          </p:cNvSpPr>
          <p:nvPr/>
        </p:nvSpPr>
        <p:spPr bwMode="auto">
          <a:xfrm>
            <a:off x="9738161" y="4680838"/>
            <a:ext cx="936000" cy="936625"/>
          </a:xfrm>
          <a:prstGeom prst="ellipse">
            <a:avLst/>
          </a:prstGeom>
          <a:solidFill>
            <a:schemeClr val="tx2">
              <a:lumMod val="75000"/>
            </a:schemeClr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7249" name="Text Box 33"/>
          <p:cNvSpPr txBox="1">
            <a:spLocks noChangeArrowheads="1"/>
          </p:cNvSpPr>
          <p:nvPr/>
        </p:nvSpPr>
        <p:spPr bwMode="auto">
          <a:xfrm>
            <a:off x="9738162" y="4821892"/>
            <a:ext cx="935037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prstClr val="white"/>
                </a:solidFill>
                <a:latin typeface="Arial" pitchFamily="34" charset="0"/>
              </a:rPr>
              <a:t>&gt; 0?</a:t>
            </a:r>
          </a:p>
          <a:p>
            <a:pPr algn="ctr"/>
            <a:r>
              <a:rPr lang="en-US" dirty="0">
                <a:solidFill>
                  <a:prstClr val="white"/>
                </a:solidFill>
                <a:latin typeface="Arial" pitchFamily="34" charset="0"/>
              </a:rPr>
              <a:t>+5 : -1</a:t>
            </a:r>
            <a:endParaRPr lang="ru-RU" dirty="0">
              <a:solidFill>
                <a:prstClr val="white"/>
              </a:solidFill>
              <a:latin typeface="Arial" pitchFamily="34" charset="0"/>
            </a:endParaRPr>
          </a:p>
        </p:txBody>
      </p:sp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5936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29" name="Rechteck 36">
            <a:extLst>
              <a:ext uri="{FF2B5EF4-FFF2-40B4-BE49-F238E27FC236}">
                <a16:creationId xmlns:a16="http://schemas.microsoft.com/office/drawing/2014/main" xmlns="" id="{E3AE13AB-9B98-4392-9E3A-22D9B92335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936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315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2" grpId="0" animBg="1"/>
      <p:bldP spid="137223" grpId="0" animBg="1"/>
      <p:bldP spid="137224" grpId="0" animBg="1"/>
      <p:bldP spid="137225" grpId="0" animBg="1"/>
      <p:bldP spid="137229" grpId="0"/>
      <p:bldP spid="137230" grpId="0"/>
      <p:bldP spid="137232" grpId="0"/>
      <p:bldP spid="137233" grpId="0"/>
      <p:bldP spid="137234" grpId="0"/>
      <p:bldP spid="137238" grpId="0" animBg="1"/>
      <p:bldP spid="137242" grpId="0" animBg="1"/>
      <p:bldP spid="137246" grpId="0"/>
      <p:bldP spid="137250" grpId="0"/>
      <p:bldP spid="137253" grpId="0" animBg="1"/>
      <p:bldP spid="1372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3222087" y="1728001"/>
            <a:ext cx="8748000" cy="452431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412226" y="2304160"/>
            <a:ext cx="2301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35842" name="Text Box 5"/>
          <p:cNvSpPr txBox="1">
            <a:spLocks noChangeArrowheads="1"/>
          </p:cNvSpPr>
          <p:nvPr/>
        </p:nvSpPr>
        <p:spPr bwMode="auto">
          <a:xfrm>
            <a:off x="3104000" y="1815209"/>
            <a:ext cx="9015412" cy="2702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Граф алгоритма</a:t>
            </a:r>
            <a:endParaRPr kumimoji="0" lang="ru-RU" sz="2800" noProof="1">
              <a:solidFill>
                <a:srgbClr val="404040"/>
              </a:solidFill>
              <a:latin typeface="Arial" pitchFamily="34" charset="0"/>
            </a:endParaRPr>
          </a:p>
          <a:p>
            <a:pPr marL="288000">
              <a:spcBef>
                <a:spcPct val="3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Граф является детерминированным, если он описывает алгоритм, лишенный условных переходов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</a:t>
            </a:r>
          </a:p>
          <a:p>
            <a:pPr marL="288000">
              <a:spcBef>
                <a:spcPct val="3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Если граф недетерминированный, то:</a:t>
            </a: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 marL="648000">
              <a:spcBef>
                <a:spcPts val="6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если под ветвлениями содержатся большие детерминированные куски – занимаемся этими кусками.</a:t>
            </a:r>
            <a:endParaRPr kumimoji="0" lang="ru-RU" sz="2400" noProof="1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5937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28" name="Rechteck 36">
            <a:extLst>
              <a:ext uri="{FF2B5EF4-FFF2-40B4-BE49-F238E27FC236}">
                <a16:creationId xmlns:a16="http://schemas.microsoft.com/office/drawing/2014/main" xmlns="" id="{69517AEB-CDEC-44DD-A574-EDC3D4C573F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937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0704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3222087" y="1728001"/>
            <a:ext cx="8748000" cy="452431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412226" y="2304160"/>
            <a:ext cx="2301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35842" name="Text Box 5"/>
          <p:cNvSpPr txBox="1">
            <a:spLocks noChangeArrowheads="1"/>
          </p:cNvSpPr>
          <p:nvPr/>
        </p:nvSpPr>
        <p:spPr bwMode="auto">
          <a:xfrm>
            <a:off x="3104000" y="1815209"/>
            <a:ext cx="90154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Граф </a:t>
            </a:r>
            <a:r>
              <a:rPr kumimoji="0" lang="ru-RU" sz="2800" dirty="0" smtClean="0">
                <a:solidFill>
                  <a:srgbClr val="404040"/>
                </a:solidFill>
                <a:latin typeface="Arial" pitchFamily="34" charset="0"/>
              </a:rPr>
              <a:t>алгоритма</a:t>
            </a:r>
            <a:endParaRPr kumimoji="0" lang="ru-RU" sz="2800" noProof="1">
              <a:solidFill>
                <a:srgbClr val="404040"/>
              </a:solidFill>
              <a:latin typeface="Arial" pitchFamily="34" charset="0"/>
            </a:endParaRPr>
          </a:p>
        </p:txBody>
      </p:sp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5937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28" name="Rechteck 36">
            <a:extLst>
              <a:ext uri="{FF2B5EF4-FFF2-40B4-BE49-F238E27FC236}">
                <a16:creationId xmlns="" xmlns:a16="http://schemas.microsoft.com/office/drawing/2014/main" id="{69517AEB-CDEC-44DD-A574-EDC3D4C573F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937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886" y="2693845"/>
            <a:ext cx="7449015" cy="203132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4934221" y="3262894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5654946" y="3262894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4934221" y="3876511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1" name="Oval 8"/>
          <p:cNvSpPr>
            <a:spLocks noChangeArrowheads="1"/>
          </p:cNvSpPr>
          <p:nvPr/>
        </p:nvSpPr>
        <p:spPr bwMode="auto">
          <a:xfrm>
            <a:off x="5654946" y="387809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6375671" y="3262894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7094807" y="3261307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005657" y="3297818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5726382" y="3299406"/>
            <a:ext cx="649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6445521" y="3299406"/>
            <a:ext cx="649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 flipV="1">
            <a:off x="5007245" y="333433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 flipV="1">
            <a:off x="5727970" y="333433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4634183" y="2917239"/>
            <a:ext cx="62547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a[1]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4634183" y="3495510"/>
            <a:ext cx="62388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prstClr val="black"/>
                </a:solidFill>
                <a:latin typeface="Arial" panose="020B0604020202020204" pitchFamily="34" charset="0"/>
              </a:rPr>
              <a:t>a[2]</a:t>
            </a:r>
            <a:endParaRPr lang="ru-RU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5378720" y="3495510"/>
            <a:ext cx="60007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a[3]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5439046" y="2917239"/>
            <a:ext cx="50482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+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6194696" y="2917239"/>
            <a:ext cx="50482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+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 Box 21"/>
          <p:cNvSpPr txBox="1">
            <a:spLocks noChangeArrowheads="1"/>
          </p:cNvSpPr>
          <p:nvPr/>
        </p:nvSpPr>
        <p:spPr bwMode="auto">
          <a:xfrm>
            <a:off x="6878908" y="2917239"/>
            <a:ext cx="50482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S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5" name="Oval 22"/>
          <p:cNvSpPr>
            <a:spLocks noChangeArrowheads="1"/>
          </p:cNvSpPr>
          <p:nvPr/>
        </p:nvSpPr>
        <p:spPr bwMode="auto">
          <a:xfrm>
            <a:off x="8680721" y="328511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Oval 23"/>
          <p:cNvSpPr>
            <a:spLocks noChangeArrowheads="1"/>
          </p:cNvSpPr>
          <p:nvPr/>
        </p:nvSpPr>
        <p:spPr bwMode="auto">
          <a:xfrm>
            <a:off x="9401446" y="328511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4"/>
          <p:cNvSpPr>
            <a:spLocks noChangeArrowheads="1"/>
          </p:cNvSpPr>
          <p:nvPr/>
        </p:nvSpPr>
        <p:spPr bwMode="auto">
          <a:xfrm>
            <a:off x="8680721" y="3967744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Oval 25"/>
          <p:cNvSpPr>
            <a:spLocks noChangeArrowheads="1"/>
          </p:cNvSpPr>
          <p:nvPr/>
        </p:nvSpPr>
        <p:spPr bwMode="auto">
          <a:xfrm>
            <a:off x="9399857" y="398203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Oval 26"/>
          <p:cNvSpPr>
            <a:spLocks noChangeArrowheads="1"/>
          </p:cNvSpPr>
          <p:nvPr/>
        </p:nvSpPr>
        <p:spPr bwMode="auto">
          <a:xfrm>
            <a:off x="10122171" y="3285119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Oval 27"/>
          <p:cNvSpPr>
            <a:spLocks noChangeArrowheads="1"/>
          </p:cNvSpPr>
          <p:nvPr/>
        </p:nvSpPr>
        <p:spPr bwMode="auto">
          <a:xfrm>
            <a:off x="10841307" y="328353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Line 29"/>
          <p:cNvSpPr>
            <a:spLocks noChangeShapeType="1"/>
          </p:cNvSpPr>
          <p:nvPr/>
        </p:nvSpPr>
        <p:spPr bwMode="auto">
          <a:xfrm>
            <a:off x="9472882" y="3321631"/>
            <a:ext cx="649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>
            <a:off x="10192021" y="3321631"/>
            <a:ext cx="649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 flipV="1">
            <a:off x="8753745" y="3356557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8248921" y="2917239"/>
            <a:ext cx="578821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a[1]</a:t>
            </a:r>
            <a:endParaRPr lang="ru-RU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8356872" y="3517735"/>
            <a:ext cx="64769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a[2]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>
            <a:off x="9430703" y="3618094"/>
            <a:ext cx="64769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a[3]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 Box 36"/>
          <p:cNvSpPr txBox="1">
            <a:spLocks noChangeArrowheads="1"/>
          </p:cNvSpPr>
          <p:nvPr/>
        </p:nvSpPr>
        <p:spPr bwMode="auto">
          <a:xfrm>
            <a:off x="9185546" y="2939464"/>
            <a:ext cx="50482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>
                <a:solidFill>
                  <a:prstClr val="black"/>
                </a:solidFill>
                <a:latin typeface="Arial" panose="020B0604020202020204" pitchFamily="34" charset="0"/>
              </a:rPr>
              <a:t>+</a:t>
            </a:r>
            <a:endParaRPr lang="ru-RU" sz="16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9941196" y="2939464"/>
            <a:ext cx="50482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>
                <a:solidFill>
                  <a:prstClr val="black"/>
                </a:solidFill>
                <a:latin typeface="Arial" panose="020B0604020202020204" pitchFamily="34" charset="0"/>
              </a:rPr>
              <a:t>+</a:t>
            </a:r>
            <a:endParaRPr lang="ru-RU" sz="16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10625408" y="2948090"/>
            <a:ext cx="50482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>
                <a:solidFill>
                  <a:prstClr val="black"/>
                </a:solidFill>
                <a:latin typeface="Arial" panose="020B0604020202020204" pitchFamily="34" charset="0"/>
              </a:rPr>
              <a:t>S</a:t>
            </a:r>
            <a:endParaRPr lang="ru-RU" sz="16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4292009" y="4288419"/>
            <a:ext cx="3346364" cy="4308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</a:rPr>
              <a:t>S = </a:t>
            </a: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</a:rPr>
              <a:t>(</a:t>
            </a: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</a:rPr>
              <a:t>a[1] + a[2]</a:t>
            </a:r>
            <a:r>
              <a:rPr lang="ru-RU" sz="2200" dirty="0">
                <a:solidFill>
                  <a:prstClr val="black"/>
                </a:solidFill>
                <a:latin typeface="Arial" panose="020B0604020202020204" pitchFamily="34" charset="0"/>
              </a:rPr>
              <a:t>)</a:t>
            </a: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</a:rPr>
              <a:t> + a[3]</a:t>
            </a:r>
            <a:endParaRPr lang="ru-RU" sz="22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>
            <a:off x="8356872" y="4283867"/>
            <a:ext cx="3001781" cy="4308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200" dirty="0">
                <a:solidFill>
                  <a:prstClr val="black"/>
                </a:solidFill>
                <a:latin typeface="Arial" panose="020B0604020202020204" pitchFamily="34" charset="0"/>
              </a:rPr>
              <a:t>S = a[1] + (a[2] + a[3])</a:t>
            </a:r>
            <a:endParaRPr lang="ru-RU" sz="22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 flipV="1">
            <a:off x="9436370" y="3370843"/>
            <a:ext cx="0" cy="6111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5" name="AutoShape 45"/>
          <p:cNvCxnSpPr>
            <a:cxnSpLocks noChangeShapeType="1"/>
          </p:cNvCxnSpPr>
          <p:nvPr/>
        </p:nvCxnSpPr>
        <p:spPr bwMode="auto">
          <a:xfrm rot="16200000" flipH="1">
            <a:off x="9434783" y="2580269"/>
            <a:ext cx="1587" cy="1439862"/>
          </a:xfrm>
          <a:prstGeom prst="curvedConnector3">
            <a:avLst>
              <a:gd name="adj1" fmla="val -28100009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" name="TextBox 1"/>
          <p:cNvSpPr txBox="1"/>
          <p:nvPr/>
        </p:nvSpPr>
        <p:spPr>
          <a:xfrm>
            <a:off x="3482236" y="5260932"/>
            <a:ext cx="8217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prstClr val="black"/>
                </a:solidFill>
                <a:latin typeface="Arial" panose="020B0604020202020204" pitchFamily="34" charset="0"/>
              </a:rPr>
              <a:t>Граф алгоритма задает частичный порядок выполнения операций</a:t>
            </a:r>
            <a:endParaRPr lang="ru-RU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40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3222087" y="1728000"/>
            <a:ext cx="8748000" cy="317667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noAutofit/>
          </a:bodyPr>
          <a:lstStyle/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412226" y="2304160"/>
            <a:ext cx="2301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35842" name="Text Box 5"/>
          <p:cNvSpPr txBox="1">
            <a:spLocks noChangeArrowheads="1"/>
          </p:cNvSpPr>
          <p:nvPr/>
        </p:nvSpPr>
        <p:spPr bwMode="auto">
          <a:xfrm>
            <a:off x="3104000" y="1815209"/>
            <a:ext cx="9015412" cy="3330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kumimoji="0" lang="ru-RU" sz="2800" dirty="0">
                <a:solidFill>
                  <a:srgbClr val="404040"/>
                </a:solidFill>
                <a:latin typeface="Arial" pitchFamily="34" charset="0"/>
              </a:rPr>
              <a:t>Граф алгоритма</a:t>
            </a:r>
            <a:endParaRPr kumimoji="0" lang="ru-RU" sz="2800" noProof="1">
              <a:solidFill>
                <a:srgbClr val="404040"/>
              </a:solidFill>
              <a:latin typeface="Arial" pitchFamily="34" charset="0"/>
            </a:endParaRPr>
          </a:p>
          <a:p>
            <a:pPr marL="288000">
              <a:spcBef>
                <a:spcPct val="30000"/>
              </a:spcBef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Пусть  при  выполнении  операции  ошибки  округления  определяются только входными аргументами. Тогда при одних и тех же входных данных все реализации алгоритма, соответствующие одному и тому же частичному порядку на операциях, дают один и тот же результат, включая всю совокупность ошибок округления.</a:t>
            </a: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 marL="288000">
              <a:spcBef>
                <a:spcPct val="30000"/>
              </a:spcBef>
            </a:pPr>
            <a:endParaRPr kumimoji="0" lang="ru-RU" sz="2400" noProof="1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5937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3E67D8D6-77C0-40E1-A31C-485C97D07CF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937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26783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414065" y="2304160"/>
            <a:ext cx="2301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35872" name="_h1"/>
          <p:cNvSpPr txBox="1">
            <a:spLocks noChangeArrowheads="1"/>
          </p:cNvSpPr>
          <p:nvPr/>
        </p:nvSpPr>
        <p:spPr bwMode="auto">
          <a:xfrm>
            <a:off x="3367776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3E67D8D6-77C0-40E1-A31C-485C97D07CF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7776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Описание алгоритмов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632" y="1925728"/>
            <a:ext cx="3142261" cy="4572000"/>
          </a:xfrm>
          <a:prstGeom prst="rect">
            <a:avLst/>
          </a:prstGeom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8556326" y="2511458"/>
            <a:ext cx="4451679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ru-RU" sz="2400" dirty="0">
                <a:latin typeface="Arial" pitchFamily="34" charset="0"/>
              </a:rPr>
              <a:t>В.В. Воеводин, </a:t>
            </a:r>
            <a:br>
              <a:rPr lang="ru-RU" sz="2400" dirty="0">
                <a:latin typeface="Arial" pitchFamily="34" charset="0"/>
              </a:rPr>
            </a:br>
            <a:r>
              <a:rPr lang="ru-RU" sz="2400" dirty="0">
                <a:latin typeface="Arial" pitchFamily="34" charset="0"/>
              </a:rPr>
              <a:t>Вл.В. Воеводин</a:t>
            </a:r>
          </a:p>
          <a:p>
            <a:pPr eaLnBrk="1" hangingPunct="1">
              <a:defRPr/>
            </a:pPr>
            <a:endParaRPr lang="ru-RU" sz="2400" dirty="0">
              <a:latin typeface="Arial" pitchFamily="34" charset="0"/>
            </a:endParaRPr>
          </a:p>
          <a:p>
            <a:pPr eaLnBrk="1" hangingPunct="1">
              <a:defRPr/>
            </a:pPr>
            <a:r>
              <a:rPr lang="ru-RU" sz="2800" dirty="0">
                <a:latin typeface="Arial" pitchFamily="34" charset="0"/>
              </a:rPr>
              <a:t>Параллельные вычисления</a:t>
            </a:r>
          </a:p>
          <a:p>
            <a:pPr>
              <a:spcBef>
                <a:spcPts val="600"/>
              </a:spcBef>
              <a:defRPr/>
            </a:pPr>
            <a:endParaRPr lang="ru-RU" sz="2200" dirty="0">
              <a:latin typeface="Arial" pitchFamily="34" charset="0"/>
            </a:endParaRPr>
          </a:p>
          <a:p>
            <a:pPr>
              <a:spcBef>
                <a:spcPts val="600"/>
              </a:spcBef>
              <a:defRPr/>
            </a:pPr>
            <a:r>
              <a:rPr lang="ru-RU" sz="2200" dirty="0">
                <a:latin typeface="Arial" pitchFamily="34" charset="0"/>
              </a:rPr>
              <a:t>БХВ-Петербург, 2002</a:t>
            </a:r>
          </a:p>
          <a:p>
            <a:pPr>
              <a:defRPr/>
            </a:pPr>
            <a:endParaRPr lang="ru-RU" sz="16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790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510293" y="2339085"/>
            <a:ext cx="230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294084" y="1728000"/>
            <a:ext cx="8640000" cy="477045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lIns="216000" tIns="180000" rIns="216000">
            <a:noAutofit/>
          </a:bodyPr>
          <a:lstStyle/>
          <a:p>
            <a:pPr algn="just">
              <a:lnSpc>
                <a:spcPct val="95000"/>
              </a:lnSpc>
            </a:pP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Пусть задан ориентированный ациклический граф, имеющий 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3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вершин. Существует число 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 ≤ 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3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для которого все вершины графа можно так пометить одним из индексов 1, 2, …, 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, что если дуга из вершины с индексом </a:t>
            </a:r>
            <a:r>
              <a:rPr kumimoji="0" lang="en-US" sz="2300" i="1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идет в вершину</a:t>
            </a:r>
            <a:r>
              <a:rPr kumimoji="0" lang="en-US" sz="2300" dirty="0">
                <a:solidFill>
                  <a:prstClr val="black"/>
                </a:solidFill>
                <a:latin typeface="Arial" pitchFamily="34" charset="0"/>
              </a:rPr>
              <a:t> c 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индексом 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3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то </a:t>
            </a:r>
            <a:r>
              <a:rPr kumimoji="0" lang="en-US" sz="2300" i="1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300" dirty="0">
                <a:solidFill>
                  <a:prstClr val="black"/>
                </a:solidFill>
                <a:latin typeface="Arial" pitchFamily="34" charset="0"/>
              </a:rPr>
              <a:t>&lt; 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3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endParaRPr kumimoji="0" lang="en-US" sz="23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9269" name="Oval 5"/>
          <p:cNvSpPr>
            <a:spLocks noChangeArrowheads="1"/>
          </p:cNvSpPr>
          <p:nvPr/>
        </p:nvSpPr>
        <p:spPr bwMode="auto">
          <a:xfrm>
            <a:off x="8280025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ru-RU" b="1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0" name="Oval 6"/>
          <p:cNvSpPr>
            <a:spLocks noChangeArrowheads="1"/>
          </p:cNvSpPr>
          <p:nvPr/>
        </p:nvSpPr>
        <p:spPr bwMode="auto">
          <a:xfrm>
            <a:off x="9000750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1" name="Oval 7"/>
          <p:cNvSpPr>
            <a:spLocks noChangeArrowheads="1"/>
          </p:cNvSpPr>
          <p:nvPr/>
        </p:nvSpPr>
        <p:spPr bwMode="auto">
          <a:xfrm>
            <a:off x="8280025" y="4985680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2" name="Oval 8"/>
          <p:cNvSpPr>
            <a:spLocks noChangeArrowheads="1"/>
          </p:cNvSpPr>
          <p:nvPr/>
        </p:nvSpPr>
        <p:spPr bwMode="auto">
          <a:xfrm>
            <a:off x="9000750" y="4987267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3" name="Oval 9"/>
          <p:cNvSpPr>
            <a:spLocks noChangeArrowheads="1"/>
          </p:cNvSpPr>
          <p:nvPr/>
        </p:nvSpPr>
        <p:spPr bwMode="auto">
          <a:xfrm>
            <a:off x="9721475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4" name="Oval 10"/>
          <p:cNvSpPr>
            <a:spLocks noChangeArrowheads="1"/>
          </p:cNvSpPr>
          <p:nvPr/>
        </p:nvSpPr>
        <p:spPr bwMode="auto">
          <a:xfrm>
            <a:off x="10440611" y="4301467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5" name="Line 11"/>
          <p:cNvSpPr>
            <a:spLocks noChangeShapeType="1"/>
          </p:cNvSpPr>
          <p:nvPr/>
        </p:nvSpPr>
        <p:spPr bwMode="auto">
          <a:xfrm>
            <a:off x="8351461" y="4337979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6" name="Line 12"/>
          <p:cNvSpPr>
            <a:spLocks noChangeShapeType="1"/>
          </p:cNvSpPr>
          <p:nvPr/>
        </p:nvSpPr>
        <p:spPr bwMode="auto">
          <a:xfrm>
            <a:off x="9072186" y="4339566"/>
            <a:ext cx="649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7" name="Line 13"/>
          <p:cNvSpPr>
            <a:spLocks noChangeShapeType="1"/>
          </p:cNvSpPr>
          <p:nvPr/>
        </p:nvSpPr>
        <p:spPr bwMode="auto">
          <a:xfrm>
            <a:off x="9791325" y="4339566"/>
            <a:ext cx="649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8" name="Line 14"/>
          <p:cNvSpPr>
            <a:spLocks noChangeShapeType="1"/>
          </p:cNvSpPr>
          <p:nvPr/>
        </p:nvSpPr>
        <p:spPr bwMode="auto">
          <a:xfrm flipV="1">
            <a:off x="8353049" y="437449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9" name="Line 15"/>
          <p:cNvSpPr>
            <a:spLocks noChangeShapeType="1"/>
          </p:cNvSpPr>
          <p:nvPr/>
        </p:nvSpPr>
        <p:spPr bwMode="auto">
          <a:xfrm flipV="1">
            <a:off x="9072186" y="437449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7" name="Oval 23"/>
          <p:cNvSpPr>
            <a:spLocks noChangeArrowheads="1"/>
          </p:cNvSpPr>
          <p:nvPr/>
        </p:nvSpPr>
        <p:spPr bwMode="auto">
          <a:xfrm>
            <a:off x="8424486" y="36188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8" name="Line 24"/>
          <p:cNvSpPr>
            <a:spLocks noChangeShapeType="1"/>
          </p:cNvSpPr>
          <p:nvPr/>
        </p:nvSpPr>
        <p:spPr bwMode="auto">
          <a:xfrm>
            <a:off x="8497512" y="3690280"/>
            <a:ext cx="1223963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9" name="Oval 25"/>
          <p:cNvSpPr>
            <a:spLocks noChangeArrowheads="1"/>
          </p:cNvSpPr>
          <p:nvPr/>
        </p:nvSpPr>
        <p:spPr bwMode="auto">
          <a:xfrm>
            <a:off x="10118350" y="4914242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0" name="Oval 26"/>
          <p:cNvSpPr>
            <a:spLocks noChangeArrowheads="1"/>
          </p:cNvSpPr>
          <p:nvPr/>
        </p:nvSpPr>
        <p:spPr bwMode="auto">
          <a:xfrm>
            <a:off x="10081836" y="3655355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1" name="Oval 27"/>
          <p:cNvSpPr>
            <a:spLocks noChangeArrowheads="1"/>
          </p:cNvSpPr>
          <p:nvPr/>
        </p:nvSpPr>
        <p:spPr bwMode="auto">
          <a:xfrm>
            <a:off x="10729536" y="49142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2" name="Oval 28"/>
          <p:cNvSpPr>
            <a:spLocks noChangeArrowheads="1"/>
          </p:cNvSpPr>
          <p:nvPr/>
        </p:nvSpPr>
        <p:spPr bwMode="auto">
          <a:xfrm>
            <a:off x="10729536" y="36188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3" name="Oval 29"/>
          <p:cNvSpPr>
            <a:spLocks noChangeArrowheads="1"/>
          </p:cNvSpPr>
          <p:nvPr/>
        </p:nvSpPr>
        <p:spPr bwMode="auto">
          <a:xfrm>
            <a:off x="11018461" y="4303055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cxnSp>
        <p:nvCxnSpPr>
          <p:cNvPr id="38933" name="AutoShape 30"/>
          <p:cNvCxnSpPr>
            <a:cxnSpLocks noChangeShapeType="1"/>
            <a:stCxn id="139273" idx="7"/>
            <a:endCxn id="139290" idx="3"/>
          </p:cNvCxnSpPr>
          <p:nvPr/>
        </p:nvCxnSpPr>
        <p:spPr bwMode="auto">
          <a:xfrm flipV="1">
            <a:off x="9781799" y="3729966"/>
            <a:ext cx="311150" cy="5715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4" name="AutoShape 31"/>
          <p:cNvCxnSpPr>
            <a:cxnSpLocks noChangeShapeType="1"/>
            <a:stCxn id="139290" idx="4"/>
            <a:endCxn id="139274" idx="1"/>
          </p:cNvCxnSpPr>
          <p:nvPr/>
        </p:nvCxnSpPr>
        <p:spPr bwMode="auto">
          <a:xfrm>
            <a:off x="10118350" y="3741079"/>
            <a:ext cx="333375" cy="5588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5" name="AutoShape 32"/>
          <p:cNvCxnSpPr>
            <a:cxnSpLocks noChangeShapeType="1"/>
            <a:stCxn id="139290" idx="6"/>
            <a:endCxn id="139292" idx="2"/>
          </p:cNvCxnSpPr>
          <p:nvPr/>
        </p:nvCxnSpPr>
        <p:spPr bwMode="auto">
          <a:xfrm flipV="1">
            <a:off x="10165974" y="3655354"/>
            <a:ext cx="550862" cy="365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6" name="AutoShape 33"/>
          <p:cNvCxnSpPr>
            <a:cxnSpLocks noChangeShapeType="1"/>
            <a:stCxn id="139274" idx="7"/>
            <a:endCxn id="139292" idx="4"/>
          </p:cNvCxnSpPr>
          <p:nvPr/>
        </p:nvCxnSpPr>
        <p:spPr bwMode="auto">
          <a:xfrm flipV="1">
            <a:off x="10500937" y="3704567"/>
            <a:ext cx="265113" cy="5953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7" name="AutoShape 34"/>
          <p:cNvCxnSpPr>
            <a:cxnSpLocks noChangeShapeType="1"/>
            <a:stCxn id="139292" idx="4"/>
            <a:endCxn id="139293" idx="1"/>
          </p:cNvCxnSpPr>
          <p:nvPr/>
        </p:nvCxnSpPr>
        <p:spPr bwMode="auto">
          <a:xfrm>
            <a:off x="10766050" y="3704566"/>
            <a:ext cx="263525" cy="5969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8" name="AutoShape 36"/>
          <p:cNvCxnSpPr>
            <a:cxnSpLocks noChangeShapeType="1"/>
            <a:stCxn id="139274" idx="6"/>
            <a:endCxn id="139293" idx="2"/>
          </p:cNvCxnSpPr>
          <p:nvPr/>
        </p:nvCxnSpPr>
        <p:spPr bwMode="auto">
          <a:xfrm>
            <a:off x="10524749" y="4337980"/>
            <a:ext cx="4810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9" name="AutoShape 37"/>
          <p:cNvCxnSpPr>
            <a:cxnSpLocks noChangeShapeType="1"/>
            <a:stCxn id="139289" idx="7"/>
            <a:endCxn id="139274" idx="3"/>
          </p:cNvCxnSpPr>
          <p:nvPr/>
        </p:nvCxnSpPr>
        <p:spPr bwMode="auto">
          <a:xfrm flipV="1">
            <a:off x="10178674" y="4376080"/>
            <a:ext cx="273050" cy="5365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40" name="AutoShape 38"/>
          <p:cNvCxnSpPr>
            <a:cxnSpLocks noChangeShapeType="1"/>
            <a:stCxn id="139291" idx="0"/>
            <a:endCxn id="139293" idx="3"/>
          </p:cNvCxnSpPr>
          <p:nvPr/>
        </p:nvCxnSpPr>
        <p:spPr bwMode="auto">
          <a:xfrm flipV="1">
            <a:off x="10766050" y="4377667"/>
            <a:ext cx="263525" cy="5238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9304" name="Oval 40"/>
          <p:cNvSpPr>
            <a:spLocks noChangeArrowheads="1"/>
          </p:cNvSpPr>
          <p:nvPr/>
        </p:nvSpPr>
        <p:spPr bwMode="auto">
          <a:xfrm>
            <a:off x="11448675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305" name="Line 41"/>
          <p:cNvSpPr>
            <a:spLocks noChangeShapeType="1"/>
          </p:cNvSpPr>
          <p:nvPr/>
        </p:nvSpPr>
        <p:spPr bwMode="auto">
          <a:xfrm>
            <a:off x="11089900" y="4339566"/>
            <a:ext cx="358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cxnSp>
        <p:nvCxnSpPr>
          <p:cNvPr id="38943" name="Скругленная соединительная линия 57"/>
          <p:cNvCxnSpPr>
            <a:cxnSpLocks noChangeShapeType="1"/>
            <a:stCxn id="139271" idx="5"/>
            <a:endCxn id="139289" idx="3"/>
          </p:cNvCxnSpPr>
          <p:nvPr/>
        </p:nvCxnSpPr>
        <p:spPr bwMode="auto">
          <a:xfrm rot="5400000" flipH="1" flipV="1">
            <a:off x="9199187" y="4117317"/>
            <a:ext cx="71437" cy="1789112"/>
          </a:xfrm>
          <a:prstGeom prst="curvedConnector3">
            <a:avLst>
              <a:gd name="adj1" fmla="val -334968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6" name="Rechteck 36"/>
          <p:cNvSpPr>
            <a:spLocks noChangeArrowheads="1"/>
          </p:cNvSpPr>
          <p:nvPr/>
        </p:nvSpPr>
        <p:spPr bwMode="gray">
          <a:xfrm>
            <a:off x="3365934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Строгая параллельная форма графа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8951" name="_h1"/>
          <p:cNvSpPr txBox="1">
            <a:spLocks noChangeArrowheads="1"/>
          </p:cNvSpPr>
          <p:nvPr/>
        </p:nvSpPr>
        <p:spPr bwMode="auto">
          <a:xfrm>
            <a:off x="3365934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89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9" grpId="0" animBg="1"/>
      <p:bldP spid="139270" grpId="0" animBg="1"/>
      <p:bldP spid="139271" grpId="0" animBg="1"/>
      <p:bldP spid="139272" grpId="0" animBg="1"/>
      <p:bldP spid="139273" grpId="0" animBg="1"/>
      <p:bldP spid="139274" grpId="0" animBg="1"/>
      <p:bldP spid="139275" grpId="0" animBg="1"/>
      <p:bldP spid="139276" grpId="0" animBg="1"/>
      <p:bldP spid="139277" grpId="0" animBg="1"/>
      <p:bldP spid="139278" grpId="0" animBg="1"/>
      <p:bldP spid="139279" grpId="0" animBg="1"/>
      <p:bldP spid="139287" grpId="0" animBg="1"/>
      <p:bldP spid="139288" grpId="0" animBg="1"/>
      <p:bldP spid="139289" grpId="0" animBg="1"/>
      <p:bldP spid="139290" grpId="0" animBg="1"/>
      <p:bldP spid="139291" grpId="0" animBg="1"/>
      <p:bldP spid="139292" grpId="0" animBg="1"/>
      <p:bldP spid="139293" grpId="0" animBg="1"/>
      <p:bldP spid="139304" grpId="0" animBg="1"/>
      <p:bldP spid="13930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510301" y="2339085"/>
            <a:ext cx="230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294092" y="1728000"/>
            <a:ext cx="8640000" cy="477045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lIns="216000" tIns="180000" rIns="216000">
            <a:noAutofit/>
          </a:bodyPr>
          <a:lstStyle/>
          <a:p>
            <a:pPr algn="just">
              <a:lnSpc>
                <a:spcPct val="95000"/>
              </a:lnSpc>
            </a:pP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Пусть задан ориентированный ациклический граф, имеющий 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300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вершин. Существует число 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 ≤ 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n</a:t>
            </a:r>
            <a:r>
              <a:rPr kumimoji="0" lang="en-US" sz="23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для которого все вершины графа можно так пометить одним из индексов 1, 2, …, 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s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, что если дуга из вершины с индексом </a:t>
            </a:r>
            <a:r>
              <a:rPr kumimoji="0" lang="en-US" sz="2300" i="1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идет в вершину</a:t>
            </a:r>
            <a:r>
              <a:rPr kumimoji="0" lang="en-US" sz="2300" dirty="0">
                <a:solidFill>
                  <a:prstClr val="black"/>
                </a:solidFill>
                <a:latin typeface="Arial" pitchFamily="34" charset="0"/>
              </a:rPr>
              <a:t> c 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индексом 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300" dirty="0">
                <a:solidFill>
                  <a:prstClr val="black"/>
                </a:solidFill>
                <a:latin typeface="Arial" pitchFamily="34" charset="0"/>
              </a:rPr>
              <a:t>, 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то </a:t>
            </a:r>
            <a:r>
              <a:rPr kumimoji="0" lang="en-US" sz="2300" i="1" dirty="0" err="1">
                <a:solidFill>
                  <a:prstClr val="black"/>
                </a:solidFill>
                <a:latin typeface="Arial" pitchFamily="34" charset="0"/>
              </a:rPr>
              <a:t>i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 </a:t>
            </a:r>
            <a:r>
              <a:rPr kumimoji="0" lang="en-US" sz="2300" dirty="0">
                <a:solidFill>
                  <a:prstClr val="black"/>
                </a:solidFill>
                <a:latin typeface="Arial" pitchFamily="34" charset="0"/>
              </a:rPr>
              <a:t>&lt; </a:t>
            </a:r>
            <a:r>
              <a:rPr kumimoji="0" lang="en-US" sz="2300" i="1" dirty="0">
                <a:solidFill>
                  <a:prstClr val="black"/>
                </a:solidFill>
                <a:latin typeface="Arial" pitchFamily="34" charset="0"/>
              </a:rPr>
              <a:t>j</a:t>
            </a:r>
            <a:r>
              <a:rPr kumimoji="0" lang="en-US" sz="23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endParaRPr kumimoji="0" lang="en-US" sz="23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9269" name="Oval 5"/>
          <p:cNvSpPr>
            <a:spLocks noChangeArrowheads="1"/>
          </p:cNvSpPr>
          <p:nvPr/>
        </p:nvSpPr>
        <p:spPr bwMode="auto">
          <a:xfrm>
            <a:off x="8280033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ru-RU" b="1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0" name="Oval 6"/>
          <p:cNvSpPr>
            <a:spLocks noChangeArrowheads="1"/>
          </p:cNvSpPr>
          <p:nvPr/>
        </p:nvSpPr>
        <p:spPr bwMode="auto">
          <a:xfrm>
            <a:off x="9000758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1" name="Oval 7"/>
          <p:cNvSpPr>
            <a:spLocks noChangeArrowheads="1"/>
          </p:cNvSpPr>
          <p:nvPr/>
        </p:nvSpPr>
        <p:spPr bwMode="auto">
          <a:xfrm>
            <a:off x="8280033" y="4985680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2" name="Oval 8"/>
          <p:cNvSpPr>
            <a:spLocks noChangeArrowheads="1"/>
          </p:cNvSpPr>
          <p:nvPr/>
        </p:nvSpPr>
        <p:spPr bwMode="auto">
          <a:xfrm>
            <a:off x="9000758" y="4987267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3" name="Oval 9"/>
          <p:cNvSpPr>
            <a:spLocks noChangeArrowheads="1"/>
          </p:cNvSpPr>
          <p:nvPr/>
        </p:nvSpPr>
        <p:spPr bwMode="auto">
          <a:xfrm>
            <a:off x="9721483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4" name="Oval 10"/>
          <p:cNvSpPr>
            <a:spLocks noChangeArrowheads="1"/>
          </p:cNvSpPr>
          <p:nvPr/>
        </p:nvSpPr>
        <p:spPr bwMode="auto">
          <a:xfrm>
            <a:off x="10440619" y="4301467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5" name="Line 11"/>
          <p:cNvSpPr>
            <a:spLocks noChangeShapeType="1"/>
          </p:cNvSpPr>
          <p:nvPr/>
        </p:nvSpPr>
        <p:spPr bwMode="auto">
          <a:xfrm>
            <a:off x="8351469" y="4337979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6" name="Line 12"/>
          <p:cNvSpPr>
            <a:spLocks noChangeShapeType="1"/>
          </p:cNvSpPr>
          <p:nvPr/>
        </p:nvSpPr>
        <p:spPr bwMode="auto">
          <a:xfrm>
            <a:off x="9072194" y="4339566"/>
            <a:ext cx="649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7" name="Line 13"/>
          <p:cNvSpPr>
            <a:spLocks noChangeShapeType="1"/>
          </p:cNvSpPr>
          <p:nvPr/>
        </p:nvSpPr>
        <p:spPr bwMode="auto">
          <a:xfrm>
            <a:off x="9791333" y="4339566"/>
            <a:ext cx="649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8" name="Line 14"/>
          <p:cNvSpPr>
            <a:spLocks noChangeShapeType="1"/>
          </p:cNvSpPr>
          <p:nvPr/>
        </p:nvSpPr>
        <p:spPr bwMode="auto">
          <a:xfrm flipV="1">
            <a:off x="8353057" y="437449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9" name="Line 15"/>
          <p:cNvSpPr>
            <a:spLocks noChangeShapeType="1"/>
          </p:cNvSpPr>
          <p:nvPr/>
        </p:nvSpPr>
        <p:spPr bwMode="auto">
          <a:xfrm flipV="1">
            <a:off x="9072194" y="437449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7" name="Oval 23"/>
          <p:cNvSpPr>
            <a:spLocks noChangeArrowheads="1"/>
          </p:cNvSpPr>
          <p:nvPr/>
        </p:nvSpPr>
        <p:spPr bwMode="auto">
          <a:xfrm>
            <a:off x="8424494" y="36188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8" name="Line 24"/>
          <p:cNvSpPr>
            <a:spLocks noChangeShapeType="1"/>
          </p:cNvSpPr>
          <p:nvPr/>
        </p:nvSpPr>
        <p:spPr bwMode="auto">
          <a:xfrm>
            <a:off x="8497520" y="3690280"/>
            <a:ext cx="1223963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9" name="Oval 25"/>
          <p:cNvSpPr>
            <a:spLocks noChangeArrowheads="1"/>
          </p:cNvSpPr>
          <p:nvPr/>
        </p:nvSpPr>
        <p:spPr bwMode="auto">
          <a:xfrm>
            <a:off x="10118358" y="4914242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0" name="Oval 26"/>
          <p:cNvSpPr>
            <a:spLocks noChangeArrowheads="1"/>
          </p:cNvSpPr>
          <p:nvPr/>
        </p:nvSpPr>
        <p:spPr bwMode="auto">
          <a:xfrm>
            <a:off x="10081844" y="3655355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1" name="Oval 27"/>
          <p:cNvSpPr>
            <a:spLocks noChangeArrowheads="1"/>
          </p:cNvSpPr>
          <p:nvPr/>
        </p:nvSpPr>
        <p:spPr bwMode="auto">
          <a:xfrm>
            <a:off x="10729544" y="49142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2" name="Oval 28"/>
          <p:cNvSpPr>
            <a:spLocks noChangeArrowheads="1"/>
          </p:cNvSpPr>
          <p:nvPr/>
        </p:nvSpPr>
        <p:spPr bwMode="auto">
          <a:xfrm>
            <a:off x="10729544" y="36188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3" name="Oval 29"/>
          <p:cNvSpPr>
            <a:spLocks noChangeArrowheads="1"/>
          </p:cNvSpPr>
          <p:nvPr/>
        </p:nvSpPr>
        <p:spPr bwMode="auto">
          <a:xfrm>
            <a:off x="11018469" y="4303055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cxnSp>
        <p:nvCxnSpPr>
          <p:cNvPr id="38933" name="AutoShape 30"/>
          <p:cNvCxnSpPr>
            <a:cxnSpLocks noChangeShapeType="1"/>
            <a:stCxn id="139273" idx="7"/>
            <a:endCxn id="139290" idx="3"/>
          </p:cNvCxnSpPr>
          <p:nvPr/>
        </p:nvCxnSpPr>
        <p:spPr bwMode="auto">
          <a:xfrm flipV="1">
            <a:off x="9781807" y="3729966"/>
            <a:ext cx="311150" cy="5715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4" name="AutoShape 31"/>
          <p:cNvCxnSpPr>
            <a:cxnSpLocks noChangeShapeType="1"/>
            <a:stCxn id="139290" idx="4"/>
            <a:endCxn id="139274" idx="1"/>
          </p:cNvCxnSpPr>
          <p:nvPr/>
        </p:nvCxnSpPr>
        <p:spPr bwMode="auto">
          <a:xfrm>
            <a:off x="10118358" y="3741079"/>
            <a:ext cx="333375" cy="5588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5" name="AutoShape 32"/>
          <p:cNvCxnSpPr>
            <a:cxnSpLocks noChangeShapeType="1"/>
            <a:stCxn id="139290" idx="6"/>
            <a:endCxn id="139292" idx="2"/>
          </p:cNvCxnSpPr>
          <p:nvPr/>
        </p:nvCxnSpPr>
        <p:spPr bwMode="auto">
          <a:xfrm flipV="1">
            <a:off x="10165982" y="3655354"/>
            <a:ext cx="550862" cy="365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6" name="AutoShape 33"/>
          <p:cNvCxnSpPr>
            <a:cxnSpLocks noChangeShapeType="1"/>
            <a:stCxn id="139274" idx="7"/>
            <a:endCxn id="139292" idx="4"/>
          </p:cNvCxnSpPr>
          <p:nvPr/>
        </p:nvCxnSpPr>
        <p:spPr bwMode="auto">
          <a:xfrm flipV="1">
            <a:off x="10500945" y="3704567"/>
            <a:ext cx="265113" cy="5953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7" name="AutoShape 34"/>
          <p:cNvCxnSpPr>
            <a:cxnSpLocks noChangeShapeType="1"/>
            <a:stCxn id="139292" idx="4"/>
            <a:endCxn id="139293" idx="1"/>
          </p:cNvCxnSpPr>
          <p:nvPr/>
        </p:nvCxnSpPr>
        <p:spPr bwMode="auto">
          <a:xfrm>
            <a:off x="10766058" y="3704566"/>
            <a:ext cx="263525" cy="5969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8" name="AutoShape 36"/>
          <p:cNvCxnSpPr>
            <a:cxnSpLocks noChangeShapeType="1"/>
            <a:stCxn id="139274" idx="6"/>
            <a:endCxn id="139293" idx="2"/>
          </p:cNvCxnSpPr>
          <p:nvPr/>
        </p:nvCxnSpPr>
        <p:spPr bwMode="auto">
          <a:xfrm>
            <a:off x="10524757" y="4337980"/>
            <a:ext cx="4810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9" name="AutoShape 37"/>
          <p:cNvCxnSpPr>
            <a:cxnSpLocks noChangeShapeType="1"/>
            <a:stCxn id="139289" idx="7"/>
            <a:endCxn id="139274" idx="3"/>
          </p:cNvCxnSpPr>
          <p:nvPr/>
        </p:nvCxnSpPr>
        <p:spPr bwMode="auto">
          <a:xfrm flipV="1">
            <a:off x="10178682" y="4376080"/>
            <a:ext cx="273050" cy="5365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40" name="AutoShape 38"/>
          <p:cNvCxnSpPr>
            <a:cxnSpLocks noChangeShapeType="1"/>
            <a:stCxn id="139291" idx="0"/>
            <a:endCxn id="139293" idx="3"/>
          </p:cNvCxnSpPr>
          <p:nvPr/>
        </p:nvCxnSpPr>
        <p:spPr bwMode="auto">
          <a:xfrm flipV="1">
            <a:off x="10766058" y="4377667"/>
            <a:ext cx="263525" cy="5238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9304" name="Oval 40"/>
          <p:cNvSpPr>
            <a:spLocks noChangeArrowheads="1"/>
          </p:cNvSpPr>
          <p:nvPr/>
        </p:nvSpPr>
        <p:spPr bwMode="auto">
          <a:xfrm>
            <a:off x="11448683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305" name="Line 41"/>
          <p:cNvSpPr>
            <a:spLocks noChangeShapeType="1"/>
          </p:cNvSpPr>
          <p:nvPr/>
        </p:nvSpPr>
        <p:spPr bwMode="auto">
          <a:xfrm>
            <a:off x="11089908" y="4339566"/>
            <a:ext cx="358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cxnSp>
        <p:nvCxnSpPr>
          <p:cNvPr id="38943" name="Скругленная соединительная линия 57"/>
          <p:cNvCxnSpPr>
            <a:cxnSpLocks noChangeShapeType="1"/>
            <a:stCxn id="139271" idx="5"/>
            <a:endCxn id="139289" idx="3"/>
          </p:cNvCxnSpPr>
          <p:nvPr/>
        </p:nvCxnSpPr>
        <p:spPr bwMode="auto">
          <a:xfrm rot="5400000" flipH="1" flipV="1">
            <a:off x="9199195" y="4117317"/>
            <a:ext cx="71437" cy="1789112"/>
          </a:xfrm>
          <a:prstGeom prst="curvedConnector3">
            <a:avLst>
              <a:gd name="adj1" fmla="val -334968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6" name="Rechteck 36"/>
          <p:cNvSpPr>
            <a:spLocks noChangeArrowheads="1"/>
          </p:cNvSpPr>
          <p:nvPr/>
        </p:nvSpPr>
        <p:spPr bwMode="gray">
          <a:xfrm>
            <a:off x="3365942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Строгая параллельная форма графа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8951" name="_h1"/>
          <p:cNvSpPr txBox="1">
            <a:spLocks noChangeArrowheads="1"/>
          </p:cNvSpPr>
          <p:nvPr/>
        </p:nvSpPr>
        <p:spPr bwMode="auto">
          <a:xfrm>
            <a:off x="336594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35" name="Text Box 42">
            <a:extLst>
              <a:ext uri="{FF2B5EF4-FFF2-40B4-BE49-F238E27FC236}">
                <a16:creationId xmlns:a16="http://schemas.microsoft.com/office/drawing/2014/main" xmlns="" id="{F8372AEA-9E40-4414-9CA3-CEFE2B11B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826" y="3304278"/>
            <a:ext cx="25241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1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" name="Text Box 42">
            <a:extLst>
              <a:ext uri="{FF2B5EF4-FFF2-40B4-BE49-F238E27FC236}">
                <a16:creationId xmlns:a16="http://schemas.microsoft.com/office/drawing/2014/main" xmlns="" id="{9B0AE6EE-61CE-47D5-96B4-1EDEBDC5F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1129" y="4761695"/>
            <a:ext cx="25241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1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 Box 44">
            <a:extLst>
              <a:ext uri="{FF2B5EF4-FFF2-40B4-BE49-F238E27FC236}">
                <a16:creationId xmlns:a16="http://schemas.microsoft.com/office/drawing/2014/main" xmlns="" id="{D68FB304-6655-46FC-B13D-821A996D0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440" y="3990324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2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 Box 44">
            <a:extLst>
              <a:ext uri="{FF2B5EF4-FFF2-40B4-BE49-F238E27FC236}">
                <a16:creationId xmlns:a16="http://schemas.microsoft.com/office/drawing/2014/main" xmlns="" id="{210F821E-5688-4B08-949D-374EB94E2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0993" y="4874038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2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0" name="Text Box 44">
            <a:extLst>
              <a:ext uri="{FF2B5EF4-FFF2-40B4-BE49-F238E27FC236}">
                <a16:creationId xmlns:a16="http://schemas.microsoft.com/office/drawing/2014/main" xmlns="" id="{72ECFF3F-E025-4E0D-86DB-1ED34FED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8647" y="4690959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2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 Box 47">
            <a:extLst>
              <a:ext uri="{FF2B5EF4-FFF2-40B4-BE49-F238E27FC236}">
                <a16:creationId xmlns:a16="http://schemas.microsoft.com/office/drawing/2014/main" xmlns="" id="{78C3E0DE-A57E-44F5-8880-F8E339033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0382" y="3963885"/>
            <a:ext cx="32920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3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3" name="Text Box 47">
            <a:extLst>
              <a:ext uri="{FF2B5EF4-FFF2-40B4-BE49-F238E27FC236}">
                <a16:creationId xmlns:a16="http://schemas.microsoft.com/office/drawing/2014/main" xmlns="" id="{915ADFE4-67A0-4A90-9D63-FA652B078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4517" y="4652859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3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 Box 49">
            <a:extLst>
              <a:ext uri="{FF2B5EF4-FFF2-40B4-BE49-F238E27FC236}">
                <a16:creationId xmlns:a16="http://schemas.microsoft.com/office/drawing/2014/main" xmlns="" id="{E72F3F5E-09CA-4563-8983-4EF2652BA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0340" y="3882930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4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5" name="Text Box 50">
            <a:extLst>
              <a:ext uri="{FF2B5EF4-FFF2-40B4-BE49-F238E27FC236}">
                <a16:creationId xmlns:a16="http://schemas.microsoft.com/office/drawing/2014/main" xmlns="" id="{DCCBE62D-B4A1-4DA8-B064-36B58D3FD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0212" y="3322534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5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6" name="Text Box 51">
            <a:extLst>
              <a:ext uri="{FF2B5EF4-FFF2-40B4-BE49-F238E27FC236}">
                <a16:creationId xmlns:a16="http://schemas.microsoft.com/office/drawing/2014/main" xmlns="" id="{FCCA5656-D5C6-4001-BAD5-4DBC90ED0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3797" y="3844659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6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7" name="Text Box 52">
            <a:extLst>
              <a:ext uri="{FF2B5EF4-FFF2-40B4-BE49-F238E27FC236}">
                <a16:creationId xmlns:a16="http://schemas.microsoft.com/office/drawing/2014/main" xmlns="" id="{4CEFA043-05FA-4FA5-97E8-7657AF373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2994" y="3337469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7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 Box 53">
            <a:extLst>
              <a:ext uri="{FF2B5EF4-FFF2-40B4-BE49-F238E27FC236}">
                <a16:creationId xmlns:a16="http://schemas.microsoft.com/office/drawing/2014/main" xmlns="" id="{C5C617BF-C8B8-42AC-BBE6-C1683C006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5771" y="3922801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8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9" name="Text Box 54">
            <a:extLst>
              <a:ext uri="{FF2B5EF4-FFF2-40B4-BE49-F238E27FC236}">
                <a16:creationId xmlns:a16="http://schemas.microsoft.com/office/drawing/2014/main" xmlns="" id="{B1179EC0-1043-4E19-A370-BA55C0876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6597" y="3922801"/>
            <a:ext cx="23439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9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664D4746-6319-4CA8-9061-D3565BE57C84}"/>
              </a:ext>
            </a:extLst>
          </p:cNvPr>
          <p:cNvSpPr txBox="1"/>
          <p:nvPr/>
        </p:nvSpPr>
        <p:spPr>
          <a:xfrm>
            <a:off x="3301843" y="5440520"/>
            <a:ext cx="8640000" cy="830997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Так размеченный граф называется </a:t>
            </a:r>
            <a:r>
              <a:rPr kumimoji="0" lang="ru-RU" sz="2400" u="sng" dirty="0">
                <a:solidFill>
                  <a:prstClr val="black"/>
                </a:solidFill>
                <a:latin typeface="Arial" pitchFamily="34" charset="0"/>
              </a:rPr>
              <a:t>строгой параллельной формой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 графа.</a:t>
            </a:r>
          </a:p>
        </p:txBody>
      </p:sp>
    </p:spTree>
    <p:extLst>
      <p:ext uri="{BB962C8B-B14F-4D97-AF65-F5344CB8AC3E}">
        <p14:creationId xmlns:p14="http://schemas.microsoft.com/office/powerpoint/2010/main" val="155896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indefinite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indefinite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indefinite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1392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indefinite"/>
                                        <p:tgtEl>
                                          <p:spTgt spid="1392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indefinite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indefinite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indefinite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indefinite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indefinite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indefinite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indefinite"/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indefinite"/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indefinite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indefinite"/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indefinite"/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" dur="indefinite"/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indefinite"/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indefinite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8" dur="indefinite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indefinite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2" dur="indefinite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indefinite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indefinite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6" dur="indefinite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/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indefinite"/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indefinite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2" dur="indefinite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indefinite"/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5" dur="indefinite"/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indefinite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4" dur="indefinite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indefinite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indefinite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9" dur="indefinite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7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indefinite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3" dur="indefinite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7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indefinite"/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indefinite"/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indefinite"/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6" dur="indefinite"/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indefinite"/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indefinite"/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0" dur="indefinite"/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indefinite"/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3" dur="indefinite"/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indefinite"/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6" dur="indefinite"/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indefinite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5" dur="indefinite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indefinite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indefinite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9" dur="indefinite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indefinite"/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2" dur="indefinite"/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indefinite"/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5" dur="indefinite"/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indefinite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4" dur="indefinite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indefinite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indefinite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8" dur="indefinite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indefinite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1" dur="indefinite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indefinite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0" dur="indefinite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indefinite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indefinite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4" dur="indefinite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indefinite"/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7" dur="indefinite"/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indefinite"/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6" dur="indefinite"/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indefinite"/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indefinite"/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0" dur="indefinite"/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87" grpId="0" animBg="1"/>
      <p:bldP spid="38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934" y="1728000"/>
            <a:ext cx="8496300" cy="4608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216000" rIns="216000" bIns="36000" anchor="t" anchorCtr="0"/>
          <a:lstStyle/>
          <a:p>
            <a:pPr>
              <a:spcAft>
                <a:spcPts val="18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Группа вершин в строгой параллельной форме с одинаковым индексом называется </a:t>
            </a:r>
            <a:r>
              <a:rPr kumimoji="0" lang="ru-RU" sz="2400" u="sng" dirty="0">
                <a:solidFill>
                  <a:prstClr val="black"/>
                </a:solidFill>
                <a:latin typeface="Arial" pitchFamily="34" charset="0"/>
              </a:rPr>
              <a:t>ярусом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 </a:t>
            </a:r>
          </a:p>
          <a:p>
            <a:pPr>
              <a:spcAft>
                <a:spcPts val="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Для двух вершин, принадлежащих к одному ярусу, в графе не существует связывающего их пути. </a:t>
            </a:r>
          </a:p>
          <a:p>
            <a:pPr>
              <a:spcAft>
                <a:spcPts val="1800"/>
              </a:spcAft>
            </a:pPr>
            <a:r>
              <a:rPr kumimoji="0" lang="ru-RU" sz="2400" dirty="0">
                <a:solidFill>
                  <a:srgbClr val="800000"/>
                </a:solidFill>
                <a:latin typeface="Arial" pitchFamily="34" charset="0"/>
              </a:rPr>
              <a:t>Следовательно, соответствующие им операции могут быть выполнены параллельно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.</a:t>
            </a: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 algn="just">
              <a:lnSpc>
                <a:spcPct val="140000"/>
              </a:lnSpc>
              <a:spcAft>
                <a:spcPts val="1800"/>
              </a:spcAft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Количество вершин в ярусе называется его </a:t>
            </a:r>
            <a:r>
              <a:rPr kumimoji="0" lang="ru-RU" sz="2400" u="sng" dirty="0">
                <a:solidFill>
                  <a:srgbClr val="404040"/>
                </a:solidFill>
                <a:latin typeface="Arial" pitchFamily="34" charset="0"/>
              </a:rPr>
              <a:t>шириной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 </a:t>
            </a:r>
          </a:p>
          <a:p>
            <a:pPr algn="just">
              <a:spcAft>
                <a:spcPts val="1800"/>
              </a:spcAft>
            </a:pPr>
            <a:r>
              <a:rPr kumimoji="0" lang="ru-RU" sz="2400" dirty="0">
                <a:solidFill>
                  <a:srgbClr val="404040"/>
                </a:solidFill>
                <a:latin typeface="Arial" pitchFamily="34" charset="0"/>
              </a:rPr>
              <a:t>Количество ярусов в параллельной форме называется ее </a:t>
            </a:r>
            <a:r>
              <a:rPr kumimoji="0" lang="ru-RU" sz="2400" u="sng" dirty="0">
                <a:solidFill>
                  <a:srgbClr val="404040"/>
                </a:solidFill>
                <a:latin typeface="Arial" pitchFamily="34" charset="0"/>
              </a:rPr>
              <a:t>высотой</a:t>
            </a:r>
            <a:r>
              <a:rPr kumimoji="0" lang="ru-RU" sz="2400" noProof="1">
                <a:solidFill>
                  <a:srgbClr val="404040"/>
                </a:solidFill>
                <a:latin typeface="Arial" pitchFamily="34" charset="0"/>
              </a:rPr>
              <a:t>. </a:t>
            </a:r>
            <a:r>
              <a:rPr kumimoji="0" lang="en-US" sz="2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                           </a:t>
            </a:r>
            <a:endParaRPr kumimoji="0" lang="en-US" sz="2400" noProof="1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57353" name="_h1"/>
          <p:cNvSpPr txBox="1">
            <a:spLocks noChangeArrowheads="1"/>
          </p:cNvSpPr>
          <p:nvPr/>
        </p:nvSpPr>
        <p:spPr bwMode="auto">
          <a:xfrm>
            <a:off x="3365934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5" name="Rechteck 36">
            <a:extLst>
              <a:ext uri="{FF2B5EF4-FFF2-40B4-BE49-F238E27FC236}">
                <a16:creationId xmlns:a16="http://schemas.microsoft.com/office/drawing/2014/main" xmlns="" id="{8A1918DD-73FE-4A4E-B96E-65ACDD4D270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934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Строгая параллельная форма графа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1279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935" y="1728000"/>
            <a:ext cx="8496300" cy="4032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lnSpc>
                <a:spcPct val="11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При выполнении алгоритма на последовательной машине в каждый момент времени выполняется ровно одна операция.</a:t>
            </a:r>
          </a:p>
          <a:p>
            <a:pPr>
              <a:lnSpc>
                <a:spcPct val="110000"/>
              </a:lnSpc>
            </a:pPr>
            <a:endParaRPr kumimoji="0" lang="ru-RU" sz="24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10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Перенумеровав в графе алгоритма вершины в порядке их выполнения, получим строгую параллельную форму. Все ее ярусы имеют ширину 1, ее высота совпадает с числом вершин в графе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59401" name="_h1"/>
          <p:cNvSpPr txBox="1">
            <a:spLocks noChangeArrowheads="1"/>
          </p:cNvSpPr>
          <p:nvPr/>
        </p:nvSpPr>
        <p:spPr bwMode="auto">
          <a:xfrm>
            <a:off x="3365935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5" name="Rechteck 36">
            <a:extLst>
              <a:ext uri="{FF2B5EF4-FFF2-40B4-BE49-F238E27FC236}">
                <a16:creationId xmlns:a16="http://schemas.microsoft.com/office/drawing/2014/main" xmlns="" id="{5E6C1826-BA4D-4F7E-81FB-D64E7E9F717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935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Строгая параллельная форма графа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071786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_h1"/>
          <p:cNvSpPr>
            <a:spLocks noGrp="1" noChangeArrowheads="1"/>
          </p:cNvSpPr>
          <p:nvPr>
            <p:ph type="title"/>
          </p:nvPr>
        </p:nvSpPr>
        <p:spPr>
          <a:xfrm>
            <a:off x="3365931" y="238125"/>
            <a:ext cx="8496300" cy="617538"/>
          </a:xfrm>
        </p:spPr>
        <p:txBody>
          <a:bodyPr/>
          <a:lstStyle/>
          <a:p>
            <a:pPr algn="r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Декомпозиция</a:t>
            </a:r>
            <a:endParaRPr kumimoji="0" lang="en-US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hteck 39"/>
          <p:cNvSpPr>
            <a:spLocks noChangeArrowheads="1"/>
          </p:cNvSpPr>
          <p:nvPr/>
        </p:nvSpPr>
        <p:spPr bwMode="gray">
          <a:xfrm>
            <a:off x="3365931" y="1727999"/>
            <a:ext cx="8496300" cy="4032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>
              <a:lnSpc>
                <a:spcPct val="110000"/>
              </a:lnSpc>
              <a:spcAft>
                <a:spcPts val="18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Для любой другой архитектуры можно также поставить в соответствие строгую параллельную форму, и наоборот – для любой строгой параллельной формы можно придумать подходящую архитектуру.</a:t>
            </a:r>
            <a:endParaRPr kumimoji="0" lang="ru-RU" sz="2400" noProof="1">
              <a:solidFill>
                <a:srgbClr val="404040"/>
              </a:solidFill>
              <a:latin typeface="Arial" pitchFamily="34" charset="0"/>
            </a:endParaRPr>
          </a:p>
          <a:p>
            <a:pPr algn="just">
              <a:lnSpc>
                <a:spcPct val="110000"/>
              </a:lnSpc>
              <a:spcAft>
                <a:spcPts val="1800"/>
              </a:spcAft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В модели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PRAM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с временем выполнения операций равным 1 время выполнения алгоритма есть высота соответствующей параллельной формы.</a:t>
            </a:r>
            <a:endParaRPr kumimoji="0" lang="ru-RU" sz="2400" noProof="1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" name="Rechteck 36">
            <a:extLst>
              <a:ext uri="{FF2B5EF4-FFF2-40B4-BE49-F238E27FC236}">
                <a16:creationId xmlns:a16="http://schemas.microsoft.com/office/drawing/2014/main" xmlns="" id="{8293690B-C89B-4A3F-B202-6390BD43646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931" y="936000"/>
            <a:ext cx="84963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Строгая параллельная форма графа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4935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510296" y="2339085"/>
            <a:ext cx="230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294087" y="1728000"/>
            <a:ext cx="8640000" cy="4896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lIns="216000" tIns="180000" rIns="216000">
            <a:noAutofit/>
          </a:bodyPr>
          <a:lstStyle/>
          <a:p>
            <a:pPr algn="just">
              <a:lnSpc>
                <a:spcPct val="95000"/>
              </a:lnSpc>
            </a:pP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Если в строгой параллельной форме для вершины с индексом k максимальная из длин путей, оканчивающихся в этой вершине, есть k-1, то такая параллельная форма называется </a:t>
            </a:r>
            <a:r>
              <a:rPr kumimoji="0" lang="ru-RU" sz="2300" u="sng" dirty="0">
                <a:solidFill>
                  <a:prstClr val="black"/>
                </a:solidFill>
                <a:latin typeface="Arial" pitchFamily="34" charset="0"/>
              </a:rPr>
              <a:t>канонической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 параллельной формой.</a:t>
            </a:r>
            <a:endParaRPr kumimoji="0" lang="en-US" sz="23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3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9269" name="Oval 5"/>
          <p:cNvSpPr>
            <a:spLocks noChangeArrowheads="1"/>
          </p:cNvSpPr>
          <p:nvPr/>
        </p:nvSpPr>
        <p:spPr bwMode="auto">
          <a:xfrm>
            <a:off x="6096118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ru-RU" b="1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0" name="Oval 6"/>
          <p:cNvSpPr>
            <a:spLocks noChangeArrowheads="1"/>
          </p:cNvSpPr>
          <p:nvPr/>
        </p:nvSpPr>
        <p:spPr bwMode="auto">
          <a:xfrm>
            <a:off x="6816843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1" name="Oval 7"/>
          <p:cNvSpPr>
            <a:spLocks noChangeArrowheads="1"/>
          </p:cNvSpPr>
          <p:nvPr/>
        </p:nvSpPr>
        <p:spPr bwMode="auto">
          <a:xfrm>
            <a:off x="6096118" y="4985680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2" name="Oval 8"/>
          <p:cNvSpPr>
            <a:spLocks noChangeArrowheads="1"/>
          </p:cNvSpPr>
          <p:nvPr/>
        </p:nvSpPr>
        <p:spPr bwMode="auto">
          <a:xfrm>
            <a:off x="6816843" y="4987267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3" name="Oval 9"/>
          <p:cNvSpPr>
            <a:spLocks noChangeArrowheads="1"/>
          </p:cNvSpPr>
          <p:nvPr/>
        </p:nvSpPr>
        <p:spPr bwMode="auto">
          <a:xfrm>
            <a:off x="7537568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4" name="Oval 10"/>
          <p:cNvSpPr>
            <a:spLocks noChangeArrowheads="1"/>
          </p:cNvSpPr>
          <p:nvPr/>
        </p:nvSpPr>
        <p:spPr bwMode="auto">
          <a:xfrm>
            <a:off x="8256704" y="4301467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5" name="Line 11"/>
          <p:cNvSpPr>
            <a:spLocks noChangeShapeType="1"/>
          </p:cNvSpPr>
          <p:nvPr/>
        </p:nvSpPr>
        <p:spPr bwMode="auto">
          <a:xfrm>
            <a:off x="6167554" y="4337979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6" name="Line 12"/>
          <p:cNvSpPr>
            <a:spLocks noChangeShapeType="1"/>
          </p:cNvSpPr>
          <p:nvPr/>
        </p:nvSpPr>
        <p:spPr bwMode="auto">
          <a:xfrm>
            <a:off x="6888279" y="4339566"/>
            <a:ext cx="649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7" name="Line 13"/>
          <p:cNvSpPr>
            <a:spLocks noChangeShapeType="1"/>
          </p:cNvSpPr>
          <p:nvPr/>
        </p:nvSpPr>
        <p:spPr bwMode="auto">
          <a:xfrm>
            <a:off x="7607418" y="4339566"/>
            <a:ext cx="649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8" name="Line 14"/>
          <p:cNvSpPr>
            <a:spLocks noChangeShapeType="1"/>
          </p:cNvSpPr>
          <p:nvPr/>
        </p:nvSpPr>
        <p:spPr bwMode="auto">
          <a:xfrm flipV="1">
            <a:off x="6169142" y="437449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9" name="Line 15"/>
          <p:cNvSpPr>
            <a:spLocks noChangeShapeType="1"/>
          </p:cNvSpPr>
          <p:nvPr/>
        </p:nvSpPr>
        <p:spPr bwMode="auto">
          <a:xfrm flipV="1">
            <a:off x="6888279" y="437449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7" name="Oval 23"/>
          <p:cNvSpPr>
            <a:spLocks noChangeArrowheads="1"/>
          </p:cNvSpPr>
          <p:nvPr/>
        </p:nvSpPr>
        <p:spPr bwMode="auto">
          <a:xfrm>
            <a:off x="6240579" y="36188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8" name="Line 24"/>
          <p:cNvSpPr>
            <a:spLocks noChangeShapeType="1"/>
          </p:cNvSpPr>
          <p:nvPr/>
        </p:nvSpPr>
        <p:spPr bwMode="auto">
          <a:xfrm>
            <a:off x="6313605" y="3690280"/>
            <a:ext cx="1223963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9" name="Oval 25"/>
          <p:cNvSpPr>
            <a:spLocks noChangeArrowheads="1"/>
          </p:cNvSpPr>
          <p:nvPr/>
        </p:nvSpPr>
        <p:spPr bwMode="auto">
          <a:xfrm>
            <a:off x="7934443" y="4914242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0" name="Oval 26"/>
          <p:cNvSpPr>
            <a:spLocks noChangeArrowheads="1"/>
          </p:cNvSpPr>
          <p:nvPr/>
        </p:nvSpPr>
        <p:spPr bwMode="auto">
          <a:xfrm>
            <a:off x="7897929" y="3655355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1" name="Oval 27"/>
          <p:cNvSpPr>
            <a:spLocks noChangeArrowheads="1"/>
          </p:cNvSpPr>
          <p:nvPr/>
        </p:nvSpPr>
        <p:spPr bwMode="auto">
          <a:xfrm>
            <a:off x="8545629" y="49142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2" name="Oval 28"/>
          <p:cNvSpPr>
            <a:spLocks noChangeArrowheads="1"/>
          </p:cNvSpPr>
          <p:nvPr/>
        </p:nvSpPr>
        <p:spPr bwMode="auto">
          <a:xfrm>
            <a:off x="8545629" y="36188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3" name="Oval 29"/>
          <p:cNvSpPr>
            <a:spLocks noChangeArrowheads="1"/>
          </p:cNvSpPr>
          <p:nvPr/>
        </p:nvSpPr>
        <p:spPr bwMode="auto">
          <a:xfrm>
            <a:off x="8834554" y="4303055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cxnSp>
        <p:nvCxnSpPr>
          <p:cNvPr id="38933" name="AutoShape 30"/>
          <p:cNvCxnSpPr>
            <a:cxnSpLocks noChangeShapeType="1"/>
            <a:stCxn id="139273" idx="7"/>
            <a:endCxn id="139290" idx="3"/>
          </p:cNvCxnSpPr>
          <p:nvPr/>
        </p:nvCxnSpPr>
        <p:spPr bwMode="auto">
          <a:xfrm flipV="1">
            <a:off x="7597892" y="3729966"/>
            <a:ext cx="311150" cy="5715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4" name="AutoShape 31"/>
          <p:cNvCxnSpPr>
            <a:cxnSpLocks noChangeShapeType="1"/>
            <a:stCxn id="139290" idx="4"/>
            <a:endCxn id="139274" idx="1"/>
          </p:cNvCxnSpPr>
          <p:nvPr/>
        </p:nvCxnSpPr>
        <p:spPr bwMode="auto">
          <a:xfrm>
            <a:off x="7934443" y="3741079"/>
            <a:ext cx="333375" cy="5588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5" name="AutoShape 32"/>
          <p:cNvCxnSpPr>
            <a:cxnSpLocks noChangeShapeType="1"/>
            <a:stCxn id="139290" idx="6"/>
            <a:endCxn id="139292" idx="2"/>
          </p:cNvCxnSpPr>
          <p:nvPr/>
        </p:nvCxnSpPr>
        <p:spPr bwMode="auto">
          <a:xfrm flipV="1">
            <a:off x="7982067" y="3655354"/>
            <a:ext cx="550862" cy="365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6" name="AutoShape 33"/>
          <p:cNvCxnSpPr>
            <a:cxnSpLocks noChangeShapeType="1"/>
            <a:stCxn id="139274" idx="7"/>
            <a:endCxn id="139292" idx="4"/>
          </p:cNvCxnSpPr>
          <p:nvPr/>
        </p:nvCxnSpPr>
        <p:spPr bwMode="auto">
          <a:xfrm flipV="1">
            <a:off x="8317030" y="3704567"/>
            <a:ext cx="265113" cy="5953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7" name="AutoShape 34"/>
          <p:cNvCxnSpPr>
            <a:cxnSpLocks noChangeShapeType="1"/>
            <a:stCxn id="139292" idx="4"/>
            <a:endCxn id="139293" idx="1"/>
          </p:cNvCxnSpPr>
          <p:nvPr/>
        </p:nvCxnSpPr>
        <p:spPr bwMode="auto">
          <a:xfrm>
            <a:off x="8582143" y="3704566"/>
            <a:ext cx="263525" cy="5969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8" name="AutoShape 36"/>
          <p:cNvCxnSpPr>
            <a:cxnSpLocks noChangeShapeType="1"/>
            <a:stCxn id="139274" idx="6"/>
            <a:endCxn id="139293" idx="2"/>
          </p:cNvCxnSpPr>
          <p:nvPr/>
        </p:nvCxnSpPr>
        <p:spPr bwMode="auto">
          <a:xfrm>
            <a:off x="8340842" y="4337980"/>
            <a:ext cx="4810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9" name="AutoShape 37"/>
          <p:cNvCxnSpPr>
            <a:cxnSpLocks noChangeShapeType="1"/>
            <a:stCxn id="139289" idx="7"/>
            <a:endCxn id="139274" idx="3"/>
          </p:cNvCxnSpPr>
          <p:nvPr/>
        </p:nvCxnSpPr>
        <p:spPr bwMode="auto">
          <a:xfrm flipV="1">
            <a:off x="7994767" y="4376080"/>
            <a:ext cx="273050" cy="5365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40" name="AutoShape 38"/>
          <p:cNvCxnSpPr>
            <a:cxnSpLocks noChangeShapeType="1"/>
            <a:stCxn id="139291" idx="0"/>
            <a:endCxn id="139293" idx="3"/>
          </p:cNvCxnSpPr>
          <p:nvPr/>
        </p:nvCxnSpPr>
        <p:spPr bwMode="auto">
          <a:xfrm flipV="1">
            <a:off x="8582143" y="4377667"/>
            <a:ext cx="263525" cy="5238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9304" name="Oval 40"/>
          <p:cNvSpPr>
            <a:spLocks noChangeArrowheads="1"/>
          </p:cNvSpPr>
          <p:nvPr/>
        </p:nvSpPr>
        <p:spPr bwMode="auto">
          <a:xfrm>
            <a:off x="9264768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305" name="Line 41"/>
          <p:cNvSpPr>
            <a:spLocks noChangeShapeType="1"/>
          </p:cNvSpPr>
          <p:nvPr/>
        </p:nvSpPr>
        <p:spPr bwMode="auto">
          <a:xfrm>
            <a:off x="8905993" y="4339566"/>
            <a:ext cx="358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cxnSp>
        <p:nvCxnSpPr>
          <p:cNvPr id="38943" name="Скругленная соединительная линия 57"/>
          <p:cNvCxnSpPr>
            <a:cxnSpLocks noChangeShapeType="1"/>
            <a:stCxn id="139271" idx="5"/>
            <a:endCxn id="139289" idx="3"/>
          </p:cNvCxnSpPr>
          <p:nvPr/>
        </p:nvCxnSpPr>
        <p:spPr bwMode="auto">
          <a:xfrm rot="5400000" flipH="1" flipV="1">
            <a:off x="7015280" y="4117317"/>
            <a:ext cx="71437" cy="1789112"/>
          </a:xfrm>
          <a:prstGeom prst="curvedConnector3">
            <a:avLst>
              <a:gd name="adj1" fmla="val -334968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6" name="Rechteck 36"/>
          <p:cNvSpPr>
            <a:spLocks noChangeArrowheads="1"/>
          </p:cNvSpPr>
          <p:nvPr/>
        </p:nvSpPr>
        <p:spPr bwMode="gray">
          <a:xfrm>
            <a:off x="3294087" y="936000"/>
            <a:ext cx="86400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Каноническая параллельная форма графа</a:t>
            </a:r>
            <a:endParaRPr kumimoji="0"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8951" name="_h1"/>
          <p:cNvSpPr txBox="1">
            <a:spLocks noChangeArrowheads="1"/>
          </p:cNvSpPr>
          <p:nvPr/>
        </p:nvSpPr>
        <p:spPr bwMode="auto">
          <a:xfrm>
            <a:off x="3365937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21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9" grpId="0" animBg="1"/>
      <p:bldP spid="139270" grpId="0" animBg="1"/>
      <p:bldP spid="139271" grpId="0" animBg="1"/>
      <p:bldP spid="139272" grpId="0" animBg="1"/>
      <p:bldP spid="139273" grpId="0" animBg="1"/>
      <p:bldP spid="139274" grpId="0" animBg="1"/>
      <p:bldP spid="139275" grpId="0" animBg="1"/>
      <p:bldP spid="139276" grpId="0" animBg="1"/>
      <p:bldP spid="139277" grpId="0" animBg="1"/>
      <p:bldP spid="139278" grpId="0" animBg="1"/>
      <p:bldP spid="139279" grpId="0" animBg="1"/>
      <p:bldP spid="139287" grpId="0" animBg="1"/>
      <p:bldP spid="139288" grpId="0" animBg="1"/>
      <p:bldP spid="139289" grpId="0" animBg="1"/>
      <p:bldP spid="139290" grpId="0" animBg="1"/>
      <p:bldP spid="139291" grpId="0" animBg="1"/>
      <p:bldP spid="139292" grpId="0" animBg="1"/>
      <p:bldP spid="139293" grpId="0" animBg="1"/>
      <p:bldP spid="139304" grpId="0" animBg="1"/>
      <p:bldP spid="13930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510295" y="2339085"/>
            <a:ext cx="230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294086" y="1728000"/>
            <a:ext cx="8640000" cy="4896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lIns="216000" tIns="180000" rIns="216000">
            <a:noAutofit/>
          </a:bodyPr>
          <a:lstStyle/>
          <a:p>
            <a:pPr algn="just">
              <a:lnSpc>
                <a:spcPct val="95000"/>
              </a:lnSpc>
            </a:pP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Если в строгой параллельной форме для вершины с индексом k максимальная из длин путей, оканчивающихся в этой вершине, есть k-1, то такая параллельная форма называется </a:t>
            </a:r>
            <a:r>
              <a:rPr kumimoji="0" lang="ru-RU" sz="2300" u="sng" dirty="0">
                <a:solidFill>
                  <a:prstClr val="black"/>
                </a:solidFill>
                <a:latin typeface="Arial" pitchFamily="34" charset="0"/>
              </a:rPr>
              <a:t>канонической</a:t>
            </a: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 параллельной формой.</a:t>
            </a:r>
            <a:endParaRPr kumimoji="0" lang="en-US" sz="23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3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9269" name="Oval 5"/>
          <p:cNvSpPr>
            <a:spLocks noChangeArrowheads="1"/>
          </p:cNvSpPr>
          <p:nvPr/>
        </p:nvSpPr>
        <p:spPr bwMode="auto">
          <a:xfrm>
            <a:off x="6096112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ru-RU" b="1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0" name="Oval 6"/>
          <p:cNvSpPr>
            <a:spLocks noChangeArrowheads="1"/>
          </p:cNvSpPr>
          <p:nvPr/>
        </p:nvSpPr>
        <p:spPr bwMode="auto">
          <a:xfrm>
            <a:off x="6816837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1" name="Oval 7"/>
          <p:cNvSpPr>
            <a:spLocks noChangeArrowheads="1"/>
          </p:cNvSpPr>
          <p:nvPr/>
        </p:nvSpPr>
        <p:spPr bwMode="auto">
          <a:xfrm>
            <a:off x="6096112" y="4985680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2" name="Oval 8"/>
          <p:cNvSpPr>
            <a:spLocks noChangeArrowheads="1"/>
          </p:cNvSpPr>
          <p:nvPr/>
        </p:nvSpPr>
        <p:spPr bwMode="auto">
          <a:xfrm>
            <a:off x="6816837" y="4987267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3" name="Oval 9"/>
          <p:cNvSpPr>
            <a:spLocks noChangeArrowheads="1"/>
          </p:cNvSpPr>
          <p:nvPr/>
        </p:nvSpPr>
        <p:spPr bwMode="auto">
          <a:xfrm>
            <a:off x="7537562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4" name="Oval 10"/>
          <p:cNvSpPr>
            <a:spLocks noChangeArrowheads="1"/>
          </p:cNvSpPr>
          <p:nvPr/>
        </p:nvSpPr>
        <p:spPr bwMode="auto">
          <a:xfrm>
            <a:off x="8256698" y="4301467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5" name="Line 11"/>
          <p:cNvSpPr>
            <a:spLocks noChangeShapeType="1"/>
          </p:cNvSpPr>
          <p:nvPr/>
        </p:nvSpPr>
        <p:spPr bwMode="auto">
          <a:xfrm>
            <a:off x="6167548" y="4337979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6" name="Line 12"/>
          <p:cNvSpPr>
            <a:spLocks noChangeShapeType="1"/>
          </p:cNvSpPr>
          <p:nvPr/>
        </p:nvSpPr>
        <p:spPr bwMode="auto">
          <a:xfrm>
            <a:off x="6888273" y="4339566"/>
            <a:ext cx="649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7" name="Line 13"/>
          <p:cNvSpPr>
            <a:spLocks noChangeShapeType="1"/>
          </p:cNvSpPr>
          <p:nvPr/>
        </p:nvSpPr>
        <p:spPr bwMode="auto">
          <a:xfrm>
            <a:off x="7607412" y="4339566"/>
            <a:ext cx="649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8" name="Line 14"/>
          <p:cNvSpPr>
            <a:spLocks noChangeShapeType="1"/>
          </p:cNvSpPr>
          <p:nvPr/>
        </p:nvSpPr>
        <p:spPr bwMode="auto">
          <a:xfrm flipV="1">
            <a:off x="6169136" y="437449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9" name="Line 15"/>
          <p:cNvSpPr>
            <a:spLocks noChangeShapeType="1"/>
          </p:cNvSpPr>
          <p:nvPr/>
        </p:nvSpPr>
        <p:spPr bwMode="auto">
          <a:xfrm flipV="1">
            <a:off x="6888273" y="437449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7" name="Oval 23"/>
          <p:cNvSpPr>
            <a:spLocks noChangeArrowheads="1"/>
          </p:cNvSpPr>
          <p:nvPr/>
        </p:nvSpPr>
        <p:spPr bwMode="auto">
          <a:xfrm>
            <a:off x="6240573" y="36188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8" name="Line 24"/>
          <p:cNvSpPr>
            <a:spLocks noChangeShapeType="1"/>
          </p:cNvSpPr>
          <p:nvPr/>
        </p:nvSpPr>
        <p:spPr bwMode="auto">
          <a:xfrm>
            <a:off x="6313599" y="3690280"/>
            <a:ext cx="1223963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9" name="Oval 25"/>
          <p:cNvSpPr>
            <a:spLocks noChangeArrowheads="1"/>
          </p:cNvSpPr>
          <p:nvPr/>
        </p:nvSpPr>
        <p:spPr bwMode="auto">
          <a:xfrm>
            <a:off x="7934437" y="4914242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0" name="Oval 26"/>
          <p:cNvSpPr>
            <a:spLocks noChangeArrowheads="1"/>
          </p:cNvSpPr>
          <p:nvPr/>
        </p:nvSpPr>
        <p:spPr bwMode="auto">
          <a:xfrm>
            <a:off x="7897923" y="3655355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1" name="Oval 27"/>
          <p:cNvSpPr>
            <a:spLocks noChangeArrowheads="1"/>
          </p:cNvSpPr>
          <p:nvPr/>
        </p:nvSpPr>
        <p:spPr bwMode="auto">
          <a:xfrm>
            <a:off x="8545623" y="49142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2" name="Oval 28"/>
          <p:cNvSpPr>
            <a:spLocks noChangeArrowheads="1"/>
          </p:cNvSpPr>
          <p:nvPr/>
        </p:nvSpPr>
        <p:spPr bwMode="auto">
          <a:xfrm>
            <a:off x="8545623" y="36188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3" name="Oval 29"/>
          <p:cNvSpPr>
            <a:spLocks noChangeArrowheads="1"/>
          </p:cNvSpPr>
          <p:nvPr/>
        </p:nvSpPr>
        <p:spPr bwMode="auto">
          <a:xfrm>
            <a:off x="8834548" y="4303055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cxnSp>
        <p:nvCxnSpPr>
          <p:cNvPr id="38933" name="AutoShape 30"/>
          <p:cNvCxnSpPr>
            <a:cxnSpLocks noChangeShapeType="1"/>
            <a:stCxn id="139273" idx="7"/>
            <a:endCxn id="139290" idx="3"/>
          </p:cNvCxnSpPr>
          <p:nvPr/>
        </p:nvCxnSpPr>
        <p:spPr bwMode="auto">
          <a:xfrm flipV="1">
            <a:off x="7597886" y="3729966"/>
            <a:ext cx="311150" cy="5715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4" name="AutoShape 31"/>
          <p:cNvCxnSpPr>
            <a:cxnSpLocks noChangeShapeType="1"/>
            <a:stCxn id="139290" idx="4"/>
            <a:endCxn id="139274" idx="1"/>
          </p:cNvCxnSpPr>
          <p:nvPr/>
        </p:nvCxnSpPr>
        <p:spPr bwMode="auto">
          <a:xfrm>
            <a:off x="7934437" y="3741079"/>
            <a:ext cx="333375" cy="5588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5" name="AutoShape 32"/>
          <p:cNvCxnSpPr>
            <a:cxnSpLocks noChangeShapeType="1"/>
            <a:stCxn id="139290" idx="6"/>
            <a:endCxn id="139292" idx="2"/>
          </p:cNvCxnSpPr>
          <p:nvPr/>
        </p:nvCxnSpPr>
        <p:spPr bwMode="auto">
          <a:xfrm flipV="1">
            <a:off x="7982061" y="3655354"/>
            <a:ext cx="550862" cy="365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6" name="AutoShape 33"/>
          <p:cNvCxnSpPr>
            <a:cxnSpLocks noChangeShapeType="1"/>
            <a:stCxn id="139274" idx="7"/>
            <a:endCxn id="139292" idx="4"/>
          </p:cNvCxnSpPr>
          <p:nvPr/>
        </p:nvCxnSpPr>
        <p:spPr bwMode="auto">
          <a:xfrm flipV="1">
            <a:off x="8317024" y="3704567"/>
            <a:ext cx="265113" cy="5953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7" name="AutoShape 34"/>
          <p:cNvCxnSpPr>
            <a:cxnSpLocks noChangeShapeType="1"/>
            <a:stCxn id="139292" idx="4"/>
            <a:endCxn id="139293" idx="1"/>
          </p:cNvCxnSpPr>
          <p:nvPr/>
        </p:nvCxnSpPr>
        <p:spPr bwMode="auto">
          <a:xfrm>
            <a:off x="8582137" y="3704566"/>
            <a:ext cx="263525" cy="5969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8" name="AutoShape 36"/>
          <p:cNvCxnSpPr>
            <a:cxnSpLocks noChangeShapeType="1"/>
            <a:stCxn id="139274" idx="6"/>
            <a:endCxn id="139293" idx="2"/>
          </p:cNvCxnSpPr>
          <p:nvPr/>
        </p:nvCxnSpPr>
        <p:spPr bwMode="auto">
          <a:xfrm>
            <a:off x="8340836" y="4337980"/>
            <a:ext cx="4810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9" name="AutoShape 37"/>
          <p:cNvCxnSpPr>
            <a:cxnSpLocks noChangeShapeType="1"/>
            <a:stCxn id="139289" idx="7"/>
            <a:endCxn id="139274" idx="3"/>
          </p:cNvCxnSpPr>
          <p:nvPr/>
        </p:nvCxnSpPr>
        <p:spPr bwMode="auto">
          <a:xfrm flipV="1">
            <a:off x="7994761" y="4376080"/>
            <a:ext cx="273050" cy="5365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40" name="AutoShape 38"/>
          <p:cNvCxnSpPr>
            <a:cxnSpLocks noChangeShapeType="1"/>
            <a:stCxn id="139291" idx="0"/>
            <a:endCxn id="139293" idx="3"/>
          </p:cNvCxnSpPr>
          <p:nvPr/>
        </p:nvCxnSpPr>
        <p:spPr bwMode="auto">
          <a:xfrm flipV="1">
            <a:off x="8582137" y="4377667"/>
            <a:ext cx="263525" cy="5238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9304" name="Oval 40"/>
          <p:cNvSpPr>
            <a:spLocks noChangeArrowheads="1"/>
          </p:cNvSpPr>
          <p:nvPr/>
        </p:nvSpPr>
        <p:spPr bwMode="auto">
          <a:xfrm>
            <a:off x="9264762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305" name="Line 41"/>
          <p:cNvSpPr>
            <a:spLocks noChangeShapeType="1"/>
          </p:cNvSpPr>
          <p:nvPr/>
        </p:nvSpPr>
        <p:spPr bwMode="auto">
          <a:xfrm>
            <a:off x="8905987" y="4339566"/>
            <a:ext cx="358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cxnSp>
        <p:nvCxnSpPr>
          <p:cNvPr id="38943" name="Скругленная соединительная линия 57"/>
          <p:cNvCxnSpPr>
            <a:cxnSpLocks noChangeShapeType="1"/>
          </p:cNvCxnSpPr>
          <p:nvPr/>
        </p:nvCxnSpPr>
        <p:spPr bwMode="auto">
          <a:xfrm rot="5400000" flipH="1" flipV="1">
            <a:off x="7015275" y="4117317"/>
            <a:ext cx="71437" cy="1789112"/>
          </a:xfrm>
          <a:prstGeom prst="curvedConnector3">
            <a:avLst>
              <a:gd name="adj1" fmla="val -334968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8951" name="_h1"/>
          <p:cNvSpPr txBox="1">
            <a:spLocks noChangeArrowheads="1"/>
          </p:cNvSpPr>
          <p:nvPr/>
        </p:nvSpPr>
        <p:spPr bwMode="auto">
          <a:xfrm>
            <a:off x="3365936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35" name="Text Box 42">
            <a:extLst>
              <a:ext uri="{FF2B5EF4-FFF2-40B4-BE49-F238E27FC236}">
                <a16:creationId xmlns:a16="http://schemas.microsoft.com/office/drawing/2014/main" xmlns="" id="{F8372AEA-9E40-4414-9CA3-CEFE2B11B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905" y="3304278"/>
            <a:ext cx="25241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1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" name="Text Box 42">
            <a:extLst>
              <a:ext uri="{FF2B5EF4-FFF2-40B4-BE49-F238E27FC236}">
                <a16:creationId xmlns:a16="http://schemas.microsoft.com/office/drawing/2014/main" xmlns="" id="{9B0AE6EE-61CE-47D5-96B4-1EDEBDC5F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7208" y="4761695"/>
            <a:ext cx="25241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1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 Box 44">
            <a:extLst>
              <a:ext uri="{FF2B5EF4-FFF2-40B4-BE49-F238E27FC236}">
                <a16:creationId xmlns:a16="http://schemas.microsoft.com/office/drawing/2014/main" xmlns="" id="{D68FB304-6655-46FC-B13D-821A996D0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0519" y="3990324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9" name="Text Box 44">
            <a:extLst>
              <a:ext uri="{FF2B5EF4-FFF2-40B4-BE49-F238E27FC236}">
                <a16:creationId xmlns:a16="http://schemas.microsoft.com/office/drawing/2014/main" xmlns="" id="{210F821E-5688-4B08-949D-374EB94E2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072" y="4874038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0" name="Text Box 44">
            <a:extLst>
              <a:ext uri="{FF2B5EF4-FFF2-40B4-BE49-F238E27FC236}">
                <a16:creationId xmlns:a16="http://schemas.microsoft.com/office/drawing/2014/main" xmlns="" id="{72ECFF3F-E025-4E0D-86DB-1ED34FED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4726" y="4690959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2" name="Text Box 47">
            <a:extLst>
              <a:ext uri="{FF2B5EF4-FFF2-40B4-BE49-F238E27FC236}">
                <a16:creationId xmlns:a16="http://schemas.microsoft.com/office/drawing/2014/main" xmlns="" id="{78C3E0DE-A57E-44F5-8880-F8E339033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6461" y="3963885"/>
            <a:ext cx="32920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3" name="Text Box 47">
            <a:extLst>
              <a:ext uri="{FF2B5EF4-FFF2-40B4-BE49-F238E27FC236}">
                <a16:creationId xmlns:a16="http://schemas.microsoft.com/office/drawing/2014/main" xmlns="" id="{915ADFE4-67A0-4A90-9D63-FA652B078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0596" y="4652859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4" name="Text Box 49">
            <a:extLst>
              <a:ext uri="{FF2B5EF4-FFF2-40B4-BE49-F238E27FC236}">
                <a16:creationId xmlns:a16="http://schemas.microsoft.com/office/drawing/2014/main" xmlns="" id="{E72F3F5E-09CA-4563-8983-4EF2652BA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419" y="3882930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5" name="Text Box 50">
            <a:extLst>
              <a:ext uri="{FF2B5EF4-FFF2-40B4-BE49-F238E27FC236}">
                <a16:creationId xmlns:a16="http://schemas.microsoft.com/office/drawing/2014/main" xmlns="" id="{DCCBE62D-B4A1-4DA8-B064-36B58D3FD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6291" y="3322534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6" name="Text Box 51">
            <a:extLst>
              <a:ext uri="{FF2B5EF4-FFF2-40B4-BE49-F238E27FC236}">
                <a16:creationId xmlns:a16="http://schemas.microsoft.com/office/drawing/2014/main" xmlns="" id="{FCCA5656-D5C6-4001-BAD5-4DBC90ED0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9876" y="3844659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7" name="Text Box 52">
            <a:extLst>
              <a:ext uri="{FF2B5EF4-FFF2-40B4-BE49-F238E27FC236}">
                <a16:creationId xmlns:a16="http://schemas.microsoft.com/office/drawing/2014/main" xmlns="" id="{4CEFA043-05FA-4FA5-97E8-7657AF373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9073" y="3337469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8" name="Text Box 53">
            <a:extLst>
              <a:ext uri="{FF2B5EF4-FFF2-40B4-BE49-F238E27FC236}">
                <a16:creationId xmlns:a16="http://schemas.microsoft.com/office/drawing/2014/main" xmlns="" id="{C5C617BF-C8B8-42AC-BBE6-C1683C006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1850" y="3922801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49" name="Text Box 54">
            <a:extLst>
              <a:ext uri="{FF2B5EF4-FFF2-40B4-BE49-F238E27FC236}">
                <a16:creationId xmlns:a16="http://schemas.microsoft.com/office/drawing/2014/main" xmlns="" id="{B1179EC0-1043-4E19-A370-BA55C0876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2676" y="3922801"/>
            <a:ext cx="23439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664D4746-6319-4CA8-9061-D3565BE57C84}"/>
              </a:ext>
            </a:extLst>
          </p:cNvPr>
          <p:cNvSpPr txBox="1"/>
          <p:nvPr/>
        </p:nvSpPr>
        <p:spPr>
          <a:xfrm>
            <a:off x="3301837" y="5440520"/>
            <a:ext cx="8640000" cy="1144929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Каноническая параллельная форма единственна. Она обладает минимальной высотой и имеет максимальную среднюю ширину яруса</a:t>
            </a:r>
          </a:p>
        </p:txBody>
      </p:sp>
      <p:sp>
        <p:nvSpPr>
          <p:cNvPr id="51" name="Rechteck 36">
            <a:extLst>
              <a:ext uri="{FF2B5EF4-FFF2-40B4-BE49-F238E27FC236}">
                <a16:creationId xmlns:a16="http://schemas.microsoft.com/office/drawing/2014/main" xmlns="" id="{3A720C32-DFA8-4ED1-90C0-DFD26B145C1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94086" y="936000"/>
            <a:ext cx="86400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Каноническая параллельная форма графа</a:t>
            </a:r>
            <a:endParaRPr kumimoji="0"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39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indefinite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indefinite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indefinite"/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1392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indefinite"/>
                                        <p:tgtEl>
                                          <p:spTgt spid="1392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indefinite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" dur="indefinite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indefinite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indefinite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indefinite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indefinite"/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indefinite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indefinite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indefinite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indefinite"/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indefinite"/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indefinite"/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" dur="indefinite"/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/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indefinite"/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indefinite"/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indefinite"/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indefinite"/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indefinite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8" dur="indefinite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indefinite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2" dur="indefinite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indefinite"/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" dur="indefinite"/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indefinite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4" dur="indefinite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indefinite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7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indefinite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9" dur="indefinite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indefinite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3" dur="indefinite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7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/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7" dur="indefinite"/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indefinite"/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6" dur="indefinite"/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indefinite"/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indefinite"/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0" dur="indefinite"/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indefinite"/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3" dur="indefinite"/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indefinite"/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6" dur="indefinite"/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indefinite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5" dur="indefinite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indefinite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indefinite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9" dur="indefinite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indefinite"/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2" dur="indefinite"/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indefinite"/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5" dur="indefinite"/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indefinite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4" dur="indefinite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indefinite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indefinite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8" dur="indefinite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indefinite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1" dur="indefinite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indefinite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0" dur="indefinite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indefinite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indefinite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4" dur="indefinite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indefinite"/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7" dur="indefinite"/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indefinite"/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6" dur="indefinite"/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indefinite"/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indefinite"/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0" dur="indefinite"/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87" grpId="0" animBg="1"/>
      <p:bldP spid="40" grpId="0"/>
      <p:bldP spid="42" grpId="0"/>
      <p:bldP spid="44" grpId="0"/>
      <p:bldP spid="45" grpId="0"/>
      <p:bldP spid="46" grpId="0"/>
      <p:bldP spid="47" grpId="0"/>
      <p:bldP spid="48" grpId="0"/>
      <p:bldP spid="49" grpId="0"/>
      <p:bldP spid="5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510297" y="2339085"/>
            <a:ext cx="230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294088" y="1728000"/>
            <a:ext cx="8640000" cy="4896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lIns="216000" tIns="180000" rIns="216000">
            <a:noAutofit/>
          </a:bodyPr>
          <a:lstStyle/>
          <a:p>
            <a:pPr algn="ctr">
              <a:lnSpc>
                <a:spcPct val="95000"/>
              </a:lnSpc>
            </a:pP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Максимально возможное ускорение при распараллеливании алгоритма в модели </a:t>
            </a:r>
            <a:r>
              <a:rPr kumimoji="0" lang="en-US" sz="2400" dirty="0">
                <a:solidFill>
                  <a:prstClr val="black"/>
                </a:solidFill>
                <a:latin typeface="Arial" pitchFamily="34" charset="0"/>
              </a:rPr>
              <a:t>PRAM </a:t>
            </a:r>
            <a:r>
              <a:rPr kumimoji="0" lang="ru-RU" sz="2400" dirty="0">
                <a:solidFill>
                  <a:prstClr val="black"/>
                </a:solidFill>
                <a:latin typeface="Arial" pitchFamily="34" charset="0"/>
              </a:rPr>
              <a:t>есть количество вершин в графе, деленное на высоту канонической параллельной формы.</a:t>
            </a:r>
            <a:endParaRPr kumimoji="0" lang="en-US" sz="23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3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  <a:p>
            <a:pPr>
              <a:lnSpc>
                <a:spcPct val="120000"/>
              </a:lnSpc>
            </a:pPr>
            <a:endParaRPr kumimoji="0" lang="en-US" sz="22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39269" name="Oval 5"/>
          <p:cNvSpPr>
            <a:spLocks noChangeArrowheads="1"/>
          </p:cNvSpPr>
          <p:nvPr/>
        </p:nvSpPr>
        <p:spPr bwMode="auto">
          <a:xfrm>
            <a:off x="6096114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ru-RU" b="1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0" name="Oval 6"/>
          <p:cNvSpPr>
            <a:spLocks noChangeArrowheads="1"/>
          </p:cNvSpPr>
          <p:nvPr/>
        </p:nvSpPr>
        <p:spPr bwMode="auto">
          <a:xfrm>
            <a:off x="6816839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1" name="Oval 7"/>
          <p:cNvSpPr>
            <a:spLocks noChangeArrowheads="1"/>
          </p:cNvSpPr>
          <p:nvPr/>
        </p:nvSpPr>
        <p:spPr bwMode="auto">
          <a:xfrm>
            <a:off x="6096114" y="4985680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2" name="Oval 8"/>
          <p:cNvSpPr>
            <a:spLocks noChangeArrowheads="1"/>
          </p:cNvSpPr>
          <p:nvPr/>
        </p:nvSpPr>
        <p:spPr bwMode="auto">
          <a:xfrm>
            <a:off x="6816839" y="4987267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3" name="Oval 9"/>
          <p:cNvSpPr>
            <a:spLocks noChangeArrowheads="1"/>
          </p:cNvSpPr>
          <p:nvPr/>
        </p:nvSpPr>
        <p:spPr bwMode="auto">
          <a:xfrm>
            <a:off x="7537564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4" name="Oval 10"/>
          <p:cNvSpPr>
            <a:spLocks noChangeArrowheads="1"/>
          </p:cNvSpPr>
          <p:nvPr/>
        </p:nvSpPr>
        <p:spPr bwMode="auto">
          <a:xfrm>
            <a:off x="8256700" y="4301467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5" name="Line 11"/>
          <p:cNvSpPr>
            <a:spLocks noChangeShapeType="1"/>
          </p:cNvSpPr>
          <p:nvPr/>
        </p:nvSpPr>
        <p:spPr bwMode="auto">
          <a:xfrm>
            <a:off x="6167550" y="4337979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6" name="Line 12"/>
          <p:cNvSpPr>
            <a:spLocks noChangeShapeType="1"/>
          </p:cNvSpPr>
          <p:nvPr/>
        </p:nvSpPr>
        <p:spPr bwMode="auto">
          <a:xfrm>
            <a:off x="6888275" y="4339566"/>
            <a:ext cx="649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7" name="Line 13"/>
          <p:cNvSpPr>
            <a:spLocks noChangeShapeType="1"/>
          </p:cNvSpPr>
          <p:nvPr/>
        </p:nvSpPr>
        <p:spPr bwMode="auto">
          <a:xfrm>
            <a:off x="7607414" y="4339566"/>
            <a:ext cx="649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8" name="Line 14"/>
          <p:cNvSpPr>
            <a:spLocks noChangeShapeType="1"/>
          </p:cNvSpPr>
          <p:nvPr/>
        </p:nvSpPr>
        <p:spPr bwMode="auto">
          <a:xfrm flipV="1">
            <a:off x="6169138" y="437449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79" name="Line 15"/>
          <p:cNvSpPr>
            <a:spLocks noChangeShapeType="1"/>
          </p:cNvSpPr>
          <p:nvPr/>
        </p:nvSpPr>
        <p:spPr bwMode="auto">
          <a:xfrm flipV="1">
            <a:off x="6888275" y="4374492"/>
            <a:ext cx="64770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7" name="Oval 23"/>
          <p:cNvSpPr>
            <a:spLocks noChangeArrowheads="1"/>
          </p:cNvSpPr>
          <p:nvPr/>
        </p:nvSpPr>
        <p:spPr bwMode="auto">
          <a:xfrm>
            <a:off x="6240575" y="36188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8" name="Line 24"/>
          <p:cNvSpPr>
            <a:spLocks noChangeShapeType="1"/>
          </p:cNvSpPr>
          <p:nvPr/>
        </p:nvSpPr>
        <p:spPr bwMode="auto">
          <a:xfrm>
            <a:off x="6313601" y="3690280"/>
            <a:ext cx="1223963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89" name="Oval 25"/>
          <p:cNvSpPr>
            <a:spLocks noChangeArrowheads="1"/>
          </p:cNvSpPr>
          <p:nvPr/>
        </p:nvSpPr>
        <p:spPr bwMode="auto">
          <a:xfrm>
            <a:off x="7934439" y="4914242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0" name="Oval 26"/>
          <p:cNvSpPr>
            <a:spLocks noChangeArrowheads="1"/>
          </p:cNvSpPr>
          <p:nvPr/>
        </p:nvSpPr>
        <p:spPr bwMode="auto">
          <a:xfrm>
            <a:off x="7897925" y="3655355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1" name="Oval 27"/>
          <p:cNvSpPr>
            <a:spLocks noChangeArrowheads="1"/>
          </p:cNvSpPr>
          <p:nvPr/>
        </p:nvSpPr>
        <p:spPr bwMode="auto">
          <a:xfrm>
            <a:off x="8545625" y="49142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2" name="Oval 28"/>
          <p:cNvSpPr>
            <a:spLocks noChangeArrowheads="1"/>
          </p:cNvSpPr>
          <p:nvPr/>
        </p:nvSpPr>
        <p:spPr bwMode="auto">
          <a:xfrm>
            <a:off x="8545625" y="3618842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293" name="Oval 29"/>
          <p:cNvSpPr>
            <a:spLocks noChangeArrowheads="1"/>
          </p:cNvSpPr>
          <p:nvPr/>
        </p:nvSpPr>
        <p:spPr bwMode="auto">
          <a:xfrm>
            <a:off x="8834550" y="4303055"/>
            <a:ext cx="71438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cxnSp>
        <p:nvCxnSpPr>
          <p:cNvPr id="38933" name="AutoShape 30"/>
          <p:cNvCxnSpPr>
            <a:cxnSpLocks noChangeShapeType="1"/>
            <a:stCxn id="139273" idx="7"/>
            <a:endCxn id="139290" idx="3"/>
          </p:cNvCxnSpPr>
          <p:nvPr/>
        </p:nvCxnSpPr>
        <p:spPr bwMode="auto">
          <a:xfrm flipV="1">
            <a:off x="7597888" y="3729966"/>
            <a:ext cx="311150" cy="5715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4" name="AutoShape 31"/>
          <p:cNvCxnSpPr>
            <a:cxnSpLocks noChangeShapeType="1"/>
            <a:stCxn id="139290" idx="4"/>
            <a:endCxn id="139274" idx="1"/>
          </p:cNvCxnSpPr>
          <p:nvPr/>
        </p:nvCxnSpPr>
        <p:spPr bwMode="auto">
          <a:xfrm>
            <a:off x="7934439" y="3741079"/>
            <a:ext cx="333375" cy="5588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5" name="AutoShape 32"/>
          <p:cNvCxnSpPr>
            <a:cxnSpLocks noChangeShapeType="1"/>
            <a:stCxn id="139290" idx="6"/>
            <a:endCxn id="139292" idx="2"/>
          </p:cNvCxnSpPr>
          <p:nvPr/>
        </p:nvCxnSpPr>
        <p:spPr bwMode="auto">
          <a:xfrm flipV="1">
            <a:off x="7982063" y="3655354"/>
            <a:ext cx="550862" cy="365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6" name="AutoShape 33"/>
          <p:cNvCxnSpPr>
            <a:cxnSpLocks noChangeShapeType="1"/>
            <a:stCxn id="139274" idx="7"/>
            <a:endCxn id="139292" idx="4"/>
          </p:cNvCxnSpPr>
          <p:nvPr/>
        </p:nvCxnSpPr>
        <p:spPr bwMode="auto">
          <a:xfrm flipV="1">
            <a:off x="8317026" y="3704567"/>
            <a:ext cx="265113" cy="5953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7" name="AutoShape 34"/>
          <p:cNvCxnSpPr>
            <a:cxnSpLocks noChangeShapeType="1"/>
            <a:stCxn id="139292" idx="4"/>
            <a:endCxn id="139293" idx="1"/>
          </p:cNvCxnSpPr>
          <p:nvPr/>
        </p:nvCxnSpPr>
        <p:spPr bwMode="auto">
          <a:xfrm>
            <a:off x="8582139" y="3704566"/>
            <a:ext cx="263525" cy="5969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8" name="AutoShape 36"/>
          <p:cNvCxnSpPr>
            <a:cxnSpLocks noChangeShapeType="1"/>
            <a:stCxn id="139274" idx="6"/>
            <a:endCxn id="139293" idx="2"/>
          </p:cNvCxnSpPr>
          <p:nvPr/>
        </p:nvCxnSpPr>
        <p:spPr bwMode="auto">
          <a:xfrm>
            <a:off x="8340838" y="4337980"/>
            <a:ext cx="4810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39" name="AutoShape 37"/>
          <p:cNvCxnSpPr>
            <a:cxnSpLocks noChangeShapeType="1"/>
            <a:stCxn id="139289" idx="7"/>
            <a:endCxn id="139274" idx="3"/>
          </p:cNvCxnSpPr>
          <p:nvPr/>
        </p:nvCxnSpPr>
        <p:spPr bwMode="auto">
          <a:xfrm flipV="1">
            <a:off x="7994763" y="4376080"/>
            <a:ext cx="273050" cy="5365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8940" name="AutoShape 38"/>
          <p:cNvCxnSpPr>
            <a:cxnSpLocks noChangeShapeType="1"/>
            <a:stCxn id="139291" idx="0"/>
            <a:endCxn id="139293" idx="3"/>
          </p:cNvCxnSpPr>
          <p:nvPr/>
        </p:nvCxnSpPr>
        <p:spPr bwMode="auto">
          <a:xfrm flipV="1">
            <a:off x="8582139" y="4377667"/>
            <a:ext cx="263525" cy="5238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9304" name="Oval 40"/>
          <p:cNvSpPr>
            <a:spLocks noChangeArrowheads="1"/>
          </p:cNvSpPr>
          <p:nvPr/>
        </p:nvSpPr>
        <p:spPr bwMode="auto">
          <a:xfrm>
            <a:off x="9264764" y="4303055"/>
            <a:ext cx="71437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sp>
        <p:nvSpPr>
          <p:cNvPr id="139305" name="Line 41"/>
          <p:cNvSpPr>
            <a:spLocks noChangeShapeType="1"/>
          </p:cNvSpPr>
          <p:nvPr/>
        </p:nvSpPr>
        <p:spPr bwMode="auto">
          <a:xfrm>
            <a:off x="8905989" y="4339566"/>
            <a:ext cx="358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ru-RU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charset="0"/>
              <a:cs typeface="Arial" charset="0"/>
            </a:endParaRPr>
          </a:p>
        </p:txBody>
      </p:sp>
      <p:cxnSp>
        <p:nvCxnSpPr>
          <p:cNvPr id="38943" name="Скругленная соединительная линия 57"/>
          <p:cNvCxnSpPr>
            <a:cxnSpLocks noChangeShapeType="1"/>
          </p:cNvCxnSpPr>
          <p:nvPr/>
        </p:nvCxnSpPr>
        <p:spPr bwMode="auto">
          <a:xfrm rot="5400000" flipH="1" flipV="1">
            <a:off x="7015277" y="4117317"/>
            <a:ext cx="71437" cy="1789112"/>
          </a:xfrm>
          <a:prstGeom prst="curvedConnector3">
            <a:avLst>
              <a:gd name="adj1" fmla="val -334968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8951" name="_h1"/>
          <p:cNvSpPr txBox="1">
            <a:spLocks noChangeArrowheads="1"/>
          </p:cNvSpPr>
          <p:nvPr/>
        </p:nvSpPr>
        <p:spPr bwMode="auto">
          <a:xfrm>
            <a:off x="3365938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</a:rPr>
              <a:t>Декомпозиция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</a:endParaRPr>
          </a:p>
        </p:txBody>
      </p:sp>
      <p:sp>
        <p:nvSpPr>
          <p:cNvPr id="35" name="Text Box 42">
            <a:extLst>
              <a:ext uri="{FF2B5EF4-FFF2-40B4-BE49-F238E27FC236}">
                <a16:creationId xmlns:a16="http://schemas.microsoft.com/office/drawing/2014/main" xmlns="" id="{F8372AEA-9E40-4414-9CA3-CEFE2B11B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907" y="3304278"/>
            <a:ext cx="25241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1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7" name="Text Box 42">
            <a:extLst>
              <a:ext uri="{FF2B5EF4-FFF2-40B4-BE49-F238E27FC236}">
                <a16:creationId xmlns:a16="http://schemas.microsoft.com/office/drawing/2014/main" xmlns="" id="{9B0AE6EE-61CE-47D5-96B4-1EDEBDC5F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7210" y="4761695"/>
            <a:ext cx="25241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</a:rPr>
              <a:t>1</a:t>
            </a:r>
            <a:endParaRPr lang="ru-RU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 Box 44">
            <a:extLst>
              <a:ext uri="{FF2B5EF4-FFF2-40B4-BE49-F238E27FC236}">
                <a16:creationId xmlns:a16="http://schemas.microsoft.com/office/drawing/2014/main" xmlns="" id="{D68FB304-6655-46FC-B13D-821A996D0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0521" y="3990324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9" name="Text Box 44">
            <a:extLst>
              <a:ext uri="{FF2B5EF4-FFF2-40B4-BE49-F238E27FC236}">
                <a16:creationId xmlns:a16="http://schemas.microsoft.com/office/drawing/2014/main" xmlns="" id="{210F821E-5688-4B08-949D-374EB94E2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074" y="4874038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0" name="Text Box 44">
            <a:extLst>
              <a:ext uri="{FF2B5EF4-FFF2-40B4-BE49-F238E27FC236}">
                <a16:creationId xmlns:a16="http://schemas.microsoft.com/office/drawing/2014/main" xmlns="" id="{72ECFF3F-E025-4E0D-86DB-1ED34FED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4728" y="4690959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2" name="Text Box 47">
            <a:extLst>
              <a:ext uri="{FF2B5EF4-FFF2-40B4-BE49-F238E27FC236}">
                <a16:creationId xmlns:a16="http://schemas.microsoft.com/office/drawing/2014/main" xmlns="" id="{78C3E0DE-A57E-44F5-8880-F8E339033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6463" y="3963885"/>
            <a:ext cx="32920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3" name="Text Box 47">
            <a:extLst>
              <a:ext uri="{FF2B5EF4-FFF2-40B4-BE49-F238E27FC236}">
                <a16:creationId xmlns:a16="http://schemas.microsoft.com/office/drawing/2014/main" xmlns="" id="{915ADFE4-67A0-4A90-9D63-FA652B078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0598" y="4652859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4" name="Text Box 49">
            <a:extLst>
              <a:ext uri="{FF2B5EF4-FFF2-40B4-BE49-F238E27FC236}">
                <a16:creationId xmlns:a16="http://schemas.microsoft.com/office/drawing/2014/main" xmlns="" id="{E72F3F5E-09CA-4563-8983-4EF2652BA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421" y="3882930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5" name="Text Box 50">
            <a:extLst>
              <a:ext uri="{FF2B5EF4-FFF2-40B4-BE49-F238E27FC236}">
                <a16:creationId xmlns:a16="http://schemas.microsoft.com/office/drawing/2014/main" xmlns="" id="{DCCBE62D-B4A1-4DA8-B064-36B58D3FD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6293" y="3322534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6" name="Text Box 51">
            <a:extLst>
              <a:ext uri="{FF2B5EF4-FFF2-40B4-BE49-F238E27FC236}">
                <a16:creationId xmlns:a16="http://schemas.microsoft.com/office/drawing/2014/main" xmlns="" id="{FCCA5656-D5C6-4001-BAD5-4DBC90ED0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9878" y="3844659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7" name="Text Box 52">
            <a:extLst>
              <a:ext uri="{FF2B5EF4-FFF2-40B4-BE49-F238E27FC236}">
                <a16:creationId xmlns:a16="http://schemas.microsoft.com/office/drawing/2014/main" xmlns="" id="{4CEFA043-05FA-4FA5-97E8-7657AF373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9075" y="3337469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8" name="Text Box 53">
            <a:extLst>
              <a:ext uri="{FF2B5EF4-FFF2-40B4-BE49-F238E27FC236}">
                <a16:creationId xmlns:a16="http://schemas.microsoft.com/office/drawing/2014/main" xmlns="" id="{C5C617BF-C8B8-42AC-BBE6-C1683C006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1852" y="3922801"/>
            <a:ext cx="2889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49" name="Text Box 54">
            <a:extLst>
              <a:ext uri="{FF2B5EF4-FFF2-40B4-BE49-F238E27FC236}">
                <a16:creationId xmlns:a16="http://schemas.microsoft.com/office/drawing/2014/main" xmlns="" id="{B1179EC0-1043-4E19-A370-BA55C0876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2678" y="3922801"/>
            <a:ext cx="23439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664D4746-6319-4CA8-9061-D3565BE57C84}"/>
              </a:ext>
            </a:extLst>
          </p:cNvPr>
          <p:cNvSpPr txBox="1"/>
          <p:nvPr/>
        </p:nvSpPr>
        <p:spPr>
          <a:xfrm>
            <a:off x="3301839" y="5555934"/>
            <a:ext cx="8640000" cy="428579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kumimoji="0" lang="ru-RU" sz="2300" dirty="0">
                <a:solidFill>
                  <a:prstClr val="black"/>
                </a:solidFill>
                <a:latin typeface="Arial" pitchFamily="34" charset="0"/>
              </a:rPr>
              <a:t>Максимальное ускорение = 13/8</a:t>
            </a:r>
            <a:r>
              <a:rPr lang="en-US" sz="2300" dirty="0">
                <a:solidFill>
                  <a:srgbClr val="262626"/>
                </a:solidFill>
                <a:latin typeface="Arial" pitchFamily="34" charset="0"/>
              </a:rPr>
              <a:t>.</a:t>
            </a:r>
            <a:endParaRPr kumimoji="0" lang="ru-RU" sz="2300" dirty="0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51" name="Rechteck 36">
            <a:extLst>
              <a:ext uri="{FF2B5EF4-FFF2-40B4-BE49-F238E27FC236}">
                <a16:creationId xmlns:a16="http://schemas.microsoft.com/office/drawing/2014/main" xmlns="" id="{787D0A8C-4B67-4EBF-88BF-2090517F4F8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94088" y="936000"/>
            <a:ext cx="8640000" cy="5760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Каноническая параллельная форма графа</a:t>
            </a:r>
            <a:endParaRPr kumimoji="0"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1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9" grpId="0" animBg="1"/>
      <p:bldP spid="139270" grpId="0" animBg="1"/>
      <p:bldP spid="139271" grpId="0" animBg="1"/>
      <p:bldP spid="139272" grpId="0" animBg="1"/>
      <p:bldP spid="139273" grpId="0" animBg="1"/>
      <p:bldP spid="139274" grpId="0" animBg="1"/>
      <p:bldP spid="139275" grpId="0" animBg="1"/>
      <p:bldP spid="139276" grpId="0" animBg="1"/>
      <p:bldP spid="139277" grpId="0" animBg="1"/>
      <p:bldP spid="139278" grpId="0" animBg="1"/>
      <p:bldP spid="139279" grpId="0" animBg="1"/>
      <p:bldP spid="139287" grpId="0" animBg="1"/>
      <p:bldP spid="139288" grpId="0" animBg="1"/>
      <p:bldP spid="139289" grpId="0" animBg="1"/>
      <p:bldP spid="139290" grpId="0" animBg="1"/>
      <p:bldP spid="139291" grpId="0" animBg="1"/>
      <p:bldP spid="139292" grpId="0" animBg="1"/>
      <p:bldP spid="139293" grpId="0" animBg="1"/>
      <p:bldP spid="139304" grpId="0" animBg="1"/>
      <p:bldP spid="139305" grpId="0" animBg="1"/>
      <p:bldP spid="35" grpId="0"/>
      <p:bldP spid="37" grpId="0"/>
      <p:bldP spid="38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8462517" y="836712"/>
            <a:ext cx="2982912" cy="3433762"/>
            <a:chOff x="2775273" y="1162323"/>
            <a:chExt cx="2982912" cy="3433762"/>
          </a:xfrm>
        </p:grpSpPr>
        <p:sp>
          <p:nvSpPr>
            <p:cNvPr id="143361" name="WordArt 3"/>
            <p:cNvSpPr>
              <a:spLocks noChangeArrowheads="1" noChangeShapeType="1" noTextEdit="1"/>
            </p:cNvSpPr>
            <p:nvPr/>
          </p:nvSpPr>
          <p:spPr bwMode="gray">
            <a:xfrm>
              <a:off x="3592835" y="1162323"/>
              <a:ext cx="1322388" cy="2166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C0C0C0"/>
                      </a:gs>
                      <a:gs pos="100000">
                        <a:srgbClr val="484848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2" name="WordArt 8"/>
            <p:cNvSpPr>
              <a:spLocks noChangeArrowheads="1" noChangeShapeType="1" noTextEdit="1"/>
            </p:cNvSpPr>
            <p:nvPr/>
          </p:nvSpPr>
          <p:spPr bwMode="gray">
            <a:xfrm>
              <a:off x="2775273" y="2113235"/>
              <a:ext cx="1004887" cy="16478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B4B4B4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3" name="WordArt 9"/>
            <p:cNvSpPr>
              <a:spLocks noChangeArrowheads="1" noChangeShapeType="1" noTextEdit="1"/>
            </p:cNvSpPr>
            <p:nvPr/>
          </p:nvSpPr>
          <p:spPr bwMode="gray">
            <a:xfrm>
              <a:off x="4211960" y="2060848"/>
              <a:ext cx="1546225" cy="25352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1C4FF"/>
                      </a:gs>
                      <a:gs pos="100000">
                        <a:srgbClr val="2A79FF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0338375"/>
      </p:ext>
    </p:extLst>
  </p:cSld>
  <p:clrMapOvr>
    <a:masterClrMapping/>
  </p:clrMapOvr>
</p:sld>
</file>

<file path=ppt/theme/theme1.xml><?xml version="1.0" encoding="utf-8"?>
<a:theme xmlns:a="http://schemas.openxmlformats.org/drawingml/2006/main" name="6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2215</TotalTime>
  <Words>1198</Words>
  <Application>Microsoft Office PowerPoint</Application>
  <PresentationFormat>Широкоэкранный</PresentationFormat>
  <Paragraphs>317</Paragraphs>
  <Slides>27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27</vt:i4>
      </vt:variant>
    </vt:vector>
  </HeadingPairs>
  <TitlesOfParts>
    <vt:vector size="39" baseType="lpstr">
      <vt:lpstr>Arial Unicode MS</vt:lpstr>
      <vt:lpstr>맑은 고딕</vt:lpstr>
      <vt:lpstr>Arial</vt:lpstr>
      <vt:lpstr>Arial Black</vt:lpstr>
      <vt:lpstr>Calibri</vt:lpstr>
      <vt:lpstr>Lucida Grande CY</vt:lpstr>
      <vt:lpstr>Symbol</vt:lpstr>
      <vt:lpstr>Wingdings</vt:lpstr>
      <vt:lpstr>6_Тема Office</vt:lpstr>
      <vt:lpstr>1_Тема Office</vt:lpstr>
      <vt:lpstr>2_Larissa-Design</vt:lpstr>
      <vt:lpstr>Larissa-Design</vt:lpstr>
      <vt:lpstr>Презентация PowerPoint</vt:lpstr>
      <vt:lpstr>Ограниченность  асимптотического анализа</vt:lpstr>
      <vt:lpstr>Тема 4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Декомпозиция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elena</dc:creator>
  <cp:lastModifiedBy>carpson</cp:lastModifiedBy>
  <cp:revision>146</cp:revision>
  <dcterms:created xsi:type="dcterms:W3CDTF">2013-06-03T16:36:48Z</dcterms:created>
  <dcterms:modified xsi:type="dcterms:W3CDTF">2024-10-12T03:35:08Z</dcterms:modified>
</cp:coreProperties>
</file>