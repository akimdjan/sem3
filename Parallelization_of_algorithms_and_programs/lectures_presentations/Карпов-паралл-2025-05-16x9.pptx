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87" r:id="rId2"/>
    <p:sldMasterId id="2147483691" r:id="rId3"/>
    <p:sldMasterId id="2147483693" r:id="rId4"/>
    <p:sldMasterId id="2147483699" r:id="rId5"/>
  </p:sldMasterIdLst>
  <p:notesMasterIdLst>
    <p:notesMasterId r:id="rId28"/>
  </p:notesMasterIdLst>
  <p:sldIdLst>
    <p:sldId id="257" r:id="rId6"/>
    <p:sldId id="400" r:id="rId7"/>
    <p:sldId id="401" r:id="rId8"/>
    <p:sldId id="339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4" r:id="rId22"/>
    <p:sldId id="447" r:id="rId23"/>
    <p:sldId id="420" r:id="rId24"/>
    <p:sldId id="416" r:id="rId25"/>
    <p:sldId id="417" r:id="rId26"/>
    <p:sldId id="421" r:id="rId27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20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D9D9D9"/>
    <a:srgbClr val="C0C0C0"/>
    <a:srgbClr val="C6D9F1"/>
    <a:srgbClr val="8EB4E3"/>
    <a:srgbClr val="5F8ED9"/>
    <a:srgbClr val="80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320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C16218D-14EB-47F0-9199-866D62F1AE63}" type="datetimeFigureOut">
              <a:rPr lang="ru-RU"/>
              <a:pPr/>
              <a:t>24.03.2023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D5E56AC1-A59B-4139-965A-790FFCEA511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7862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A8C80A6F-CF90-42B7-A120-CFB6C2A6239D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2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 dirty="0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3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55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25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5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81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6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227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7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105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8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78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9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097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10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877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11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3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12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69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13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63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14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24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15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63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16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833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17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6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9E311A-F552-4155-A77A-B6BDC85D5EE5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179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9E311A-F552-4155-A77A-B6BDC85D5EE5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29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20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014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>
              <a:cs typeface="Arial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7A9E311A-F552-4155-A77A-B6BDC85D5EE5}" type="slidenum">
              <a:rPr kumimoji="0" lang="ru-RU" sz="1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/>
              <a:t>21</a:t>
            </a:fld>
            <a:endParaRPr kumimoji="0" lang="ru-RU" sz="12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45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1124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DB4C3-69E5-48C8-9FD2-88914606044C}" type="datetime1">
              <a:rPr lang="ru-RU" smtClean="0"/>
              <a:t>24.03.2023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2B13-65F1-493C-B3B2-320F2949E6A2}" type="datetime1">
              <a:rPr lang="ru-RU" smtClean="0"/>
              <a:t>24.03.2023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E735-EC2A-4F31-85A6-1889FFE5BA93}" type="datetime1">
              <a:rPr lang="ru-RU" smtClean="0"/>
              <a:t>24.03.2023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837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4182-9D76-4200-913B-EE7796369069}" type="datetime1">
              <a:rPr lang="ru-RU" smtClean="0"/>
              <a:t>24.03.2023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82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5163AB-D7AA-42DB-850A-CF3EC5CC1124}" type="datetime1">
              <a:rPr lang="ru-RU" smtClean="0"/>
              <a:t>24.03.2023</a:t>
            </a:fld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ru-RU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93743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60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09212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31507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71632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0821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40685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t>24.03.2023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/>
              <a:t>Стр. </a:t>
            </a:r>
            <a:fld id="{2CF74CB0-F0B5-41E9-BA71-20606D10B8F1}" type="slidenum">
              <a:rPr lang="de-DE" altLang="ru-RU" smtClean="0"/>
              <a:pPr>
                <a:defRPr/>
              </a:pPr>
              <a:t>‹#›</a:t>
            </a:fld>
            <a:endParaRPr lang="de-DE" altLang="ru-RU" dirty="0"/>
          </a:p>
        </p:txBody>
      </p:sp>
    </p:spTree>
    <p:extLst>
      <p:ext uri="{BB962C8B-B14F-4D97-AF65-F5344CB8AC3E}">
        <p14:creationId xmlns:p14="http://schemas.microsoft.com/office/powerpoint/2010/main" val="281713506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t>24.03.2023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4CED0C5-ED51-4CAE-B403-C2A41A79FC68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148762689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t>24.03.2023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56F2DCAE-80BF-45C3-B74A-3BA349CF89F6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986419853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t>24.03.2023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128D019-E771-49AB-93BA-BEA67AACC87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03485813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</a:defRPr>
            </a:lvl1pPr>
          </a:lstStyle>
          <a:p>
            <a:fld id="{5C653168-75B8-4435-9D48-942CEFAA7267}" type="datetime1">
              <a:rPr lang="ru-RU" smtClean="0"/>
              <a:t>24.03.2023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29184" y="6356351"/>
            <a:ext cx="188976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18944" y="6356351"/>
            <a:ext cx="142646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9" r:id="rId2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</a:defRPr>
            </a:lvl1pPr>
          </a:lstStyle>
          <a:p>
            <a:fld id="{7310A263-0055-4CA3-A3F5-77110918D985}" type="datetime1">
              <a:rPr lang="ru-RU" smtClean="0"/>
              <a:t>24.03.2023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29184" y="6356351"/>
            <a:ext cx="188976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18944" y="6356351"/>
            <a:ext cx="142646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/>
              <a:t>Стр. </a:t>
            </a:r>
            <a:fld id="{DE88649C-B327-4688-AF7D-D7204144D0E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23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0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2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 smtClean="0"/>
              <a:t>24.03.2023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2D759B2-9E95-43EC-A219-6234572FE2A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11187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5810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/>
          <p:cNvSpPr txBox="1"/>
          <p:nvPr/>
        </p:nvSpPr>
        <p:spPr>
          <a:xfrm>
            <a:off x="3082456" y="1727999"/>
            <a:ext cx="8645772" cy="457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7409" name="Rectangle 2"/>
          <p:cNvSpPr>
            <a:spLocks noGrp="1" noRot="1" noChangeArrowheads="1"/>
          </p:cNvSpPr>
          <p:nvPr>
            <p:ph type="ctrTitle" idx="4294967295"/>
          </p:nvPr>
        </p:nvSpPr>
        <p:spPr>
          <a:xfrm>
            <a:off x="2932600" y="207964"/>
            <a:ext cx="8928100" cy="661987"/>
          </a:xfrm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Декомпозиция</a:t>
            </a:r>
            <a:endParaRPr kumimoji="0" lang="ru-RU" sz="3600" b="1" dirty="0">
              <a:solidFill>
                <a:schemeClr val="folHlin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93212" y="2476501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119047" y="1854968"/>
            <a:ext cx="8735627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sz="2400" dirty="0">
                <a:solidFill>
                  <a:srgbClr val="262626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Построим граф алгоритма для следующего программного     	кода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Фортран):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44431" name="Text Box 47"/>
          <p:cNvSpPr txBox="1">
            <a:spLocks noChangeArrowheads="1"/>
          </p:cNvSpPr>
          <p:nvPr/>
        </p:nvSpPr>
        <p:spPr bwMode="auto">
          <a:xfrm>
            <a:off x="3319951" y="3257551"/>
            <a:ext cx="3671887" cy="21240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b(1) = a(1) * 2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do </a:t>
            </a:r>
            <a:r>
              <a:rPr kumimoji="0" lang="en-US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 = 2, 5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        b(</a:t>
            </a:r>
            <a:r>
              <a:rPr kumimoji="0" lang="en-US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) = b(i-1) + a(</a:t>
            </a:r>
            <a:r>
              <a:rPr kumimoji="0" lang="en-US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) * 2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</a:rPr>
              <a:t>end do</a:t>
            </a:r>
            <a:endParaRPr kumimoji="0" lang="ru-RU" sz="2400" dirty="0">
              <a:solidFill>
                <a:prstClr val="black">
                  <a:lumMod val="75000"/>
                  <a:lumOff val="25000"/>
                </a:prstClr>
              </a:solidFill>
              <a:latin typeface="Arial" pitchFamily="34" charset="0"/>
            </a:endParaRPr>
          </a:p>
        </p:txBody>
      </p:sp>
      <p:sp>
        <p:nvSpPr>
          <p:cNvPr id="144416" name="Oval 32"/>
          <p:cNvSpPr>
            <a:spLocks noChangeArrowheads="1"/>
          </p:cNvSpPr>
          <p:nvPr/>
        </p:nvSpPr>
        <p:spPr bwMode="auto">
          <a:xfrm>
            <a:off x="8107851" y="2997201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" name="Oval 32"/>
          <p:cNvSpPr>
            <a:spLocks noChangeArrowheads="1"/>
          </p:cNvSpPr>
          <p:nvPr/>
        </p:nvSpPr>
        <p:spPr bwMode="auto">
          <a:xfrm>
            <a:off x="9547712" y="2997201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" name="Oval 32"/>
          <p:cNvSpPr>
            <a:spLocks noChangeArrowheads="1"/>
          </p:cNvSpPr>
          <p:nvPr/>
        </p:nvSpPr>
        <p:spPr bwMode="auto">
          <a:xfrm>
            <a:off x="10231926" y="299878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" name="Oval 32"/>
          <p:cNvSpPr>
            <a:spLocks noChangeArrowheads="1"/>
          </p:cNvSpPr>
          <p:nvPr/>
        </p:nvSpPr>
        <p:spPr bwMode="auto">
          <a:xfrm>
            <a:off x="8107851" y="35020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7" name="Oval 32"/>
          <p:cNvSpPr>
            <a:spLocks noChangeArrowheads="1"/>
          </p:cNvSpPr>
          <p:nvPr/>
        </p:nvSpPr>
        <p:spPr bwMode="auto">
          <a:xfrm>
            <a:off x="9547712" y="3502026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10231926" y="350361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Oval 32"/>
          <p:cNvSpPr>
            <a:spLocks noChangeArrowheads="1"/>
          </p:cNvSpPr>
          <p:nvPr/>
        </p:nvSpPr>
        <p:spPr bwMode="auto">
          <a:xfrm>
            <a:off x="8828576" y="350043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678" name="AutoShape 14"/>
          <p:cNvCxnSpPr>
            <a:cxnSpLocks noChangeShapeType="1"/>
            <a:stCxn id="144416" idx="6"/>
          </p:cNvCxnSpPr>
          <p:nvPr/>
        </p:nvCxnSpPr>
        <p:spPr bwMode="auto">
          <a:xfrm>
            <a:off x="8191988" y="3033713"/>
            <a:ext cx="13430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79" name="AutoShape 15"/>
          <p:cNvCxnSpPr>
            <a:cxnSpLocks noChangeShapeType="1"/>
          </p:cNvCxnSpPr>
          <p:nvPr/>
        </p:nvCxnSpPr>
        <p:spPr bwMode="auto">
          <a:xfrm>
            <a:off x="9631851" y="3033714"/>
            <a:ext cx="587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80" name="AutoShape 16"/>
          <p:cNvCxnSpPr>
            <a:cxnSpLocks noChangeShapeType="1"/>
          </p:cNvCxnSpPr>
          <p:nvPr/>
        </p:nvCxnSpPr>
        <p:spPr bwMode="auto">
          <a:xfrm>
            <a:off x="9631851" y="3538539"/>
            <a:ext cx="587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81" name="AutoShape 17"/>
          <p:cNvCxnSpPr>
            <a:cxnSpLocks noChangeShapeType="1"/>
          </p:cNvCxnSpPr>
          <p:nvPr/>
        </p:nvCxnSpPr>
        <p:spPr bwMode="auto">
          <a:xfrm flipV="1">
            <a:off x="8191987" y="3536950"/>
            <a:ext cx="6238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82" name="AutoShape 18"/>
          <p:cNvCxnSpPr>
            <a:cxnSpLocks noChangeShapeType="1"/>
          </p:cNvCxnSpPr>
          <p:nvPr/>
        </p:nvCxnSpPr>
        <p:spPr bwMode="auto">
          <a:xfrm>
            <a:off x="8912712" y="3536950"/>
            <a:ext cx="6223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" name="Oval 32"/>
          <p:cNvSpPr>
            <a:spLocks noChangeArrowheads="1"/>
          </p:cNvSpPr>
          <p:nvPr/>
        </p:nvSpPr>
        <p:spPr bwMode="auto">
          <a:xfrm>
            <a:off x="8107851" y="4038601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Oval 32"/>
          <p:cNvSpPr>
            <a:spLocks noChangeArrowheads="1"/>
          </p:cNvSpPr>
          <p:nvPr/>
        </p:nvSpPr>
        <p:spPr bwMode="auto">
          <a:xfrm>
            <a:off x="9547712" y="4038601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Oval 32"/>
          <p:cNvSpPr>
            <a:spLocks noChangeArrowheads="1"/>
          </p:cNvSpPr>
          <p:nvPr/>
        </p:nvSpPr>
        <p:spPr bwMode="auto">
          <a:xfrm>
            <a:off x="10231926" y="404018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" name="Oval 32"/>
          <p:cNvSpPr>
            <a:spLocks noChangeArrowheads="1"/>
          </p:cNvSpPr>
          <p:nvPr/>
        </p:nvSpPr>
        <p:spPr bwMode="auto">
          <a:xfrm>
            <a:off x="8828576" y="403701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688" name="AutoShape 24"/>
          <p:cNvCxnSpPr>
            <a:cxnSpLocks noChangeShapeType="1"/>
          </p:cNvCxnSpPr>
          <p:nvPr/>
        </p:nvCxnSpPr>
        <p:spPr bwMode="auto">
          <a:xfrm>
            <a:off x="9631851" y="4075114"/>
            <a:ext cx="587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89" name="AutoShape 25"/>
          <p:cNvCxnSpPr>
            <a:cxnSpLocks noChangeShapeType="1"/>
          </p:cNvCxnSpPr>
          <p:nvPr/>
        </p:nvCxnSpPr>
        <p:spPr bwMode="auto">
          <a:xfrm flipV="1">
            <a:off x="8191987" y="4073525"/>
            <a:ext cx="6238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90" name="AutoShape 26"/>
          <p:cNvCxnSpPr>
            <a:cxnSpLocks noChangeShapeType="1"/>
          </p:cNvCxnSpPr>
          <p:nvPr/>
        </p:nvCxnSpPr>
        <p:spPr bwMode="auto">
          <a:xfrm>
            <a:off x="8912712" y="4073525"/>
            <a:ext cx="6223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" name="Oval 32"/>
          <p:cNvSpPr>
            <a:spLocks noChangeArrowheads="1"/>
          </p:cNvSpPr>
          <p:nvPr/>
        </p:nvSpPr>
        <p:spPr bwMode="auto">
          <a:xfrm>
            <a:off x="8107851" y="45434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5" name="Oval 32"/>
          <p:cNvSpPr>
            <a:spLocks noChangeArrowheads="1"/>
          </p:cNvSpPr>
          <p:nvPr/>
        </p:nvSpPr>
        <p:spPr bwMode="auto">
          <a:xfrm>
            <a:off x="9547712" y="4543426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6" name="Oval 32"/>
          <p:cNvSpPr>
            <a:spLocks noChangeArrowheads="1"/>
          </p:cNvSpPr>
          <p:nvPr/>
        </p:nvSpPr>
        <p:spPr bwMode="auto">
          <a:xfrm>
            <a:off x="10231926" y="454501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" name="Oval 32"/>
          <p:cNvSpPr>
            <a:spLocks noChangeArrowheads="1"/>
          </p:cNvSpPr>
          <p:nvPr/>
        </p:nvSpPr>
        <p:spPr bwMode="auto">
          <a:xfrm>
            <a:off x="8828576" y="454183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695" name="AutoShape 31"/>
          <p:cNvCxnSpPr>
            <a:cxnSpLocks noChangeShapeType="1"/>
          </p:cNvCxnSpPr>
          <p:nvPr/>
        </p:nvCxnSpPr>
        <p:spPr bwMode="auto">
          <a:xfrm>
            <a:off x="9631851" y="4579939"/>
            <a:ext cx="587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96" name="AutoShape 32"/>
          <p:cNvCxnSpPr>
            <a:cxnSpLocks noChangeShapeType="1"/>
          </p:cNvCxnSpPr>
          <p:nvPr/>
        </p:nvCxnSpPr>
        <p:spPr bwMode="auto">
          <a:xfrm flipV="1">
            <a:off x="8191987" y="4578350"/>
            <a:ext cx="6238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697" name="AutoShape 33"/>
          <p:cNvCxnSpPr>
            <a:cxnSpLocks noChangeShapeType="1"/>
          </p:cNvCxnSpPr>
          <p:nvPr/>
        </p:nvCxnSpPr>
        <p:spPr bwMode="auto">
          <a:xfrm>
            <a:off x="8912712" y="4578350"/>
            <a:ext cx="6223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Oval 32"/>
          <p:cNvSpPr>
            <a:spLocks noChangeArrowheads="1"/>
          </p:cNvSpPr>
          <p:nvPr/>
        </p:nvSpPr>
        <p:spPr bwMode="auto">
          <a:xfrm>
            <a:off x="8107851" y="508317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" name="Oval 32"/>
          <p:cNvSpPr>
            <a:spLocks noChangeArrowheads="1"/>
          </p:cNvSpPr>
          <p:nvPr/>
        </p:nvSpPr>
        <p:spPr bwMode="auto">
          <a:xfrm>
            <a:off x="9547712" y="5083176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0" name="Oval 32"/>
          <p:cNvSpPr>
            <a:spLocks noChangeArrowheads="1"/>
          </p:cNvSpPr>
          <p:nvPr/>
        </p:nvSpPr>
        <p:spPr bwMode="auto">
          <a:xfrm>
            <a:off x="10231926" y="508476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1" name="Oval 32"/>
          <p:cNvSpPr>
            <a:spLocks noChangeArrowheads="1"/>
          </p:cNvSpPr>
          <p:nvPr/>
        </p:nvSpPr>
        <p:spPr bwMode="auto">
          <a:xfrm>
            <a:off x="8828576" y="508158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702" name="AutoShape 38"/>
          <p:cNvCxnSpPr>
            <a:cxnSpLocks noChangeShapeType="1"/>
          </p:cNvCxnSpPr>
          <p:nvPr/>
        </p:nvCxnSpPr>
        <p:spPr bwMode="auto">
          <a:xfrm>
            <a:off x="9631851" y="5119689"/>
            <a:ext cx="587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03" name="AutoShape 39"/>
          <p:cNvCxnSpPr>
            <a:cxnSpLocks noChangeShapeType="1"/>
          </p:cNvCxnSpPr>
          <p:nvPr/>
        </p:nvCxnSpPr>
        <p:spPr bwMode="auto">
          <a:xfrm flipV="1">
            <a:off x="8191987" y="5118100"/>
            <a:ext cx="6238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04" name="AutoShape 40"/>
          <p:cNvCxnSpPr>
            <a:cxnSpLocks noChangeShapeType="1"/>
          </p:cNvCxnSpPr>
          <p:nvPr/>
        </p:nvCxnSpPr>
        <p:spPr bwMode="auto">
          <a:xfrm>
            <a:off x="8912712" y="5118100"/>
            <a:ext cx="6223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Oval 32"/>
          <p:cNvSpPr>
            <a:spLocks noChangeArrowheads="1"/>
          </p:cNvSpPr>
          <p:nvPr/>
        </p:nvSpPr>
        <p:spPr bwMode="auto">
          <a:xfrm>
            <a:off x="8107851" y="565943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3" name="Oval 32"/>
          <p:cNvSpPr>
            <a:spLocks noChangeArrowheads="1"/>
          </p:cNvSpPr>
          <p:nvPr/>
        </p:nvSpPr>
        <p:spPr bwMode="auto">
          <a:xfrm>
            <a:off x="9547712" y="5659439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0" lang="ru-RU" i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4" name="Oval 32"/>
          <p:cNvSpPr>
            <a:spLocks noChangeArrowheads="1"/>
          </p:cNvSpPr>
          <p:nvPr/>
        </p:nvSpPr>
        <p:spPr bwMode="auto">
          <a:xfrm>
            <a:off x="10231926" y="56610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0" lang="ru-RU" i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5" name="Oval 32"/>
          <p:cNvSpPr>
            <a:spLocks noChangeArrowheads="1"/>
          </p:cNvSpPr>
          <p:nvPr/>
        </p:nvSpPr>
        <p:spPr bwMode="auto">
          <a:xfrm>
            <a:off x="8828576" y="5657851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709" name="AutoShape 45"/>
          <p:cNvCxnSpPr>
            <a:cxnSpLocks noChangeShapeType="1"/>
          </p:cNvCxnSpPr>
          <p:nvPr/>
        </p:nvCxnSpPr>
        <p:spPr bwMode="auto">
          <a:xfrm>
            <a:off x="9631851" y="5695950"/>
            <a:ext cx="5873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10" name="AutoShape 46"/>
          <p:cNvCxnSpPr>
            <a:cxnSpLocks noChangeShapeType="1"/>
          </p:cNvCxnSpPr>
          <p:nvPr/>
        </p:nvCxnSpPr>
        <p:spPr bwMode="auto">
          <a:xfrm flipV="1">
            <a:off x="8191987" y="5694364"/>
            <a:ext cx="6238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11" name="AutoShape 47"/>
          <p:cNvCxnSpPr>
            <a:cxnSpLocks noChangeShapeType="1"/>
          </p:cNvCxnSpPr>
          <p:nvPr/>
        </p:nvCxnSpPr>
        <p:spPr bwMode="auto">
          <a:xfrm>
            <a:off x="8912712" y="5694364"/>
            <a:ext cx="6223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3712" name="Text Box 48"/>
          <p:cNvSpPr txBox="1">
            <a:spLocks noChangeArrowheads="1"/>
          </p:cNvSpPr>
          <p:nvPr/>
        </p:nvSpPr>
        <p:spPr bwMode="auto">
          <a:xfrm>
            <a:off x="7802017" y="2628373"/>
            <a:ext cx="5931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a(1)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3" name="Text Box 49"/>
          <p:cNvSpPr txBox="1">
            <a:spLocks noChangeArrowheads="1"/>
          </p:cNvSpPr>
          <p:nvPr/>
        </p:nvSpPr>
        <p:spPr bwMode="auto">
          <a:xfrm>
            <a:off x="7795700" y="3132000"/>
            <a:ext cx="6365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a(2)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4" name="Text Box 50"/>
          <p:cNvSpPr txBox="1">
            <a:spLocks noChangeArrowheads="1"/>
          </p:cNvSpPr>
          <p:nvPr/>
        </p:nvSpPr>
        <p:spPr bwMode="auto">
          <a:xfrm>
            <a:off x="7815444" y="3672949"/>
            <a:ext cx="62332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a(3)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5" name="Text Box 51"/>
          <p:cNvSpPr txBox="1">
            <a:spLocks noChangeArrowheads="1"/>
          </p:cNvSpPr>
          <p:nvPr/>
        </p:nvSpPr>
        <p:spPr bwMode="auto">
          <a:xfrm>
            <a:off x="7819790" y="4176001"/>
            <a:ext cx="685656" cy="441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a(4)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6" name="Text Box 52"/>
          <p:cNvSpPr txBox="1">
            <a:spLocks noChangeArrowheads="1"/>
          </p:cNvSpPr>
          <p:nvPr/>
        </p:nvSpPr>
        <p:spPr bwMode="auto">
          <a:xfrm>
            <a:off x="7824322" y="4680001"/>
            <a:ext cx="623324" cy="36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a(5)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7" name="Text Box 53"/>
          <p:cNvSpPr txBox="1">
            <a:spLocks noChangeArrowheads="1"/>
          </p:cNvSpPr>
          <p:nvPr/>
        </p:nvSpPr>
        <p:spPr bwMode="auto">
          <a:xfrm>
            <a:off x="9404837" y="2628000"/>
            <a:ext cx="5873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8684112" y="3132000"/>
            <a:ext cx="5254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19" name="Text Box 55"/>
          <p:cNvSpPr txBox="1">
            <a:spLocks noChangeArrowheads="1"/>
          </p:cNvSpPr>
          <p:nvPr/>
        </p:nvSpPr>
        <p:spPr bwMode="auto">
          <a:xfrm>
            <a:off x="8684112" y="3672000"/>
            <a:ext cx="5254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0" name="Text Box 56"/>
          <p:cNvSpPr txBox="1">
            <a:spLocks noChangeArrowheads="1"/>
          </p:cNvSpPr>
          <p:nvPr/>
        </p:nvSpPr>
        <p:spPr bwMode="auto">
          <a:xfrm>
            <a:off x="8684112" y="4176000"/>
            <a:ext cx="5254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1" name="Text Box 57"/>
          <p:cNvSpPr txBox="1">
            <a:spLocks noChangeArrowheads="1"/>
          </p:cNvSpPr>
          <p:nvPr/>
        </p:nvSpPr>
        <p:spPr bwMode="auto">
          <a:xfrm>
            <a:off x="8684112" y="4680000"/>
            <a:ext cx="5254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2" name="Text Box 58"/>
          <p:cNvSpPr txBox="1">
            <a:spLocks noChangeArrowheads="1"/>
          </p:cNvSpPr>
          <p:nvPr/>
        </p:nvSpPr>
        <p:spPr bwMode="auto">
          <a:xfrm>
            <a:off x="9293712" y="3132000"/>
            <a:ext cx="325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3" name="Text Box 59"/>
          <p:cNvSpPr txBox="1">
            <a:spLocks noChangeArrowheads="1"/>
          </p:cNvSpPr>
          <p:nvPr/>
        </p:nvSpPr>
        <p:spPr bwMode="auto">
          <a:xfrm>
            <a:off x="9293712" y="3672000"/>
            <a:ext cx="325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4" name="Text Box 60"/>
          <p:cNvSpPr txBox="1">
            <a:spLocks noChangeArrowheads="1"/>
          </p:cNvSpPr>
          <p:nvPr/>
        </p:nvSpPr>
        <p:spPr bwMode="auto">
          <a:xfrm>
            <a:off x="9293712" y="4176000"/>
            <a:ext cx="325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5" name="Text Box 61"/>
          <p:cNvSpPr txBox="1">
            <a:spLocks noChangeArrowheads="1"/>
          </p:cNvSpPr>
          <p:nvPr/>
        </p:nvSpPr>
        <p:spPr bwMode="auto">
          <a:xfrm>
            <a:off x="9293712" y="4680000"/>
            <a:ext cx="325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6" name="Text Box 62"/>
          <p:cNvSpPr txBox="1">
            <a:spLocks noChangeArrowheads="1"/>
          </p:cNvSpPr>
          <p:nvPr/>
        </p:nvSpPr>
        <p:spPr bwMode="auto">
          <a:xfrm>
            <a:off x="10016025" y="2628000"/>
            <a:ext cx="6349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b(1)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7" name="Text Box 63"/>
          <p:cNvSpPr txBox="1">
            <a:spLocks noChangeArrowheads="1"/>
          </p:cNvSpPr>
          <p:nvPr/>
        </p:nvSpPr>
        <p:spPr bwMode="auto">
          <a:xfrm>
            <a:off x="10016025" y="3132000"/>
            <a:ext cx="7136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b(2)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8" name="Text Box 64"/>
          <p:cNvSpPr txBox="1">
            <a:spLocks noChangeArrowheads="1"/>
          </p:cNvSpPr>
          <p:nvPr/>
        </p:nvSpPr>
        <p:spPr bwMode="auto">
          <a:xfrm>
            <a:off x="10016025" y="3672000"/>
            <a:ext cx="634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b(3)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29" name="Text Box 65"/>
          <p:cNvSpPr txBox="1">
            <a:spLocks noChangeArrowheads="1"/>
          </p:cNvSpPr>
          <p:nvPr/>
        </p:nvSpPr>
        <p:spPr bwMode="auto">
          <a:xfrm>
            <a:off x="10016025" y="4176000"/>
            <a:ext cx="5977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b(4)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30" name="Text Box 66"/>
          <p:cNvSpPr txBox="1">
            <a:spLocks noChangeArrowheads="1"/>
          </p:cNvSpPr>
          <p:nvPr/>
        </p:nvSpPr>
        <p:spPr bwMode="auto">
          <a:xfrm>
            <a:off x="10016024" y="4680000"/>
            <a:ext cx="7556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b(5)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13732" name="AutoShape 68"/>
          <p:cNvCxnSpPr>
            <a:cxnSpLocks noChangeShapeType="1"/>
          </p:cNvCxnSpPr>
          <p:nvPr/>
        </p:nvCxnSpPr>
        <p:spPr bwMode="auto">
          <a:xfrm>
            <a:off x="9584225" y="3082925"/>
            <a:ext cx="0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33" name="AutoShape 69"/>
          <p:cNvCxnSpPr>
            <a:cxnSpLocks noChangeShapeType="1"/>
          </p:cNvCxnSpPr>
          <p:nvPr/>
        </p:nvCxnSpPr>
        <p:spPr bwMode="auto">
          <a:xfrm>
            <a:off x="9584225" y="3587750"/>
            <a:ext cx="0" cy="438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34" name="AutoShape 70"/>
          <p:cNvCxnSpPr>
            <a:cxnSpLocks noChangeShapeType="1"/>
          </p:cNvCxnSpPr>
          <p:nvPr/>
        </p:nvCxnSpPr>
        <p:spPr bwMode="auto">
          <a:xfrm>
            <a:off x="9584225" y="4124325"/>
            <a:ext cx="0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3735" name="AutoShape 71"/>
          <p:cNvCxnSpPr>
            <a:cxnSpLocks noChangeShapeType="1"/>
          </p:cNvCxnSpPr>
          <p:nvPr/>
        </p:nvCxnSpPr>
        <p:spPr bwMode="auto">
          <a:xfrm>
            <a:off x="9584225" y="4629151"/>
            <a:ext cx="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3737" name="Text Box 73"/>
          <p:cNvSpPr txBox="1">
            <a:spLocks noChangeArrowheads="1"/>
          </p:cNvSpPr>
          <p:nvPr/>
        </p:nvSpPr>
        <p:spPr bwMode="auto">
          <a:xfrm>
            <a:off x="7941797" y="5760000"/>
            <a:ext cx="47498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=2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38" name="Text Box 74"/>
          <p:cNvSpPr txBox="1">
            <a:spLocks noChangeArrowheads="1"/>
          </p:cNvSpPr>
          <p:nvPr/>
        </p:nvSpPr>
        <p:spPr bwMode="auto">
          <a:xfrm>
            <a:off x="8620016" y="5760001"/>
            <a:ext cx="522478" cy="36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3739" name="Text Box 75"/>
          <p:cNvSpPr txBox="1">
            <a:spLocks noChangeArrowheads="1"/>
          </p:cNvSpPr>
          <p:nvPr/>
        </p:nvSpPr>
        <p:spPr bwMode="auto">
          <a:xfrm>
            <a:off x="9329996" y="5760000"/>
            <a:ext cx="501086" cy="38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Недостатки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параллельных форм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6" name="Oval 32"/>
          <p:cNvSpPr>
            <a:spLocks noChangeArrowheads="1"/>
          </p:cNvSpPr>
          <p:nvPr/>
        </p:nvSpPr>
        <p:spPr bwMode="auto">
          <a:xfrm>
            <a:off x="10228751" y="565943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0" lang="ru-RU" i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7" name="Oval 32"/>
          <p:cNvSpPr>
            <a:spLocks noChangeArrowheads="1"/>
          </p:cNvSpPr>
          <p:nvPr/>
        </p:nvSpPr>
        <p:spPr bwMode="auto">
          <a:xfrm>
            <a:off x="10912962" y="5661026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0" lang="ru-RU" i="1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28" name="AutoShape 45"/>
          <p:cNvCxnSpPr>
            <a:cxnSpLocks noChangeShapeType="1"/>
          </p:cNvCxnSpPr>
          <p:nvPr/>
        </p:nvCxnSpPr>
        <p:spPr bwMode="auto">
          <a:xfrm>
            <a:off x="10312888" y="5695950"/>
            <a:ext cx="5873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3736" name="Text Box 72"/>
          <p:cNvSpPr txBox="1">
            <a:spLocks noChangeArrowheads="1"/>
          </p:cNvSpPr>
          <p:nvPr/>
        </p:nvSpPr>
        <p:spPr bwMode="auto">
          <a:xfrm>
            <a:off x="10786756" y="5760000"/>
            <a:ext cx="2524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i="1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endParaRPr kumimoji="0" lang="ru-RU" i="1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9" name="Text Box 75"/>
          <p:cNvSpPr txBox="1">
            <a:spLocks noChangeArrowheads="1"/>
          </p:cNvSpPr>
          <p:nvPr/>
        </p:nvSpPr>
        <p:spPr bwMode="auto">
          <a:xfrm>
            <a:off x="10011262" y="5760000"/>
            <a:ext cx="5953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89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144431" grpId="0"/>
      <p:bldP spid="144416" grpId="0" animBg="1"/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113712" grpId="0"/>
      <p:bldP spid="113713" grpId="0"/>
      <p:bldP spid="113714" grpId="0"/>
      <p:bldP spid="113715" grpId="0"/>
      <p:bldP spid="113716" grpId="0"/>
      <p:bldP spid="113717" grpId="0"/>
      <p:bldP spid="113718" grpId="0"/>
      <p:bldP spid="113719" grpId="0"/>
      <p:bldP spid="113720" grpId="0"/>
      <p:bldP spid="113721" grpId="0"/>
      <p:bldP spid="113722" grpId="0"/>
      <p:bldP spid="113723" grpId="0"/>
      <p:bldP spid="113724" grpId="0"/>
      <p:bldP spid="113725" grpId="0"/>
      <p:bldP spid="113726" grpId="0"/>
      <p:bldP spid="113727" grpId="0"/>
      <p:bldP spid="113728" grpId="0"/>
      <p:bldP spid="113729" grpId="0"/>
      <p:bldP spid="113730" grpId="0"/>
      <p:bldP spid="113737" grpId="0"/>
      <p:bldP spid="113738" grpId="0"/>
      <p:bldP spid="113739" grpId="0"/>
      <p:bldP spid="26" grpId="0" animBg="1"/>
      <p:bldP spid="27" grpId="0" animBg="1"/>
      <p:bldP spid="113736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053925" y="1728001"/>
            <a:ext cx="8762175" cy="8771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endParaRPr lang="ru-RU" dirty="0">
              <a:solidFill>
                <a:prstClr val="black"/>
              </a:solidFill>
            </a:endParaRPr>
          </a:p>
          <a:p>
            <a:pPr>
              <a:spcAft>
                <a:spcPts val="1800"/>
              </a:spcAft>
            </a:pP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3925" y="2865750"/>
            <a:ext cx="8762175" cy="188256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pPr>
              <a:spcAft>
                <a:spcPts val="1000"/>
              </a:spcAft>
            </a:pPr>
            <a:endParaRPr lang="ru-RU" dirty="0">
              <a:solidFill>
                <a:prstClr val="black"/>
              </a:solidFill>
            </a:endParaRPr>
          </a:p>
          <a:p>
            <a:pPr>
              <a:spcAft>
                <a:spcPts val="1000"/>
              </a:spcAft>
            </a:pP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3925" y="5017088"/>
            <a:ext cx="8762175" cy="9233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93215" y="2476501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dirty="0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184487" y="1728000"/>
            <a:ext cx="8496300" cy="420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Параллельные формы приводят к слишком большой гранулярности декомпозиции алгоритма.</a:t>
            </a:r>
            <a:endParaRPr kumimoji="0" lang="en-US" sz="2400" dirty="0">
              <a:solidFill>
                <a:srgbClr val="262626"/>
              </a:solidFill>
              <a:latin typeface="Arial" pitchFamily="34" charset="0"/>
            </a:endParaRPr>
          </a:p>
          <a:p>
            <a:pPr algn="just">
              <a:spcBef>
                <a:spcPts val="3600"/>
              </a:spcBef>
              <a:spcAft>
                <a:spcPts val="24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Нет реальных вычислительных систем, соответствующих модели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PRAM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и работающих в рамках модели неограниченного параллелизма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Теоретические оценки ускорения не соответствуют реальным значениям.</a:t>
            </a:r>
          </a:p>
          <a:p>
            <a:pPr algn="just">
              <a:spcBef>
                <a:spcPts val="3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Необходим анализ алгоритмов и программ на более высоком уровне – на уровне групп операций.</a:t>
            </a:r>
            <a:endParaRPr kumimoji="0" lang="en-US" sz="2400" dirty="0">
              <a:solidFill>
                <a:srgbClr val="26262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Grande CY" pitchFamily="2" charset="-52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3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9" name="Rechteck 36">
            <a:extLst>
              <a:ext uri="{FF2B5EF4-FFF2-40B4-BE49-F238E27FC236}">
                <a16:creationId xmlns:a16="http://schemas.microsoft.com/office/drawing/2014/main" xmlns="" id="{DDC89897-19A6-41D8-9BD5-CEF25A42BE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75490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Недостатки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параллельных форм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12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8917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5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04477" y="1069975"/>
            <a:ext cx="8325200" cy="378565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defTabSz="9144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 defTabSz="914400">
              <a:lnSpc>
                <a:spcPct val="120000"/>
              </a:lnSpc>
              <a:defRPr/>
            </a:pPr>
            <a:r>
              <a:rPr kumimoji="0" lang="ru-RU" sz="4000" dirty="0">
                <a:solidFill>
                  <a:srgbClr val="404040"/>
                </a:solidFill>
                <a:latin typeface="Arial" pitchFamily="34" charset="0"/>
              </a:rPr>
              <a:t>Зависимости между операторами последовательной программы</a:t>
            </a:r>
            <a:endParaRPr kumimoji="0" lang="ru-RU" sz="40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9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6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Статический порядок операторов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293211" y="2476501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dirty="0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32713" y="1728000"/>
            <a:ext cx="8426450" cy="425844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lIns="180000" tIns="180000" rIns="18000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программа состоит из операторов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…,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расположенных в тексте в определенном порядке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Например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: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2*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+  15;</a:t>
            </a:r>
          </a:p>
          <a:p>
            <a:pPr>
              <a:lnSpc>
                <a:spcPct val="110000"/>
              </a:lnSpc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+  10*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x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−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/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Расположение операторов в тексте программы задает их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статический порядок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43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Динамический порядок операторов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293209" y="2732974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dirty="0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10409" y="1728001"/>
            <a:ext cx="8426450" cy="402297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lIns="180000" tIns="180000" rIns="180000" bIns="18000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Рассмотрим другой пример:</a:t>
            </a:r>
          </a:p>
          <a:p>
            <a:pPr>
              <a:spcBef>
                <a:spcPct val="50000"/>
              </a:spcBef>
            </a:pP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ts val="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Порядок выполнения операторов в программе (при заданных начальных данных) принято называть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динамическим порядком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операторов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65775" y="1826270"/>
            <a:ext cx="3657600" cy="2720914"/>
          </a:xfrm>
          <a:prstGeom prst="rect">
            <a:avLst/>
          </a:prstGeom>
          <a:noFill/>
        </p:spPr>
        <p:txBody>
          <a:bodyPr wrap="square" lIns="180000" tIns="180000" rIns="180000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go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to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+  10*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go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to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6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−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5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go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to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6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/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871" y="2564934"/>
            <a:ext cx="3974525" cy="15696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Статический порядок операторов не всегда совпадает с порядком их исполнения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900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966054" y="1727999"/>
            <a:ext cx="8894647" cy="4284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0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Активности и атомарные операции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 txBox="1">
            <a:spLocks noRot="1" noChangeArrowheads="1"/>
          </p:cNvSpPr>
          <p:nvPr/>
        </p:nvSpPr>
        <p:spPr bwMode="auto">
          <a:xfrm>
            <a:off x="3260011" y="2654541"/>
            <a:ext cx="8411777" cy="1622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1F497D"/>
              </a:buClr>
              <a:buFont typeface="Wingdings" pitchFamily="2" charset="2"/>
              <a:buChar char="§"/>
              <a:defRPr/>
            </a:pPr>
            <a:r>
              <a:rPr lang="ru-RU" sz="2200" dirty="0">
                <a:solidFill>
                  <a:prstClr val="black"/>
                </a:solidFill>
                <a:latin typeface="Arial" pitchFamily="34" charset="0"/>
                <a:ea typeface="Arial" charset="0"/>
              </a:rPr>
              <a:t>Отрезать ломтик хлеба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  <a:ea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1F497D"/>
              </a:buClr>
              <a:buFont typeface="Wingdings" pitchFamily="2" charset="2"/>
              <a:buChar char="§"/>
              <a:defRPr/>
            </a:pPr>
            <a:r>
              <a:rPr lang="ru-RU" sz="2200" dirty="0">
                <a:solidFill>
                  <a:prstClr val="black"/>
                </a:solidFill>
                <a:latin typeface="Arial" pitchFamily="34" charset="0"/>
                <a:ea typeface="Arial" charset="0"/>
              </a:rPr>
              <a:t>Отрезать ломтик колбасы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  <a:ea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1F497D"/>
              </a:buClr>
              <a:buFont typeface="Wingdings" pitchFamily="2" charset="2"/>
              <a:buChar char="§"/>
              <a:defRPr/>
            </a:pPr>
            <a:r>
              <a:rPr lang="ru-RU" sz="2200" dirty="0">
                <a:solidFill>
                  <a:prstClr val="black"/>
                </a:solidFill>
                <a:latin typeface="Arial" pitchFamily="34" charset="0"/>
                <a:ea typeface="Arial" charset="0"/>
              </a:rPr>
              <a:t>Намазать хлеб маслом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  <a:ea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1F497D"/>
              </a:buClr>
              <a:buFont typeface="Wingdings" pitchFamily="2" charset="2"/>
              <a:buChar char="§"/>
              <a:defRPr/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  <a:ea typeface="Arial" charset="0"/>
              </a:rPr>
              <a:t>Положить колбасу на хлеб</a:t>
            </a:r>
            <a:r>
              <a:rPr kumimoji="0" lang="en-US" sz="2000" dirty="0">
                <a:solidFill>
                  <a:prstClr val="black"/>
                </a:solidFill>
                <a:latin typeface="Arial" pitchFamily="34" charset="0"/>
                <a:ea typeface="Arial" charset="0"/>
              </a:rPr>
              <a:t> </a:t>
            </a:r>
            <a:endParaRPr kumimoji="0" lang="ru-RU" sz="2000" dirty="0">
              <a:solidFill>
                <a:prstClr val="black"/>
              </a:solidFill>
              <a:latin typeface="Arial" pitchFamily="34" charset="0"/>
              <a:ea typeface="Arial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851637" y="4391510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600" u="sng" dirty="0">
                <a:solidFill>
                  <a:prstClr val="black"/>
                </a:solidFill>
                <a:latin typeface="Arial" pitchFamily="34" charset="0"/>
              </a:rPr>
              <a:t>Активность</a:t>
            </a:r>
            <a:r>
              <a:rPr kumimoji="0" lang="ru-RU" sz="2600" dirty="0">
                <a:solidFill>
                  <a:prstClr val="black"/>
                </a:solidFill>
                <a:latin typeface="Arial" pitchFamily="34" charset="0"/>
              </a:rPr>
              <a:t> - последовательное выполнение ряда действий, направленных на достижение определенной цели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9380177" y="3060603"/>
            <a:ext cx="25558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ru-RU" sz="2200" dirty="0">
                <a:solidFill>
                  <a:srgbClr val="262626"/>
                </a:solidFill>
                <a:latin typeface="Arial" pitchFamily="34" charset="0"/>
              </a:rPr>
              <a:t>Атомарные операции</a:t>
            </a:r>
            <a:endParaRPr kumimoji="0" lang="ru-RU" sz="220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098525" y="1843699"/>
            <a:ext cx="8437562" cy="5724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0" lang="ru-RU" sz="2600" dirty="0">
                <a:solidFill>
                  <a:srgbClr val="262626"/>
                </a:solidFill>
                <a:latin typeface="Arial" pitchFamily="34" charset="0"/>
              </a:rPr>
              <a:t>Рассмотрим активность</a:t>
            </a:r>
            <a:r>
              <a:rPr kumimoji="0" lang="en-US" sz="2600" dirty="0">
                <a:solidFill>
                  <a:srgbClr val="262626"/>
                </a:solidFill>
                <a:latin typeface="Arial" pitchFamily="34" charset="0"/>
              </a:rPr>
              <a:t> </a:t>
            </a:r>
            <a:r>
              <a:rPr kumimoji="0" lang="en-US" altLang="ru-RU" sz="2600" dirty="0">
                <a:solidFill>
                  <a:srgbClr val="262626"/>
                </a:solidFill>
                <a:latin typeface="Arial" pitchFamily="34" charset="0"/>
              </a:rPr>
              <a:t>“</a:t>
            </a:r>
            <a:r>
              <a:rPr kumimoji="0" lang="ru-RU" sz="2600" dirty="0">
                <a:solidFill>
                  <a:srgbClr val="262626"/>
                </a:solidFill>
                <a:latin typeface="Arial" pitchFamily="34" charset="0"/>
              </a:rPr>
              <a:t>приготовление бутерброда</a:t>
            </a:r>
            <a:r>
              <a:rPr kumimoji="0" lang="en-US" altLang="ru-RU" sz="2600" dirty="0">
                <a:solidFill>
                  <a:srgbClr val="262626"/>
                </a:solidFill>
                <a:latin typeface="Arial" pitchFamily="34" charset="0"/>
              </a:rPr>
              <a:t>”</a:t>
            </a:r>
            <a:r>
              <a:rPr kumimoji="0" lang="en-US" sz="2600" dirty="0">
                <a:solidFill>
                  <a:srgbClr val="262626"/>
                </a:solidFill>
                <a:latin typeface="Arial" pitchFamily="34" charset="0"/>
              </a:rPr>
              <a:t>:</a:t>
            </a:r>
            <a:endParaRPr kumimoji="0" lang="ru-RU" sz="26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8" name="Прямая со стрелкой 17"/>
          <p:cNvCxnSpPr>
            <a:cxnSpLocks noChangeShapeType="1"/>
          </p:cNvCxnSpPr>
          <p:nvPr/>
        </p:nvCxnSpPr>
        <p:spPr bwMode="auto">
          <a:xfrm flipH="1" flipV="1">
            <a:off x="6991060" y="2811095"/>
            <a:ext cx="2344737" cy="632805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miter lim="800000"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9" name="Прямая со стрелкой 18"/>
          <p:cNvCxnSpPr>
            <a:cxnSpLocks noChangeShapeType="1"/>
          </p:cNvCxnSpPr>
          <p:nvPr/>
        </p:nvCxnSpPr>
        <p:spPr bwMode="auto">
          <a:xfrm flipH="1" flipV="1">
            <a:off x="7223574" y="3230098"/>
            <a:ext cx="2112223" cy="213802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miter lim="800000"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0" name="Прямая со стрелкой 19"/>
          <p:cNvCxnSpPr>
            <a:cxnSpLocks noChangeShapeType="1"/>
            <a:stCxn id="21" idx="0"/>
          </p:cNvCxnSpPr>
          <p:nvPr/>
        </p:nvCxnSpPr>
        <p:spPr bwMode="auto">
          <a:xfrm flipH="1">
            <a:off x="7299350" y="3443899"/>
            <a:ext cx="2004696" cy="419004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miter lim="800000"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1" name="Line 15"/>
          <p:cNvSpPr>
            <a:spLocks noChangeShapeType="1"/>
          </p:cNvSpPr>
          <p:nvPr/>
        </p:nvSpPr>
        <p:spPr bwMode="auto">
          <a:xfrm flipH="1">
            <a:off x="6959310" y="3443899"/>
            <a:ext cx="2344737" cy="156554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headEnd/>
            <a:tailEnd type="arrow" w="med" len="med"/>
          </a:ln>
          <a:effectLst/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67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5" grpId="0"/>
      <p:bldP spid="16" grpId="0"/>
      <p:bldP spid="17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4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91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Interleaving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3" name="Rechteck 39"/>
          <p:cNvSpPr>
            <a:spLocks noChangeArrowheads="1"/>
          </p:cNvSpPr>
          <p:nvPr/>
        </p:nvSpPr>
        <p:spPr bwMode="gray">
          <a:xfrm>
            <a:off x="3182195" y="1728000"/>
            <a:ext cx="8496300" cy="112173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Активность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P:   	a b c</a:t>
            </a:r>
          </a:p>
          <a:p>
            <a:pPr>
              <a:spcAft>
                <a:spcPts val="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Активность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Q:	d e f</a:t>
            </a:r>
          </a:p>
        </p:txBody>
      </p:sp>
      <p:sp>
        <p:nvSpPr>
          <p:cNvPr id="24" name="Rechteck 51"/>
          <p:cNvSpPr>
            <a:spLocks noChangeArrowheads="1"/>
          </p:cNvSpPr>
          <p:nvPr/>
        </p:nvSpPr>
        <p:spPr bwMode="gray">
          <a:xfrm>
            <a:off x="3175491" y="2955060"/>
            <a:ext cx="8496300" cy="8179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Последовательное исполнение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PQ: 	a b c d e f </a:t>
            </a:r>
          </a:p>
        </p:txBody>
      </p:sp>
      <p:sp>
        <p:nvSpPr>
          <p:cNvPr id="25" name="Rechteck 61"/>
          <p:cNvSpPr>
            <a:spLocks noChangeArrowheads="1"/>
          </p:cNvSpPr>
          <p:nvPr/>
        </p:nvSpPr>
        <p:spPr bwMode="gray">
          <a:xfrm>
            <a:off x="3175491" y="3961550"/>
            <a:ext cx="8503004" cy="264783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Bef>
                <a:spcPts val="500"/>
              </a:spcBef>
              <a:spcAft>
                <a:spcPct val="2000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Time-sharing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исполнение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: 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						a b c d e f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						a b d c e f 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                                          	a b d e c f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						a b d e f c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						…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						d e f a b c</a:t>
            </a:r>
          </a:p>
        </p:txBody>
      </p:sp>
    </p:spTree>
    <p:extLst>
      <p:ext uri="{BB962C8B-B14F-4D97-AF65-F5344CB8AC3E}">
        <p14:creationId xmlns:p14="http://schemas.microsoft.com/office/powerpoint/2010/main" val="158682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Детерминированность наборов активностей</a:t>
            </a:r>
            <a:endParaRPr kumimoji="0" lang="ru-RU" sz="28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3" name="Rechteck 39">
            <a:extLst>
              <a:ext uri="{FF2B5EF4-FFF2-40B4-BE49-F238E27FC236}">
                <a16:creationId xmlns:a16="http://schemas.microsoft.com/office/drawing/2014/main" xmlns="" id="{DF4F67C3-060F-46DD-964D-4DBD091173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03153" y="1844824"/>
            <a:ext cx="8635030" cy="456485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xmlns="" id="{6263C1B4-FC7D-4E7F-86A6-CCEE9F6678FE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304396" y="4221188"/>
            <a:ext cx="8256233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Arial" charset="0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>
              <a:lnSpc>
                <a:spcPct val="90000"/>
              </a:lnSpc>
              <a:buClr>
                <a:schemeClr val="tx1"/>
              </a:buClr>
              <a:defRPr/>
            </a:pPr>
            <a:r>
              <a:rPr lang="ru-RU" sz="2400" i="1" dirty="0">
                <a:latin typeface="Arial" pitchFamily="34" charset="0"/>
                <a:cs typeface="Arial" pitchFamily="34" charset="0"/>
              </a:rPr>
              <a:t>Недетерминированный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набор – при одинаковых начальных данных возможны разные  результаты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24000" indent="-32400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defRPr/>
            </a:pPr>
            <a:r>
              <a:rPr lang="ru-RU" sz="2400" i="1" dirty="0">
                <a:latin typeface="Arial" pitchFamily="34" charset="0"/>
                <a:cs typeface="Arial" pitchFamily="34" charset="0"/>
              </a:rPr>
              <a:t>Детерминированный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набор – при одинаковых начальных данных </a:t>
            </a:r>
            <a:r>
              <a:rPr lang="ru-RU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всегда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один результат</a:t>
            </a:r>
            <a:endParaRPr lang="ru-RU" sz="2400" i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xmlns="" id="{E43324D7-0BCD-4F0F-BCDC-3C142B2FB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067" y="2168080"/>
            <a:ext cx="811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P: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xmlns="" id="{039B8EB7-5BCE-4021-B936-04A9C02B5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305" y="2204592"/>
            <a:ext cx="811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x=2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xmlns="" id="{85DE8D2A-8D8A-4532-A04E-A32FEFB2B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304" y="2600078"/>
            <a:ext cx="992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y=x-1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xmlns="" id="{9FF76F2D-70D5-4DCF-956E-ED1D1D97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17" y="2168080"/>
            <a:ext cx="811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Q: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xmlns="" id="{1E9842A1-AD9D-4877-9D9C-C1359973D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0355" y="2204592"/>
            <a:ext cx="811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x=3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xmlns="" id="{CD6B4AF7-1EBB-439C-9CBC-039E47351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6662" y="2600078"/>
            <a:ext cx="10772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y=x+1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xmlns="" id="{571FDAE5-69ED-4286-B5A9-E28EF91C3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243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(x, y):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xmlns="" id="{74D5E156-CF73-4148-9338-B67D16ADF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4743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(2,   )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0" name="Text Box 21">
            <a:extLst>
              <a:ext uri="{FF2B5EF4-FFF2-40B4-BE49-F238E27FC236}">
                <a16:creationId xmlns:a16="http://schemas.microsoft.com/office/drawing/2014/main" xmlns="" id="{E88150F1-92A1-4BDD-B118-84DE3C937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330" y="3397796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(2, 1)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xmlns="" id="{D811E2EC-1015-4B76-9AAC-96BE05297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33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(3, 1)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2" name="Text Box 23">
            <a:extLst>
              <a:ext uri="{FF2B5EF4-FFF2-40B4-BE49-F238E27FC236}">
                <a16:creationId xmlns:a16="http://schemas.microsoft.com/office/drawing/2014/main" xmlns="" id="{C5B5228B-E2C0-4915-A930-4FAD6F64B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330" y="3397796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(3, 4)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xmlns="" id="{F55F5A48-C5C8-44B5-A013-79651A53D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98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(2,   )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xmlns="" id="{82EDE438-882D-4112-8948-D1CC9E2A5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98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(3,   )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5" name="Text Box 26">
            <a:extLst>
              <a:ext uri="{FF2B5EF4-FFF2-40B4-BE49-F238E27FC236}">
                <a16:creationId xmlns:a16="http://schemas.microsoft.com/office/drawing/2014/main" xmlns="" id="{F2FC4884-EEEA-4FDC-8A4C-8BAFADA00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98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(3, 4)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6" name="Text Box 27">
            <a:extLst>
              <a:ext uri="{FF2B5EF4-FFF2-40B4-BE49-F238E27FC236}">
                <a16:creationId xmlns:a16="http://schemas.microsoft.com/office/drawing/2014/main" xmlns="" id="{1747DCAF-C724-4607-B4A2-C445AFF7A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98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(3, 2) 	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47" name="Text Box 28">
            <a:extLst>
              <a:ext uri="{FF2B5EF4-FFF2-40B4-BE49-F238E27FC236}">
                <a16:creationId xmlns:a16="http://schemas.microsoft.com/office/drawing/2014/main" xmlns="" id="{F99EA1FF-DD98-41CF-87D5-24743B8AA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7630" y="3397796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(2, 3) 	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48" name="Text Box 29">
            <a:extLst>
              <a:ext uri="{FF2B5EF4-FFF2-40B4-BE49-F238E27FC236}">
                <a16:creationId xmlns:a16="http://schemas.microsoft.com/office/drawing/2014/main" xmlns="" id="{0A0423AA-63E6-4A31-8A71-D5385C53D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280" y="3399384"/>
            <a:ext cx="1152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(2, 1) 	</a:t>
            </a:r>
            <a:endParaRPr lang="ru-RU" sz="24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90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1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1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mph" presetSubtype="1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1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1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2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1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33" grpId="0"/>
      <p:bldP spid="33" grpId="1"/>
      <p:bldP spid="33" grpId="2"/>
      <p:bldP spid="33" grpId="3"/>
      <p:bldP spid="33" grpId="4"/>
      <p:bldP spid="34" grpId="0"/>
      <p:bldP spid="34" grpId="1"/>
      <p:bldP spid="34" grpId="2"/>
      <p:bldP spid="34" grpId="3"/>
      <p:bldP spid="34" grpId="4"/>
      <p:bldP spid="35" grpId="0"/>
      <p:bldP spid="36" grpId="0"/>
      <p:bldP spid="36" grpId="1"/>
      <p:bldP spid="36" grpId="2"/>
      <p:bldP spid="36" grpId="3"/>
      <p:bldP spid="36" grpId="4"/>
      <p:bldP spid="37" grpId="0"/>
      <p:bldP spid="37" grpId="1"/>
      <p:bldP spid="37" grpId="2"/>
      <p:bldP spid="37" grpId="3"/>
      <p:bldP spid="37" grpId="4"/>
      <p:bldP spid="38" grpId="0"/>
      <p:bldP spid="39" grpId="0"/>
      <p:bldP spid="39" grpId="1"/>
      <p:bldP spid="40" grpId="0"/>
      <p:bldP spid="40" grpId="1"/>
      <p:bldP spid="41" grpId="0"/>
      <p:bldP spid="41" grpId="1"/>
      <p:bldP spid="42" grpId="0"/>
      <p:bldP spid="43" grpId="0"/>
      <p:bldP spid="43" grpId="1"/>
      <p:bldP spid="44" grpId="0"/>
      <p:bldP spid="44" grpId="1"/>
      <p:bldP spid="45" grpId="0"/>
      <p:bldP spid="45" grpId="1"/>
      <p:bldP spid="46" grpId="0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Условия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Bernstain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2" name="Rechteck 39">
            <a:extLst>
              <a:ext uri="{FF2B5EF4-FFF2-40B4-BE49-F238E27FC236}">
                <a16:creationId xmlns:a16="http://schemas.microsoft.com/office/drawing/2014/main" xmlns="" id="{24514AFB-83A5-4CC4-8F6C-34AB74517E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75806" y="1700808"/>
            <a:ext cx="8496300" cy="491906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xmlns="" id="{B0E21BC5-C92F-4A5F-9646-56E986E5C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547" y="1844825"/>
            <a:ext cx="811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P:</a:t>
            </a:r>
            <a:endParaRPr lang="ru-RU" sz="2400">
              <a:latin typeface="Arial" pitchFamily="34" charset="0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xmlns="" id="{3DD66851-2161-42F7-86B3-987BEE4F0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784" y="1881337"/>
            <a:ext cx="2000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1) </a:t>
            </a:r>
            <a:r>
              <a:rPr lang="en-US" sz="2400" dirty="0">
                <a:latin typeface="Arial" pitchFamily="34" charset="0"/>
              </a:rPr>
              <a:t>x=</a:t>
            </a:r>
            <a:r>
              <a:rPr lang="en-US" sz="2400" dirty="0" err="1">
                <a:latin typeface="Arial" pitchFamily="34" charset="0"/>
              </a:rPr>
              <a:t>u+v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xmlns="" id="{18FDE8C2-2258-49B9-9551-831174316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784" y="2276873"/>
            <a:ext cx="1892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2) y=x*w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xmlns="" id="{6CD250EE-9D4F-4B33-B827-A7C70FFD9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9335" y="2908102"/>
            <a:ext cx="331152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Входные переменные</a:t>
            </a:r>
          </a:p>
          <a:p>
            <a:pPr algn="l"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R</a:t>
            </a:r>
            <a:r>
              <a:rPr lang="en-US" sz="2400" baseline="-25000" dirty="0">
                <a:latin typeface="Arial" pitchFamily="34" charset="0"/>
              </a:rPr>
              <a:t>1</a:t>
            </a:r>
            <a:r>
              <a:rPr lang="en-US" sz="2400" dirty="0">
                <a:latin typeface="Arial" pitchFamily="34" charset="0"/>
              </a:rPr>
              <a:t> = {u, v}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R</a:t>
            </a:r>
            <a:r>
              <a:rPr lang="en-US" sz="2400" baseline="-25000" dirty="0">
                <a:latin typeface="Arial" pitchFamily="34" charset="0"/>
              </a:rPr>
              <a:t>2</a:t>
            </a:r>
            <a:r>
              <a:rPr lang="en-US" sz="2400" dirty="0">
                <a:latin typeface="Arial" pitchFamily="34" charset="0"/>
              </a:rPr>
              <a:t> = {x, w}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xmlns="" id="{FE4C66EB-75CD-48AE-975E-099BD4DB2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972" y="2908102"/>
            <a:ext cx="370713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Выходные переменные</a:t>
            </a:r>
          </a:p>
          <a:p>
            <a:pPr algn="l"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W</a:t>
            </a:r>
            <a:r>
              <a:rPr lang="en-US" sz="2400" baseline="-25000" dirty="0">
                <a:latin typeface="Arial" pitchFamily="34" charset="0"/>
              </a:rPr>
              <a:t>1</a:t>
            </a:r>
            <a:r>
              <a:rPr lang="en-US" sz="2400" dirty="0">
                <a:latin typeface="Arial" pitchFamily="34" charset="0"/>
              </a:rPr>
              <a:t> = {x}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W</a:t>
            </a:r>
            <a:r>
              <a:rPr lang="en-US" sz="2400" baseline="-25000" dirty="0">
                <a:latin typeface="Arial" pitchFamily="34" charset="0"/>
              </a:rPr>
              <a:t>2</a:t>
            </a:r>
            <a:r>
              <a:rPr lang="en-US" sz="2400" dirty="0">
                <a:latin typeface="Arial" pitchFamily="34" charset="0"/>
              </a:rPr>
              <a:t> = {y}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xmlns="" id="{FA8C72A1-9406-4155-92CB-F162EF041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9334" y="4695528"/>
            <a:ext cx="3384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Вход для активности</a:t>
            </a:r>
          </a:p>
          <a:p>
            <a:pPr algn="l"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R(P)={u, v, x, w}</a:t>
            </a:r>
            <a:endParaRPr lang="ru-RU" sz="2400" dirty="0">
              <a:latin typeface="Arial" pitchFamily="34" charset="0"/>
            </a:endParaRPr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xmlns="" id="{DC23F81A-3299-4DC5-80FB-54FB25A9B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897" y="4695528"/>
            <a:ext cx="3384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Выход для активности</a:t>
            </a:r>
          </a:p>
          <a:p>
            <a:pPr algn="l"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W(P)={x, y}</a:t>
            </a:r>
            <a:endParaRPr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2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1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8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Условия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Bernstain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Rechteck 39">
            <a:extLst>
              <a:ext uri="{FF2B5EF4-FFF2-40B4-BE49-F238E27FC236}">
                <a16:creationId xmlns:a16="http://schemas.microsoft.com/office/drawing/2014/main" xmlns="" id="{3F4C62A9-6DF4-48B1-B70E-1DD50BAE0F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90230" y="1700808"/>
            <a:ext cx="8496300" cy="43204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 Box 26">
            <a:extLst>
              <a:ext uri="{FF2B5EF4-FFF2-40B4-BE49-F238E27FC236}">
                <a16:creationId xmlns:a16="http://schemas.microsoft.com/office/drawing/2014/main" xmlns="" id="{40314969-7CEE-411F-B2D1-C38F81C1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9364" y="1988841"/>
            <a:ext cx="58684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Если для двух активностей </a:t>
            </a:r>
            <a:r>
              <a:rPr lang="en-US" sz="2400" dirty="0">
                <a:latin typeface="Arial" pitchFamily="34" charset="0"/>
              </a:rPr>
              <a:t>P </a:t>
            </a:r>
            <a:r>
              <a:rPr lang="ru-RU" sz="2400" dirty="0">
                <a:latin typeface="Arial" pitchFamily="34" charset="0"/>
              </a:rPr>
              <a:t>и </a:t>
            </a:r>
            <a:r>
              <a:rPr lang="en-US" sz="2400" dirty="0">
                <a:latin typeface="Arial" pitchFamily="34" charset="0"/>
              </a:rPr>
              <a:t>Q:</a:t>
            </a:r>
            <a:r>
              <a:rPr lang="ru-RU" sz="2400" dirty="0">
                <a:latin typeface="Arial" pitchFamily="34" charset="0"/>
              </a:rPr>
              <a:t> </a:t>
            </a:r>
          </a:p>
        </p:txBody>
      </p:sp>
      <p:sp>
        <p:nvSpPr>
          <p:cNvPr id="12" name="Text Box 27">
            <a:extLst>
              <a:ext uri="{FF2B5EF4-FFF2-40B4-BE49-F238E27FC236}">
                <a16:creationId xmlns:a16="http://schemas.microsoft.com/office/drawing/2014/main" xmlns="" id="{92F13ACB-5118-4647-A786-3BAA5860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648" y="2708921"/>
            <a:ext cx="3240087" cy="35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AutoNum type="arabicParenR"/>
              <a:defRPr/>
            </a:pPr>
            <a:r>
              <a:rPr lang="en-US" sz="2400" dirty="0">
                <a:latin typeface="Arial" pitchFamily="34" charset="0"/>
              </a:rPr>
              <a:t>W(P) ∩ W(Q) = {ø}</a:t>
            </a: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xmlns="" id="{0C26DCAA-2828-4E75-8342-A752C594E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648" y="3212977"/>
            <a:ext cx="3240087" cy="35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</a:rPr>
              <a:t>2) W(P) ∩ R(Q) = {ø}</a:t>
            </a:r>
          </a:p>
        </p:txBody>
      </p:sp>
      <p:sp>
        <p:nvSpPr>
          <p:cNvPr id="19" name="Text Box 29">
            <a:extLst>
              <a:ext uri="{FF2B5EF4-FFF2-40B4-BE49-F238E27FC236}">
                <a16:creationId xmlns:a16="http://schemas.microsoft.com/office/drawing/2014/main" xmlns="" id="{2DD1A650-9322-4A26-815F-490FBFEDB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648" y="3726208"/>
            <a:ext cx="3240087" cy="35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400">
                <a:latin typeface="Arial" pitchFamily="34" charset="0"/>
              </a:rPr>
              <a:t>3) R(P) ∩ W(Q) = {ø}</a:t>
            </a:r>
          </a:p>
        </p:txBody>
      </p:sp>
      <p:sp>
        <p:nvSpPr>
          <p:cNvPr id="20" name="Text Box 30">
            <a:extLst>
              <a:ext uri="{FF2B5EF4-FFF2-40B4-BE49-F238E27FC236}">
                <a16:creationId xmlns:a16="http://schemas.microsoft.com/office/drawing/2014/main" xmlns="" id="{B9A15483-0E0F-4805-9DE2-3B4DB0FE6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206" y="4470212"/>
            <a:ext cx="76328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</a:rPr>
              <a:t>то набор активностей </a:t>
            </a:r>
            <a:r>
              <a:rPr lang="en-US" sz="2400" dirty="0">
                <a:latin typeface="Arial" pitchFamily="34" charset="0"/>
              </a:rPr>
              <a:t>{P, Q} </a:t>
            </a:r>
            <a:r>
              <a:rPr lang="ru-RU" sz="2400" dirty="0">
                <a:latin typeface="Arial" pitchFamily="34" charset="0"/>
              </a:rPr>
              <a:t>является детерминированным</a:t>
            </a:r>
          </a:p>
        </p:txBody>
      </p:sp>
    </p:spTree>
    <p:extLst>
      <p:ext uri="{BB962C8B-B14F-4D97-AF65-F5344CB8AC3E}">
        <p14:creationId xmlns:p14="http://schemas.microsoft.com/office/powerpoint/2010/main" val="371999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2966051" y="1728000"/>
            <a:ext cx="8894647" cy="4464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Условия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Bernstain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175485" y="1911013"/>
            <a:ext cx="8461375" cy="1831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у нас в программе есть операторы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: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x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2  *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y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+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z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−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ts val="6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динамически предшествует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" name="Text Box 30"/>
          <p:cNvSpPr txBox="1">
            <a:spLocks noChangeArrowheads="1"/>
          </p:cNvSpPr>
          <p:nvPr/>
        </p:nvSpPr>
        <p:spPr bwMode="auto">
          <a:xfrm>
            <a:off x="3319947" y="3890394"/>
            <a:ext cx="8032750" cy="219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Условия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Бернстайна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для набора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{S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}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выполнены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Мы можем исполнять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режиме разделения времени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  <a:p>
            <a:pPr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Можем ли исполнять их параллельно, одновременно на разных процессорах (ядрах)?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4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175484" y="1728000"/>
            <a:ext cx="8496300" cy="4500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6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3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Условия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Bernstain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175484" y="2319273"/>
            <a:ext cx="8461375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0">
            <a:spAutoFit/>
          </a:bodyPr>
          <a:lstStyle/>
          <a:p>
            <a:pPr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строгий динамический порядок выполнения этих операторов имеет вид: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x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2  *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y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+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z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3/2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x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 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 − 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</p:txBody>
      </p:sp>
      <p:sp>
        <p:nvSpPr>
          <p:cNvPr id="14" name="Text Box 30"/>
          <p:cNvSpPr txBox="1">
            <a:spLocks noChangeArrowheads="1"/>
          </p:cNvSpPr>
          <p:nvPr/>
        </p:nvSpPr>
        <p:spPr bwMode="auto">
          <a:xfrm>
            <a:off x="3407258" y="4638917"/>
            <a:ext cx="8032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Aft>
                <a:spcPts val="1200"/>
              </a:spcAft>
            </a:pPr>
            <a:r>
              <a:rPr kumimoji="0" lang="ru-RU" sz="2800" dirty="0">
                <a:solidFill>
                  <a:srgbClr val="C00000"/>
                </a:solidFill>
                <a:latin typeface="Arial" pitchFamily="34" charset="0"/>
              </a:rPr>
              <a:t>Распараллеливание невозможно!</a:t>
            </a:r>
            <a:r>
              <a:rPr kumimoji="0" lang="en-US" sz="2800" dirty="0">
                <a:solidFill>
                  <a:srgbClr val="C00000"/>
                </a:solidFill>
                <a:latin typeface="Arial" pitchFamily="34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825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2966054" y="2655137"/>
            <a:ext cx="8894647" cy="2340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0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Модифицированные условия </a:t>
            </a:r>
            <a:r>
              <a:rPr kumimoji="0" lang="ru-RU" sz="2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endParaRPr kumimoji="0" lang="ru-RU" sz="28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4" name="Text Box 30"/>
          <p:cNvSpPr txBox="1">
            <a:spLocks noChangeArrowheads="1"/>
          </p:cNvSpPr>
          <p:nvPr/>
        </p:nvSpPr>
        <p:spPr bwMode="auto">
          <a:xfrm>
            <a:off x="3175487" y="2843561"/>
            <a:ext cx="8496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Если для двух операторов в программе</a:t>
            </a:r>
            <a:r>
              <a:rPr kumimoji="0" lang="en-US" sz="28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 динамически </a:t>
            </a:r>
            <a:r>
              <a:rPr kumimoji="0" lang="ru-RU" sz="2800" b="1" u="sng" dirty="0">
                <a:solidFill>
                  <a:prstClr val="black"/>
                </a:solidFill>
                <a:latin typeface="Arial" pitchFamily="34" charset="0"/>
              </a:rPr>
              <a:t>непосредственно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 следующих друг за другом</a:t>
            </a:r>
            <a:r>
              <a:rPr kumimoji="0" lang="en-US" sz="28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 выполнены условия </a:t>
            </a:r>
            <a:r>
              <a:rPr kumimoji="0" lang="ru-RU" sz="2800" dirty="0" err="1">
                <a:solidFill>
                  <a:prstClr val="black"/>
                </a:solidFill>
                <a:latin typeface="Arial" pitchFamily="34" charset="0"/>
              </a:rPr>
              <a:t>Бернстайна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, то их можно исполнять параллельно</a:t>
            </a:r>
            <a:r>
              <a:rPr kumimoji="0" lang="en-US" sz="28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8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4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130881" y="5274113"/>
            <a:ext cx="8616180" cy="9233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30880" y="3552292"/>
            <a:ext cx="8616180" cy="1440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30881" y="1756292"/>
            <a:ext cx="8616179" cy="15696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Нарушение условий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3321534" y="1928227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  <a:buFontTx/>
              <a:buAutoNum type="arabicParenR"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W(P) ∩ W(Q) = {ø}</a:t>
            </a: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3321534" y="2336214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2) W(P) ∩ R(Q)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= {ø}</a:t>
            </a:r>
          </a:p>
        </p:txBody>
      </p:sp>
      <p:sp>
        <p:nvSpPr>
          <p:cNvPr id="12" name="Text Box 29"/>
          <p:cNvSpPr txBox="1">
            <a:spLocks noChangeArrowheads="1"/>
          </p:cNvSpPr>
          <p:nvPr/>
        </p:nvSpPr>
        <p:spPr bwMode="auto">
          <a:xfrm>
            <a:off x="3319948" y="2756902"/>
            <a:ext cx="3698365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3) R(P) ∩ W(Q)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= {ø}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739422" y="2105523"/>
            <a:ext cx="4932362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Оператор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динамически предшествует оператору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3328826" y="1928227"/>
            <a:ext cx="3698365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  <a:buFontTx/>
              <a:buAutoNum type="arabicParenR"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W(P) ∩ W(Q) ≠ {ø}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3394301" y="3636030"/>
            <a:ext cx="2624397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P:  x = e + 2z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Q:  x = 2f + z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5916782" y="3578187"/>
            <a:ext cx="5431153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Зависимость по выходным данным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b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</a:b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el-GR" sz="2400" dirty="0">
                <a:solidFill>
                  <a:prstClr val="black"/>
                </a:solidFill>
                <a:latin typeface="Arial" panose="020B0604020202020204" pitchFamily="34" charset="0"/>
              </a:rPr>
              <a:t>δ</a:t>
            </a:r>
            <a:r>
              <a:rPr kumimoji="0" lang="en-US" sz="2400" baseline="30000" dirty="0">
                <a:solidFill>
                  <a:prstClr val="black"/>
                </a:solidFill>
                <a:latin typeface="Arial" panose="020B0604020202020204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Q</a:t>
            </a:r>
            <a:endParaRPr kumimoji="0" lang="el-GR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5516218" y="4503131"/>
            <a:ext cx="68345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P</a:t>
            </a: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7245006" y="4503131"/>
            <a:ext cx="6834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AutoShape 22"/>
          <p:cNvCxnSpPr>
            <a:cxnSpLocks noChangeShapeType="1"/>
            <a:stCxn id="18" idx="0"/>
            <a:endCxn id="19" idx="0"/>
          </p:cNvCxnSpPr>
          <p:nvPr/>
        </p:nvCxnSpPr>
        <p:spPr bwMode="auto">
          <a:xfrm rot="5400000" flipH="1" flipV="1">
            <a:off x="6722338" y="3638738"/>
            <a:ext cx="12700" cy="1728787"/>
          </a:xfrm>
          <a:prstGeom prst="curvedConnector3">
            <a:avLst>
              <a:gd name="adj1" fmla="val 180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6560233" y="4179280"/>
            <a:ext cx="179189" cy="215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3130881" y="5243437"/>
            <a:ext cx="8552055" cy="97872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Способ борьбы: переименование переменных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Распараллеливанию принципиально не мешает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5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23" grpId="0" animBg="1"/>
      <p:bldP spid="8" grpId="0"/>
      <p:bldP spid="8" grpId="1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6D188CA-5353-434D-8656-1E941BCDF9A2}"/>
              </a:ext>
            </a:extLst>
          </p:cNvPr>
          <p:cNvSpPr txBox="1"/>
          <p:nvPr/>
        </p:nvSpPr>
        <p:spPr>
          <a:xfrm>
            <a:off x="3130887" y="1756292"/>
            <a:ext cx="8616179" cy="15696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3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90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Нарушение условий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3328391" y="2758394"/>
            <a:ext cx="3240087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3) R(P) ∩ W(Q)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≠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{ø}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0887" y="5132070"/>
            <a:ext cx="8616179" cy="133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30887" y="3481268"/>
            <a:ext cx="8616179" cy="1476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3391391" y="3565006"/>
            <a:ext cx="2627313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P:  x = e + 2z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Q:  z = 2f + y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5910753" y="3496012"/>
            <a:ext cx="5797550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 err="1">
                <a:solidFill>
                  <a:prstClr val="black"/>
                </a:solidFill>
                <a:latin typeface="Arial" panose="020B0604020202020204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  <a:b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</a:b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el-GR" sz="2400" dirty="0">
                <a:solidFill>
                  <a:prstClr val="black"/>
                </a:solidFill>
                <a:latin typeface="Arial" panose="020B0604020202020204" pitchFamily="34" charset="0"/>
              </a:rPr>
              <a:t>δ</a:t>
            </a:r>
            <a:r>
              <a:rPr kumimoji="0" lang="ru-RU" sz="2400" baseline="30000" dirty="0">
                <a:solidFill>
                  <a:prstClr val="black"/>
                </a:solidFill>
                <a:latin typeface="Arial" panose="020B0604020202020204" pitchFamily="34" charset="0"/>
              </a:rPr>
              <a:t>-1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Q</a:t>
            </a:r>
            <a:endParaRPr kumimoji="0" lang="el-GR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5515466" y="4431327"/>
            <a:ext cx="684213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7244253" y="4412277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cxnSp>
        <p:nvCxnSpPr>
          <p:cNvPr id="52" name="AutoShape 12"/>
          <p:cNvCxnSpPr>
            <a:cxnSpLocks noChangeShapeType="1"/>
          </p:cNvCxnSpPr>
          <p:nvPr/>
        </p:nvCxnSpPr>
        <p:spPr bwMode="auto">
          <a:xfrm rot="5400000" flipV="1">
            <a:off x="6721966" y="3562965"/>
            <a:ext cx="1587" cy="1728788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3" name="Line 19"/>
          <p:cNvSpPr>
            <a:spLocks noChangeShapeType="1"/>
          </p:cNvSpPr>
          <p:nvPr/>
        </p:nvSpPr>
        <p:spPr bwMode="auto">
          <a:xfrm flipH="1">
            <a:off x="6667990" y="4102715"/>
            <a:ext cx="714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3175491" y="5163264"/>
            <a:ext cx="8616179" cy="131112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Способ борьбы: создать собственные копии переменной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z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на каждом исполнителе перед исполнением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Распараллеливанию принципиально не мешает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xmlns="" id="{831C6CD9-8225-48FA-887F-2739B6F13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540" y="1928227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  <a:buFontTx/>
              <a:buAutoNum type="arabicParenR"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W(P) ∩ W(Q) = {ø}</a:t>
            </a: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xmlns="" id="{86374DD6-9D1A-43D4-A717-F8814E262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540" y="2336214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2) W(P) ∩ R(Q)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= {ø}</a:t>
            </a: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xmlns="" id="{F2A4AD20-EACA-46E6-994A-7B30CE24B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954" y="2756902"/>
            <a:ext cx="3698365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3) R(P) ∩ W(Q)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= {ø}</a:t>
            </a:r>
          </a:p>
        </p:txBody>
      </p:sp>
      <p:sp>
        <p:nvSpPr>
          <p:cNvPr id="24" name="Text Box 15">
            <a:extLst>
              <a:ext uri="{FF2B5EF4-FFF2-40B4-BE49-F238E27FC236}">
                <a16:creationId xmlns:a16="http://schemas.microsoft.com/office/drawing/2014/main" xmlns="" id="{A4015718-59F9-4EBA-9506-935575E4D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428" y="2105523"/>
            <a:ext cx="4932362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Оператор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динамически предшествует оператору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nimBg="1"/>
      <p:bldP spid="34" grpId="0" animBg="1"/>
      <p:bldP spid="48" grpId="0"/>
      <p:bldP spid="49" grpId="0"/>
      <p:bldP spid="50" grpId="0"/>
      <p:bldP spid="5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130881" y="5247479"/>
            <a:ext cx="8616179" cy="12003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30881" y="3543413"/>
            <a:ext cx="8616179" cy="1476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Нарушение условий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Бернстайна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3391385" y="3627151"/>
            <a:ext cx="2627313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P:  x = e + 2z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Q:  y = 2f + x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5671035" y="3558157"/>
            <a:ext cx="6037263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>
                <a:solidFill>
                  <a:prstClr val="black"/>
                </a:solidFill>
                <a:latin typeface="Arial" panose="020B0604020202020204" pitchFamily="34" charset="0"/>
              </a:rPr>
              <a:t>Истинная или потоковая зависимость</a:t>
            </a: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b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</a:b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el-GR" sz="2400">
                <a:solidFill>
                  <a:prstClr val="black"/>
                </a:solidFill>
                <a:latin typeface="Arial" panose="020B0604020202020204" pitchFamily="34" charset="0"/>
              </a:rPr>
              <a:t>δ</a:t>
            </a: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 Q</a:t>
            </a:r>
            <a:endParaRPr kumimoji="0" lang="el-GR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5515460" y="4494251"/>
            <a:ext cx="684213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P</a:t>
            </a: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7244247" y="4494251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cxnSp>
        <p:nvCxnSpPr>
          <p:cNvPr id="32" name="AutoShape 11"/>
          <p:cNvCxnSpPr>
            <a:cxnSpLocks noChangeShapeType="1"/>
            <a:stCxn id="30" idx="0"/>
            <a:endCxn id="31" idx="0"/>
          </p:cNvCxnSpPr>
          <p:nvPr/>
        </p:nvCxnSpPr>
        <p:spPr bwMode="auto">
          <a:xfrm rot="5400000" flipV="1">
            <a:off x="6721959" y="3630651"/>
            <a:ext cx="1588" cy="1728788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3359634" y="5289788"/>
            <a:ext cx="8064500" cy="8679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Способ борьбы: не существует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.</a:t>
            </a:r>
          </a:p>
          <a:p>
            <a:pPr algn="ctr">
              <a:spcBef>
                <a:spcPct val="1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Распараллеливание невозможно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62D77D1-8E8B-41EF-9E0A-F0B3FEF487DE}"/>
              </a:ext>
            </a:extLst>
          </p:cNvPr>
          <p:cNvSpPr txBox="1"/>
          <p:nvPr/>
        </p:nvSpPr>
        <p:spPr>
          <a:xfrm>
            <a:off x="3130881" y="1756292"/>
            <a:ext cx="8616179" cy="15696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xmlns="" id="{7E76EACD-999C-4396-AC80-AFB51855E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534" y="1928227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  <a:buFontTx/>
              <a:buAutoNum type="arabicParenR"/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W(P) ∩ W(Q) = {ø}</a:t>
            </a: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xmlns="" id="{0248F9FA-0992-4A78-A484-4EBC2F323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534" y="2336214"/>
            <a:ext cx="3698366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2) W(P) ∩ R(Q)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 = {ø}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xmlns="" id="{0C9C15C6-4ECE-4FEE-A77F-2E92EBBE8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422" y="2105523"/>
            <a:ext cx="4932362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Оператор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P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динамически предшествует оператору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Q</a:t>
            </a:r>
            <a:endParaRPr kumimoji="0"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xmlns="" id="{B0933579-9F00-40D9-8655-7F4862020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385" y="2757302"/>
            <a:ext cx="3698365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3) R(P) ∩ W(Q) </a:t>
            </a:r>
            <a:r>
              <a:rPr kumimoji="0" lang="ru-RU" sz="24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= {ø}</a:t>
            </a:r>
          </a:p>
        </p:txBody>
      </p:sp>
      <p:sp>
        <p:nvSpPr>
          <p:cNvPr id="19" name="Text Box 29">
            <a:extLst>
              <a:ext uri="{FF2B5EF4-FFF2-40B4-BE49-F238E27FC236}">
                <a16:creationId xmlns:a16="http://schemas.microsoft.com/office/drawing/2014/main" xmlns="" id="{6A943374-29D2-40BF-8DCE-5D1A5CFA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074" y="2350049"/>
            <a:ext cx="3240087" cy="3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70000"/>
              </a:lnSpc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2) W(P) ∩ R(Q)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≠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{ø}</a:t>
            </a:r>
          </a:p>
        </p:txBody>
      </p:sp>
    </p:spTree>
    <p:extLst>
      <p:ext uri="{BB962C8B-B14F-4D97-AF65-F5344CB8AC3E}">
        <p14:creationId xmlns:p14="http://schemas.microsoft.com/office/powerpoint/2010/main" val="145830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28" grpId="0"/>
      <p:bldP spid="29" grpId="0"/>
      <p:bldP spid="30" grpId="0"/>
      <p:bldP spid="31" grpId="0"/>
      <p:bldP spid="21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148500" y="1867990"/>
            <a:ext cx="8496300" cy="439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0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Зависимости между операторами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Построение графа зависимостей</a:t>
            </a:r>
            <a:endParaRPr kumimoji="0" lang="ru-RU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3931138" y="2014530"/>
            <a:ext cx="2627313" cy="21240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 a = 2*b + 15;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 b = a + 10*x;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 d = b – d;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 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8936525" y="2049454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1</a:t>
            </a:r>
            <a:endParaRPr kumimoji="0" lang="ru-RU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8936525" y="3165466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</a:t>
            </a:r>
            <a:endParaRPr kumimoji="0" lang="ru-RU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8936525" y="4257666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8936525" y="5373679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6" name="AutoShape 18"/>
          <p:cNvCxnSpPr>
            <a:cxnSpLocks noChangeShapeType="1"/>
            <a:stCxn id="22" idx="2"/>
            <a:endCxn id="23" idx="0"/>
          </p:cNvCxnSpPr>
          <p:nvPr/>
        </p:nvCxnSpPr>
        <p:spPr bwMode="auto">
          <a:xfrm>
            <a:off x="9279425" y="2506654"/>
            <a:ext cx="0" cy="6588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" name="AutoShape 21"/>
          <p:cNvCxnSpPr>
            <a:cxnSpLocks noChangeShapeType="1"/>
            <a:stCxn id="22" idx="3"/>
            <a:endCxn id="25" idx="3"/>
          </p:cNvCxnSpPr>
          <p:nvPr/>
        </p:nvCxnSpPr>
        <p:spPr bwMode="auto">
          <a:xfrm>
            <a:off x="9620737" y="2278055"/>
            <a:ext cx="1588" cy="3324225"/>
          </a:xfrm>
          <a:prstGeom prst="curvedConnector3">
            <a:avLst>
              <a:gd name="adj1" fmla="val 8630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8447576" y="2792405"/>
            <a:ext cx="217487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9" name="AutoShape 31"/>
          <p:cNvCxnSpPr>
            <a:cxnSpLocks noChangeShapeType="1"/>
            <a:stCxn id="23" idx="2"/>
            <a:endCxn id="24" idx="0"/>
          </p:cNvCxnSpPr>
          <p:nvPr/>
        </p:nvCxnSpPr>
        <p:spPr bwMode="auto">
          <a:xfrm>
            <a:off x="9279425" y="3622666"/>
            <a:ext cx="0" cy="635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AutoShape 42"/>
          <p:cNvCxnSpPr>
            <a:cxnSpLocks noChangeShapeType="1"/>
            <a:stCxn id="24" idx="1"/>
            <a:endCxn id="24" idx="2"/>
          </p:cNvCxnSpPr>
          <p:nvPr/>
        </p:nvCxnSpPr>
        <p:spPr bwMode="auto">
          <a:xfrm rot="10800000" flipH="1" flipV="1">
            <a:off x="8936525" y="4486266"/>
            <a:ext cx="342900" cy="228600"/>
          </a:xfrm>
          <a:prstGeom prst="curvedConnector4">
            <a:avLst>
              <a:gd name="adj1" fmla="val -66667"/>
              <a:gd name="adj2" fmla="val 20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8792062" y="4857741"/>
            <a:ext cx="10795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AutoShape 45"/>
          <p:cNvCxnSpPr>
            <a:cxnSpLocks noChangeShapeType="1"/>
            <a:stCxn id="24" idx="2"/>
            <a:endCxn id="25" idx="0"/>
          </p:cNvCxnSpPr>
          <p:nvPr/>
        </p:nvCxnSpPr>
        <p:spPr bwMode="auto">
          <a:xfrm>
            <a:off x="9279425" y="4714867"/>
            <a:ext cx="0" cy="6588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AutoShape 47"/>
          <p:cNvCxnSpPr>
            <a:cxnSpLocks noChangeShapeType="1"/>
          </p:cNvCxnSpPr>
          <p:nvPr/>
        </p:nvCxnSpPr>
        <p:spPr bwMode="auto">
          <a:xfrm>
            <a:off x="8993676" y="2243129"/>
            <a:ext cx="1587" cy="1116012"/>
          </a:xfrm>
          <a:prstGeom prst="curvedConnector3">
            <a:avLst>
              <a:gd name="adj1" fmla="val -28657944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2" name="Прямая соединительная линия 41"/>
          <p:cNvCxnSpPr>
            <a:cxnSpLocks/>
          </p:cNvCxnSpPr>
          <p:nvPr/>
        </p:nvCxnSpPr>
        <p:spPr>
          <a:xfrm flipV="1">
            <a:off x="9214729" y="4999028"/>
            <a:ext cx="131018" cy="102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6997D22-CFE3-4FA0-8827-1B0D91599BF1}"/>
              </a:ext>
            </a:extLst>
          </p:cNvPr>
          <p:cNvSpPr txBox="1"/>
          <p:nvPr/>
        </p:nvSpPr>
        <p:spPr>
          <a:xfrm>
            <a:off x="9259316" y="2594521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a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7551C593-A4C0-4188-9090-97FD97395A0D}"/>
              </a:ext>
            </a:extLst>
          </p:cNvPr>
          <p:cNvSpPr txBox="1"/>
          <p:nvPr/>
        </p:nvSpPr>
        <p:spPr>
          <a:xfrm>
            <a:off x="10716733" y="3570834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a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E58B6C25-6549-4ADC-A72D-4BA3CED4810D}"/>
              </a:ext>
            </a:extLst>
          </p:cNvPr>
          <p:cNvSpPr txBox="1"/>
          <p:nvPr/>
        </p:nvSpPr>
        <p:spPr>
          <a:xfrm>
            <a:off x="8675010" y="2569702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b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2954569E-43B2-49DF-8DFB-D5722F6B9431}"/>
              </a:ext>
            </a:extLst>
          </p:cNvPr>
          <p:cNvSpPr txBox="1"/>
          <p:nvPr/>
        </p:nvSpPr>
        <p:spPr>
          <a:xfrm>
            <a:off x="9279425" y="3694658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b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13893AF-F3BA-4317-B345-37D511D81FFF}"/>
              </a:ext>
            </a:extLst>
          </p:cNvPr>
          <p:cNvSpPr txBox="1"/>
          <p:nvPr/>
        </p:nvSpPr>
        <p:spPr>
          <a:xfrm>
            <a:off x="8393824" y="4505254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d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19809FD1-3FC2-4283-BAB4-504012C029C9}"/>
              </a:ext>
            </a:extLst>
          </p:cNvPr>
          <p:cNvSpPr txBox="1"/>
          <p:nvPr/>
        </p:nvSpPr>
        <p:spPr>
          <a:xfrm>
            <a:off x="9319993" y="4814362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b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56" name="Дуга 55">
            <a:extLst>
              <a:ext uri="{FF2B5EF4-FFF2-40B4-BE49-F238E27FC236}">
                <a16:creationId xmlns:a16="http://schemas.microsoft.com/office/drawing/2014/main" xmlns="" id="{42BD326E-27A1-40B9-A052-739FE8A3878D}"/>
              </a:ext>
            </a:extLst>
          </p:cNvPr>
          <p:cNvSpPr/>
          <p:nvPr/>
        </p:nvSpPr>
        <p:spPr>
          <a:xfrm>
            <a:off x="9017363" y="3443216"/>
            <a:ext cx="965867" cy="2124075"/>
          </a:xfrm>
          <a:prstGeom prst="arc">
            <a:avLst>
              <a:gd name="adj1" fmla="val 16200000"/>
              <a:gd name="adj2" fmla="val 54299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34">
            <a:extLst>
              <a:ext uri="{FF2B5EF4-FFF2-40B4-BE49-F238E27FC236}">
                <a16:creationId xmlns:a16="http://schemas.microsoft.com/office/drawing/2014/main" xmlns="" id="{307EF948-60C1-4902-9FF9-91FF448C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7159" y="4324279"/>
            <a:ext cx="144463" cy="1809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D8B89B38-7557-44EC-8DED-69E67AA9B411}"/>
              </a:ext>
            </a:extLst>
          </p:cNvPr>
          <p:cNvSpPr txBox="1"/>
          <p:nvPr/>
        </p:nvSpPr>
        <p:spPr>
          <a:xfrm>
            <a:off x="9931184" y="3816072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b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Дуга 2">
            <a:extLst>
              <a:ext uri="{FF2B5EF4-FFF2-40B4-BE49-F238E27FC236}">
                <a16:creationId xmlns:a16="http://schemas.microsoft.com/office/drawing/2014/main" xmlns="" id="{C42A0F26-3A07-419B-B8A0-210E48C31BBE}"/>
              </a:ext>
            </a:extLst>
          </p:cNvPr>
          <p:cNvSpPr/>
          <p:nvPr/>
        </p:nvSpPr>
        <p:spPr>
          <a:xfrm flipH="1">
            <a:off x="8035534" y="2228559"/>
            <a:ext cx="1895649" cy="3373721"/>
          </a:xfrm>
          <a:prstGeom prst="arc">
            <a:avLst>
              <a:gd name="adj1" fmla="val 16200000"/>
              <a:gd name="adj2" fmla="val 54257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xmlns="" id="{8BB98C11-2AF1-4DF8-AF6E-705E19A7D6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09978" y="3973502"/>
            <a:ext cx="217487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63B29C3A-EB3A-424C-9FA4-D6368DF567EF}"/>
              </a:ext>
            </a:extLst>
          </p:cNvPr>
          <p:cNvSpPr txBox="1"/>
          <p:nvPr/>
        </p:nvSpPr>
        <p:spPr>
          <a:xfrm>
            <a:off x="8121888" y="3636230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b</a:t>
            </a:r>
            <a:endParaRPr kumimoji="1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89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4" grpId="0"/>
      <p:bldP spid="22" grpId="0"/>
      <p:bldP spid="23" grpId="0"/>
      <p:bldP spid="24" grpId="0"/>
      <p:bldP spid="25" grpId="0"/>
      <p:bldP spid="2" grpId="0"/>
      <p:bldP spid="37" grpId="0"/>
      <p:bldP spid="38" grpId="0"/>
      <p:bldP spid="39" grpId="0"/>
      <p:bldP spid="40" grpId="0"/>
      <p:bldP spid="40" grpId="1"/>
      <p:bldP spid="41" grpId="0"/>
      <p:bldP spid="56" grpId="0" animBg="1"/>
      <p:bldP spid="30" grpId="0" animBg="1"/>
      <p:bldP spid="44" grpId="0"/>
      <p:bldP spid="3" grpId="0" animBg="1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175491" y="1728000"/>
            <a:ext cx="8496300" cy="4176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kern="0" dirty="0">
              <a:solidFill>
                <a:prstClr val="black"/>
              </a:solidFill>
              <a:latin typeface="Arial" pitchFamily="34" charset="0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kern="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3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3600" b="1" kern="0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kern="0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90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914400"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ru-RU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Другие виды зависимостей</a:t>
            </a:r>
            <a:endParaRPr kumimoji="0" lang="ru-RU" sz="3200" b="1" kern="0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391390" y="2212218"/>
            <a:ext cx="3240088" cy="2492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:  m = sin(x)</a:t>
            </a:r>
          </a:p>
          <a:p>
            <a:pPr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        if (m &gt; 0) then</a:t>
            </a:r>
            <a:b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:      y = 2 + x</a:t>
            </a:r>
            <a:b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        else</a:t>
            </a:r>
            <a:b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:      y = 6 – x</a:t>
            </a:r>
            <a:b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        end if</a:t>
            </a:r>
            <a:endParaRPr kumimoji="0" lang="ru-RU" sz="2400" kern="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631478" y="2501143"/>
            <a:ext cx="5078412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ru-RU" sz="2400" kern="0">
                <a:solidFill>
                  <a:prstClr val="black"/>
                </a:solidFill>
                <a:latin typeface="Arial" pitchFamily="34" charset="0"/>
              </a:rPr>
              <a:t>Зависимость по управлению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.</a:t>
            </a:r>
            <a:b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kern="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kern="0">
                <a:solidFill>
                  <a:prstClr val="black"/>
                </a:solidFill>
                <a:latin typeface="Arial" pitchFamily="34" charset="0"/>
              </a:rPr>
              <a:t>δ</a:t>
            </a:r>
            <a:r>
              <a:rPr kumimoji="0" lang="en-US" sz="2400" kern="0" baseline="3000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kern="0" baseline="-2500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, S</a:t>
            </a:r>
            <a:r>
              <a:rPr kumimoji="0" lang="en-US" sz="2400" kern="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kern="0">
                <a:solidFill>
                  <a:prstClr val="black"/>
                </a:solidFill>
                <a:latin typeface="Arial" pitchFamily="34" charset="0"/>
              </a:rPr>
              <a:t>δ</a:t>
            </a:r>
            <a:r>
              <a:rPr kumimoji="0" lang="en-US" sz="2400" kern="0" baseline="3000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en-US" sz="2400" kern="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kern="0" baseline="-25000">
                <a:solidFill>
                  <a:prstClr val="black"/>
                </a:solidFill>
                <a:latin typeface="Arial" pitchFamily="34" charset="0"/>
              </a:rPr>
              <a:t>3</a:t>
            </a:r>
            <a:endParaRPr kumimoji="0" lang="el-GR" sz="2400" kern="0" baseline="-250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847378" y="3725104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400" kern="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8576166" y="3725104"/>
            <a:ext cx="684213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ru-RU" sz="2400" kern="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17" name="AutoShape 11"/>
          <p:cNvCxnSpPr>
            <a:cxnSpLocks noChangeShapeType="1"/>
            <a:stCxn id="15" idx="0"/>
            <a:endCxn id="16" idx="0"/>
          </p:cNvCxnSpPr>
          <p:nvPr/>
        </p:nvCxnSpPr>
        <p:spPr bwMode="auto">
          <a:xfrm rot="5400000" flipV="1">
            <a:off x="8053878" y="2861505"/>
            <a:ext cx="1588" cy="1728787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3499340" y="4768092"/>
            <a:ext cx="8064500" cy="6093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fontAlgn="auto">
              <a:lnSpc>
                <a:spcPct val="14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ru-RU" sz="2400" kern="0" dirty="0">
                <a:solidFill>
                  <a:prstClr val="black"/>
                </a:solidFill>
                <a:latin typeface="Arial" pitchFamily="34" charset="0"/>
              </a:rPr>
              <a:t>Способ борьбы: сводим к зависимостям по данным.</a:t>
            </a:r>
            <a:endParaRPr kumimoji="0" lang="en-US" sz="2400" kern="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10231928" y="3688592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kern="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kern="0" baseline="-25000" dirty="0">
                <a:solidFill>
                  <a:prstClr val="black"/>
                </a:solidFill>
                <a:latin typeface="Arial" pitchFamily="34" charset="0"/>
              </a:rPr>
              <a:t>3</a:t>
            </a:r>
            <a:endParaRPr kumimoji="0" lang="ru-RU" sz="2400" kern="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20" name="AutoShape 15"/>
          <p:cNvCxnSpPr>
            <a:cxnSpLocks noChangeShapeType="1"/>
            <a:stCxn id="15" idx="2"/>
            <a:endCxn id="19" idx="2"/>
          </p:cNvCxnSpPr>
          <p:nvPr/>
        </p:nvCxnSpPr>
        <p:spPr bwMode="auto">
          <a:xfrm rot="5400000" flipH="1" flipV="1">
            <a:off x="8864297" y="2471773"/>
            <a:ext cx="36512" cy="3384550"/>
          </a:xfrm>
          <a:prstGeom prst="curvedConnector3">
            <a:avLst>
              <a:gd name="adj1" fmla="val -62608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7928466" y="3285367"/>
            <a:ext cx="360363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kern="0">
                <a:solidFill>
                  <a:prstClr val="black"/>
                </a:solidFill>
                <a:latin typeface="Arial" pitchFamily="34" charset="0"/>
              </a:rPr>
              <a:t>c</a:t>
            </a:r>
            <a:endParaRPr kumimoji="0" lang="ru-RU" ker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8684116" y="4193417"/>
            <a:ext cx="360363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kern="0">
                <a:solidFill>
                  <a:prstClr val="black"/>
                </a:solidFill>
                <a:latin typeface="Arial" pitchFamily="34" charset="0"/>
              </a:rPr>
              <a:t>c</a:t>
            </a:r>
            <a:endParaRPr kumimoji="0" lang="ru-RU" ker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67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2" grpId="0"/>
      <p:bldP spid="13" grpId="0"/>
      <p:bldP spid="15" grpId="0"/>
      <p:bldP spid="16" grpId="0"/>
      <p:bldP spid="19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175485" y="1728000"/>
            <a:ext cx="8534400" cy="421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597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Другие виды зависимостей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3499334" y="4768092"/>
            <a:ext cx="8064500" cy="6093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40000"/>
              </a:lnSpc>
              <a:spcBef>
                <a:spcPct val="50000"/>
              </a:spcBef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Способ борьбы: сводим к зависимостям по данным.</a:t>
            </a:r>
            <a:endParaRPr kumimoji="0" lang="en-US" sz="24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6847372" y="3725104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40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8576160" y="3725104"/>
            <a:ext cx="684213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ru-RU" sz="240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25" name="AutoShape 11"/>
          <p:cNvCxnSpPr>
            <a:cxnSpLocks noChangeShapeType="1"/>
            <a:stCxn id="23" idx="0"/>
            <a:endCxn id="24" idx="0"/>
          </p:cNvCxnSpPr>
          <p:nvPr/>
        </p:nvCxnSpPr>
        <p:spPr bwMode="auto">
          <a:xfrm rot="5400000" flipV="1">
            <a:off x="8053872" y="2861505"/>
            <a:ext cx="1588" cy="1728787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10231922" y="3688592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3</a:t>
            </a:r>
            <a:endParaRPr kumimoji="0" lang="ru-RU" sz="240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27" name="AutoShape 15"/>
          <p:cNvCxnSpPr>
            <a:cxnSpLocks noChangeShapeType="1"/>
            <a:stCxn id="23" idx="2"/>
            <a:endCxn id="26" idx="2"/>
          </p:cNvCxnSpPr>
          <p:nvPr/>
        </p:nvCxnSpPr>
        <p:spPr bwMode="auto">
          <a:xfrm rot="5400000" flipH="1" flipV="1">
            <a:off x="8864291" y="2471773"/>
            <a:ext cx="36512" cy="3384550"/>
          </a:xfrm>
          <a:prstGeom prst="curvedConnector3">
            <a:avLst>
              <a:gd name="adj1" fmla="val -62608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3067535" y="2609092"/>
            <a:ext cx="3851275" cy="1200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:  m = sin(x)</a:t>
            </a:r>
            <a:br>
              <a:rPr kumimoji="0" lang="en-US" sz="240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:  where (m&gt;0) y = 2 + x</a:t>
            </a:r>
            <a:br>
              <a:rPr kumimoji="0" lang="en-US" sz="240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:  where (m≤0) y = 6 – x</a:t>
            </a:r>
            <a:endParaRPr kumimoji="0" lang="ru-RU" sz="24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6631472" y="2524955"/>
            <a:ext cx="5078412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.</a:t>
            </a:r>
            <a:br>
              <a:rPr kumimoji="0" lang="en-US" sz="240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>
                <a:solidFill>
                  <a:prstClr val="black"/>
                </a:solidFill>
                <a:latin typeface="Arial" pitchFamily="34" charset="0"/>
              </a:rPr>
              <a:t>δ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,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>
                <a:solidFill>
                  <a:prstClr val="black"/>
                </a:solidFill>
                <a:latin typeface="Arial" pitchFamily="34" charset="0"/>
              </a:rPr>
              <a:t>δ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3</a:t>
            </a:r>
            <a:endParaRPr kumimoji="0" lang="el-GR" sz="2400" baseline="-2500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05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175488" y="1728000"/>
            <a:ext cx="8496300" cy="439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dirty="0">
              <a:solidFill>
                <a:prstClr val="black"/>
              </a:solidFill>
              <a:latin typeface="Arial" pitchFamily="34" charset="0"/>
            </a:endParaRPr>
          </a:p>
          <a:p>
            <a:endParaRPr lang="en-US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464" name="Rectangle 2"/>
          <p:cNvSpPr>
            <a:spLocks noRot="1" noChangeArrowheads="1"/>
          </p:cNvSpPr>
          <p:nvPr/>
        </p:nvSpPr>
        <p:spPr bwMode="auto">
          <a:xfrm>
            <a:off x="2932600" y="207964"/>
            <a:ext cx="892810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Зависимости между операторами</a:t>
            </a:r>
            <a:endParaRPr kumimoji="0" lang="ru-RU" sz="3600" b="1" dirty="0">
              <a:solidFill>
                <a:srgbClr val="800080"/>
              </a:solidFill>
              <a:latin typeface="Arial" pitchFamily="34" charset="0"/>
            </a:endParaRPr>
          </a:p>
        </p:txBody>
      </p:sp>
      <p:sp>
        <p:nvSpPr>
          <p:cNvPr id="74" name="Rechteck 36"/>
          <p:cNvSpPr>
            <a:spLocks noChangeArrowheads="1"/>
          </p:cNvSpPr>
          <p:nvPr/>
        </p:nvSpPr>
        <p:spPr bwMode="gray">
          <a:xfrm>
            <a:off x="317548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Другие виды зависимостей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3499337" y="4768092"/>
            <a:ext cx="8064500" cy="112646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4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Способ «борьбы»: рассматриваем неограниченные ресурсы.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3445771" y="2320007"/>
            <a:ext cx="4648200" cy="138499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:  a = b/c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:  d = e/f</a:t>
            </a:r>
          </a:p>
          <a:p>
            <a:pPr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Одно устройство деления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7239103" y="2242568"/>
            <a:ext cx="4645025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Зависимость по ресурсам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.</a:t>
            </a:r>
          </a:p>
          <a:p>
            <a:pPr algn="ctr"/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>
                <a:solidFill>
                  <a:prstClr val="black"/>
                </a:solidFill>
                <a:latin typeface="Arial" pitchFamily="34" charset="0"/>
              </a:rPr>
              <a:t>δ</a:t>
            </a:r>
            <a:r>
              <a:rPr kumimoji="0" lang="en-US" sz="2400" baseline="30000">
                <a:solidFill>
                  <a:prstClr val="black"/>
                </a:solidFill>
                <a:latin typeface="Arial" pitchFamily="34" charset="0"/>
              </a:rPr>
              <a:t>R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S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el-GR" sz="2400" baseline="-250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8175728" y="3485579"/>
            <a:ext cx="684213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40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9904515" y="3485579"/>
            <a:ext cx="684212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ru-RU" sz="2400" baseline="-250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20" name="AutoShape 24"/>
          <p:cNvCxnSpPr>
            <a:cxnSpLocks noChangeShapeType="1"/>
            <a:stCxn id="17" idx="0"/>
            <a:endCxn id="19" idx="0"/>
          </p:cNvCxnSpPr>
          <p:nvPr/>
        </p:nvCxnSpPr>
        <p:spPr bwMode="auto">
          <a:xfrm rot="5400000" flipV="1">
            <a:off x="9382227" y="2621979"/>
            <a:ext cx="1588" cy="1728788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9183790" y="3012504"/>
            <a:ext cx="360362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sz="2000" dirty="0">
                <a:solidFill>
                  <a:prstClr val="black"/>
                </a:solidFill>
                <a:latin typeface="Arial" pitchFamily="34" charset="0"/>
              </a:rPr>
              <a:t>R</a:t>
            </a:r>
            <a:endParaRPr kumimoji="0" lang="ru-RU" sz="20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99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6" grpId="0"/>
      <p:bldP spid="17" grpId="0"/>
      <p:bldP spid="19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293402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338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</TotalTime>
  <Words>1007</Words>
  <Application>Microsoft Office PowerPoint</Application>
  <PresentationFormat>Широкоэкранный</PresentationFormat>
  <Paragraphs>386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22</vt:i4>
      </vt:variant>
    </vt:vector>
  </HeadingPairs>
  <TitlesOfParts>
    <vt:vector size="34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Тема Office</vt:lpstr>
      <vt:lpstr>1_Тема Office</vt:lpstr>
      <vt:lpstr>2_Тема Office</vt:lpstr>
      <vt:lpstr>2_Larissa-Design</vt:lpstr>
      <vt:lpstr>Larissa-Design</vt:lpstr>
      <vt:lpstr>Презентация PowerPoint</vt:lpstr>
      <vt:lpstr>Декомпозиция</vt:lpstr>
      <vt:lpstr>Презентация PowerPoint</vt:lpstr>
      <vt:lpstr>Тема 5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141</cp:revision>
  <dcterms:created xsi:type="dcterms:W3CDTF">2013-06-03T16:36:48Z</dcterms:created>
  <dcterms:modified xsi:type="dcterms:W3CDTF">2023-03-24T02:23:40Z</dcterms:modified>
</cp:coreProperties>
</file>