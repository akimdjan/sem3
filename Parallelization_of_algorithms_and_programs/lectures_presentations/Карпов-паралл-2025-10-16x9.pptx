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  <p:sldMasterId id="2147483666" r:id="rId2"/>
    <p:sldMasterId id="2147483669" r:id="rId3"/>
  </p:sldMasterIdLst>
  <p:notesMasterIdLst>
    <p:notesMasterId r:id="rId24"/>
  </p:notesMasterIdLst>
  <p:sldIdLst>
    <p:sldId id="280" r:id="rId4"/>
    <p:sldId id="291" r:id="rId5"/>
    <p:sldId id="274" r:id="rId6"/>
    <p:sldId id="330" r:id="rId7"/>
    <p:sldId id="347" r:id="rId8"/>
    <p:sldId id="348" r:id="rId9"/>
    <p:sldId id="331" r:id="rId10"/>
    <p:sldId id="333" r:id="rId11"/>
    <p:sldId id="349" r:id="rId12"/>
    <p:sldId id="350" r:id="rId13"/>
    <p:sldId id="341" r:id="rId14"/>
    <p:sldId id="332" r:id="rId15"/>
    <p:sldId id="342" r:id="rId16"/>
    <p:sldId id="345" r:id="rId17"/>
    <p:sldId id="335" r:id="rId18"/>
    <p:sldId id="346" r:id="rId19"/>
    <p:sldId id="337" r:id="rId20"/>
    <p:sldId id="338" r:id="rId21"/>
    <p:sldId id="339" r:id="rId22"/>
    <p:sldId id="344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3404F6-AF45-403F-8B0B-E58FD8E18ED2}">
          <p14:sldIdLst>
            <p14:sldId id="280"/>
            <p14:sldId id="291"/>
            <p14:sldId id="274"/>
            <p14:sldId id="330"/>
            <p14:sldId id="347"/>
            <p14:sldId id="348"/>
            <p14:sldId id="331"/>
            <p14:sldId id="333"/>
            <p14:sldId id="349"/>
            <p14:sldId id="350"/>
            <p14:sldId id="341"/>
            <p14:sldId id="332"/>
            <p14:sldId id="342"/>
            <p14:sldId id="345"/>
            <p14:sldId id="335"/>
            <p14:sldId id="346"/>
            <p14:sldId id="337"/>
            <p14:sldId id="338"/>
            <p14:sldId id="339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F58427"/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1" autoAdjust="0"/>
    <p:restoredTop sz="94514" autoAdjust="0"/>
  </p:normalViewPr>
  <p:slideViewPr>
    <p:cSldViewPr>
      <p:cViewPr varScale="1">
        <p:scale>
          <a:sx n="84" d="100"/>
          <a:sy n="84" d="100"/>
        </p:scale>
        <p:origin x="30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09.11.2024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5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21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69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79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486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333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71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735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78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de-DE" sz="12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GB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dirty="0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dirty="0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dirty="0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dirty="0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444268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6419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290754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89289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8395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2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3172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/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57696736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29406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600" b="1" dirty="0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10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727208" y="1556792"/>
            <a:ext cx="7128792" cy="335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8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5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Нити исполнения</a:t>
            </a:r>
          </a:p>
          <a:p>
            <a:pPr marL="5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threads</a:t>
            </a: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) </a:t>
            </a:r>
          </a:p>
          <a:p>
            <a:pPr marL="1440000" defTabSz="457200" fontAlgn="base">
              <a:spcBef>
                <a:spcPts val="600"/>
              </a:spcBef>
              <a:spcAft>
                <a:spcPct val="0"/>
              </a:spcAft>
              <a:defRPr/>
            </a:pPr>
            <a:endParaRPr lang="ru-RU" sz="4400" dirty="0">
              <a:solidFill>
                <a:srgbClr val="40404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8168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15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503844" y="1037365"/>
            <a:ext cx="8496300" cy="5400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3791876" y="4212001"/>
            <a:ext cx="2127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A=A+B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3791877" y="4680000"/>
            <a:ext cx="2301635" cy="4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C=A+C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3789256" y="1872001"/>
            <a:ext cx="31709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Ожидание ввода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3789256" y="2808001"/>
            <a:ext cx="31709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Ожидание ввода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B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Box 12"/>
          <p:cNvSpPr txBox="1">
            <a:spLocks noChangeArrowheads="1"/>
          </p:cNvSpPr>
          <p:nvPr/>
        </p:nvSpPr>
        <p:spPr bwMode="auto">
          <a:xfrm>
            <a:off x="3791876" y="3744001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Ожидание ввода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3791876" y="5148000"/>
            <a:ext cx="2880320" cy="4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Вывести массив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3791876" y="5615999"/>
            <a:ext cx="3240360" cy="4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Ожидание вывода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3791877" y="3744001"/>
            <a:ext cx="26682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3791876" y="3276001"/>
            <a:ext cx="31709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B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3791876" y="2808001"/>
            <a:ext cx="31709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7087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2.70833E-6 -0.0689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4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4.375E-6 -0.1372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7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4.375E-6 -0.2055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81481E-6 L 0.43242 -0.0682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15" y="-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/>
      <p:bldP spid="25" grpId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2" grpId="1"/>
      <p:bldP spid="33" grpId="0"/>
      <p:bldP spid="33" grpId="1"/>
      <p:bldP spid="34" grpId="0"/>
      <p:bldP spid="3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424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59746" y="883113"/>
            <a:ext cx="8496300" cy="57367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719787" y="2949555"/>
            <a:ext cx="294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3719787" y="3255555"/>
            <a:ext cx="294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Ожидание ввода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3719787" y="3579555"/>
            <a:ext cx="294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B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3718199" y="3903555"/>
            <a:ext cx="294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Ожидание ввода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B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898674" y="909001"/>
            <a:ext cx="26289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200" dirty="0">
                <a:latin typeface="Arial" pitchFamily="34" charset="0"/>
                <a:cs typeface="Arial" pitchFamily="34" charset="0"/>
              </a:rPr>
              <a:t>Процесс 1</a:t>
            </a:r>
          </a:p>
        </p:txBody>
      </p:sp>
      <p:sp>
        <p:nvSpPr>
          <p:cNvPr id="35" name="Text Box 12"/>
          <p:cNvSpPr txBox="1">
            <a:spLocks noChangeArrowheads="1"/>
          </p:cNvSpPr>
          <p:nvPr/>
        </p:nvSpPr>
        <p:spPr bwMode="auto">
          <a:xfrm>
            <a:off x="8597574" y="909001"/>
            <a:ext cx="26289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200" dirty="0">
                <a:latin typeface="Arial" pitchFamily="34" charset="0"/>
                <a:cs typeface="Arial" pitchFamily="34" charset="0"/>
              </a:rPr>
              <a:t>Процесс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2</a:t>
            </a:r>
            <a:endParaRPr lang="ru-RU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13">
            <a:extLst>
              <a:ext uri="{FF2B5EF4-FFF2-40B4-BE49-F238E27FC236}">
                <a16:creationId xmlns:a16="http://schemas.microsoft.com/office/drawing/2014/main" xmlns="" id="{A1348B16-7277-4509-A40C-9C8CBB412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575" y="2949555"/>
            <a:ext cx="3401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Ожидание ввода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и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B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4">
            <a:extLst>
              <a:ext uri="{FF2B5EF4-FFF2-40B4-BE49-F238E27FC236}">
                <a16:creationId xmlns:a16="http://schemas.microsoft.com/office/drawing/2014/main" xmlns="" id="{BAC45D81-BB5E-4C4B-811E-449B7DAF0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610" y="4227555"/>
            <a:ext cx="2952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xmlns="" id="{3D55423B-B259-4F89-8088-97E2157D8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4" y="4551555"/>
            <a:ext cx="2952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Ожидание ввода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6">
            <a:extLst>
              <a:ext uri="{FF2B5EF4-FFF2-40B4-BE49-F238E27FC236}">
                <a16:creationId xmlns:a16="http://schemas.microsoft.com/office/drawing/2014/main" xmlns="" id="{FECC0E78-B19F-4AC3-96B6-653584B0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611" y="4875555"/>
            <a:ext cx="2945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C=A+C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xmlns="" id="{59EC046D-06B1-4029-9150-EB1CC283D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0004" y="5136569"/>
            <a:ext cx="29459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Вывести массив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 Box 22">
            <a:extLst>
              <a:ext uri="{FF2B5EF4-FFF2-40B4-BE49-F238E27FC236}">
                <a16:creationId xmlns:a16="http://schemas.microsoft.com/office/drawing/2014/main" xmlns="" id="{9DA333FD-DE2C-49AC-A79B-DC16E0C05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74" y="5458890"/>
            <a:ext cx="31762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Ожидание вывода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xmlns="" id="{21F0B5E6-6818-4445-886F-23811E496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575" y="1314000"/>
            <a:ext cx="28066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Создание процесса 2</a:t>
            </a:r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xmlns="" id="{1B2951DD-8040-4CB8-9D1D-1FCF210CD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574" y="2661555"/>
            <a:ext cx="3401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Доступ к общей памяти</a:t>
            </a:r>
          </a:p>
        </p:txBody>
      </p:sp>
      <p:sp>
        <p:nvSpPr>
          <p:cNvPr id="33" name="Text Box 16">
            <a:extLst>
              <a:ext uri="{FF2B5EF4-FFF2-40B4-BE49-F238E27FC236}">
                <a16:creationId xmlns:a16="http://schemas.microsoft.com/office/drawing/2014/main" xmlns="" id="{8C32BA26-E104-4902-AD75-7CA7FF43E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575" y="1844668"/>
            <a:ext cx="30238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Доступ к общей памяти</a:t>
            </a: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xmlns="" id="{15CEAD98-4D8A-4FF9-B9C4-AE1689C8E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124" y="1574668"/>
            <a:ext cx="3204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xmlns="" id="{7FAE6FE4-31FF-4E4C-92E0-1ECBC68FB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74" y="2382223"/>
            <a:ext cx="3401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52" name="Text Box 5">
            <a:extLst>
              <a:ext uri="{FF2B5EF4-FFF2-40B4-BE49-F238E27FC236}">
                <a16:creationId xmlns:a16="http://schemas.microsoft.com/office/drawing/2014/main" xmlns="" id="{F703D072-7493-4AA5-9AE2-8A00752E4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9574" y="4551555"/>
            <a:ext cx="17637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A=A+B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 Box 17">
            <a:extLst>
              <a:ext uri="{FF2B5EF4-FFF2-40B4-BE49-F238E27FC236}">
                <a16:creationId xmlns:a16="http://schemas.microsoft.com/office/drawing/2014/main" xmlns="" id="{8A4EB4EA-6C71-4997-8F13-AB9A17033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124" y="4812223"/>
            <a:ext cx="3204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54" name="Text Box 18">
            <a:extLst>
              <a:ext uri="{FF2B5EF4-FFF2-40B4-BE49-F238E27FC236}">
                <a16:creationId xmlns:a16="http://schemas.microsoft.com/office/drawing/2014/main" xmlns="" id="{A8C62848-9BAB-4358-AFBB-7E1DAD6A4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74" y="5352223"/>
            <a:ext cx="3401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7357500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4" presetClass="path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4.16667E-6 7.40741E-7 L 0.00105 -0.12338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07407E-6 L -0.00052 0.0713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356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6 L -0.00143 0.09421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469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1.45833E-6 0.09352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76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48148E-6 L 4.79167E-6 0.09051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20" grpId="0"/>
      <p:bldP spid="21" grpId="0"/>
      <p:bldP spid="22" grpId="0"/>
      <p:bldP spid="24" grpId="0"/>
      <p:bldP spid="35" grpId="0"/>
      <p:bldP spid="25" grpId="0"/>
      <p:bldP spid="25" grpId="1"/>
      <p:bldP spid="26" grpId="0"/>
      <p:bldP spid="27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2" grpId="0"/>
      <p:bldP spid="33" grpId="0"/>
      <p:bldP spid="34" grpId="0"/>
      <p:bldP spid="46" grpId="0"/>
      <p:bldP spid="52" grpId="0"/>
      <p:bldP spid="52" grpId="1"/>
      <p:bldP spid="53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8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D9F08C47-04C8-465C-AA9D-FE034230A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000" y="16604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0345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8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5E5249B6-53A1-4BAA-93AF-47B6BF227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000" y="1675025"/>
            <a:ext cx="6057000" cy="454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264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8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614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7774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3918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7774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094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5926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3998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1830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638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791710" y="400747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рельсы</a:t>
            </a:r>
          </a:p>
        </p:txBody>
      </p:sp>
      <p:cxnSp>
        <p:nvCxnSpPr>
          <p:cNvPr id="44" name="Прямая со стрелкой 43"/>
          <p:cNvCxnSpPr/>
          <p:nvPr/>
        </p:nvCxnSpPr>
        <p:spPr>
          <a:xfrm flipV="1">
            <a:off x="5367774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31670" y="256490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поезд</a:t>
            </a:r>
          </a:p>
        </p:txBody>
      </p:sp>
      <p:cxnSp>
        <p:nvCxnSpPr>
          <p:cNvPr id="47" name="Прямая со стрелкой 46"/>
          <p:cNvCxnSpPr/>
          <p:nvPr/>
        </p:nvCxnSpPr>
        <p:spPr>
          <a:xfrm flipH="1">
            <a:off x="4323658" y="285551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1142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33737 -3.7037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0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607 0.00047 L 0.34466 0.00047 L 0.35521 0.00232 L 0.3642 0.00741 L 0.37201 0.01204 L 0.38021 0.01713 L 0.3892 0.02732 L 0.3974 0.03843 L 0.40326 0.05324 L 0.40834 0.06297 L 0.41107 0.07686 L 0.41341 0.09676 L 0.41302 0.11852 L 0.41029 0.13704 L 0.4056 0.1551 L 0.39623 0.17269 L 0.38412 0.18797 L 0.37084 0.19954 L 0.35716 0.20741 L 0.3474 0.21019 L 0.33763 0.21019 " pathEditMode="relative" rAng="0" ptsTypes="AAAAAAAAAAAAAAAAAAAAA">
                                      <p:cBhvr>
                                        <p:cTn id="2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7" y="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5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763 0.21019 L 0.21914 0.2099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0" presetClass="pat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953 0.21088 L 0.21172 0.21088 L 0.20235 0.20949 L 0.19193 0.20672 L 0.18282 0.20255 L 0.17266 0.19561 L 0.16068 0.18241 L 0.15391 0.17338 L 0.14584 0.15811 L 0.14141 0.14213 L 0.13672 0.12408 L 0.13607 0.10255 L 0.13802 0.07824 L 0.14349 0.05672 L 0.15157 0.04213 L 0.15782 0.03172 L 0.16537 0.02269 L 0.175 0.01505 L 0.1836 0.00741 L 0.19349 0.00533 L 0.2 0.00047 L 0.20756 0.00047 L 0.22006 -0.00023 " pathEditMode="relative" rAng="0" ptsTypes="AAAAAAAAAAAAAAAAAAAAAAA">
                                      <p:cBhvr>
                                        <p:cTn id="2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54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63" presetClass="pat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914 -3.7037E-6 L 0.56615 -3.7037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2" animBg="1"/>
      <p:bldP spid="40" grpId="4" animBg="1"/>
      <p:bldP spid="40" grpId="5" animBg="1"/>
      <p:bldP spid="40" grpId="6" animBg="1"/>
      <p:bldP spid="40" grpId="7" animBg="1"/>
      <p:bldP spid="45" grpId="0"/>
      <p:bldP spid="4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379" y="1628799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614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7774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3918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7774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094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5926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3998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1830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638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791710" y="400747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рельсы</a:t>
            </a:r>
          </a:p>
        </p:txBody>
      </p:sp>
      <p:cxnSp>
        <p:nvCxnSpPr>
          <p:cNvPr id="17" name="Прямая со стрелкой 16"/>
          <p:cNvCxnSpPr/>
          <p:nvPr/>
        </p:nvCxnSpPr>
        <p:spPr>
          <a:xfrm flipV="1">
            <a:off x="5367774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6256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0047 L 0.09701 0.00324 L 0.20039 -0.1037 L 0.33243 -0.10486 L 0.4487 0.00186 L 0.56576 0.00186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8" y="-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8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8F65C1DD-55D6-408C-B5AC-1C1C8A48D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000" y="1736600"/>
            <a:ext cx="8280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0117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8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E5EFF4CC-0969-42CC-BA3D-B5030EF5F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00" y="1668981"/>
            <a:ext cx="6075000" cy="455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31764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379" y="1628799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614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7774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3918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7774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094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5926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3998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7" name="Дуга 36"/>
          <p:cNvSpPr/>
          <p:nvPr/>
        </p:nvSpPr>
        <p:spPr>
          <a:xfrm rot="10800000">
            <a:off x="5871830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4143638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91710" y="400747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рельсы</a:t>
            </a:r>
          </a:p>
        </p:txBody>
      </p:sp>
      <p:cxnSp>
        <p:nvCxnSpPr>
          <p:cNvPr id="44" name="Прямая со стрелкой 43"/>
          <p:cNvCxnSpPr/>
          <p:nvPr/>
        </p:nvCxnSpPr>
        <p:spPr>
          <a:xfrm flipV="1">
            <a:off x="5367774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59562" y="33471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поезд</a:t>
            </a:r>
          </a:p>
        </p:txBody>
      </p:sp>
      <p:cxnSp>
        <p:nvCxnSpPr>
          <p:cNvPr id="47" name="Прямая со стрелкой 46"/>
          <p:cNvCxnSpPr/>
          <p:nvPr/>
        </p:nvCxnSpPr>
        <p:spPr>
          <a:xfrm flipH="1">
            <a:off x="3927614" y="323143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72771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8650" y="16272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614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7774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3918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7774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094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5926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3998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1830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638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7734" y="2773429"/>
            <a:ext cx="144016" cy="14401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871830" y="24208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248245" y="2058492"/>
            <a:ext cx="144016" cy="144016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888054" y="20746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968174" y="2420886"/>
            <a:ext cx="144016" cy="144016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976286" y="2773429"/>
            <a:ext cx="144016" cy="144016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480342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575686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236985" y="32129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8103263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535520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951950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4791710" y="400747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рельсы</a:t>
            </a:r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5367774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19702" y="191683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склады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4719702" y="2224610"/>
            <a:ext cx="288032" cy="4843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367774" y="2224610"/>
            <a:ext cx="432048" cy="196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86F765D-D20F-474B-A44F-401F1F8FBD3B}"/>
              </a:ext>
            </a:extLst>
          </p:cNvPr>
          <p:cNvSpPr txBox="1"/>
          <p:nvPr/>
        </p:nvSpPr>
        <p:spPr>
          <a:xfrm>
            <a:off x="3459562" y="33471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поезд</a:t>
            </a: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xmlns="" id="{2B16E457-0759-4A2C-8479-E306562B50D5}"/>
              </a:ext>
            </a:extLst>
          </p:cNvPr>
          <p:cNvCxnSpPr/>
          <p:nvPr/>
        </p:nvCxnSpPr>
        <p:spPr>
          <a:xfrm flipH="1">
            <a:off x="3927614" y="323143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5605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03542 -3.7037E-6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mph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42 -3.7037E-6 L 0.07084 -3.7037E-6 " pathEditMode="relative" rAng="0" ptsTypes="AA">
                                      <p:cBhvr>
                                        <p:cTn id="2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63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4 -3.7037E-6 L 0.11224 -3.7037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FCF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50"/>
                            </p:stCondLst>
                            <p:childTnLst>
                              <p:par>
                                <p:cTn id="45" presetID="63" presetClass="path" presetSubtype="0" fill="hold" grpId="2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24 -3.7037E-6 L 0.153 -3.7037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B23EB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63" presetClass="path" presetSubtype="0" fill="hold" grpId="2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3 -3.7037E-6 L 0.25287 0.00093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750"/>
                            </p:stCondLst>
                            <p:childTnLst>
                              <p:par>
                                <p:cTn id="5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9" presetClass="emph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50"/>
                            </p:stCondLst>
                            <p:childTnLst>
                              <p:par>
                                <p:cTn id="67" presetID="0" presetClass="path" presetSubtype="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87 0.00093 L 0.34766 0.00047 L 0.36537 0.00787 L 0.38256 0.02037 L 0.3961 0.04121 L 0.4086 0.06574 L 0.41341 0.09769 L 0.41341 0.1176 L 0.41094 0.1301 L 0.40521 0.1551 L 0.39532 0.17269 L 0.38412 0.18797 L 0.36849 0.20186 L 0.34922 0.20926 L 0.33125 0.21088 L 0.32552 0.21088 " pathEditMode="relative" rAng="0" ptsTypes="AAAAAAAAAAAAAAAA">
                                      <p:cBhvr>
                                        <p:cTn id="6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50"/>
                            </p:stCondLst>
                            <p:childTnLst>
                              <p:par>
                                <p:cTn id="7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750"/>
                            </p:stCondLst>
                            <p:childTnLst>
                              <p:par>
                                <p:cTn id="76" presetID="35" presetClass="path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631 0.20996 L 0.27826 0.20996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250"/>
                            </p:stCondLst>
                            <p:childTnLst>
                              <p:par>
                                <p:cTn id="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9" presetClass="emph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750"/>
                            </p:stCondLst>
                            <p:childTnLst>
                              <p:par>
                                <p:cTn id="90" presetID="35" presetClass="path" presetSubtype="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826 0.20996 L 0.23021 0.20996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250"/>
                            </p:stCondLst>
                            <p:childTnLst>
                              <p:par>
                                <p:cTn id="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50"/>
                            </p:stCondLst>
                            <p:childTnLst>
                              <p:par>
                                <p:cTn id="99" presetID="0" presetClass="path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177 0.21019 L 0.2086 0.21088 L 0.18646 0.20371 L 0.16302 0.18658 L 0.14896 0.16343 L 0.14141 0.14399 L 0.13568 0.11621 L 0.13646 0.08658 L 0.14037 0.0713 L 0.14427 0.05602 L 0.15157 0.03982 L 0.15912 0.02871 L 0.16875 0.01899 L 0.18256 0.00787 L 0.19037 0.00463 L 0.20209 0.00047 L 0.25248 0.00093 " pathEditMode="relative" rAng="0" ptsTypes="AAAAAAAAAAAAAAAAA">
                                      <p:cBhvr>
                                        <p:cTn id="10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76" y="-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750"/>
                            </p:stCondLst>
                            <p:childTnLst>
                              <p:par>
                                <p:cTn id="102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9" presetClass="emph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13" presetID="63" presetClass="path" presetSubtype="0" fill="hold" grpId="16" nodeType="after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.25404 -3.7037E-6 L 0.47761 -3.7037E-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2400"/>
                            </p:stCondLst>
                            <p:childTnLst>
                              <p:par>
                                <p:cTn id="116" presetID="19" presetClass="emph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900"/>
                            </p:stCondLst>
                            <p:childTnLst>
                              <p:par>
                                <p:cTn id="122" presetID="63" presetClass="path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761 -3.7037E-6 L 0.51979 -3.7037E-6 " pathEditMode="relative" rAng="0" ptsTypes="AA">
                                      <p:cBhvr>
                                        <p:cTn id="1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400"/>
                            </p:stCondLst>
                            <p:childTnLst>
                              <p:par>
                                <p:cTn id="1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9" presetClass="emph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3900"/>
                            </p:stCondLst>
                            <p:childTnLst>
                              <p:par>
                                <p:cTn id="136" presetID="63" presetClass="path" presetSubtype="0" accel="400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79 -3.7037E-6 L 0.56706 -3.7037E-6 " pathEditMode="relative" rAng="0" ptsTypes="AA">
                                      <p:cBhvr>
                                        <p:cTn id="1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5" animBg="1"/>
      <p:bldP spid="40" grpId="6" animBg="1"/>
      <p:bldP spid="40" grpId="8" animBg="1"/>
      <p:bldP spid="40" grpId="9" animBg="1"/>
      <p:bldP spid="40" grpId="10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2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379" y="1628799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614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7774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3918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7774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094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5926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3998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1830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638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7734" y="2773429"/>
            <a:ext cx="144016" cy="14401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871830" y="24208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248245" y="2058492"/>
            <a:ext cx="144016" cy="144016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888054" y="20746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968174" y="2420886"/>
            <a:ext cx="144016" cy="144016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976286" y="2773429"/>
            <a:ext cx="144016" cy="144016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480342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575686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236985" y="32129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8103263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535520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951950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4791710" y="400747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рельсы</a:t>
            </a:r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5367774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19702" y="1916832"/>
            <a:ext cx="11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склады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4719702" y="2224610"/>
            <a:ext cx="288032" cy="4843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367774" y="2224610"/>
            <a:ext cx="432048" cy="196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86F765D-D20F-474B-A44F-401F1F8FBD3B}"/>
              </a:ext>
            </a:extLst>
          </p:cNvPr>
          <p:cNvSpPr txBox="1"/>
          <p:nvPr/>
        </p:nvSpPr>
        <p:spPr>
          <a:xfrm>
            <a:off x="3459562" y="33471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поезд</a:t>
            </a: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xmlns="" id="{2B16E457-0759-4A2C-8479-E306562B50D5}"/>
              </a:ext>
            </a:extLst>
          </p:cNvPr>
          <p:cNvCxnSpPr/>
          <p:nvPr/>
        </p:nvCxnSpPr>
        <p:spPr>
          <a:xfrm flipH="1">
            <a:off x="3927614" y="323143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CFC7FF76-FEA7-44DF-BDB8-FA9972EF5F03}"/>
              </a:ext>
            </a:extLst>
          </p:cNvPr>
          <p:cNvSpPr txBox="1"/>
          <p:nvPr/>
        </p:nvSpPr>
        <p:spPr>
          <a:xfrm>
            <a:off x="9904278" y="515719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CBFA08FB-1753-4368-A6F1-8FD97A6A1C84}"/>
              </a:ext>
            </a:extLst>
          </p:cNvPr>
          <p:cNvSpPr txBox="1"/>
          <p:nvPr/>
        </p:nvSpPr>
        <p:spPr>
          <a:xfrm>
            <a:off x="3647850" y="4005064"/>
            <a:ext cx="218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Исполняемый код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9005FB3-A3DB-4334-B0F6-74E6237C5C96}"/>
              </a:ext>
            </a:extLst>
          </p:cNvPr>
          <p:cNvSpPr txBox="1"/>
          <p:nvPr/>
        </p:nvSpPr>
        <p:spPr>
          <a:xfrm>
            <a:off x="6843938" y="2395626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Условный переход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xmlns="" id="{5444D7F3-04E6-4402-97CC-E6861837F7B7}"/>
              </a:ext>
            </a:extLst>
          </p:cNvPr>
          <p:cNvCxnSpPr/>
          <p:nvPr/>
        </p:nvCxnSpPr>
        <p:spPr>
          <a:xfrm flipH="1">
            <a:off x="5691810" y="2718792"/>
            <a:ext cx="972108" cy="27815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xmlns="" id="{3BE22A6E-1DEB-475F-B8BB-9DFFE84A025D}"/>
              </a:ext>
            </a:extLst>
          </p:cNvPr>
          <p:cNvCxnSpPr/>
          <p:nvPr/>
        </p:nvCxnSpPr>
        <p:spPr>
          <a:xfrm>
            <a:off x="8032070" y="2845438"/>
            <a:ext cx="360040" cy="15151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D4831654-83B9-41CF-857D-B95489D1B2A8}"/>
              </a:ext>
            </a:extLst>
          </p:cNvPr>
          <p:cNvSpPr txBox="1"/>
          <p:nvPr/>
        </p:nvSpPr>
        <p:spPr>
          <a:xfrm>
            <a:off x="3423558" y="3356991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Регистры и данные в стеке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4AECC153-FAC5-4B04-9A1F-494A06DD7D7A}"/>
              </a:ext>
            </a:extLst>
          </p:cNvPr>
          <p:cNvSpPr txBox="1"/>
          <p:nvPr/>
        </p:nvSpPr>
        <p:spPr>
          <a:xfrm>
            <a:off x="3891610" y="1916832"/>
            <a:ext cx="2844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Данные вне стека и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I/O</a:t>
            </a:r>
            <a:endParaRPr lang="ru-RU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hteck 36">
            <a:extLst>
              <a:ext uri="{FF2B5EF4-FFF2-40B4-BE49-F238E27FC236}">
                <a16:creationId xmlns:a16="http://schemas.microsoft.com/office/drawing/2014/main" xmlns="" id="{F4D1210E-9CDC-4B39-A291-4E611A511F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59378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Вычислительная система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211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/>
      <p:bldP spid="34" grpId="0" animBg="1"/>
      <p:bldP spid="32" grpId="0"/>
      <p:bldP spid="35" grpId="0"/>
      <p:bldP spid="36" grpId="0"/>
      <p:bldP spid="38" grpId="0"/>
      <p:bldP spid="42" grpId="0"/>
      <p:bldP spid="43" grpId="0"/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70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8650" y="1627200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614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7774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3918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7774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094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5926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3998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1830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638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7734" y="2773429"/>
            <a:ext cx="144016" cy="14401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871830" y="24208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248245" y="2058492"/>
            <a:ext cx="144016" cy="144016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888054" y="20746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968174" y="2420886"/>
            <a:ext cx="144016" cy="144016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976286" y="2773429"/>
            <a:ext cx="144016" cy="144016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480342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575686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236985" y="32129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8103263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535520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951950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5367774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4719702" y="2224610"/>
            <a:ext cx="288032" cy="4843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367774" y="2224610"/>
            <a:ext cx="432048" cy="196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hteck 36"/>
          <p:cNvSpPr>
            <a:spLocks noChangeArrowheads="1"/>
          </p:cNvSpPr>
          <p:nvPr/>
        </p:nvSpPr>
        <p:spPr bwMode="gray">
          <a:xfrm>
            <a:off x="3359700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xmlns="" id="{2B16E457-0759-4A2C-8479-E306562B50D5}"/>
              </a:ext>
            </a:extLst>
          </p:cNvPr>
          <p:cNvCxnSpPr/>
          <p:nvPr/>
        </p:nvCxnSpPr>
        <p:spPr>
          <a:xfrm flipH="1">
            <a:off x="3927614" y="323143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5DD3069C-E314-4B83-9B0E-2F6079F3C667}"/>
              </a:ext>
            </a:extLst>
          </p:cNvPr>
          <p:cNvSpPr txBox="1"/>
          <p:nvPr/>
        </p:nvSpPr>
        <p:spPr>
          <a:xfrm>
            <a:off x="3423558" y="3356991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Регистры и данные в стеке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33F0865D-A5C7-4555-B619-8964BFF988FD}"/>
              </a:ext>
            </a:extLst>
          </p:cNvPr>
          <p:cNvSpPr txBox="1"/>
          <p:nvPr/>
        </p:nvSpPr>
        <p:spPr>
          <a:xfrm>
            <a:off x="3646650" y="4006800"/>
            <a:ext cx="2178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Исполняемый код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C8CFC82-F288-4731-9EAF-25BEDA64ACE2}"/>
              </a:ext>
            </a:extLst>
          </p:cNvPr>
          <p:cNvSpPr txBox="1"/>
          <p:nvPr/>
        </p:nvSpPr>
        <p:spPr>
          <a:xfrm>
            <a:off x="3891610" y="1916832"/>
            <a:ext cx="277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Данные вне стека и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I/O</a:t>
            </a:r>
            <a:endParaRPr lang="ru-RU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56EAD2B-A1AF-48A7-AE69-630EBA6ABCDD}"/>
              </a:ext>
            </a:extLst>
          </p:cNvPr>
          <p:cNvSpPr txBox="1"/>
          <p:nvPr/>
        </p:nvSpPr>
        <p:spPr>
          <a:xfrm>
            <a:off x="9902850" y="515880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0F80157D-88A5-442D-94DD-17A922493172}"/>
              </a:ext>
            </a:extLst>
          </p:cNvPr>
          <p:cNvSpPr txBox="1"/>
          <p:nvPr/>
        </p:nvSpPr>
        <p:spPr>
          <a:xfrm>
            <a:off x="6843938" y="2395626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Условный переход</a:t>
            </a: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xmlns="" id="{6F3A5FE9-83FC-40DA-82EF-B49AA306A6D8}"/>
              </a:ext>
            </a:extLst>
          </p:cNvPr>
          <p:cNvCxnSpPr/>
          <p:nvPr/>
        </p:nvCxnSpPr>
        <p:spPr>
          <a:xfrm flipH="1">
            <a:off x="5691810" y="2718792"/>
            <a:ext cx="972108" cy="27815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xmlns="" id="{F07D640E-0F6A-44AA-B038-8CF8346642C4}"/>
              </a:ext>
            </a:extLst>
          </p:cNvPr>
          <p:cNvCxnSpPr/>
          <p:nvPr/>
        </p:nvCxnSpPr>
        <p:spPr>
          <a:xfrm>
            <a:off x="8032070" y="2845438"/>
            <a:ext cx="360040" cy="15151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4243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03542 -3.7037E-6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9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42 -3.7037E-6 L 0.07084 -3.7037E-6 " pathEditMode="relative" rAng="0" ptsTypes="AA">
                                      <p:cBhvr>
                                        <p:cTn id="2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63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4 -3.7037E-6 L 0.11224 -3.7037E-6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FCF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63" presetClass="path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24 -3.7037E-6 L 0.153 -3.7037E-6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B23EB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63" presetClass="path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3 -3.7037E-6 L 0.25287 0.00093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0" presetClass="path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87 0.00093 L 0.34766 0.00047 L 0.36537 0.00787 L 0.38256 0.02037 L 0.3961 0.04121 L 0.4086 0.06574 L 0.41341 0.09769 L 0.41341 0.1176 L 0.41094 0.1301 L 0.40521 0.1551 L 0.39532 0.17269 L 0.38412 0.18797 L 0.36849 0.20186 L 0.34922 0.20926 L 0.33125 0.21088 L 0.32552 0.21088 " pathEditMode="relative" rAng="0" ptsTypes="AAAAAAAAAAAAAAAA">
                                      <p:cBhvr>
                                        <p:cTn id="6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35" presetClass="pat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631 0.20996 L 0.27826 0.2099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00"/>
                            </p:stCondLst>
                            <p:childTnLst>
                              <p:par>
                                <p:cTn id="7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0"/>
                            </p:stCondLst>
                            <p:childTnLst>
                              <p:par>
                                <p:cTn id="87" presetID="35" presetClass="pat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826 0.20996 L 0.23021 0.20996 " pathEditMode="relative" rAng="0" ptsTypes="AA"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000"/>
                            </p:stCondLst>
                            <p:childTnLst>
                              <p:par>
                                <p:cTn id="96" presetID="0" presetClass="path" presetSubtype="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177 0.21019 L 0.2086 0.21088 L 0.18646 0.20371 L 0.16302 0.18658 L 0.14896 0.16343 L 0.14141 0.14399 L 0.13568 0.11621 L 0.13646 0.08658 L 0.14037 0.0713 L 0.14427 0.05602 L 0.15157 0.03982 L 0.15912 0.02871 L 0.16875 0.01899 L 0.18256 0.00787 L 0.19037 0.00463 L 0.20209 0.00047 L 0.25248 0.00093 " pathEditMode="relative" rAng="0" ptsTypes="AAAAAAAAAAAAAAAAA">
                                      <p:cBhvr>
                                        <p:cTn id="9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76" y="-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0" presetID="63" presetClass="path" presetSubtype="0" fill="hold" grpId="10" nodeType="after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.25404 -3.7037E-6 L 0.47761 -3.7037E-6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650"/>
                            </p:stCondLst>
                            <p:childTnLst>
                              <p:par>
                                <p:cTn id="113" presetID="19" presetClass="emph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150"/>
                            </p:stCondLst>
                            <p:childTnLst>
                              <p:par>
                                <p:cTn id="119" presetID="63" presetClass="path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761 -3.7037E-6 L 0.51979 -3.7037E-6 " pathEditMode="relative" rAng="0" ptsTypes="AA">
                                      <p:cBhvr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650"/>
                            </p:stCondLst>
                            <p:childTnLst>
                              <p:par>
                                <p:cTn id="122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9" presetClass="emph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150"/>
                            </p:stCondLst>
                            <p:childTnLst>
                              <p:par>
                                <p:cTn id="133" presetID="63" presetClass="path" presetSubtype="0" accel="4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79 -3.7037E-6 L 0.56706 -3.7037E-6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2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8" grpId="0" animBg="1"/>
      <p:bldP spid="29" grpId="0" animBg="1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37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799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935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8095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4239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8095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415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6247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4319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2151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959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8055" y="2773429"/>
            <a:ext cx="144016" cy="14401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872151" y="24208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248566" y="2058492"/>
            <a:ext cx="144016" cy="144016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888375" y="20746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968495" y="2420886"/>
            <a:ext cx="144016" cy="144016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976607" y="2773429"/>
            <a:ext cx="144016" cy="144016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480663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576007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237306" y="32129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8103584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535841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952271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4792031" y="400747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рельсы</a:t>
            </a:r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5368095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20023" y="18990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склады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4720023" y="2224610"/>
            <a:ext cx="288032" cy="4843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368095" y="2224610"/>
            <a:ext cx="432048" cy="196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hteck 36"/>
          <p:cNvSpPr>
            <a:spLocks noChangeArrowheads="1"/>
          </p:cNvSpPr>
          <p:nvPr/>
        </p:nvSpPr>
        <p:spPr bwMode="gray">
          <a:xfrm>
            <a:off x="3359378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7600343" y="227687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1ECFFED2-54D3-4EFF-B19F-586E085AA40F}"/>
              </a:ext>
            </a:extLst>
          </p:cNvPr>
          <p:cNvSpPr txBox="1"/>
          <p:nvPr/>
        </p:nvSpPr>
        <p:spPr>
          <a:xfrm>
            <a:off x="3459240" y="33471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поезд</a:t>
            </a: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2985CA05-14B9-47C8-9F29-E821514BAD9A}"/>
              </a:ext>
            </a:extLst>
          </p:cNvPr>
          <p:cNvCxnSpPr/>
          <p:nvPr/>
        </p:nvCxnSpPr>
        <p:spPr>
          <a:xfrm flipH="1">
            <a:off x="3927292" y="323143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3786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03555 -3.7037E-6 " pathEditMode="relative" rAng="0" ptsTypes="AA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pat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55 -3.7037E-6 L 0.07032 -3.7037E-6 " pathEditMode="relative" rAng="0" ptsTypes="AA">
                                      <p:cBhvr>
                                        <p:cTn id="2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63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32 -3.7037E-6 L 0.25378 -3.7037E-6 " pathEditMode="relative" rAng="0" ptsTypes="AA">
                                      <p:cBhvr>
                                        <p:cTn id="38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9" presetClass="emph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23 L 0.02369 0.00023 " pathEditMode="relative" rAng="0" ptsTypes="AA">
                                      <p:cBhvr>
                                        <p:cTn id="5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"/>
                            </p:stCondLst>
                            <p:childTnLst>
                              <p:par>
                                <p:cTn id="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19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50"/>
                            </p:stCondLst>
                            <p:childTnLst>
                              <p:par>
                                <p:cTn id="71" presetID="0" presetClass="path" presetSubtype="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48 -0.00023 L 0.34974 0.00047 L 0.36563 0.00741 L 0.37474 0.01366 L 0.38568 0.02477 L 0.39349 0.03588 L 0.40235 0.05186 L 0.40912 0.0713 L 0.41328 0.0963 L 0.41381 0.11366 L 0.41172 0.12963 L 0.40912 0.14491 L 0.40443 0.15394 L 0.39688 0.16991 L 0.38724 0.18519 L 0.37474 0.19699 L 0.36328 0.20602 L 0.35287 0.20811 L 0.33881 0.21088 L 0.32552 0.21019 " pathEditMode="relative" rAng="0" ptsTypes="AAAAAAAAAAAAAAAAAAAA">
                                      <p:cBhvr>
                                        <p:cTn id="7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60" y="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250"/>
                            </p:stCondLst>
                            <p:childTnLst>
                              <p:par>
                                <p:cTn id="74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750"/>
                            </p:stCondLst>
                            <p:childTnLst>
                              <p:par>
                                <p:cTn id="80" presetID="63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69 0.00023 L 0.04726 0.00023 " pathEditMode="relative" rAng="0" ptsTypes="AA">
                                      <p:cBhvr>
                                        <p:cTn id="8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ID="42" presetClass="pat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26 0.00023 L 0.11289 0.05926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1" y="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0"/>
                            </p:stCondLst>
                            <p:childTnLst>
                              <p:par>
                                <p:cTn id="97" presetID="35" presetClass="path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552 0.21019 L 0.27826 0.20996 " pathEditMode="relative" rAng="0" ptsTypes="AA">
                                      <p:cBhvr>
                                        <p:cTn id="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000"/>
                            </p:stCondLst>
                            <p:childTnLst>
                              <p:par>
                                <p:cTn id="10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9" presetClass="emph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1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500"/>
                            </p:stCondLst>
                            <p:childTnLst>
                              <p:par>
                                <p:cTn id="111" presetID="42" presetClass="pat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89 0.05926 L 0.16093 0.10509 " pathEditMode="relative" rAng="0" ptsTypes="AA">
                                      <p:cBhvr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14" presetID="63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93 0.10509 L 0.19414 0.10509 " pathEditMode="relative" rAng="0" ptsTypes="AA">
                                      <p:cBhvr>
                                        <p:cTn id="115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350"/>
                            </p:stCondLst>
                            <p:childTnLst>
                              <p:par>
                                <p:cTn id="1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7850"/>
                            </p:stCondLst>
                            <p:childTnLst>
                              <p:par>
                                <p:cTn id="123" presetID="35" presetClass="path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826 0.20996 L 0.23021 0.20996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8850"/>
                            </p:stCondLst>
                            <p:childTnLst>
                              <p:par>
                                <p:cTn id="12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9350"/>
                            </p:stCondLst>
                            <p:childTnLst>
                              <p:par>
                                <p:cTn id="132" presetID="63" presetClass="pat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414 0.10509 L 0.23633 0.10509 " pathEditMode="relative" rAng="0" ptsTypes="AA">
                                      <p:cBhvr>
                                        <p:cTn id="1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9850"/>
                            </p:stCondLst>
                            <p:childTnLst>
                              <p:par>
                                <p:cTn id="135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FA7AF"/>
                                      </p:to>
                                    </p:animClr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A7AF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350"/>
                            </p:stCondLst>
                            <p:childTnLst>
                              <p:par>
                                <p:cTn id="141" presetID="0" presetClass="path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099 0.20926 L 0.20756 0.21088 L 0.1974 0.20787 L 0.18216 0.20186 L 0.16654 0.18982 L 0.1556 0.17547 L 0.14466 0.1551 L 0.13881 0.13241 L 0.13646 0.11574 L 0.13607 0.09769 L 0.13724 0.08658 L 0.13959 0.07408 L 0.14349 0.06204 L 0.14779 0.05047 L 0.15482 0.03704 L 0.16185 0.02732 L 0.16732 0.02037 L 0.17552 0.01343 L 0.18607 0.00787 L 0.19779 0.00232 L 0.20131 0.00093 L 0.25248 0.00047 " pathEditMode="relative" rAng="0" ptsTypes="AAAAAAAAAAAAAAAAAAAAAA">
                                      <p:cBhvr>
                                        <p:cTn id="14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2" y="-1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2350"/>
                            </p:stCondLst>
                            <p:childTnLst>
                              <p:par>
                                <p:cTn id="144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9" presetClass="emph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2850"/>
                            </p:stCondLst>
                            <p:childTnLst>
                              <p:par>
                                <p:cTn id="155" presetID="63" presetClass="path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33 0.10509 L 0.28359 0.10509 " pathEditMode="relative" rAng="0" ptsTypes="AA">
                                      <p:cBhvr>
                                        <p:cTn id="1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3350"/>
                            </p:stCondLst>
                            <p:childTnLst>
                              <p:par>
                                <p:cTn id="158" presetID="63" presetClass="path" presetSubtype="0" fill="hold" grpId="16" nodeType="after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.25378 -3.7037E-6 L 0.47761 -3.7037E-6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61" presetID="19" presetClass="emph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7" presetID="63" presetClass="path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761 -3.7037E-6 L 0.51979 -3.7037E-6 " pathEditMode="relative" rAng="0" ptsTypes="AA">
                                      <p:cBhvr>
                                        <p:cTn id="1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6500"/>
                            </p:stCondLst>
                            <p:childTnLst>
                              <p:par>
                                <p:cTn id="17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1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9" presetClass="emph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81" presetID="63" presetClass="path" presetSubtype="0" accel="400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79 -3.7037E-6 L 0.55144 -3.7037E-6 " pathEditMode="relative" rAng="0" ptsTypes="AA">
                                      <p:cBhvr>
                                        <p:cTn id="1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5" animBg="1"/>
      <p:bldP spid="40" grpId="6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2" grpId="0" animBg="1"/>
      <p:bldP spid="19" grpId="0" animBg="1"/>
      <p:bldP spid="20" grpId="0" animBg="1"/>
      <p:bldP spid="21" grpId="0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8" grpId="0" animBg="1"/>
      <p:bldP spid="29" grpId="0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37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 rot="10800000">
            <a:off x="3359700" y="1628799"/>
            <a:ext cx="8496300" cy="463520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63500" cmpd="dbl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927935" y="3068958"/>
            <a:ext cx="144016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5368095" y="2348878"/>
            <a:ext cx="1296144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64239" y="2348878"/>
            <a:ext cx="1584176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368095" y="3068958"/>
            <a:ext cx="5760640" cy="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8248415" y="2348878"/>
            <a:ext cx="1440160" cy="720080"/>
          </a:xfrm>
          <a:prstGeom prst="line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6736247" y="4509118"/>
            <a:ext cx="1548000" cy="0"/>
          </a:xfrm>
          <a:prstGeom prst="straightConnector1">
            <a:avLst/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Дуга 22"/>
          <p:cNvSpPr/>
          <p:nvPr/>
        </p:nvSpPr>
        <p:spPr>
          <a:xfrm>
            <a:off x="7384319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Дуга 36"/>
          <p:cNvSpPr/>
          <p:nvPr/>
        </p:nvSpPr>
        <p:spPr>
          <a:xfrm rot="10800000">
            <a:off x="5872151" y="3068958"/>
            <a:ext cx="1872208" cy="1440160"/>
          </a:xfrm>
          <a:prstGeom prst="arc">
            <a:avLst>
              <a:gd name="adj1" fmla="val 16200000"/>
              <a:gd name="adj2" fmla="val 5708336"/>
            </a:avLst>
          </a:prstGeom>
          <a:ln w="63500" cmpd="dbl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4143959" y="299695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8055" y="2773429"/>
            <a:ext cx="144016" cy="14401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872151" y="24208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248566" y="2058492"/>
            <a:ext cx="144016" cy="144016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888375" y="20746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968495" y="2420886"/>
            <a:ext cx="144016" cy="144016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976607" y="2773429"/>
            <a:ext cx="144016" cy="144016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480663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4576007" y="2773429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237306" y="3212974"/>
            <a:ext cx="144016" cy="144016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8103584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535841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952271" y="4221086"/>
            <a:ext cx="144016" cy="14401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5368095" y="3933056"/>
            <a:ext cx="432048" cy="1440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4720023" y="2224610"/>
            <a:ext cx="288032" cy="4843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368095" y="2224610"/>
            <a:ext cx="432048" cy="196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hteck 36"/>
          <p:cNvSpPr>
            <a:spLocks noChangeArrowheads="1"/>
          </p:cNvSpPr>
          <p:nvPr/>
        </p:nvSpPr>
        <p:spPr bwMode="gray">
          <a:xfrm>
            <a:off x="3359378" y="866676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Игрушечная железная дорога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7600343" y="2276870"/>
            <a:ext cx="144016" cy="144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2985CA05-14B9-47C8-9F29-E821514BAD9A}"/>
              </a:ext>
            </a:extLst>
          </p:cNvPr>
          <p:cNvCxnSpPr/>
          <p:nvPr/>
        </p:nvCxnSpPr>
        <p:spPr>
          <a:xfrm flipH="1">
            <a:off x="3927292" y="3231434"/>
            <a:ext cx="216024" cy="12426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3D037667-B768-4F94-963B-53E59C17EB03}"/>
              </a:ext>
            </a:extLst>
          </p:cNvPr>
          <p:cNvSpPr txBox="1"/>
          <p:nvPr/>
        </p:nvSpPr>
        <p:spPr>
          <a:xfrm>
            <a:off x="4475182" y="1907540"/>
            <a:ext cx="21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Данные вне стека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58AD4D8-4653-4972-BD6C-001EA432C5FB}"/>
              </a:ext>
            </a:extLst>
          </p:cNvPr>
          <p:cNvSpPr txBox="1"/>
          <p:nvPr/>
        </p:nvSpPr>
        <p:spPr>
          <a:xfrm>
            <a:off x="3428067" y="3334766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Регистры и данные в стеке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89E7A038-3F83-4424-AD79-A6F8149B975C}"/>
              </a:ext>
            </a:extLst>
          </p:cNvPr>
          <p:cNvSpPr txBox="1"/>
          <p:nvPr/>
        </p:nvSpPr>
        <p:spPr>
          <a:xfrm>
            <a:off x="3791104" y="400680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Исполняемый код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5C99B28-1392-4ACE-83A4-F09F1EA58B9A}"/>
              </a:ext>
            </a:extLst>
          </p:cNvPr>
          <p:cNvSpPr txBox="1"/>
          <p:nvPr/>
        </p:nvSpPr>
        <p:spPr>
          <a:xfrm>
            <a:off x="9911784" y="5147900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30992C7-E64D-48B2-8201-178531907115}"/>
              </a:ext>
            </a:extLst>
          </p:cNvPr>
          <p:cNvSpPr txBox="1"/>
          <p:nvPr/>
        </p:nvSpPr>
        <p:spPr>
          <a:xfrm>
            <a:off x="6851444" y="2349001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Условный переход</a:t>
            </a:r>
          </a:p>
        </p:txBody>
      </p: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xmlns="" id="{E3351B41-BD57-4453-A243-DE815633C644}"/>
              </a:ext>
            </a:extLst>
          </p:cNvPr>
          <p:cNvCxnSpPr/>
          <p:nvPr/>
        </p:nvCxnSpPr>
        <p:spPr>
          <a:xfrm flipH="1">
            <a:off x="5699316" y="2709500"/>
            <a:ext cx="972108" cy="27815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xmlns="" id="{ABB9E071-FEA0-4A1C-8F4E-7F7E11B73213}"/>
              </a:ext>
            </a:extLst>
          </p:cNvPr>
          <p:cNvCxnSpPr/>
          <p:nvPr/>
        </p:nvCxnSpPr>
        <p:spPr>
          <a:xfrm>
            <a:off x="8039576" y="2836146"/>
            <a:ext cx="360040" cy="15151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581E0E5B-2AD9-4FF7-AFA3-B01CC6CFA086}"/>
              </a:ext>
            </a:extLst>
          </p:cNvPr>
          <p:cNvSpPr txBox="1"/>
          <p:nvPr/>
        </p:nvSpPr>
        <p:spPr>
          <a:xfrm>
            <a:off x="7103795" y="3438751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Регистры и данные в стеке</a:t>
            </a:r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xmlns="" id="{4ED8D7AD-405B-4097-8A84-078BD88DF386}"/>
              </a:ext>
            </a:extLst>
          </p:cNvPr>
          <p:cNvCxnSpPr/>
          <p:nvPr/>
        </p:nvCxnSpPr>
        <p:spPr>
          <a:xfrm flipH="1" flipV="1">
            <a:off x="7399768" y="3131674"/>
            <a:ext cx="351777" cy="38646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0B8CFB9A-B0B6-420F-BF92-BD4389716B91}"/>
              </a:ext>
            </a:extLst>
          </p:cNvPr>
          <p:cNvSpPr txBox="1"/>
          <p:nvPr/>
        </p:nvSpPr>
        <p:spPr>
          <a:xfrm>
            <a:off x="7138660" y="1702151"/>
            <a:ext cx="321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Регистры и данные в стеке</a:t>
            </a: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xmlns="" id="{8E36188C-A673-4E42-9172-9B34B24FCE44}"/>
              </a:ext>
            </a:extLst>
          </p:cNvPr>
          <p:cNvCxnSpPr/>
          <p:nvPr/>
        </p:nvCxnSpPr>
        <p:spPr>
          <a:xfrm>
            <a:off x="7674586" y="2065383"/>
            <a:ext cx="0" cy="1499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8043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03555 -3.7037E-6 " pathEditMode="relative" rAng="0" ptsTypes="AA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0FB13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55 -3.7037E-6 L 0.07032 -3.7037E-6 " pathEditMode="relative" rAng="0" ptsTypes="AA">
                                      <p:cBhvr>
                                        <p:cTn id="2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63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32 -3.7037E-6 L 0.25378 -3.7037E-6 " pathEditMode="relative" rAng="0" ptsTypes="AA">
                                      <p:cBhvr>
                                        <p:cTn id="38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23 L 0.02369 0.00023 " pathEditMode="relative" rAng="0" ptsTypes="AA">
                                      <p:cBhvr>
                                        <p:cTn id="7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"/>
                            </p:stCondLst>
                            <p:childTnLst>
                              <p:par>
                                <p:cTn id="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"/>
                            </p:stCondLst>
                            <p:childTnLst>
                              <p:par>
                                <p:cTn id="85" presetID="19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50"/>
                            </p:stCondLst>
                            <p:childTnLst>
                              <p:par>
                                <p:cTn id="91" presetID="0" presetClass="path" presetSubtype="0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48 -0.00023 L 0.34974 0.00047 L 0.36563 0.00741 L 0.37474 0.01366 L 0.38568 0.02477 L 0.39349 0.03588 L 0.40235 0.05186 L 0.40912 0.0713 L 0.41328 0.0963 L 0.41381 0.11366 L 0.41172 0.12963 L 0.40912 0.14491 L 0.40443 0.15394 L 0.39688 0.16991 L 0.38724 0.18519 L 0.37474 0.19699 L 0.36328 0.20602 L 0.35287 0.20811 L 0.33881 0.21088 L 0.32552 0.21019 " pathEditMode="relative" rAng="0" ptsTypes="AAAAAAAAAAAAAAAAAAAA">
                                      <p:cBhvr>
                                        <p:cTn id="9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60" y="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250"/>
                            </p:stCondLst>
                            <p:childTnLst>
                              <p:par>
                                <p:cTn id="94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750"/>
                            </p:stCondLst>
                            <p:childTnLst>
                              <p:par>
                                <p:cTn id="100" presetID="63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69 0.00023 L 0.04726 0.00023 " pathEditMode="relative" rAng="0" ptsTypes="AA">
                                      <p:cBhvr>
                                        <p:cTn id="10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42" presetClass="pat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26 0.00023 L 0.11289 0.05926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1" y="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500"/>
                            </p:stCondLst>
                            <p:childTnLst>
                              <p:par>
                                <p:cTn id="10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17" presetID="35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552 0.21019 L 0.27826 0.20996 " pathEditMode="relative" rAng="0" ptsTypes="AA">
                                      <p:cBhvr>
                                        <p:cTn id="1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FA14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500"/>
                            </p:stCondLst>
                            <p:childTnLst>
                              <p:par>
                                <p:cTn id="131" presetID="42" presetClass="pat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89 0.05926 L 0.16093 0.10509 " pathEditMode="relative" rAng="0" ptsTypes="AA">
                                      <p:cBhvr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000"/>
                            </p:stCondLst>
                            <p:childTnLst>
                              <p:par>
                                <p:cTn id="134" presetID="63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93 0.10509 L 0.19414 0.10509 " pathEditMode="relative" rAng="0" ptsTypes="AA">
                                      <p:cBhvr>
                                        <p:cTn id="135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7350"/>
                            </p:stCondLst>
                            <p:childTnLst>
                              <p:par>
                                <p:cTn id="1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850"/>
                            </p:stCondLst>
                            <p:childTnLst>
                              <p:par>
                                <p:cTn id="143" presetID="35" presetClass="pat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826 0.20996 L 0.23021 0.20996 " pathEditMode="relative" rAng="0" ptsTypes="AA">
                                      <p:cBhvr>
                                        <p:cTn id="1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8850"/>
                            </p:stCondLst>
                            <p:childTnLst>
                              <p:par>
                                <p:cTn id="14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9350"/>
                            </p:stCondLst>
                            <p:childTnLst>
                              <p:par>
                                <p:cTn id="152" presetID="63" presetClass="pat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414 0.10509 L 0.23633 0.10509 " pathEditMode="relative" rAng="0" ptsTypes="AA">
                                      <p:cBhvr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850"/>
                            </p:stCondLst>
                            <p:childTnLst>
                              <p:par>
                                <p:cTn id="155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FA7AF"/>
                                      </p:to>
                                    </p:animClr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A7AF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350"/>
                            </p:stCondLst>
                            <p:childTnLst>
                              <p:par>
                                <p:cTn id="161" presetID="0" presetClass="path" presetSubtype="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099 0.20926 L 0.20756 0.21088 L 0.1974 0.20787 L 0.18216 0.20186 L 0.16654 0.18982 L 0.1556 0.17547 L 0.14466 0.1551 L 0.13881 0.13241 L 0.13646 0.11574 L 0.13607 0.09769 L 0.13724 0.08658 L 0.13959 0.07408 L 0.14349 0.06204 L 0.14779 0.05047 L 0.15482 0.03704 L 0.16185 0.02732 L 0.16732 0.02037 L 0.17552 0.01343 L 0.18607 0.00787 L 0.19779 0.00232 L 0.20131 0.00093 L 0.25248 0.00047 " pathEditMode="relative" rAng="0" ptsTypes="AAAAAAAAAAAAAAAAAAAAAA">
                                      <p:cBhvr>
                                        <p:cTn id="16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2" y="-1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2350"/>
                            </p:stCondLst>
                            <p:childTnLst>
                              <p:par>
                                <p:cTn id="164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2850"/>
                            </p:stCondLst>
                            <p:childTnLst>
                              <p:par>
                                <p:cTn id="175" presetID="63" presetClass="path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33 0.10509 L 0.28359 0.10509 " pathEditMode="relative" rAng="0" ptsTypes="AA">
                                      <p:cBhvr>
                                        <p:cTn id="1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3350"/>
                            </p:stCondLst>
                            <p:childTnLst>
                              <p:par>
                                <p:cTn id="178" presetID="63" presetClass="path" presetSubtype="0" fill="hold" grpId="10" nodeType="after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.25378 -3.7037E-6 L 0.47761 -3.7037E-6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1" presetID="19" presetClass="emph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6000"/>
                            </p:stCondLst>
                            <p:childTnLst>
                              <p:par>
                                <p:cTn id="187" presetID="63" presetClass="path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761 -3.7037E-6 L 0.51979 -3.7037E-6 " pathEditMode="relative" rAng="0" ptsTypes="AA">
                                      <p:cBhvr>
                                        <p:cTn id="1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6500"/>
                            </p:stCondLst>
                            <p:childTnLst>
                              <p:par>
                                <p:cTn id="190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9" presetClass="emph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1AEED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7000"/>
                            </p:stCondLst>
                            <p:childTnLst>
                              <p:par>
                                <p:cTn id="201" presetID="63" presetClass="path" presetSubtype="0" accel="4000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79 -3.7037E-6 L 0.56237 0.00324 " pathEditMode="relative" rAng="0" ptsTypes="AA">
                                      <p:cBhvr>
                                        <p:cTn id="20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2" grpId="0" animBg="1"/>
      <p:bldP spid="19" grpId="0" animBg="1"/>
      <p:bldP spid="20" grpId="0" animBg="1"/>
      <p:bldP spid="21" grpId="0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8" grpId="0" animBg="1"/>
      <p:bldP spid="29" grpId="0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8" grpId="0"/>
      <p:bldP spid="45" grpId="0"/>
      <p:bldP spid="45" grpId="1"/>
      <p:bldP spid="47" grpId="0"/>
      <p:bldP spid="4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5"/>
          <p:cNvSpPr>
            <a:spLocks noChangeArrowheads="1"/>
          </p:cNvSpPr>
          <p:nvPr/>
        </p:nvSpPr>
        <p:spPr bwMode="auto">
          <a:xfrm>
            <a:off x="2991000" y="1268760"/>
            <a:ext cx="8865000" cy="499524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261348" y="2314328"/>
            <a:ext cx="2376042" cy="682625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Системный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 контекст нити</a:t>
            </a:r>
          </a:p>
        </p:txBody>
      </p:sp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3261348" y="1629124"/>
            <a:ext cx="2376041" cy="682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Системный</a:t>
            </a:r>
          </a:p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контекст</a:t>
            </a:r>
          </a:p>
        </p:txBody>
      </p:sp>
      <p:sp>
        <p:nvSpPr>
          <p:cNvPr id="23" name="Rectangle 31"/>
          <p:cNvSpPr>
            <a:spLocks noChangeArrowheads="1"/>
          </p:cNvSpPr>
          <p:nvPr/>
        </p:nvSpPr>
        <p:spPr bwMode="auto">
          <a:xfrm>
            <a:off x="3261000" y="1628801"/>
            <a:ext cx="2376836" cy="13684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Системный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контекст</a:t>
            </a:r>
          </a:p>
        </p:txBody>
      </p:sp>
      <p:sp>
        <p:nvSpPr>
          <p:cNvPr id="19" name="Rectangle 29"/>
          <p:cNvSpPr>
            <a:spLocks noChangeArrowheads="1"/>
          </p:cNvSpPr>
          <p:nvPr/>
        </p:nvSpPr>
        <p:spPr bwMode="auto">
          <a:xfrm>
            <a:off x="3261348" y="4113561"/>
            <a:ext cx="2376042" cy="682625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Код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Данные вне стека</a:t>
            </a:r>
          </a:p>
        </p:txBody>
      </p:sp>
      <p:sp>
        <p:nvSpPr>
          <p:cNvPr id="47" name="Rectangle 47"/>
          <p:cNvSpPr>
            <a:spLocks noChangeArrowheads="1"/>
          </p:cNvSpPr>
          <p:nvPr/>
        </p:nvSpPr>
        <p:spPr bwMode="auto">
          <a:xfrm>
            <a:off x="3261350" y="4789045"/>
            <a:ext cx="2376041" cy="682625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Стек</a:t>
            </a:r>
          </a:p>
        </p:txBody>
      </p:sp>
      <p:sp>
        <p:nvSpPr>
          <p:cNvPr id="24" name="Rectangle 32"/>
          <p:cNvSpPr>
            <a:spLocks noChangeArrowheads="1"/>
          </p:cNvSpPr>
          <p:nvPr/>
        </p:nvSpPr>
        <p:spPr bwMode="auto">
          <a:xfrm>
            <a:off x="3261000" y="4104832"/>
            <a:ext cx="2376390" cy="13684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Код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Данные вне стека</a:t>
            </a:r>
          </a:p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Стек</a:t>
            </a:r>
          </a:p>
        </p:txBody>
      </p:sp>
      <p:sp>
        <p:nvSpPr>
          <p:cNvPr id="45" name="Rectangle 28"/>
          <p:cNvSpPr>
            <a:spLocks noChangeArrowheads="1"/>
          </p:cNvSpPr>
          <p:nvPr/>
        </p:nvSpPr>
        <p:spPr bwMode="auto">
          <a:xfrm>
            <a:off x="3261348" y="3212977"/>
            <a:ext cx="2376488" cy="682625"/>
          </a:xfrm>
          <a:prstGeom prst="rect">
            <a:avLst/>
          </a:prstGeom>
          <a:gradFill>
            <a:gsLst>
              <a:gs pos="0">
                <a:srgbClr val="F58427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Регистровый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 контекст</a:t>
            </a:r>
          </a:p>
        </p:txBody>
      </p:sp>
      <p:sp>
        <p:nvSpPr>
          <p:cNvPr id="18" name="Rectangle 28"/>
          <p:cNvSpPr>
            <a:spLocks noChangeArrowheads="1"/>
          </p:cNvSpPr>
          <p:nvPr/>
        </p:nvSpPr>
        <p:spPr bwMode="auto">
          <a:xfrm>
            <a:off x="3261348" y="3213449"/>
            <a:ext cx="2376042" cy="682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Регистровый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 контекст</a:t>
            </a:r>
          </a:p>
        </p:txBody>
      </p:sp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8381288" y="1268761"/>
            <a:ext cx="20161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Процесс</a:t>
            </a:r>
          </a:p>
        </p:txBody>
      </p:sp>
      <p:sp>
        <p:nvSpPr>
          <p:cNvPr id="35" name="AutoShape 37"/>
          <p:cNvSpPr>
            <a:spLocks noChangeArrowheads="1"/>
          </p:cNvSpPr>
          <p:nvPr/>
        </p:nvSpPr>
        <p:spPr bwMode="auto">
          <a:xfrm>
            <a:off x="5896701" y="2168873"/>
            <a:ext cx="2844950" cy="3195127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6185776" y="4873890"/>
            <a:ext cx="23764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Нить исполнения</a:t>
            </a:r>
          </a:p>
        </p:txBody>
      </p:sp>
      <p:sp>
        <p:nvSpPr>
          <p:cNvPr id="37" name="AutoShape 42"/>
          <p:cNvSpPr>
            <a:spLocks noChangeArrowheads="1"/>
          </p:cNvSpPr>
          <p:nvPr/>
        </p:nvSpPr>
        <p:spPr bwMode="auto">
          <a:xfrm>
            <a:off x="8895738" y="2170459"/>
            <a:ext cx="2798412" cy="3196800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44"/>
          <p:cNvSpPr txBox="1">
            <a:spLocks noChangeArrowheads="1"/>
          </p:cNvSpPr>
          <p:nvPr/>
        </p:nvSpPr>
        <p:spPr bwMode="auto">
          <a:xfrm>
            <a:off x="9110050" y="4869210"/>
            <a:ext cx="23764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Нить исполнения</a:t>
            </a: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9156000" y="2313336"/>
            <a:ext cx="2268000" cy="682625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Системный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 контекст нити</a:t>
            </a:r>
          </a:p>
        </p:txBody>
      </p:sp>
      <p:sp>
        <p:nvSpPr>
          <p:cNvPr id="40" name="Rectangle 46"/>
          <p:cNvSpPr>
            <a:spLocks noChangeArrowheads="1"/>
          </p:cNvSpPr>
          <p:nvPr/>
        </p:nvSpPr>
        <p:spPr bwMode="auto">
          <a:xfrm>
            <a:off x="9157587" y="3213449"/>
            <a:ext cx="2232000" cy="682625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Регистровый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 контекст</a:t>
            </a:r>
          </a:p>
        </p:txBody>
      </p:sp>
      <p:sp>
        <p:nvSpPr>
          <p:cNvPr id="41" name="Rectangle 47"/>
          <p:cNvSpPr>
            <a:spLocks noChangeArrowheads="1"/>
          </p:cNvSpPr>
          <p:nvPr/>
        </p:nvSpPr>
        <p:spPr bwMode="auto">
          <a:xfrm>
            <a:off x="9157587" y="4148486"/>
            <a:ext cx="2232000" cy="682625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Стек</a:t>
            </a:r>
          </a:p>
        </p:txBody>
      </p:sp>
      <p:cxnSp>
        <p:nvCxnSpPr>
          <p:cNvPr id="42" name="AutoShape 48"/>
          <p:cNvCxnSpPr>
            <a:cxnSpLocks noChangeShapeType="1"/>
          </p:cNvCxnSpPr>
          <p:nvPr/>
        </p:nvCxnSpPr>
        <p:spPr bwMode="auto">
          <a:xfrm rot="5400000" flipH="1" flipV="1">
            <a:off x="8793285" y="3940054"/>
            <a:ext cx="4680" cy="2843212"/>
          </a:xfrm>
          <a:prstGeom prst="curvedConnector3">
            <a:avLst>
              <a:gd name="adj1" fmla="val -488461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 Box 49"/>
          <p:cNvSpPr txBox="1">
            <a:spLocks noChangeArrowheads="1"/>
          </p:cNvSpPr>
          <p:nvPr/>
        </p:nvSpPr>
        <p:spPr bwMode="auto">
          <a:xfrm>
            <a:off x="6895700" y="5593890"/>
            <a:ext cx="1765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parent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Text Box 51"/>
          <p:cNvSpPr txBox="1">
            <a:spLocks noChangeArrowheads="1"/>
          </p:cNvSpPr>
          <p:nvPr/>
        </p:nvSpPr>
        <p:spPr bwMode="auto">
          <a:xfrm>
            <a:off x="9910700" y="5593890"/>
            <a:ext cx="1765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child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_h1">
            <a:extLst>
              <a:ext uri="{FF2B5EF4-FFF2-40B4-BE49-F238E27FC236}">
                <a16:creationId xmlns:a16="http://schemas.microsoft.com/office/drawing/2014/main" xmlns="" id="{7059142E-C723-47DA-89DB-EDC6BDD19F5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59378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23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11 0.00277 L 0.23477 0.00139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7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23477 -0.09954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32" y="-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0.23477 0.01412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32" y="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17" grpId="0" animBg="1"/>
      <p:bldP spid="23" grpId="0" animBg="1"/>
      <p:bldP spid="23" grpId="1" animBg="1"/>
      <p:bldP spid="19" grpId="0" animBg="1"/>
      <p:bldP spid="47" grpId="0" animBg="1"/>
      <p:bldP spid="47" grpId="1" animBg="1"/>
      <p:bldP spid="24" grpId="0" animBg="1"/>
      <p:bldP spid="24" grpId="1" animBg="1"/>
      <p:bldP spid="45" grpId="0" animBg="1"/>
      <p:bldP spid="45" grpId="1" animBg="1"/>
      <p:bldP spid="18" grpId="0" animBg="1"/>
      <p:bldP spid="18" grpId="2" animBg="1"/>
      <p:bldP spid="35" grpId="0" animBg="1"/>
      <p:bldP spid="36" grpId="0"/>
      <p:bldP spid="37" grpId="0" animBg="1"/>
      <p:bldP spid="38" grpId="0"/>
      <p:bldP spid="39" grpId="0" animBg="1"/>
      <p:bldP spid="40" grpId="0" animBg="1"/>
      <p:bldP spid="41" grpId="0" animBg="1"/>
      <p:bldP spid="4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3603012" y="1124745"/>
            <a:ext cx="8027988" cy="503872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7328875" y="1207096"/>
            <a:ext cx="23399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Процесс</a:t>
            </a: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495063" y="1412082"/>
            <a:ext cx="2339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2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4431688" y="2420145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 flipH="1">
            <a:off x="4395176" y="2709070"/>
            <a:ext cx="395287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4395176" y="2961483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 flipH="1">
            <a:off x="4358662" y="3248820"/>
            <a:ext cx="395288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4358663" y="3501233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 flipH="1">
            <a:off x="4323737" y="3788570"/>
            <a:ext cx="395288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423626" y="4185444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sp>
        <p:nvSpPr>
          <p:cNvPr id="48" name="Line 38"/>
          <p:cNvSpPr>
            <a:spLocks noChangeShapeType="1"/>
          </p:cNvSpPr>
          <p:nvPr/>
        </p:nvSpPr>
        <p:spPr bwMode="auto">
          <a:xfrm>
            <a:off x="6268426" y="2385220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Line 39"/>
          <p:cNvSpPr>
            <a:spLocks noChangeShapeType="1"/>
          </p:cNvSpPr>
          <p:nvPr/>
        </p:nvSpPr>
        <p:spPr bwMode="auto">
          <a:xfrm flipH="1">
            <a:off x="6231912" y="2674145"/>
            <a:ext cx="395288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6231913" y="2924970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Line 41"/>
          <p:cNvSpPr>
            <a:spLocks noChangeShapeType="1"/>
          </p:cNvSpPr>
          <p:nvPr/>
        </p:nvSpPr>
        <p:spPr bwMode="auto">
          <a:xfrm flipH="1">
            <a:off x="6195401" y="3212307"/>
            <a:ext cx="395287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Line 42"/>
          <p:cNvSpPr>
            <a:spLocks noChangeShapeType="1"/>
          </p:cNvSpPr>
          <p:nvPr/>
        </p:nvSpPr>
        <p:spPr bwMode="auto">
          <a:xfrm>
            <a:off x="6195401" y="3464720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 flipH="1">
            <a:off x="6158887" y="3753645"/>
            <a:ext cx="395288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Line 44"/>
          <p:cNvSpPr>
            <a:spLocks noChangeShapeType="1"/>
          </p:cNvSpPr>
          <p:nvPr/>
        </p:nvSpPr>
        <p:spPr bwMode="auto">
          <a:xfrm>
            <a:off x="6268426" y="4364833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Line 45"/>
          <p:cNvSpPr>
            <a:spLocks noChangeShapeType="1"/>
          </p:cNvSpPr>
          <p:nvPr/>
        </p:nvSpPr>
        <p:spPr bwMode="auto">
          <a:xfrm flipH="1">
            <a:off x="6231912" y="4653757"/>
            <a:ext cx="395288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Line 46"/>
          <p:cNvSpPr>
            <a:spLocks noChangeShapeType="1"/>
          </p:cNvSpPr>
          <p:nvPr/>
        </p:nvSpPr>
        <p:spPr bwMode="auto">
          <a:xfrm>
            <a:off x="6231913" y="4904583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Line 47"/>
          <p:cNvSpPr>
            <a:spLocks noChangeShapeType="1"/>
          </p:cNvSpPr>
          <p:nvPr/>
        </p:nvSpPr>
        <p:spPr bwMode="auto">
          <a:xfrm flipH="1">
            <a:off x="6195401" y="5193507"/>
            <a:ext cx="395287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Line 48"/>
          <p:cNvSpPr>
            <a:spLocks noChangeShapeType="1"/>
          </p:cNvSpPr>
          <p:nvPr/>
        </p:nvSpPr>
        <p:spPr bwMode="auto">
          <a:xfrm>
            <a:off x="6195401" y="5445920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Line 49"/>
          <p:cNvSpPr>
            <a:spLocks noChangeShapeType="1"/>
          </p:cNvSpPr>
          <p:nvPr/>
        </p:nvSpPr>
        <p:spPr bwMode="auto">
          <a:xfrm flipH="1">
            <a:off x="6158887" y="5733257"/>
            <a:ext cx="395288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Line 50"/>
          <p:cNvSpPr>
            <a:spLocks noChangeShapeType="1"/>
          </p:cNvSpPr>
          <p:nvPr/>
        </p:nvSpPr>
        <p:spPr bwMode="auto">
          <a:xfrm>
            <a:off x="8176601" y="2456658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Line 51"/>
          <p:cNvSpPr>
            <a:spLocks noChangeShapeType="1"/>
          </p:cNvSpPr>
          <p:nvPr/>
        </p:nvSpPr>
        <p:spPr bwMode="auto">
          <a:xfrm flipH="1">
            <a:off x="8140087" y="2745582"/>
            <a:ext cx="395288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Line 52"/>
          <p:cNvSpPr>
            <a:spLocks noChangeShapeType="1"/>
          </p:cNvSpPr>
          <p:nvPr/>
        </p:nvSpPr>
        <p:spPr bwMode="auto">
          <a:xfrm>
            <a:off x="8140088" y="2996408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Line 53"/>
          <p:cNvSpPr>
            <a:spLocks noChangeShapeType="1"/>
          </p:cNvSpPr>
          <p:nvPr/>
        </p:nvSpPr>
        <p:spPr bwMode="auto">
          <a:xfrm flipH="1">
            <a:off x="8103576" y="3285332"/>
            <a:ext cx="395287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Line 54"/>
          <p:cNvSpPr>
            <a:spLocks noChangeShapeType="1"/>
          </p:cNvSpPr>
          <p:nvPr/>
        </p:nvSpPr>
        <p:spPr bwMode="auto">
          <a:xfrm>
            <a:off x="8068651" y="3536158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Line 55"/>
          <p:cNvSpPr>
            <a:spLocks noChangeShapeType="1"/>
          </p:cNvSpPr>
          <p:nvPr/>
        </p:nvSpPr>
        <p:spPr bwMode="auto">
          <a:xfrm flipH="1">
            <a:off x="8067062" y="3825082"/>
            <a:ext cx="395288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Line 56"/>
          <p:cNvSpPr>
            <a:spLocks noChangeShapeType="1"/>
          </p:cNvSpPr>
          <p:nvPr/>
        </p:nvSpPr>
        <p:spPr bwMode="auto">
          <a:xfrm>
            <a:off x="10084776" y="2456658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Line 57"/>
          <p:cNvSpPr>
            <a:spLocks noChangeShapeType="1"/>
          </p:cNvSpPr>
          <p:nvPr/>
        </p:nvSpPr>
        <p:spPr bwMode="auto">
          <a:xfrm flipH="1">
            <a:off x="10048262" y="2745582"/>
            <a:ext cx="395288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Line 58"/>
          <p:cNvSpPr>
            <a:spLocks noChangeShapeType="1"/>
          </p:cNvSpPr>
          <p:nvPr/>
        </p:nvSpPr>
        <p:spPr bwMode="auto">
          <a:xfrm>
            <a:off x="10048263" y="2996408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Line 59"/>
          <p:cNvSpPr>
            <a:spLocks noChangeShapeType="1"/>
          </p:cNvSpPr>
          <p:nvPr/>
        </p:nvSpPr>
        <p:spPr bwMode="auto">
          <a:xfrm flipH="1">
            <a:off x="10011751" y="3285332"/>
            <a:ext cx="395287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Line 60"/>
          <p:cNvSpPr>
            <a:spLocks noChangeShapeType="1"/>
          </p:cNvSpPr>
          <p:nvPr/>
        </p:nvSpPr>
        <p:spPr bwMode="auto">
          <a:xfrm>
            <a:off x="10011751" y="3536158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Line 61"/>
          <p:cNvSpPr>
            <a:spLocks noChangeShapeType="1"/>
          </p:cNvSpPr>
          <p:nvPr/>
        </p:nvSpPr>
        <p:spPr bwMode="auto">
          <a:xfrm flipH="1">
            <a:off x="9975237" y="3825082"/>
            <a:ext cx="395288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Line 62"/>
          <p:cNvSpPr>
            <a:spLocks noChangeShapeType="1"/>
          </p:cNvSpPr>
          <p:nvPr/>
        </p:nvSpPr>
        <p:spPr bwMode="auto">
          <a:xfrm>
            <a:off x="8068651" y="4401345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Line 63"/>
          <p:cNvSpPr>
            <a:spLocks noChangeShapeType="1"/>
          </p:cNvSpPr>
          <p:nvPr/>
        </p:nvSpPr>
        <p:spPr bwMode="auto">
          <a:xfrm flipH="1">
            <a:off x="8032137" y="4690270"/>
            <a:ext cx="395288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Line 64"/>
          <p:cNvSpPr>
            <a:spLocks noChangeShapeType="1"/>
          </p:cNvSpPr>
          <p:nvPr/>
        </p:nvSpPr>
        <p:spPr bwMode="auto">
          <a:xfrm>
            <a:off x="8032138" y="4941095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Line 65"/>
          <p:cNvSpPr>
            <a:spLocks noChangeShapeType="1"/>
          </p:cNvSpPr>
          <p:nvPr/>
        </p:nvSpPr>
        <p:spPr bwMode="auto">
          <a:xfrm flipH="1">
            <a:off x="7995626" y="5228432"/>
            <a:ext cx="395287" cy="252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Line 66"/>
          <p:cNvSpPr>
            <a:spLocks noChangeShapeType="1"/>
          </p:cNvSpPr>
          <p:nvPr/>
        </p:nvSpPr>
        <p:spPr bwMode="auto">
          <a:xfrm>
            <a:off x="7995626" y="5480845"/>
            <a:ext cx="358775" cy="28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Line 67"/>
          <p:cNvSpPr>
            <a:spLocks noChangeShapeType="1"/>
          </p:cNvSpPr>
          <p:nvPr/>
        </p:nvSpPr>
        <p:spPr bwMode="auto">
          <a:xfrm flipH="1">
            <a:off x="7959112" y="5769770"/>
            <a:ext cx="395288" cy="252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ru-RU" sz="2000" dirty="0">
              <a:solidFill>
                <a:srgbClr val="0033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Text Box 69"/>
          <p:cNvSpPr txBox="1">
            <a:spLocks noChangeArrowheads="1"/>
          </p:cNvSpPr>
          <p:nvPr/>
        </p:nvSpPr>
        <p:spPr bwMode="auto">
          <a:xfrm>
            <a:off x="3531576" y="1412082"/>
            <a:ext cx="2339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2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sp>
        <p:nvSpPr>
          <p:cNvPr id="79" name="Text Box 70"/>
          <p:cNvSpPr txBox="1">
            <a:spLocks noChangeArrowheads="1"/>
          </p:cNvSpPr>
          <p:nvPr/>
        </p:nvSpPr>
        <p:spPr bwMode="auto">
          <a:xfrm>
            <a:off x="5366726" y="1766143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sp>
        <p:nvSpPr>
          <p:cNvPr id="80" name="Text Box 71"/>
          <p:cNvSpPr txBox="1">
            <a:spLocks noChangeArrowheads="1"/>
          </p:cNvSpPr>
          <p:nvPr/>
        </p:nvSpPr>
        <p:spPr bwMode="auto">
          <a:xfrm>
            <a:off x="4287226" y="5228432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81" name="Text Box 73"/>
          <p:cNvSpPr txBox="1">
            <a:spLocks noChangeArrowheads="1"/>
          </p:cNvSpPr>
          <p:nvPr/>
        </p:nvSpPr>
        <p:spPr bwMode="auto">
          <a:xfrm>
            <a:off x="9256101" y="4083794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Закончила</a:t>
            </a:r>
            <a:b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82" name="Text Box 74"/>
          <p:cNvSpPr txBox="1">
            <a:spLocks noChangeArrowheads="1"/>
          </p:cNvSpPr>
          <p:nvPr/>
        </p:nvSpPr>
        <p:spPr bwMode="auto">
          <a:xfrm>
            <a:off x="8049098" y="5120482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sp>
        <p:nvSpPr>
          <p:cNvPr id="83" name="Text Box 76"/>
          <p:cNvSpPr txBox="1">
            <a:spLocks noChangeArrowheads="1"/>
          </p:cNvSpPr>
          <p:nvPr/>
        </p:nvSpPr>
        <p:spPr bwMode="auto">
          <a:xfrm>
            <a:off x="7311413" y="1800513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sp>
        <p:nvSpPr>
          <p:cNvPr id="84" name="Text Box 78"/>
          <p:cNvSpPr txBox="1">
            <a:spLocks noChangeArrowheads="1"/>
          </p:cNvSpPr>
          <p:nvPr/>
        </p:nvSpPr>
        <p:spPr bwMode="auto">
          <a:xfrm>
            <a:off x="5366825" y="1766143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85" name="Text Box 79"/>
          <p:cNvSpPr txBox="1">
            <a:spLocks noChangeArrowheads="1"/>
          </p:cNvSpPr>
          <p:nvPr/>
        </p:nvSpPr>
        <p:spPr bwMode="auto">
          <a:xfrm>
            <a:off x="8319073" y="5120482"/>
            <a:ext cx="1692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86" name="Text Box 80"/>
          <p:cNvSpPr txBox="1">
            <a:spLocks noChangeArrowheads="1"/>
          </p:cNvSpPr>
          <p:nvPr/>
        </p:nvSpPr>
        <p:spPr bwMode="auto">
          <a:xfrm>
            <a:off x="7203463" y="1800513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87" name="Text Box 82"/>
          <p:cNvSpPr txBox="1">
            <a:spLocks noChangeArrowheads="1"/>
          </p:cNvSpPr>
          <p:nvPr/>
        </p:nvSpPr>
        <p:spPr bwMode="auto">
          <a:xfrm>
            <a:off x="3350601" y="4185444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88" name="Text Box 84"/>
          <p:cNvSpPr txBox="1">
            <a:spLocks noChangeArrowheads="1"/>
          </p:cNvSpPr>
          <p:nvPr/>
        </p:nvSpPr>
        <p:spPr bwMode="auto">
          <a:xfrm>
            <a:off x="3458551" y="1412082"/>
            <a:ext cx="2339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89" name="Text Box 86"/>
          <p:cNvSpPr txBox="1">
            <a:spLocks noChangeArrowheads="1"/>
          </p:cNvSpPr>
          <p:nvPr/>
        </p:nvSpPr>
        <p:spPr bwMode="auto">
          <a:xfrm>
            <a:off x="7311413" y="1764000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Закончила</a:t>
            </a:r>
            <a:b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90" name="Text Box 87"/>
          <p:cNvSpPr txBox="1">
            <a:spLocks noChangeArrowheads="1"/>
          </p:cNvSpPr>
          <p:nvPr/>
        </p:nvSpPr>
        <p:spPr bwMode="auto">
          <a:xfrm>
            <a:off x="5366726" y="1737519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Закончила</a:t>
            </a:r>
            <a:b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91" name="Text Box 88"/>
          <p:cNvSpPr txBox="1">
            <a:spLocks noChangeArrowheads="1"/>
          </p:cNvSpPr>
          <p:nvPr/>
        </p:nvSpPr>
        <p:spPr bwMode="auto">
          <a:xfrm>
            <a:off x="3387113" y="4191794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Закончила</a:t>
            </a:r>
            <a:b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92" name="Text Box 89"/>
          <p:cNvSpPr txBox="1">
            <a:spLocks noChangeArrowheads="1"/>
          </p:cNvSpPr>
          <p:nvPr/>
        </p:nvSpPr>
        <p:spPr bwMode="auto">
          <a:xfrm rot="10800000" flipV="1">
            <a:off x="4250713" y="5195164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Закончила</a:t>
            </a:r>
            <a:b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93" name="Text Box 90"/>
          <p:cNvSpPr txBox="1">
            <a:spLocks noChangeArrowheads="1"/>
          </p:cNvSpPr>
          <p:nvPr/>
        </p:nvSpPr>
        <p:spPr bwMode="auto">
          <a:xfrm>
            <a:off x="8049098" y="5106114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Закончила</a:t>
            </a:r>
            <a:b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94" name="Text Box 91"/>
          <p:cNvSpPr txBox="1">
            <a:spLocks noChangeArrowheads="1"/>
          </p:cNvSpPr>
          <p:nvPr/>
        </p:nvSpPr>
        <p:spPr bwMode="auto">
          <a:xfrm>
            <a:off x="3387113" y="1420019"/>
            <a:ext cx="23399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Закончил</a:t>
            </a:r>
            <a:br>
              <a:rPr lang="ru-RU" sz="2000" dirty="0"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 исполнение</a:t>
            </a:r>
          </a:p>
        </p:txBody>
      </p:sp>
      <p:sp>
        <p:nvSpPr>
          <p:cNvPr id="95" name="_h1">
            <a:extLst>
              <a:ext uri="{FF2B5EF4-FFF2-40B4-BE49-F238E27FC236}">
                <a16:creationId xmlns:a16="http://schemas.microsoft.com/office/drawing/2014/main" xmlns="" id="{55FBCC6E-B0C8-474D-9A35-2FF1A8A86AD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59378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98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7" grpId="1"/>
      <p:bldP spid="34" grpId="0"/>
      <p:bldP spid="34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  <p:bldP spid="86" grpId="0"/>
      <p:bldP spid="86" grpId="1"/>
      <p:bldP spid="86" grpId="2"/>
      <p:bldP spid="86" grpId="3"/>
      <p:bldP spid="87" grpId="0"/>
      <p:bldP spid="87" grpId="1"/>
      <p:bldP spid="88" grpId="0"/>
      <p:bldP spid="88" grpId="1"/>
      <p:bldP spid="89" grpId="0"/>
      <p:bldP spid="90" grpId="0"/>
      <p:bldP spid="91" grpId="0"/>
      <p:bldP spid="92" grpId="0"/>
      <p:bldP spid="93" grpId="0"/>
      <p:bldP spid="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37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Нити исполнения (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threads)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59700" y="980728"/>
            <a:ext cx="8496300" cy="55532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3719741" y="257889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A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4"/>
          <p:cNvSpPr txBox="1">
            <a:spLocks noChangeArrowheads="1"/>
          </p:cNvSpPr>
          <p:nvPr/>
        </p:nvSpPr>
        <p:spPr bwMode="auto">
          <a:xfrm>
            <a:off x="3611791" y="3793890"/>
            <a:ext cx="2844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C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9371241" y="4648890"/>
            <a:ext cx="17637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kern="0" dirty="0">
                <a:latin typeface="Arial" pitchFamily="34" charset="0"/>
                <a:cs typeface="Arial" pitchFamily="34" charset="0"/>
              </a:rPr>
              <a:t>A=A+B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 Box 6"/>
          <p:cNvSpPr txBox="1">
            <a:spLocks noChangeArrowheads="1"/>
          </p:cNvSpPr>
          <p:nvPr/>
        </p:nvSpPr>
        <p:spPr bwMode="auto">
          <a:xfrm>
            <a:off x="4078517" y="5049000"/>
            <a:ext cx="19081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kern="0" dirty="0">
                <a:latin typeface="Arial" pitchFamily="34" charset="0"/>
                <a:cs typeface="Arial" pitchFamily="34" charset="0"/>
              </a:rPr>
              <a:t>C=A+C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7"/>
          <p:cNvSpPr txBox="1">
            <a:spLocks noChangeArrowheads="1"/>
          </p:cNvSpPr>
          <p:nvPr/>
        </p:nvSpPr>
        <p:spPr bwMode="auto">
          <a:xfrm>
            <a:off x="3719741" y="284889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Ожидание ввода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A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8"/>
          <p:cNvSpPr txBox="1">
            <a:spLocks noChangeArrowheads="1"/>
          </p:cNvSpPr>
          <p:nvPr/>
        </p:nvSpPr>
        <p:spPr bwMode="auto">
          <a:xfrm>
            <a:off x="3719741" y="315900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Ввести массив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B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 Box 9"/>
          <p:cNvSpPr txBox="1">
            <a:spLocks noChangeArrowheads="1"/>
          </p:cNvSpPr>
          <p:nvPr/>
        </p:nvSpPr>
        <p:spPr bwMode="auto">
          <a:xfrm>
            <a:off x="3718153" y="347889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Ожидание ввода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 B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 Box 10"/>
          <p:cNvSpPr txBox="1">
            <a:spLocks noChangeArrowheads="1"/>
          </p:cNvSpPr>
          <p:nvPr/>
        </p:nvSpPr>
        <p:spPr bwMode="auto">
          <a:xfrm>
            <a:off x="3719741" y="410889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Ожидание ввода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 C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 Box 11"/>
          <p:cNvSpPr txBox="1">
            <a:spLocks noChangeArrowheads="1"/>
          </p:cNvSpPr>
          <p:nvPr/>
        </p:nvSpPr>
        <p:spPr bwMode="auto">
          <a:xfrm>
            <a:off x="3791178" y="1081800"/>
            <a:ext cx="2628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400" kern="0" dirty="0">
                <a:latin typeface="Arial" pitchFamily="34" charset="0"/>
                <a:cs typeface="Arial" pitchFamily="34" charset="0"/>
              </a:rPr>
              <a:t>Нить 1</a:t>
            </a:r>
          </a:p>
        </p:txBody>
      </p:sp>
      <p:sp>
        <p:nvSpPr>
          <p:cNvPr id="64" name="Text Box 12"/>
          <p:cNvSpPr txBox="1">
            <a:spLocks noChangeArrowheads="1"/>
          </p:cNvSpPr>
          <p:nvPr/>
        </p:nvSpPr>
        <p:spPr bwMode="auto">
          <a:xfrm>
            <a:off x="8794978" y="1045287"/>
            <a:ext cx="2628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400" kern="0" dirty="0">
                <a:latin typeface="Arial" pitchFamily="34" charset="0"/>
                <a:cs typeface="Arial" pitchFamily="34" charset="0"/>
              </a:rPr>
              <a:t>Нить </a:t>
            </a:r>
            <a:r>
              <a:rPr lang="en-US" sz="2400" kern="0" dirty="0">
                <a:latin typeface="Arial" pitchFamily="34" charset="0"/>
                <a:cs typeface="Arial" pitchFamily="34" charset="0"/>
              </a:rPr>
              <a:t>2</a:t>
            </a:r>
            <a:endParaRPr lang="ru-RU" sz="24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8794978" y="2128890"/>
            <a:ext cx="29525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Ожидание ввода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A </a:t>
            </a:r>
            <a:r>
              <a:rPr lang="ru-RU" sz="2000" kern="0" dirty="0">
                <a:latin typeface="Arial" pitchFamily="34" charset="0"/>
                <a:cs typeface="Arial" pitchFamily="34" charset="0"/>
              </a:rPr>
              <a:t>и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 B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Text Box 14"/>
          <p:cNvSpPr txBox="1">
            <a:spLocks noChangeArrowheads="1"/>
          </p:cNvSpPr>
          <p:nvPr/>
        </p:nvSpPr>
        <p:spPr bwMode="auto">
          <a:xfrm>
            <a:off x="3791178" y="162900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Создание нити 2</a:t>
            </a:r>
          </a:p>
        </p:txBody>
      </p:sp>
      <p:sp>
        <p:nvSpPr>
          <p:cNvPr id="67" name="Text Box 15"/>
          <p:cNvSpPr txBox="1">
            <a:spLocks noChangeArrowheads="1"/>
          </p:cNvSpPr>
          <p:nvPr/>
        </p:nvSpPr>
        <p:spPr bwMode="auto">
          <a:xfrm>
            <a:off x="5965341" y="1888899"/>
            <a:ext cx="3249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kern="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68" name="Text Box 16"/>
          <p:cNvSpPr txBox="1">
            <a:spLocks noChangeArrowheads="1"/>
          </p:cNvSpPr>
          <p:nvPr/>
        </p:nvSpPr>
        <p:spPr bwMode="auto">
          <a:xfrm>
            <a:off x="5965341" y="2349276"/>
            <a:ext cx="3249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kern="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69" name="Text Box 17"/>
          <p:cNvSpPr txBox="1">
            <a:spLocks noChangeArrowheads="1"/>
          </p:cNvSpPr>
          <p:nvPr/>
        </p:nvSpPr>
        <p:spPr bwMode="auto">
          <a:xfrm>
            <a:off x="5986691" y="4423890"/>
            <a:ext cx="3249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kern="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70" name="Text Box 18"/>
          <p:cNvSpPr txBox="1">
            <a:spLocks noChangeArrowheads="1"/>
          </p:cNvSpPr>
          <p:nvPr/>
        </p:nvSpPr>
        <p:spPr bwMode="auto">
          <a:xfrm>
            <a:off x="6037879" y="4828890"/>
            <a:ext cx="31769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kern="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Переключение контекста</a:t>
            </a:r>
          </a:p>
        </p:txBody>
      </p:sp>
      <p:sp>
        <p:nvSpPr>
          <p:cNvPr id="71" name="Text Box 19"/>
          <p:cNvSpPr txBox="1">
            <a:spLocks noChangeArrowheads="1"/>
          </p:cNvSpPr>
          <p:nvPr/>
        </p:nvSpPr>
        <p:spPr bwMode="auto">
          <a:xfrm>
            <a:off x="3974096" y="5368890"/>
            <a:ext cx="2413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Вывести массив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C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Text Box 20"/>
          <p:cNvSpPr txBox="1">
            <a:spLocks noChangeArrowheads="1"/>
          </p:cNvSpPr>
          <p:nvPr/>
        </p:nvSpPr>
        <p:spPr bwMode="auto">
          <a:xfrm>
            <a:off x="3866146" y="5683890"/>
            <a:ext cx="2628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000" kern="0" dirty="0">
                <a:latin typeface="Arial" pitchFamily="34" charset="0"/>
                <a:cs typeface="Arial" pitchFamily="34" charset="0"/>
              </a:rPr>
              <a:t>Ожидание вывода </a:t>
            </a:r>
            <a:r>
              <a:rPr lang="en-US" sz="2000" kern="0" dirty="0">
                <a:latin typeface="Arial" pitchFamily="34" charset="0"/>
                <a:cs typeface="Arial" pitchFamily="34" charset="0"/>
              </a:rPr>
              <a:t>C</a:t>
            </a:r>
            <a:endParaRPr lang="ru-RU" sz="2000" kern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275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7889344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8744032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Широкоэкранный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1_Тема Office</vt:lpstr>
      <vt:lpstr>2_Тема Office</vt:lpstr>
      <vt:lpstr>Larissa-Design</vt:lpstr>
      <vt:lpstr>Презентация PowerPoint</vt:lpstr>
      <vt:lpstr>Тема 10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Нити исполнения (threads)</vt:lpstr>
      <vt:lpstr>Презентация PowerPoint</vt:lpstr>
      <vt:lpstr>Презентация PowerPoint</vt:lpstr>
      <vt:lpstr>Нити исполнения (threads)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4</dc:title>
  <dc:creator/>
  <cp:lastModifiedBy/>
  <cp:revision>1</cp:revision>
  <dcterms:created xsi:type="dcterms:W3CDTF">2016-02-27T09:01:20Z</dcterms:created>
  <dcterms:modified xsi:type="dcterms:W3CDTF">2024-11-09T02:26:48Z</dcterms:modified>
</cp:coreProperties>
</file>